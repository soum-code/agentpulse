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 score</c:v>
                </c:pt>
              </c:strCache>
            </c:strRef>
          </c:tx>
          <c:spPr>
            <a:solidFill>
              <a:srgbClr val="3A4456"/>
            </a:solidFill>
            <a:effectLst/>
          </c:spPr>
          <c:invertIfNegative val="0"/>
          <c:dLbls>
            <c:numFmt formatCode="0.000" sourceLinked="0"/>
            <c:txPr>
              <a:bodyPr/>
              <a:lstStyle/>
              <a:p>
                <a:pPr>
                  <a:defRPr b="0" i="0" strike="noStrike" sz="1100" u="none">
                    <a:solidFill>
                      <a:srgbClr val="141922"/>
                    </a:solidFill>
                    <a:latin typeface="Arial"/>
                  </a:defRPr>
                </a:pPr>
              </a:p>
            </c:txPr>
            <c:showLegendKey val="0"/>
            <c:showVal val="1"/>
            <c:showCatName val="0"/>
            <c:showSerName val="0"/>
            <c:showPercent val="0"/>
            <c:showBubbleSize val="0"/>
            <c:showLeaderLines val="0"/>
          </c:dLbls>
          <c:dPt>
            <c:idx val="0"/>
            <c:invertIfNegative val="0"/>
            <c:bubble3D val="0"/>
            <c:spPr>
              <a:solidFill>
                <a:srgbClr val="3A4456"/>
              </a:solidFill>
              <a:effectLst/>
            </c:spPr>
          </c:dPt>
          <c:dPt>
            <c:idx val="1"/>
            <c:invertIfNegative val="0"/>
            <c:bubble3D val="0"/>
            <c:spPr>
              <a:solidFill>
                <a:srgbClr val="2C3547"/>
              </a:solidFill>
              <a:effectLst/>
            </c:spPr>
          </c:dPt>
          <c:dPt>
            <c:idx val="2"/>
            <c:invertIfNegative val="0"/>
            <c:bubble3D val="0"/>
            <c:spPr>
              <a:solidFill>
                <a:srgbClr val="22D3EE"/>
              </a:solidFill>
              <a:effectLst/>
            </c:spPr>
          </c:dPt>
          <c:dPt>
            <c:idx val="3"/>
            <c:invertIfNegative val="0"/>
            <c:bubble3D val="0"/>
            <c:spPr>
              <a:solidFill>
                <a:srgbClr val="FB7185"/>
              </a:solidFill>
              <a:effectLst/>
            </c:spPr>
          </c:dPt>
          <c:dPt>
            <c:idx val="4"/>
            <c:invertIfNegative val="0"/>
            <c:bubble3D val="0"/>
            <c:spPr>
              <a:solidFill>
                <a:srgbClr val="FBBF24"/>
              </a:solidFill>
              <a:effectLst/>
            </c:spPr>
          </c:dPt>
          <c:cat>
            <c:multiLvlStrRef>
              <c:f>Sheet1!$A$2:$A$6</c:f>
              <c:multiLvlStrCache>
                <c:ptCount val="5"/>
                <c:lvl>
                  <c:pt idx="0">
                    <c:v>A · MiniLM only</c:v>
                  </c:pt>
                  <c:pt idx="1">
                    <c:v>B · DeBERTa only</c:v>
                  </c:pt>
                  <c:pt idx="2">
                    <c:v>C · Cascade</c:v>
                  </c:pt>
                  <c:pt idx="3">
                    <c:v>F · + drift signal</c:v>
                  </c:pt>
                  <c:pt idx="4">
                    <c:v>G · Full pipeline</c:v>
                  </c:pt>
                </c:lvl>
              </c:multiLvlStrCache>
            </c:multiLvlStrRef>
          </c:cat>
          <c:val>
            <c:numRef>
              <c:f>Sheet1!$B$2:$B$6</c:f>
              <c:numCache>
                <c:formatCode>General</c:formatCode>
                <c:ptCount val="5"/>
                <c:pt idx="0">
                  <c:v>0.786</c:v>
                </c:pt>
                <c:pt idx="1">
                  <c:v>0.963</c:v>
                </c:pt>
                <c:pt idx="2">
                  <c:v>0.963</c:v>
                </c:pt>
                <c:pt idx="3">
                  <c:v>0.619</c:v>
                </c:pt>
                <c:pt idx="4">
                  <c:v>0.897</c:v>
                </c:pt>
              </c:numCache>
            </c:numRef>
          </c:val>
        </c:ser>
        <c:dLbls>
          <c:numFmt formatCode="0.000" sourceLinked="0"/>
          <c:txPr>
            <a:bodyPr/>
            <a:lstStyle/>
            <a:p>
              <a:pPr>
                <a:defRPr b="0" i="0" strike="noStrike" sz="1100" u="none">
                  <a:solidFill>
                    <a:srgbClr val="141922"/>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8"/>
                </a:solidFill>
                <a:latin typeface="Arial"/>
              </a:defRPr>
            </a:pPr>
            <a:endParaRPr lang="en-US"/>
          </a:p>
        </c:txPr>
        <c:crossAx val="2094734552"/>
        <c:crosses val="autoZero"/>
        <c:auto val="1"/>
        <c:lblAlgn val="ctr"/>
        <c:noMultiLvlLbl val="1"/>
      </c:catAx>
      <c:valAx>
        <c:axId val="2094734552"/>
        <c:scaling>
          <c:orientation val="minMax"/>
          <c:max val="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claim: every span is evaluated, not sampled, and it runs on CPU inside your own infrastructure. Say up front that the most interesting part of this project is not what worked, but what failed external validation and what that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failure modes. Emphasise the last line: most tools sample a percentage of traffic for quality evaluation. These faults are rare by nature, so sampling is structurally the wrong tool for them. That is the gap AgentPulse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decision that makes the whole thesis possible. Because evaluation is decoupled, the ingest path stays sub-millisecond and you can afford to evaluate everything. If evaluation were inline you would be forced back to sampling, which defeats the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three things on the chart. The cascade matches DeBERTa alone at 0.963; MiniLM adds about 19 ms and no F1, and both run on every span. G, the full pipeline, is 0.897 on corrected NLI labels at the 0.5 weight it ran with, not re-run at the shipped 0.3. And config F is deliberately shown: adding the old drift signal made the classifier worse, 0.619, and that result was published rather than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thesis of the project in miniature. Two signals are validated, two are not, and the product says so on screen. Most tools in this space present every capability as equally ready. Stating the tier is a credibility move, not a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The synthetic benchmark gave a comfortable answer, real text destroyed it, and the diagnosis showed the threshold was never the problem. Then be explicit about the cost: coverage is only 24.5%. If a panel member asks about the weakness, they should find you already said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 it is the engineering credibility slide. The phrase to land is that every one of these is a measurement with a method behind it, not a claim. The durability number in particular was taken by actually killing the process, not by reasoning about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talk builds to. Do not rush it. Three for three is not coincidence — it says something about how self-authored benchmarks are constructed. Pause after reading the bottom line and let the panel sit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have time for one technical point in the viva, make it the evidence-partition problem. It is a genuine research observation, it is independent of NLI quality or extraction method, and it reframes a failed feature as a well-posed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transferable method, not project trivia. A panel can attack a result; it is much harder to attack a method that deliberately arranged to be proven wrong. Rule two is the strongest — an inconvenient intermediate result was published rather than buried.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phrase "production ready" never appears anywhere in this project: it is binary and unfalsifiable. The claim made instead is specific and checkable — self-hosted, single-tenant, durable evaluation at a measured rate with honest capability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slide calmly and without apology. Naming your own limits before the panel does converts a potential attack into evidence of rigour. Each line here has a number or a reason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fourth bullet, not the first. Anyone can demo a dashboard. What distinguishes this project is that it turned its instruments on itself, published what it found, and ended with a sharper question than it started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8503920" y="-1463040"/>
            <a:ext cx="5120640" cy="5120640"/>
          </a:xfrm>
          <a:prstGeom prst="ellipse">
            <a:avLst/>
          </a:prstGeom>
          <a:solidFill>
            <a:srgbClr val="22D3EE">
              <a:alpha val="8000"/>
            </a:srgbClr>
          </a:solidFill>
          <a:ln w="12700">
            <a:solidFill>
              <a:srgbClr val="333333"/>
            </a:solidFill>
            <a:prstDash val="solid"/>
          </a:ln>
        </p:spPr>
      </p:sp>
      <p:sp>
        <p:nvSpPr>
          <p:cNvPr id="3" name="Text 1"/>
          <p:cNvSpPr/>
          <p:nvPr/>
        </p:nvSpPr>
        <p:spPr>
          <a:xfrm>
            <a:off x="640080" y="2057400"/>
            <a:ext cx="8229600" cy="1051560"/>
          </a:xfrm>
          <a:prstGeom prst="rect">
            <a:avLst/>
          </a:prstGeom>
          <a:noFill/>
          <a:ln/>
        </p:spPr>
        <p:txBody>
          <a:bodyPr wrap="square" lIns="0" tIns="0" rIns="0" bIns="0" rtlCol="0" anchor="ctr"/>
          <a:lstStyle/>
          <a:p>
            <a:pPr indent="0" marL="0">
              <a:buNone/>
            </a:pPr>
            <a:r>
              <a:rPr lang="en-US" sz="6000" b="1" dirty="0">
                <a:solidFill>
                  <a:srgbClr val="E8ECF5"/>
                </a:solidFill>
                <a:latin typeface="Cambria" pitchFamily="34" charset="0"/>
                <a:ea typeface="Cambria" pitchFamily="34" charset="-122"/>
                <a:cs typeface="Cambria" pitchFamily="34" charset="-120"/>
              </a:rPr>
              <a:t>AgentPulse</a:t>
            </a:r>
            <a:endParaRPr lang="en-US" sz="6000" dirty="0"/>
          </a:p>
        </p:txBody>
      </p:sp>
      <p:sp>
        <p:nvSpPr>
          <p:cNvPr id="4" name="Text 2"/>
          <p:cNvSpPr/>
          <p:nvPr/>
        </p:nvSpPr>
        <p:spPr>
          <a:xfrm>
            <a:off x="640080" y="3154680"/>
            <a:ext cx="7863840" cy="822960"/>
          </a:xfrm>
          <a:prstGeom prst="rect">
            <a:avLst/>
          </a:prstGeom>
          <a:noFill/>
          <a:ln/>
        </p:spPr>
        <p:txBody>
          <a:bodyPr wrap="square" lIns="0" tIns="0" rIns="0" bIns="0" rtlCol="0" anchor="ctr"/>
          <a:lstStyle/>
          <a:p>
            <a:pPr indent="0" marL="0">
              <a:buNone/>
            </a:pPr>
            <a:r>
              <a:rPr lang="en-US" sz="1900" dirty="0">
                <a:solidFill>
                  <a:srgbClr val="9AA4BD"/>
                </a:solidFill>
                <a:latin typeface="Calibri" pitchFamily="34" charset="0"/>
                <a:ea typeface="Calibri" pitchFamily="34" charset="-122"/>
                <a:cs typeface="Calibri" pitchFamily="34" charset="-120"/>
              </a:rPr>
              <a:t>Continuous grounding and drift observability for multi-agent LLM systems</a:t>
            </a:r>
            <a:endParaRPr lang="en-US" sz="1900" dirty="0"/>
          </a:p>
        </p:txBody>
      </p:sp>
      <p:sp>
        <p:nvSpPr>
          <p:cNvPr id="5" name="Text 3"/>
          <p:cNvSpPr/>
          <p:nvPr/>
        </p:nvSpPr>
        <p:spPr>
          <a:xfrm>
            <a:off x="640080" y="3977640"/>
            <a:ext cx="7863840" cy="365760"/>
          </a:xfrm>
          <a:prstGeom prst="rect">
            <a:avLst/>
          </a:prstGeom>
          <a:noFill/>
          <a:ln/>
        </p:spPr>
        <p:txBody>
          <a:bodyPr wrap="square" lIns="0" tIns="0" rIns="0" bIns="0" rtlCol="0" anchor="ctr"/>
          <a:lstStyle/>
          <a:p>
            <a:pPr indent="0" marL="0">
              <a:buNone/>
            </a:pPr>
            <a:r>
              <a:rPr lang="en-US" sz="1500" i="1" dirty="0">
                <a:solidFill>
                  <a:srgbClr val="22D3EE"/>
                </a:solidFill>
                <a:latin typeface="Calibri" pitchFamily="34" charset="0"/>
                <a:ea typeface="Calibri" pitchFamily="34" charset="-122"/>
                <a:cs typeface="Calibri" pitchFamily="34" charset="-120"/>
              </a:rPr>
              <a:t>Every span evaluated on CPU. Never sampled.</a:t>
            </a:r>
            <a:endParaRPr lang="en-US" sz="1500" dirty="0"/>
          </a:p>
        </p:txBody>
      </p:sp>
      <p:sp>
        <p:nvSpPr>
          <p:cNvPr id="6" name="Text 4"/>
          <p:cNvSpPr/>
          <p:nvPr/>
        </p:nvSpPr>
        <p:spPr>
          <a:xfrm>
            <a:off x="640080" y="5806440"/>
            <a:ext cx="6400800" cy="320040"/>
          </a:xfrm>
          <a:prstGeom prst="rect">
            <a:avLst/>
          </a:prstGeom>
          <a:noFill/>
          <a:ln/>
        </p:spPr>
        <p:txBody>
          <a:bodyPr wrap="square" lIns="0" tIns="0" rIns="0" bIns="0" rtlCol="0" anchor="ctr"/>
          <a:lstStyle/>
          <a:p>
            <a:pPr indent="0" marL="0">
              <a:buNone/>
            </a:pPr>
            <a:r>
              <a:rPr lang="en-US" sz="1300" dirty="0">
                <a:solidFill>
                  <a:srgbClr val="6B7690"/>
                </a:solidFill>
                <a:latin typeface="Calibri" pitchFamily="34" charset="0"/>
                <a:ea typeface="Calibri" pitchFamily="34" charset="-122"/>
                <a:cs typeface="Calibri" pitchFamily="34" charset="-120"/>
              </a:rPr>
              <a:t>M.Tech Project  ·  Somnath Reddy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41922"/>
                </a:solidFill>
                <a:latin typeface="Cambria" pitchFamily="34" charset="0"/>
                <a:ea typeface="Cambria" pitchFamily="34" charset="-122"/>
                <a:cs typeface="Cambria" pitchFamily="34" charset="-120"/>
              </a:rPr>
              <a:t>Agents fail between the lines</a:t>
            </a:r>
            <a:endParaRPr lang="en-US" sz="3400" dirty="0"/>
          </a:p>
        </p:txBody>
      </p:sp>
      <p:sp>
        <p:nvSpPr>
          <p:cNvPr id="4" name="Shape 2"/>
          <p:cNvSpPr/>
          <p:nvPr/>
        </p:nvSpPr>
        <p:spPr>
          <a:xfrm>
            <a:off x="640080" y="1691640"/>
            <a:ext cx="10881360" cy="914400"/>
          </a:xfrm>
          <a:prstGeom prst="roundRect">
            <a:avLst>
              <a:gd name="adj" fmla="val 8000"/>
            </a:avLst>
          </a:prstGeom>
          <a:solidFill>
            <a:srgbClr val="FFFFFF"/>
          </a:solidFill>
          <a:ln w="12700">
            <a:solidFill>
              <a:srgbClr val="FFFFFF"/>
            </a:solidFill>
            <a:prstDash val="solid"/>
          </a:ln>
        </p:spPr>
      </p:sp>
      <p:sp>
        <p:nvSpPr>
          <p:cNvPr id="5" name="Shape 3"/>
          <p:cNvSpPr/>
          <p:nvPr/>
        </p:nvSpPr>
        <p:spPr>
          <a:xfrm>
            <a:off x="960120" y="1947672"/>
            <a:ext cx="402336" cy="402336"/>
          </a:xfrm>
          <a:prstGeom prst="ellipse">
            <a:avLst/>
          </a:prstGeom>
          <a:solidFill>
            <a:srgbClr val="FB7185"/>
          </a:solidFill>
          <a:ln w="12700">
            <a:solidFill>
              <a:srgbClr val="333333"/>
            </a:solidFill>
            <a:prstDash val="solid"/>
          </a:ln>
        </p:spPr>
      </p:sp>
      <p:sp>
        <p:nvSpPr>
          <p:cNvPr id="6" name="Text 4"/>
          <p:cNvSpPr/>
          <p:nvPr/>
        </p:nvSpPr>
        <p:spPr>
          <a:xfrm>
            <a:off x="960120" y="19476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600200" y="1837944"/>
            <a:ext cx="9601200" cy="310896"/>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An agent states a fact its retrieved evidence does not support.</a:t>
            </a:r>
            <a:endParaRPr lang="en-US" sz="1500" dirty="0"/>
          </a:p>
        </p:txBody>
      </p:sp>
      <p:sp>
        <p:nvSpPr>
          <p:cNvPr id="8" name="Text 6"/>
          <p:cNvSpPr/>
          <p:nvPr/>
        </p:nvSpPr>
        <p:spPr>
          <a:xfrm>
            <a:off x="1600200" y="2167128"/>
            <a:ext cx="9601200" cy="310896"/>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Grounding failure — the output reads fluent and is simply wrong.</a:t>
            </a:r>
            <a:endParaRPr lang="en-US" sz="1250" dirty="0"/>
          </a:p>
        </p:txBody>
      </p:sp>
      <p:sp>
        <p:nvSpPr>
          <p:cNvPr id="9" name="Shape 7"/>
          <p:cNvSpPr/>
          <p:nvPr/>
        </p:nvSpPr>
        <p:spPr>
          <a:xfrm>
            <a:off x="640080" y="2743200"/>
            <a:ext cx="10881360" cy="914400"/>
          </a:xfrm>
          <a:prstGeom prst="roundRect">
            <a:avLst>
              <a:gd name="adj" fmla="val 8000"/>
            </a:avLst>
          </a:prstGeom>
          <a:solidFill>
            <a:srgbClr val="FFFFFF"/>
          </a:solidFill>
          <a:ln w="12700">
            <a:solidFill>
              <a:srgbClr val="FFFFFF"/>
            </a:solidFill>
            <a:prstDash val="solid"/>
          </a:ln>
        </p:spPr>
      </p:sp>
      <p:sp>
        <p:nvSpPr>
          <p:cNvPr id="10" name="Shape 8"/>
          <p:cNvSpPr/>
          <p:nvPr/>
        </p:nvSpPr>
        <p:spPr>
          <a:xfrm>
            <a:off x="960120" y="2999232"/>
            <a:ext cx="402336" cy="402336"/>
          </a:xfrm>
          <a:prstGeom prst="ellipse">
            <a:avLst/>
          </a:prstGeom>
          <a:solidFill>
            <a:srgbClr val="FBBF24"/>
          </a:solidFill>
          <a:ln w="12700">
            <a:solidFill>
              <a:srgbClr val="333333"/>
            </a:solidFill>
            <a:prstDash val="solid"/>
          </a:ln>
        </p:spPr>
      </p:sp>
      <p:sp>
        <p:nvSpPr>
          <p:cNvPr id="11" name="Text 9"/>
          <p:cNvSpPr/>
          <p:nvPr/>
        </p:nvSpPr>
        <p:spPr>
          <a:xfrm>
            <a:off x="960120" y="299923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600200" y="2889504"/>
            <a:ext cx="9601200" cy="310896"/>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One agent contradicts another, and the pipeline continues.</a:t>
            </a:r>
            <a:endParaRPr lang="en-US" sz="1500" dirty="0"/>
          </a:p>
        </p:txBody>
      </p:sp>
      <p:sp>
        <p:nvSpPr>
          <p:cNvPr id="13" name="Text 11"/>
          <p:cNvSpPr/>
          <p:nvPr/>
        </p:nvSpPr>
        <p:spPr>
          <a:xfrm>
            <a:off x="1600200" y="3218688"/>
            <a:ext cx="9601200" cy="310896"/>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Nobody is checking consistency across a handoff.</a:t>
            </a:r>
            <a:endParaRPr lang="en-US" sz="1250" dirty="0"/>
          </a:p>
        </p:txBody>
      </p:sp>
      <p:sp>
        <p:nvSpPr>
          <p:cNvPr id="14" name="Shape 12"/>
          <p:cNvSpPr/>
          <p:nvPr/>
        </p:nvSpPr>
        <p:spPr>
          <a:xfrm>
            <a:off x="640080" y="3794760"/>
            <a:ext cx="10881360" cy="914400"/>
          </a:xfrm>
          <a:prstGeom prst="roundRect">
            <a:avLst>
              <a:gd name="adj" fmla="val 8000"/>
            </a:avLst>
          </a:prstGeom>
          <a:solidFill>
            <a:srgbClr val="FFFFFF"/>
          </a:solidFill>
          <a:ln w="12700">
            <a:solidFill>
              <a:srgbClr val="FFFFFF"/>
            </a:solidFill>
            <a:prstDash val="solid"/>
          </a:ln>
        </p:spPr>
      </p:sp>
      <p:sp>
        <p:nvSpPr>
          <p:cNvPr id="15" name="Shape 13"/>
          <p:cNvSpPr/>
          <p:nvPr/>
        </p:nvSpPr>
        <p:spPr>
          <a:xfrm>
            <a:off x="960120" y="4050792"/>
            <a:ext cx="402336" cy="402336"/>
          </a:xfrm>
          <a:prstGeom prst="ellipse">
            <a:avLst/>
          </a:prstGeom>
          <a:solidFill>
            <a:srgbClr val="FB7185"/>
          </a:solidFill>
          <a:ln w="12700">
            <a:solidFill>
              <a:srgbClr val="333333"/>
            </a:solidFill>
            <a:prstDash val="solid"/>
          </a:ln>
        </p:spPr>
      </p:sp>
      <p:sp>
        <p:nvSpPr>
          <p:cNvPr id="16" name="Text 14"/>
          <p:cNvSpPr/>
          <p:nvPr/>
        </p:nvSpPr>
        <p:spPr>
          <a:xfrm>
            <a:off x="960120" y="405079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600200" y="3941064"/>
            <a:ext cx="9601200" cy="310896"/>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An agent describes a tool result that the tool never returned.</a:t>
            </a:r>
            <a:endParaRPr lang="en-US" sz="1500" dirty="0"/>
          </a:p>
        </p:txBody>
      </p:sp>
      <p:sp>
        <p:nvSpPr>
          <p:cNvPr id="18" name="Text 16"/>
          <p:cNvSpPr/>
          <p:nvPr/>
        </p:nvSpPr>
        <p:spPr>
          <a:xfrm>
            <a:off x="1600200" y="4270248"/>
            <a:ext cx="9601200" cy="310896"/>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The trace looks healthy; the claim inside it is fabricated.</a:t>
            </a:r>
            <a:endParaRPr lang="en-US" sz="1250" dirty="0"/>
          </a:p>
        </p:txBody>
      </p:sp>
      <p:sp>
        <p:nvSpPr>
          <p:cNvPr id="19" name="Shape 17"/>
          <p:cNvSpPr/>
          <p:nvPr/>
        </p:nvSpPr>
        <p:spPr>
          <a:xfrm>
            <a:off x="640080" y="4846320"/>
            <a:ext cx="10881360" cy="914400"/>
          </a:xfrm>
          <a:prstGeom prst="roundRect">
            <a:avLst>
              <a:gd name="adj" fmla="val 8000"/>
            </a:avLst>
          </a:prstGeom>
          <a:solidFill>
            <a:srgbClr val="FFFFFF"/>
          </a:solidFill>
          <a:ln w="12700">
            <a:solidFill>
              <a:srgbClr val="FFFFFF"/>
            </a:solidFill>
            <a:prstDash val="solid"/>
          </a:ln>
        </p:spPr>
      </p:sp>
      <p:sp>
        <p:nvSpPr>
          <p:cNvPr id="20" name="Shape 18"/>
          <p:cNvSpPr/>
          <p:nvPr/>
        </p:nvSpPr>
        <p:spPr>
          <a:xfrm>
            <a:off x="960120" y="5102352"/>
            <a:ext cx="402336" cy="402336"/>
          </a:xfrm>
          <a:prstGeom prst="ellipse">
            <a:avLst/>
          </a:prstGeom>
          <a:solidFill>
            <a:srgbClr val="FBBF24"/>
          </a:solidFill>
          <a:ln w="12700">
            <a:solidFill>
              <a:srgbClr val="333333"/>
            </a:solidFill>
            <a:prstDash val="solid"/>
          </a:ln>
        </p:spPr>
      </p:sp>
      <p:sp>
        <p:nvSpPr>
          <p:cNvPr id="21" name="Text 19"/>
          <p:cNvSpPr/>
          <p:nvPr/>
        </p:nvSpPr>
        <p:spPr>
          <a:xfrm>
            <a:off x="960120" y="510235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600200" y="4992624"/>
            <a:ext cx="9601200" cy="310896"/>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Behaviour drifts slowly after a model or prompt change.</a:t>
            </a:r>
            <a:endParaRPr lang="en-US" sz="1500" dirty="0"/>
          </a:p>
        </p:txBody>
      </p:sp>
      <p:sp>
        <p:nvSpPr>
          <p:cNvPr id="23" name="Text 21"/>
          <p:cNvSpPr/>
          <p:nvPr/>
        </p:nvSpPr>
        <p:spPr>
          <a:xfrm>
            <a:off x="1600200" y="5321808"/>
            <a:ext cx="9601200" cy="310896"/>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No single request looks broken, so no alert ever fires.</a:t>
            </a:r>
            <a:endParaRPr lang="en-US" sz="1250" dirty="0"/>
          </a:p>
        </p:txBody>
      </p:sp>
      <p:sp>
        <p:nvSpPr>
          <p:cNvPr id="24" name="Text 22"/>
          <p:cNvSpPr/>
          <p:nvPr/>
        </p:nvSpPr>
        <p:spPr>
          <a:xfrm>
            <a:off x="640080" y="6053328"/>
            <a:ext cx="10881360" cy="365760"/>
          </a:xfrm>
          <a:prstGeom prst="rect">
            <a:avLst/>
          </a:prstGeom>
          <a:noFill/>
          <a:ln/>
        </p:spPr>
        <p:txBody>
          <a:bodyPr wrap="square" lIns="0" tIns="0" rIns="0" bIns="0"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Sampled evaluation is built to miss exactly these — they are rare, and they are the ones that matter.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E8ECF5"/>
                </a:solidFill>
                <a:latin typeface="Cambria" pitchFamily="34" charset="0"/>
                <a:ea typeface="Cambria" pitchFamily="34" charset="-122"/>
                <a:cs typeface="Cambria" pitchFamily="34" charset="-120"/>
              </a:rPr>
              <a:t>Ingest is fast because evaluation is not inline</a:t>
            </a:r>
            <a:endParaRPr lang="en-US" sz="3400" dirty="0"/>
          </a:p>
        </p:txBody>
      </p:sp>
      <p:sp>
        <p:nvSpPr>
          <p:cNvPr id="4" name="Shape 2"/>
          <p:cNvSpPr/>
          <p:nvPr/>
        </p:nvSpPr>
        <p:spPr>
          <a:xfrm>
            <a:off x="640080" y="1874520"/>
            <a:ext cx="1965960" cy="1783080"/>
          </a:xfrm>
          <a:prstGeom prst="roundRect">
            <a:avLst>
              <a:gd name="adj" fmla="val 4103"/>
            </a:avLst>
          </a:prstGeom>
          <a:solidFill>
            <a:srgbClr val="222937"/>
          </a:solidFill>
          <a:ln w="12700">
            <a:solidFill>
              <a:srgbClr val="222937"/>
            </a:solidFill>
            <a:prstDash val="solid"/>
          </a:ln>
        </p:spPr>
      </p:sp>
      <p:sp>
        <p:nvSpPr>
          <p:cNvPr id="5" name="Text 3"/>
          <p:cNvSpPr/>
          <p:nvPr/>
        </p:nvSpPr>
        <p:spPr>
          <a:xfrm>
            <a:off x="804672" y="2057400"/>
            <a:ext cx="1645920" cy="320040"/>
          </a:xfrm>
          <a:prstGeom prst="rect">
            <a:avLst/>
          </a:prstGeom>
          <a:noFill/>
          <a:ln/>
        </p:spPr>
        <p:txBody>
          <a:bodyPr wrap="square" lIns="0" tIns="0" rIns="0" bIns="0" rtlCol="0" anchor="ctr"/>
          <a:lstStyle/>
          <a:p>
            <a:pPr indent="0" marL="0">
              <a:buNone/>
            </a:pPr>
            <a:r>
              <a:rPr lang="en-US" sz="1450" b="1" dirty="0">
                <a:solidFill>
                  <a:srgbClr val="22D3EE"/>
                </a:solidFill>
                <a:latin typeface="Calibri" pitchFamily="34" charset="0"/>
                <a:ea typeface="Calibri" pitchFamily="34" charset="-122"/>
                <a:cs typeface="Calibri" pitchFamily="34" charset="-120"/>
              </a:rPr>
              <a:t>SDK</a:t>
            </a:r>
            <a:endParaRPr lang="en-US" sz="1450" dirty="0"/>
          </a:p>
        </p:txBody>
      </p:sp>
      <p:sp>
        <p:nvSpPr>
          <p:cNvPr id="6" name="Text 4"/>
          <p:cNvSpPr/>
          <p:nvPr/>
        </p:nvSpPr>
        <p:spPr>
          <a:xfrm>
            <a:off x="804672" y="2450592"/>
            <a:ext cx="1691640" cy="100584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Decorator wraps agent</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steps, buffers spans</a:t>
            </a:r>
            <a:endParaRPr lang="en-US" sz="1100" dirty="0"/>
          </a:p>
        </p:txBody>
      </p:sp>
      <p:sp>
        <p:nvSpPr>
          <p:cNvPr id="7" name="Text 5"/>
          <p:cNvSpPr/>
          <p:nvPr/>
        </p:nvSpPr>
        <p:spPr>
          <a:xfrm>
            <a:off x="2633472" y="2514600"/>
            <a:ext cx="292608" cy="365760"/>
          </a:xfrm>
          <a:prstGeom prst="rect">
            <a:avLst/>
          </a:prstGeom>
          <a:noFill/>
          <a:ln/>
        </p:spPr>
        <p:txBody>
          <a:bodyPr wrap="square" lIns="0" tIns="0" rIns="0" bIns="0" rtlCol="0" anchor="ctr"/>
          <a:lstStyle/>
          <a:p>
            <a:pPr algn="ctr" indent="0" marL="0">
              <a:buNone/>
            </a:pPr>
            <a:r>
              <a:rPr lang="en-US" sz="1600" b="1" dirty="0">
                <a:solidFill>
                  <a:srgbClr val="6B7690"/>
                </a:solidFill>
                <a:latin typeface="Calibri" pitchFamily="34" charset="0"/>
                <a:ea typeface="Calibri" pitchFamily="34" charset="-122"/>
                <a:cs typeface="Calibri" pitchFamily="34" charset="-120"/>
              </a:rPr>
              <a:t>&gt;</a:t>
            </a:r>
            <a:endParaRPr lang="en-US" sz="1600" dirty="0"/>
          </a:p>
        </p:txBody>
      </p:sp>
      <p:sp>
        <p:nvSpPr>
          <p:cNvPr id="8" name="Shape 6"/>
          <p:cNvSpPr/>
          <p:nvPr/>
        </p:nvSpPr>
        <p:spPr>
          <a:xfrm>
            <a:off x="2926080" y="1874520"/>
            <a:ext cx="1965960" cy="1783080"/>
          </a:xfrm>
          <a:prstGeom prst="roundRect">
            <a:avLst>
              <a:gd name="adj" fmla="val 4103"/>
            </a:avLst>
          </a:prstGeom>
          <a:solidFill>
            <a:srgbClr val="222937"/>
          </a:solidFill>
          <a:ln w="12700">
            <a:solidFill>
              <a:srgbClr val="222937"/>
            </a:solidFill>
            <a:prstDash val="solid"/>
          </a:ln>
        </p:spPr>
      </p:sp>
      <p:sp>
        <p:nvSpPr>
          <p:cNvPr id="9" name="Text 7"/>
          <p:cNvSpPr/>
          <p:nvPr/>
        </p:nvSpPr>
        <p:spPr>
          <a:xfrm>
            <a:off x="3090672" y="2057400"/>
            <a:ext cx="1645920" cy="320040"/>
          </a:xfrm>
          <a:prstGeom prst="rect">
            <a:avLst/>
          </a:prstGeom>
          <a:noFill/>
          <a:ln/>
        </p:spPr>
        <p:txBody>
          <a:bodyPr wrap="square" lIns="0" tIns="0" rIns="0" bIns="0" rtlCol="0" anchor="ctr"/>
          <a:lstStyle/>
          <a:p>
            <a:pPr indent="0" marL="0">
              <a:buNone/>
            </a:pPr>
            <a:r>
              <a:rPr lang="en-US" sz="1450" b="1" dirty="0">
                <a:solidFill>
                  <a:srgbClr val="22D3EE"/>
                </a:solidFill>
                <a:latin typeface="Calibri" pitchFamily="34" charset="0"/>
                <a:ea typeface="Calibri" pitchFamily="34" charset="-122"/>
                <a:cs typeface="Calibri" pitchFamily="34" charset="-120"/>
              </a:rPr>
              <a:t>Ingest API</a:t>
            </a:r>
            <a:endParaRPr lang="en-US" sz="1450" dirty="0"/>
          </a:p>
        </p:txBody>
      </p:sp>
      <p:sp>
        <p:nvSpPr>
          <p:cNvPr id="10" name="Text 8"/>
          <p:cNvSpPr/>
          <p:nvPr/>
        </p:nvSpPr>
        <p:spPr>
          <a:xfrm>
            <a:off x="3090672" y="2450592"/>
            <a:ext cx="1691640" cy="100584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Accepts spans, loads</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no models at all</a:t>
            </a:r>
            <a:endParaRPr lang="en-US" sz="1100" dirty="0"/>
          </a:p>
        </p:txBody>
      </p:sp>
      <p:sp>
        <p:nvSpPr>
          <p:cNvPr id="11" name="Text 9"/>
          <p:cNvSpPr/>
          <p:nvPr/>
        </p:nvSpPr>
        <p:spPr>
          <a:xfrm>
            <a:off x="4919472" y="2514600"/>
            <a:ext cx="292608" cy="365760"/>
          </a:xfrm>
          <a:prstGeom prst="rect">
            <a:avLst/>
          </a:prstGeom>
          <a:noFill/>
          <a:ln/>
        </p:spPr>
        <p:txBody>
          <a:bodyPr wrap="square" lIns="0" tIns="0" rIns="0" bIns="0" rtlCol="0" anchor="ctr"/>
          <a:lstStyle/>
          <a:p>
            <a:pPr algn="ctr" indent="0" marL="0">
              <a:buNone/>
            </a:pPr>
            <a:r>
              <a:rPr lang="en-US" sz="1600" b="1" dirty="0">
                <a:solidFill>
                  <a:srgbClr val="6B7690"/>
                </a:solidFill>
                <a:latin typeface="Calibri" pitchFamily="34" charset="0"/>
                <a:ea typeface="Calibri" pitchFamily="34" charset="-122"/>
                <a:cs typeface="Calibri" pitchFamily="34" charset="-120"/>
              </a:rPr>
              <a:t>&gt;</a:t>
            </a:r>
            <a:endParaRPr lang="en-US" sz="1600" dirty="0"/>
          </a:p>
        </p:txBody>
      </p:sp>
      <p:sp>
        <p:nvSpPr>
          <p:cNvPr id="12" name="Shape 10"/>
          <p:cNvSpPr/>
          <p:nvPr/>
        </p:nvSpPr>
        <p:spPr>
          <a:xfrm>
            <a:off x="5212080" y="1874520"/>
            <a:ext cx="1965960" cy="1783080"/>
          </a:xfrm>
          <a:prstGeom prst="roundRect">
            <a:avLst>
              <a:gd name="adj" fmla="val 4103"/>
            </a:avLst>
          </a:prstGeom>
          <a:solidFill>
            <a:srgbClr val="222937"/>
          </a:solidFill>
          <a:ln w="12700">
            <a:solidFill>
              <a:srgbClr val="222937"/>
            </a:solidFill>
            <a:prstDash val="solid"/>
          </a:ln>
        </p:spPr>
      </p:sp>
      <p:sp>
        <p:nvSpPr>
          <p:cNvPr id="13" name="Text 11"/>
          <p:cNvSpPr/>
          <p:nvPr/>
        </p:nvSpPr>
        <p:spPr>
          <a:xfrm>
            <a:off x="5376672" y="2057400"/>
            <a:ext cx="1645920" cy="320040"/>
          </a:xfrm>
          <a:prstGeom prst="rect">
            <a:avLst/>
          </a:prstGeom>
          <a:noFill/>
          <a:ln/>
        </p:spPr>
        <p:txBody>
          <a:bodyPr wrap="square" lIns="0" tIns="0" rIns="0" bIns="0" rtlCol="0" anchor="ctr"/>
          <a:lstStyle/>
          <a:p>
            <a:pPr indent="0" marL="0">
              <a:buNone/>
            </a:pPr>
            <a:r>
              <a:rPr lang="en-US" sz="1450" b="1" dirty="0">
                <a:solidFill>
                  <a:srgbClr val="22D3EE"/>
                </a:solidFill>
                <a:latin typeface="Calibri" pitchFamily="34" charset="0"/>
                <a:ea typeface="Calibri" pitchFamily="34" charset="-122"/>
                <a:cs typeface="Calibri" pitchFamily="34" charset="-120"/>
              </a:rPr>
              <a:t>Durable queue</a:t>
            </a:r>
            <a:endParaRPr lang="en-US" sz="1450" dirty="0"/>
          </a:p>
        </p:txBody>
      </p:sp>
      <p:sp>
        <p:nvSpPr>
          <p:cNvPr id="14" name="Text 12"/>
          <p:cNvSpPr/>
          <p:nvPr/>
        </p:nvSpPr>
        <p:spPr>
          <a:xfrm>
            <a:off x="5376672" y="2450592"/>
            <a:ext cx="1691640" cy="100584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SQLite WAL with</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leased jobs</a:t>
            </a:r>
            <a:endParaRPr lang="en-US" sz="1100" dirty="0"/>
          </a:p>
        </p:txBody>
      </p:sp>
      <p:sp>
        <p:nvSpPr>
          <p:cNvPr id="15" name="Text 13"/>
          <p:cNvSpPr/>
          <p:nvPr/>
        </p:nvSpPr>
        <p:spPr>
          <a:xfrm>
            <a:off x="7205472" y="2514600"/>
            <a:ext cx="292608" cy="365760"/>
          </a:xfrm>
          <a:prstGeom prst="rect">
            <a:avLst/>
          </a:prstGeom>
          <a:noFill/>
          <a:ln/>
        </p:spPr>
        <p:txBody>
          <a:bodyPr wrap="square" lIns="0" tIns="0" rIns="0" bIns="0" rtlCol="0" anchor="ctr"/>
          <a:lstStyle/>
          <a:p>
            <a:pPr algn="ctr" indent="0" marL="0">
              <a:buNone/>
            </a:pPr>
            <a:r>
              <a:rPr lang="en-US" sz="1600" b="1" dirty="0">
                <a:solidFill>
                  <a:srgbClr val="6B7690"/>
                </a:solidFill>
                <a:latin typeface="Calibri" pitchFamily="34" charset="0"/>
                <a:ea typeface="Calibri" pitchFamily="34" charset="-122"/>
                <a:cs typeface="Calibri" pitchFamily="34" charset="-120"/>
              </a:rPr>
              <a:t>&gt;</a:t>
            </a:r>
            <a:endParaRPr lang="en-US" sz="1600" dirty="0"/>
          </a:p>
        </p:txBody>
      </p:sp>
      <p:sp>
        <p:nvSpPr>
          <p:cNvPr id="16" name="Shape 14"/>
          <p:cNvSpPr/>
          <p:nvPr/>
        </p:nvSpPr>
        <p:spPr>
          <a:xfrm>
            <a:off x="7498080" y="1874520"/>
            <a:ext cx="1965960" cy="1783080"/>
          </a:xfrm>
          <a:prstGeom prst="roundRect">
            <a:avLst>
              <a:gd name="adj" fmla="val 4103"/>
            </a:avLst>
          </a:prstGeom>
          <a:solidFill>
            <a:srgbClr val="222937"/>
          </a:solidFill>
          <a:ln w="12700">
            <a:solidFill>
              <a:srgbClr val="222937"/>
            </a:solidFill>
            <a:prstDash val="solid"/>
          </a:ln>
        </p:spPr>
      </p:sp>
      <p:sp>
        <p:nvSpPr>
          <p:cNvPr id="17" name="Text 15"/>
          <p:cNvSpPr/>
          <p:nvPr/>
        </p:nvSpPr>
        <p:spPr>
          <a:xfrm>
            <a:off x="7662672" y="2057400"/>
            <a:ext cx="1645920" cy="320040"/>
          </a:xfrm>
          <a:prstGeom prst="rect">
            <a:avLst/>
          </a:prstGeom>
          <a:noFill/>
          <a:ln/>
        </p:spPr>
        <p:txBody>
          <a:bodyPr wrap="square" lIns="0" tIns="0" rIns="0" bIns="0" rtlCol="0" anchor="ctr"/>
          <a:lstStyle/>
          <a:p>
            <a:pPr indent="0" marL="0">
              <a:buNone/>
            </a:pPr>
            <a:r>
              <a:rPr lang="en-US" sz="1450" b="1" dirty="0">
                <a:solidFill>
                  <a:srgbClr val="34D399"/>
                </a:solidFill>
                <a:latin typeface="Calibri" pitchFamily="34" charset="0"/>
                <a:ea typeface="Calibri" pitchFamily="34" charset="-122"/>
                <a:cs typeface="Calibri" pitchFamily="34" charset="-120"/>
              </a:rPr>
              <a:t>Worker fleet</a:t>
            </a:r>
            <a:endParaRPr lang="en-US" sz="1450" dirty="0"/>
          </a:p>
        </p:txBody>
      </p:sp>
      <p:sp>
        <p:nvSpPr>
          <p:cNvPr id="18" name="Text 16"/>
          <p:cNvSpPr/>
          <p:nvPr/>
        </p:nvSpPr>
        <p:spPr>
          <a:xfrm>
            <a:off x="7662672" y="2450592"/>
            <a:ext cx="1691640" cy="100584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Runs the evaluator</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cascade off-path</a:t>
            </a:r>
            <a:endParaRPr lang="en-US" sz="1100" dirty="0"/>
          </a:p>
        </p:txBody>
      </p:sp>
      <p:sp>
        <p:nvSpPr>
          <p:cNvPr id="19" name="Text 17"/>
          <p:cNvSpPr/>
          <p:nvPr/>
        </p:nvSpPr>
        <p:spPr>
          <a:xfrm>
            <a:off x="9491472" y="2514600"/>
            <a:ext cx="292608" cy="365760"/>
          </a:xfrm>
          <a:prstGeom prst="rect">
            <a:avLst/>
          </a:prstGeom>
          <a:noFill/>
          <a:ln/>
        </p:spPr>
        <p:txBody>
          <a:bodyPr wrap="square" lIns="0" tIns="0" rIns="0" bIns="0" rtlCol="0" anchor="ctr"/>
          <a:lstStyle/>
          <a:p>
            <a:pPr algn="ctr" indent="0" marL="0">
              <a:buNone/>
            </a:pPr>
            <a:r>
              <a:rPr lang="en-US" sz="1600" b="1" dirty="0">
                <a:solidFill>
                  <a:srgbClr val="6B7690"/>
                </a:solidFill>
                <a:latin typeface="Calibri" pitchFamily="34" charset="0"/>
                <a:ea typeface="Calibri" pitchFamily="34" charset="-122"/>
                <a:cs typeface="Calibri" pitchFamily="34" charset="-120"/>
              </a:rPr>
              <a:t>&gt;</a:t>
            </a:r>
            <a:endParaRPr lang="en-US" sz="1600" dirty="0"/>
          </a:p>
        </p:txBody>
      </p:sp>
      <p:sp>
        <p:nvSpPr>
          <p:cNvPr id="20" name="Shape 18"/>
          <p:cNvSpPr/>
          <p:nvPr/>
        </p:nvSpPr>
        <p:spPr>
          <a:xfrm>
            <a:off x="9784080" y="1874520"/>
            <a:ext cx="1965960" cy="1783080"/>
          </a:xfrm>
          <a:prstGeom prst="roundRect">
            <a:avLst>
              <a:gd name="adj" fmla="val 4103"/>
            </a:avLst>
          </a:prstGeom>
          <a:solidFill>
            <a:srgbClr val="222937"/>
          </a:solidFill>
          <a:ln w="12700">
            <a:solidFill>
              <a:srgbClr val="222937"/>
            </a:solidFill>
            <a:prstDash val="solid"/>
          </a:ln>
        </p:spPr>
      </p:sp>
      <p:sp>
        <p:nvSpPr>
          <p:cNvPr id="21" name="Text 19"/>
          <p:cNvSpPr/>
          <p:nvPr/>
        </p:nvSpPr>
        <p:spPr>
          <a:xfrm>
            <a:off x="9948672" y="2057400"/>
            <a:ext cx="1645920" cy="320040"/>
          </a:xfrm>
          <a:prstGeom prst="rect">
            <a:avLst/>
          </a:prstGeom>
          <a:noFill/>
          <a:ln/>
        </p:spPr>
        <p:txBody>
          <a:bodyPr wrap="square" lIns="0" tIns="0" rIns="0" bIns="0" rtlCol="0" anchor="ctr"/>
          <a:lstStyle/>
          <a:p>
            <a:pPr indent="0" marL="0">
              <a:buNone/>
            </a:pPr>
            <a:r>
              <a:rPr lang="en-US" sz="1450" b="1" dirty="0">
                <a:solidFill>
                  <a:srgbClr val="34D399"/>
                </a:solidFill>
                <a:latin typeface="Calibri" pitchFamily="34" charset="0"/>
                <a:ea typeface="Calibri" pitchFamily="34" charset="-122"/>
                <a:cs typeface="Calibri" pitchFamily="34" charset="-120"/>
              </a:rPr>
              <a:t>Alerts + UI</a:t>
            </a:r>
            <a:endParaRPr lang="en-US" sz="1450" dirty="0"/>
          </a:p>
        </p:txBody>
      </p:sp>
      <p:sp>
        <p:nvSpPr>
          <p:cNvPr id="22" name="Text 20"/>
          <p:cNvSpPr/>
          <p:nvPr/>
        </p:nvSpPr>
        <p:spPr>
          <a:xfrm>
            <a:off x="9948672" y="2450592"/>
            <a:ext cx="1691640" cy="100584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Rules, drift, and the</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operator console</a:t>
            </a:r>
            <a:endParaRPr lang="en-US" sz="1100" dirty="0"/>
          </a:p>
        </p:txBody>
      </p:sp>
      <p:sp>
        <p:nvSpPr>
          <p:cNvPr id="23" name="Text 21"/>
          <p:cNvSpPr/>
          <p:nvPr/>
        </p:nvSpPr>
        <p:spPr>
          <a:xfrm>
            <a:off x="640080" y="4069080"/>
            <a:ext cx="10881360" cy="310896"/>
          </a:xfrm>
          <a:prstGeom prst="rect">
            <a:avLst/>
          </a:prstGeom>
          <a:noFill/>
          <a:ln/>
        </p:spPr>
        <p:txBody>
          <a:bodyPr wrap="square" lIns="0" tIns="0" rIns="0" bIns="0" rtlCol="0" anchor="ctr"/>
          <a:lstStyle/>
          <a:p>
            <a:pPr indent="0" marL="0">
              <a:buNone/>
            </a:pPr>
            <a:r>
              <a:rPr lang="en-US" sz="1500" b="1" dirty="0">
                <a:solidFill>
                  <a:srgbClr val="E8ECF5"/>
                </a:solidFill>
                <a:latin typeface="Calibri" pitchFamily="34" charset="0"/>
                <a:ea typeface="Calibri" pitchFamily="34" charset="-122"/>
                <a:cs typeface="Calibri" pitchFamily="34" charset="-120"/>
              </a:rPr>
              <a:t>Why the split matters</a:t>
            </a:r>
            <a:endParaRPr lang="en-US" sz="1500" dirty="0"/>
          </a:p>
        </p:txBody>
      </p:sp>
      <p:sp>
        <p:nvSpPr>
          <p:cNvPr id="24" name="Text 22"/>
          <p:cNvSpPr/>
          <p:nvPr/>
        </p:nvSpPr>
        <p:spPr>
          <a:xfrm>
            <a:off x="640080" y="4434840"/>
            <a:ext cx="10881360" cy="14630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9AA4BD"/>
                </a:solidFill>
                <a:latin typeface="Calibri" pitchFamily="34" charset="0"/>
                <a:ea typeface="Calibri" pitchFamily="34" charset="-122"/>
                <a:cs typeface="Calibri" pitchFamily="34" charset="-120"/>
              </a:rPr>
              <a:t>The API process loads no inference models, so ingest stays cheap and the memory cost sits with the workers instead — measured at 1.24 GB down to 0.10 GB per API process.</a:t>
            </a:r>
            <a:endParaRPr lang="en-US" sz="1350" dirty="0"/>
          </a:p>
          <a:p>
            <a:pPr marL="342900" indent="-342900">
              <a:spcAft>
                <a:spcPts val="800"/>
              </a:spcAft>
              <a:buSzPct val="100000"/>
              <a:buChar char="•"/>
            </a:pPr>
            <a:r>
              <a:rPr lang="en-US" sz="1350" dirty="0">
                <a:solidFill>
                  <a:srgbClr val="9AA4BD"/>
                </a:solidFill>
                <a:latin typeface="Calibri" pitchFamily="34" charset="0"/>
                <a:ea typeface="Calibri" pitchFamily="34" charset="-122"/>
                <a:cs typeface="Calibri" pitchFamily="34" charset="-120"/>
              </a:rPr>
              <a:t>A worker killed mid-evaluation loses nothing: the lease expires and the job is picked up again, exactly once.</a:t>
            </a:r>
            <a:endParaRPr lang="en-US" sz="1350" dirty="0"/>
          </a:p>
          <a:p>
            <a:pPr marL="342900" indent="-342900">
              <a:spcAft>
                <a:spcPts val="800"/>
              </a:spcAft>
              <a:buSzPct val="100000"/>
              <a:buChar char="•"/>
            </a:pPr>
            <a:r>
              <a:rPr lang="en-US" sz="1350" dirty="0">
                <a:solidFill>
                  <a:srgbClr val="9AA4BD"/>
                </a:solidFill>
                <a:latin typeface="Calibri" pitchFamily="34" charset="0"/>
                <a:ea typeface="Calibri" pitchFamily="34" charset="-122"/>
                <a:cs typeface="Calibri" pitchFamily="34" charset="-120"/>
              </a:rPr>
              <a:t>Workers scale independently of the API, which is what makes full coverage affordable instead of forcing sampling.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EVALUATOR</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41922"/>
                </a:solidFill>
                <a:latin typeface="Cambria" pitchFamily="34" charset="0"/>
                <a:ea typeface="Cambria" pitchFamily="34" charset="-122"/>
                <a:cs typeface="Cambria" pitchFamily="34" charset="-120"/>
              </a:rPr>
              <a:t>Two small models on every span, no LLM judge</a:t>
            </a:r>
            <a:endParaRPr lang="en-US" sz="3400" dirty="0"/>
          </a:p>
        </p:txBody>
      </p:sp>
      <p:sp>
        <p:nvSpPr>
          <p:cNvPr id="4" name="Shape 2"/>
          <p:cNvSpPr/>
          <p:nvPr/>
        </p:nvSpPr>
        <p:spPr>
          <a:xfrm>
            <a:off x="640080" y="1737360"/>
            <a:ext cx="5212080" cy="2286000"/>
          </a:xfrm>
          <a:prstGeom prst="roundRect">
            <a:avLst>
              <a:gd name="adj" fmla="val 3200"/>
            </a:avLst>
          </a:prstGeom>
          <a:solidFill>
            <a:srgbClr val="FFFFFF"/>
          </a:solidFill>
          <a:ln w="12700">
            <a:solidFill>
              <a:srgbClr val="FFFFFF"/>
            </a:solidFill>
            <a:prstDash val="solid"/>
          </a:ln>
        </p:spPr>
      </p:sp>
      <p:sp>
        <p:nvSpPr>
          <p:cNvPr id="5" name="Text 3"/>
          <p:cNvSpPr/>
          <p:nvPr/>
        </p:nvSpPr>
        <p:spPr>
          <a:xfrm>
            <a:off x="960120" y="1938528"/>
            <a:ext cx="4572000" cy="310896"/>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Stage 1  ·  MiniLM-L6-v2</a:t>
            </a:r>
            <a:endParaRPr lang="en-US" sz="1500" dirty="0"/>
          </a:p>
        </p:txBody>
      </p:sp>
      <p:sp>
        <p:nvSpPr>
          <p:cNvPr id="6" name="Text 4"/>
          <p:cNvSpPr/>
          <p:nvPr/>
        </p:nvSpPr>
        <p:spPr>
          <a:xfrm>
            <a:off x="960120" y="2304288"/>
            <a:ext cx="4572000" cy="68580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Cosine similarity between the claim and its retrieved context. Cheap enough to run on every span.</a:t>
            </a:r>
            <a:endParaRPr lang="en-US" sz="1250" dirty="0"/>
          </a:p>
        </p:txBody>
      </p:sp>
      <p:sp>
        <p:nvSpPr>
          <p:cNvPr id="7" name="Text 5"/>
          <p:cNvSpPr/>
          <p:nvPr/>
        </p:nvSpPr>
        <p:spPr>
          <a:xfrm>
            <a:off x="960120" y="3108960"/>
            <a:ext cx="2743200" cy="548640"/>
          </a:xfrm>
          <a:prstGeom prst="rect">
            <a:avLst/>
          </a:prstGeom>
          <a:noFill/>
          <a:ln/>
        </p:spPr>
        <p:txBody>
          <a:bodyPr wrap="square" lIns="0" tIns="0" rIns="0" bIns="0" rtlCol="0" anchor="ctr"/>
          <a:lstStyle/>
          <a:p>
            <a:pPr indent="0" marL="0">
              <a:buNone/>
            </a:pPr>
            <a:r>
              <a:rPr lang="en-US" sz="3000" b="1" dirty="0">
                <a:solidFill>
                  <a:srgbClr val="141922"/>
                </a:solidFill>
                <a:latin typeface="Cambria" pitchFamily="34" charset="0"/>
                <a:ea typeface="Cambria" pitchFamily="34" charset="-122"/>
                <a:cs typeface="Cambria" pitchFamily="34" charset="-120"/>
              </a:rPr>
              <a:t>19.1 ms</a:t>
            </a:r>
            <a:endParaRPr lang="en-US" sz="3000" dirty="0"/>
          </a:p>
        </p:txBody>
      </p:sp>
      <p:sp>
        <p:nvSpPr>
          <p:cNvPr id="8" name="Shape 6"/>
          <p:cNvSpPr/>
          <p:nvPr/>
        </p:nvSpPr>
        <p:spPr>
          <a:xfrm>
            <a:off x="6309360" y="1737360"/>
            <a:ext cx="5212080" cy="2286000"/>
          </a:xfrm>
          <a:prstGeom prst="roundRect">
            <a:avLst>
              <a:gd name="adj" fmla="val 3200"/>
            </a:avLst>
          </a:prstGeom>
          <a:solidFill>
            <a:srgbClr val="FFFFFF"/>
          </a:solidFill>
          <a:ln w="12700">
            <a:solidFill>
              <a:srgbClr val="FFFFFF"/>
            </a:solidFill>
            <a:prstDash val="solid"/>
          </a:ln>
        </p:spPr>
      </p:sp>
      <p:sp>
        <p:nvSpPr>
          <p:cNvPr id="9" name="Text 7"/>
          <p:cNvSpPr/>
          <p:nvPr/>
        </p:nvSpPr>
        <p:spPr>
          <a:xfrm>
            <a:off x="6629400" y="1938528"/>
            <a:ext cx="4572000" cy="310896"/>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Stage 2  ·  DeBERTa-v3 NLI</a:t>
            </a:r>
            <a:endParaRPr lang="en-US" sz="1500" dirty="0"/>
          </a:p>
        </p:txBody>
      </p:sp>
      <p:sp>
        <p:nvSpPr>
          <p:cNvPr id="10" name="Text 8"/>
          <p:cNvSpPr/>
          <p:nvPr/>
        </p:nvSpPr>
        <p:spPr>
          <a:xfrm>
            <a:off x="6629400" y="2304288"/>
            <a:ext cx="4572000" cy="68580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Cross-encoder NLI on every span. Risk = contradiction + 0.3 x neutral; high above 0.7.</a:t>
            </a:r>
            <a:endParaRPr lang="en-US" sz="1250" dirty="0"/>
          </a:p>
        </p:txBody>
      </p:sp>
      <p:sp>
        <p:nvSpPr>
          <p:cNvPr id="11" name="Text 9"/>
          <p:cNvSpPr/>
          <p:nvPr/>
        </p:nvSpPr>
        <p:spPr>
          <a:xfrm>
            <a:off x="6629400" y="3108960"/>
            <a:ext cx="2743200" cy="548640"/>
          </a:xfrm>
          <a:prstGeom prst="rect">
            <a:avLst/>
          </a:prstGeom>
          <a:noFill/>
          <a:ln/>
        </p:spPr>
        <p:txBody>
          <a:bodyPr wrap="square" lIns="0" tIns="0" rIns="0" bIns="0" rtlCol="0" anchor="ctr"/>
          <a:lstStyle/>
          <a:p>
            <a:pPr indent="0" marL="0">
              <a:buNone/>
            </a:pPr>
            <a:r>
              <a:rPr lang="en-US" sz="3000" b="1" dirty="0">
                <a:solidFill>
                  <a:srgbClr val="141922"/>
                </a:solidFill>
                <a:latin typeface="Cambria" pitchFamily="34" charset="0"/>
                <a:ea typeface="Cambria" pitchFamily="34" charset="-122"/>
                <a:cs typeface="Cambria" pitchFamily="34" charset="-120"/>
              </a:rPr>
              <a:t>151.19 ms</a:t>
            </a:r>
            <a:endParaRPr lang="en-US" sz="3000" dirty="0"/>
          </a:p>
        </p:txBody>
      </p:sp>
      <p:sp>
        <p:nvSpPr>
          <p:cNvPr id="12" name="Text 10"/>
          <p:cNvSpPr/>
          <p:nvPr/>
        </p:nvSpPr>
        <p:spPr>
          <a:xfrm>
            <a:off x="8275320" y="3310128"/>
            <a:ext cx="2194560" cy="274320"/>
          </a:xfrm>
          <a:prstGeom prst="rect">
            <a:avLst/>
          </a:prstGeom>
          <a:noFill/>
          <a:ln/>
        </p:spPr>
        <p:txBody>
          <a:bodyPr wrap="square" lIns="0" tIns="0" rIns="0" bIns="0" rtlCol="0" anchor="ctr"/>
          <a:lstStyle/>
          <a:p>
            <a:pPr indent="0" marL="0">
              <a:buNone/>
            </a:pPr>
            <a:r>
              <a:rPr lang="en-US" sz="1100" dirty="0">
                <a:solidFill>
                  <a:srgbClr val="7A8496"/>
                </a:solidFill>
                <a:latin typeface="Calibri" pitchFamily="34" charset="0"/>
                <a:ea typeface="Calibri" pitchFamily="34" charset="-122"/>
                <a:cs typeface="Calibri" pitchFamily="34" charset="-120"/>
              </a:rPr>
              <a:t>end-to-end cascade</a:t>
            </a:r>
            <a:endParaRPr lang="en-US" sz="1100" dirty="0"/>
          </a:p>
        </p:txBody>
      </p:sp>
      <p:sp>
        <p:nvSpPr>
          <p:cNvPr id="13" name="Text 11"/>
          <p:cNvSpPr/>
          <p:nvPr/>
        </p:nvSpPr>
        <p:spPr>
          <a:xfrm>
            <a:off x="640080" y="4224528"/>
            <a:ext cx="10881360" cy="274320"/>
          </a:xfrm>
          <a:prstGeom prst="rect">
            <a:avLst/>
          </a:prstGeom>
          <a:noFill/>
          <a:ln/>
        </p:spPr>
        <p:txBody>
          <a:bodyPr wrap="square" lIns="0" tIns="0" rIns="0" bIns="0"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Ablation on the held-out v1.0_test split — thresholds were selected on the dev split and applied unchanged</a:t>
            </a:r>
            <a:endParaRPr lang="en-US" sz="1200" dirty="0"/>
          </a:p>
        </p:txBody>
      </p:sp>
      <p:graphicFrame>
        <p:nvGraphicFramePr>
          <p:cNvPr id="14" name="Chart 0" descr=""/>
          <p:cNvGraphicFramePr/>
          <p:nvPr/>
        </p:nvGraphicFramePr>
        <p:xfrm>
          <a:off x="640080" y="4526280"/>
          <a:ext cx="10881360" cy="18745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CAPABILITIES</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E8ECF5"/>
                </a:solidFill>
                <a:latin typeface="Cambria" pitchFamily="34" charset="0"/>
                <a:ea typeface="Cambria" pitchFamily="34" charset="-122"/>
                <a:cs typeface="Cambria" pitchFamily="34" charset="-120"/>
              </a:rPr>
              <a:t>Four signals, and an honest maturity label on each</a:t>
            </a:r>
            <a:endParaRPr lang="en-US" sz="3400" dirty="0"/>
          </a:p>
        </p:txBody>
      </p:sp>
      <p:sp>
        <p:nvSpPr>
          <p:cNvPr id="4" name="Shape 2"/>
          <p:cNvSpPr/>
          <p:nvPr/>
        </p:nvSpPr>
        <p:spPr>
          <a:xfrm>
            <a:off x="640080" y="1783080"/>
            <a:ext cx="10881360" cy="960120"/>
          </a:xfrm>
          <a:prstGeom prst="roundRect">
            <a:avLst>
              <a:gd name="adj" fmla="val 7619"/>
            </a:avLst>
          </a:prstGeom>
          <a:solidFill>
            <a:srgbClr val="222937"/>
          </a:solidFill>
          <a:ln w="12700">
            <a:solidFill>
              <a:srgbClr val="222937"/>
            </a:solidFill>
            <a:prstDash val="solid"/>
          </a:ln>
        </p:spPr>
      </p:sp>
      <p:sp>
        <p:nvSpPr>
          <p:cNvPr id="5" name="Text 3"/>
          <p:cNvSpPr/>
          <p:nvPr/>
        </p:nvSpPr>
        <p:spPr>
          <a:xfrm>
            <a:off x="1005840" y="1956816"/>
            <a:ext cx="2377440" cy="329184"/>
          </a:xfrm>
          <a:prstGeom prst="rect">
            <a:avLst/>
          </a:prstGeom>
          <a:noFill/>
          <a:ln/>
        </p:spPr>
        <p:txBody>
          <a:bodyPr wrap="square" lIns="0" tIns="0" rIns="0" bIns="0" rtlCol="0" anchor="ctr"/>
          <a:lstStyle/>
          <a:p>
            <a:pPr indent="0" marL="0">
              <a:buNone/>
            </a:pPr>
            <a:r>
              <a:rPr lang="en-US" sz="1600" b="1" dirty="0">
                <a:solidFill>
                  <a:srgbClr val="E8ECF5"/>
                </a:solidFill>
                <a:latin typeface="Calibri" pitchFamily="34" charset="0"/>
                <a:ea typeface="Calibri" pitchFamily="34" charset="-122"/>
                <a:cs typeface="Calibri" pitchFamily="34" charset="-120"/>
              </a:rPr>
              <a:t>Grounding</a:t>
            </a:r>
            <a:endParaRPr lang="en-US" sz="1600" dirty="0"/>
          </a:p>
        </p:txBody>
      </p:sp>
      <p:sp>
        <p:nvSpPr>
          <p:cNvPr id="6" name="Shape 4"/>
          <p:cNvSpPr/>
          <p:nvPr/>
        </p:nvSpPr>
        <p:spPr>
          <a:xfrm>
            <a:off x="3429000" y="1993392"/>
            <a:ext cx="1371600" cy="292608"/>
          </a:xfrm>
          <a:prstGeom prst="roundRect">
            <a:avLst>
              <a:gd name="adj" fmla="val 43750"/>
            </a:avLst>
          </a:prstGeom>
          <a:solidFill>
            <a:srgbClr val="34D399">
              <a:alpha val="20000"/>
            </a:srgbClr>
          </a:solidFill>
          <a:ln w="9525">
            <a:solidFill>
              <a:srgbClr val="34D399"/>
            </a:solidFill>
            <a:prstDash val="solid"/>
          </a:ln>
        </p:spPr>
      </p:sp>
      <p:sp>
        <p:nvSpPr>
          <p:cNvPr id="7" name="Text 5"/>
          <p:cNvSpPr/>
          <p:nvPr/>
        </p:nvSpPr>
        <p:spPr>
          <a:xfrm>
            <a:off x="3429000" y="1993392"/>
            <a:ext cx="1371600" cy="292608"/>
          </a:xfrm>
          <a:prstGeom prst="rect">
            <a:avLst/>
          </a:prstGeom>
          <a:noFill/>
          <a:ln/>
        </p:spPr>
        <p:txBody>
          <a:bodyPr wrap="square" lIns="0" tIns="0" rIns="0" bIns="0" rtlCol="0" anchor="ctr"/>
          <a:lstStyle/>
          <a:p>
            <a:pPr algn="ctr" indent="0" marL="0">
              <a:buNone/>
            </a:pPr>
            <a:r>
              <a:rPr lang="en-US" sz="1050" b="1" dirty="0">
                <a:solidFill>
                  <a:srgbClr val="34D399"/>
                </a:solidFill>
                <a:latin typeface="Calibri" pitchFamily="34" charset="0"/>
                <a:ea typeface="Calibri" pitchFamily="34" charset="-122"/>
                <a:cs typeface="Calibri" pitchFamily="34" charset="-120"/>
              </a:rPr>
              <a:t>Beta</a:t>
            </a:r>
            <a:endParaRPr lang="en-US" sz="1050" dirty="0"/>
          </a:p>
        </p:txBody>
      </p:sp>
      <p:sp>
        <p:nvSpPr>
          <p:cNvPr id="8" name="Text 6"/>
          <p:cNvSpPr/>
          <p:nvPr/>
        </p:nvSpPr>
        <p:spPr>
          <a:xfrm>
            <a:off x="5029200" y="2002536"/>
            <a:ext cx="6309360" cy="548640"/>
          </a:xfrm>
          <a:prstGeom prst="rect">
            <a:avLst/>
          </a:prstGeom>
          <a:noFill/>
          <a:ln/>
        </p:spPr>
        <p:txBody>
          <a:bodyPr wrap="square" lIns="0" tIns="0" rIns="0" bIns="0" rtlCol="0" anchor="ctr"/>
          <a:lstStyle/>
          <a:p>
            <a:pPr indent="0" marL="0">
              <a:buNone/>
            </a:pPr>
            <a:r>
              <a:rPr lang="en-US" sz="1250" dirty="0">
                <a:solidFill>
                  <a:srgbClr val="9AA4BD"/>
                </a:solidFill>
                <a:latin typeface="Calibri" pitchFamily="34" charset="0"/>
                <a:ea typeface="Calibri" pitchFamily="34" charset="-122"/>
                <a:cs typeface="Calibri" pitchFamily="34" charset="-120"/>
              </a:rPr>
              <a:t>NLI over the evidence. F1 0.963 on the 30-case test split (5 cases copy dev).</a:t>
            </a:r>
            <a:endParaRPr lang="en-US" sz="1250" dirty="0"/>
          </a:p>
        </p:txBody>
      </p:sp>
      <p:sp>
        <p:nvSpPr>
          <p:cNvPr id="9" name="Shape 7"/>
          <p:cNvSpPr/>
          <p:nvPr/>
        </p:nvSpPr>
        <p:spPr>
          <a:xfrm>
            <a:off x="640080" y="2880360"/>
            <a:ext cx="10881360" cy="960120"/>
          </a:xfrm>
          <a:prstGeom prst="roundRect">
            <a:avLst>
              <a:gd name="adj" fmla="val 7619"/>
            </a:avLst>
          </a:prstGeom>
          <a:solidFill>
            <a:srgbClr val="222937"/>
          </a:solidFill>
          <a:ln w="12700">
            <a:solidFill>
              <a:srgbClr val="222937"/>
            </a:solidFill>
            <a:prstDash val="solid"/>
          </a:ln>
        </p:spPr>
      </p:sp>
      <p:sp>
        <p:nvSpPr>
          <p:cNvPr id="10" name="Text 8"/>
          <p:cNvSpPr/>
          <p:nvPr/>
        </p:nvSpPr>
        <p:spPr>
          <a:xfrm>
            <a:off x="1005840" y="3054096"/>
            <a:ext cx="2377440" cy="329184"/>
          </a:xfrm>
          <a:prstGeom prst="rect">
            <a:avLst/>
          </a:prstGeom>
          <a:noFill/>
          <a:ln/>
        </p:spPr>
        <p:txBody>
          <a:bodyPr wrap="square" lIns="0" tIns="0" rIns="0" bIns="0" rtlCol="0" anchor="ctr"/>
          <a:lstStyle/>
          <a:p>
            <a:pPr indent="0" marL="0">
              <a:buNone/>
            </a:pPr>
            <a:r>
              <a:rPr lang="en-US" sz="1600" b="1" dirty="0">
                <a:solidFill>
                  <a:srgbClr val="E8ECF5"/>
                </a:solidFill>
                <a:latin typeface="Calibri" pitchFamily="34" charset="0"/>
                <a:ea typeface="Calibri" pitchFamily="34" charset="-122"/>
                <a:cs typeface="Calibri" pitchFamily="34" charset="-120"/>
              </a:rPr>
              <a:t>Drift / ASI</a:t>
            </a:r>
            <a:endParaRPr lang="en-US" sz="1600" dirty="0"/>
          </a:p>
        </p:txBody>
      </p:sp>
      <p:sp>
        <p:nvSpPr>
          <p:cNvPr id="11" name="Shape 9"/>
          <p:cNvSpPr/>
          <p:nvPr/>
        </p:nvSpPr>
        <p:spPr>
          <a:xfrm>
            <a:off x="3429000" y="3090672"/>
            <a:ext cx="1371600" cy="292608"/>
          </a:xfrm>
          <a:prstGeom prst="roundRect">
            <a:avLst>
              <a:gd name="adj" fmla="val 43750"/>
            </a:avLst>
          </a:prstGeom>
          <a:solidFill>
            <a:srgbClr val="34D399">
              <a:alpha val="20000"/>
            </a:srgbClr>
          </a:solidFill>
          <a:ln w="9525">
            <a:solidFill>
              <a:srgbClr val="34D399"/>
            </a:solidFill>
            <a:prstDash val="solid"/>
          </a:ln>
        </p:spPr>
      </p:sp>
      <p:sp>
        <p:nvSpPr>
          <p:cNvPr id="12" name="Text 10"/>
          <p:cNvSpPr/>
          <p:nvPr/>
        </p:nvSpPr>
        <p:spPr>
          <a:xfrm>
            <a:off x="3429000" y="3090672"/>
            <a:ext cx="1371600" cy="292608"/>
          </a:xfrm>
          <a:prstGeom prst="rect">
            <a:avLst/>
          </a:prstGeom>
          <a:noFill/>
          <a:ln/>
        </p:spPr>
        <p:txBody>
          <a:bodyPr wrap="square" lIns="0" tIns="0" rIns="0" bIns="0" rtlCol="0" anchor="ctr"/>
          <a:lstStyle/>
          <a:p>
            <a:pPr algn="ctr" indent="0" marL="0">
              <a:buNone/>
            </a:pPr>
            <a:r>
              <a:rPr lang="en-US" sz="1050" b="1" dirty="0">
                <a:solidFill>
                  <a:srgbClr val="34D399"/>
                </a:solidFill>
                <a:latin typeface="Calibri" pitchFamily="34" charset="0"/>
                <a:ea typeface="Calibri" pitchFamily="34" charset="-122"/>
                <a:cs typeface="Calibri" pitchFamily="34" charset="-120"/>
              </a:rPr>
              <a:t>Beta</a:t>
            </a:r>
            <a:endParaRPr lang="en-US" sz="1050" dirty="0"/>
          </a:p>
        </p:txBody>
      </p:sp>
      <p:sp>
        <p:nvSpPr>
          <p:cNvPr id="13" name="Text 11"/>
          <p:cNvSpPr/>
          <p:nvPr/>
        </p:nvSpPr>
        <p:spPr>
          <a:xfrm>
            <a:off x="5029200" y="3099816"/>
            <a:ext cx="6309360" cy="548640"/>
          </a:xfrm>
          <a:prstGeom prst="rect">
            <a:avLst/>
          </a:prstGeom>
          <a:noFill/>
          <a:ln/>
        </p:spPr>
        <p:txBody>
          <a:bodyPr wrap="square" lIns="0" tIns="0" rIns="0" bIns="0" rtlCol="0" anchor="ctr"/>
          <a:lstStyle/>
          <a:p>
            <a:pPr indent="0" marL="0">
              <a:buNone/>
            </a:pPr>
            <a:r>
              <a:rPr lang="en-US" sz="1250" dirty="0">
                <a:solidFill>
                  <a:srgbClr val="9AA4BD"/>
                </a:solidFill>
                <a:latin typeface="Calibri" pitchFamily="34" charset="0"/>
                <a:ea typeface="Calibri" pitchFamily="34" charset="-122"/>
                <a:cs typeface="Calibri" pitchFamily="34" charset="-120"/>
              </a:rPr>
              <a:t>Sustained embedding shift. Rebuilt after it failed on real text; now AUC 0.991.</a:t>
            </a:r>
            <a:endParaRPr lang="en-US" sz="1250" dirty="0"/>
          </a:p>
        </p:txBody>
      </p:sp>
      <p:sp>
        <p:nvSpPr>
          <p:cNvPr id="14" name="Shape 12"/>
          <p:cNvSpPr/>
          <p:nvPr/>
        </p:nvSpPr>
        <p:spPr>
          <a:xfrm>
            <a:off x="640080" y="3977640"/>
            <a:ext cx="10881360" cy="960120"/>
          </a:xfrm>
          <a:prstGeom prst="roundRect">
            <a:avLst>
              <a:gd name="adj" fmla="val 7619"/>
            </a:avLst>
          </a:prstGeom>
          <a:solidFill>
            <a:srgbClr val="222937"/>
          </a:solidFill>
          <a:ln w="12700">
            <a:solidFill>
              <a:srgbClr val="222937"/>
            </a:solidFill>
            <a:prstDash val="solid"/>
          </a:ln>
        </p:spPr>
      </p:sp>
      <p:sp>
        <p:nvSpPr>
          <p:cNvPr id="15" name="Text 13"/>
          <p:cNvSpPr/>
          <p:nvPr/>
        </p:nvSpPr>
        <p:spPr>
          <a:xfrm>
            <a:off x="1005840" y="4151376"/>
            <a:ext cx="2377440" cy="329184"/>
          </a:xfrm>
          <a:prstGeom prst="rect">
            <a:avLst/>
          </a:prstGeom>
          <a:noFill/>
          <a:ln/>
        </p:spPr>
        <p:txBody>
          <a:bodyPr wrap="square" lIns="0" tIns="0" rIns="0" bIns="0" rtlCol="0" anchor="ctr"/>
          <a:lstStyle/>
          <a:p>
            <a:pPr indent="0" marL="0">
              <a:buNone/>
            </a:pPr>
            <a:r>
              <a:rPr lang="en-US" sz="1600" b="1" dirty="0">
                <a:solidFill>
                  <a:srgbClr val="E8ECF5"/>
                </a:solidFill>
                <a:latin typeface="Calibri" pitchFamily="34" charset="0"/>
                <a:ea typeface="Calibri" pitchFamily="34" charset="-122"/>
                <a:cs typeface="Calibri" pitchFamily="34" charset="-120"/>
              </a:rPr>
              <a:t>Disagreement</a:t>
            </a:r>
            <a:endParaRPr lang="en-US" sz="1600" dirty="0"/>
          </a:p>
        </p:txBody>
      </p:sp>
      <p:sp>
        <p:nvSpPr>
          <p:cNvPr id="16" name="Shape 14"/>
          <p:cNvSpPr/>
          <p:nvPr/>
        </p:nvSpPr>
        <p:spPr>
          <a:xfrm>
            <a:off x="3429000" y="4187952"/>
            <a:ext cx="1371600" cy="292608"/>
          </a:xfrm>
          <a:prstGeom prst="roundRect">
            <a:avLst>
              <a:gd name="adj" fmla="val 43750"/>
            </a:avLst>
          </a:prstGeom>
          <a:solidFill>
            <a:srgbClr val="FBBF24">
              <a:alpha val="20000"/>
            </a:srgbClr>
          </a:solidFill>
          <a:ln w="9525">
            <a:solidFill>
              <a:srgbClr val="FBBF24"/>
            </a:solidFill>
            <a:prstDash val="solid"/>
          </a:ln>
        </p:spPr>
      </p:sp>
      <p:sp>
        <p:nvSpPr>
          <p:cNvPr id="17" name="Text 15"/>
          <p:cNvSpPr/>
          <p:nvPr/>
        </p:nvSpPr>
        <p:spPr>
          <a:xfrm>
            <a:off x="3429000" y="4187952"/>
            <a:ext cx="1371600" cy="292608"/>
          </a:xfrm>
          <a:prstGeom prst="rect">
            <a:avLst/>
          </a:prstGeom>
          <a:noFill/>
          <a:ln/>
        </p:spPr>
        <p:txBody>
          <a:bodyPr wrap="square" lIns="0" tIns="0" rIns="0" bIns="0" rtlCol="0" anchor="ctr"/>
          <a:lstStyle/>
          <a:p>
            <a:pPr algn="ctr" indent="0" marL="0">
              <a:buNone/>
            </a:pPr>
            <a:r>
              <a:rPr lang="en-US" sz="1050" b="1" dirty="0">
                <a:solidFill>
                  <a:srgbClr val="FBBF24"/>
                </a:solidFill>
                <a:latin typeface="Calibri" pitchFamily="34" charset="0"/>
                <a:ea typeface="Calibri" pitchFamily="34" charset="-122"/>
                <a:cs typeface="Calibri" pitchFamily="34" charset="-120"/>
              </a:rPr>
              <a:t>Experimental</a:t>
            </a:r>
            <a:endParaRPr lang="en-US" sz="1050" dirty="0"/>
          </a:p>
        </p:txBody>
      </p:sp>
      <p:sp>
        <p:nvSpPr>
          <p:cNvPr id="18" name="Text 16"/>
          <p:cNvSpPr/>
          <p:nvPr/>
        </p:nvSpPr>
        <p:spPr>
          <a:xfrm>
            <a:off x="5029200" y="4197096"/>
            <a:ext cx="6309360" cy="548640"/>
          </a:xfrm>
          <a:prstGeom prst="rect">
            <a:avLst/>
          </a:prstGeom>
          <a:noFill/>
          <a:ln/>
        </p:spPr>
        <p:txBody>
          <a:bodyPr wrap="square" lIns="0" tIns="0" rIns="0" bIns="0" rtlCol="0" anchor="ctr"/>
          <a:lstStyle/>
          <a:p>
            <a:pPr indent="0" marL="0">
              <a:buNone/>
            </a:pPr>
            <a:r>
              <a:rPr lang="en-US" sz="1250" dirty="0">
                <a:solidFill>
                  <a:srgbClr val="9AA4BD"/>
                </a:solidFill>
                <a:latin typeface="Calibri" pitchFamily="34" charset="0"/>
                <a:ea typeface="Calibri" pitchFamily="34" charset="-122"/>
                <a:cs typeface="Calibri" pitchFamily="34" charset="-120"/>
              </a:rPr>
              <a:t>Cross-agent contradiction. Strong internally, 0 of 10 on external traces.</a:t>
            </a:r>
            <a:endParaRPr lang="en-US" sz="1250" dirty="0"/>
          </a:p>
        </p:txBody>
      </p:sp>
      <p:sp>
        <p:nvSpPr>
          <p:cNvPr id="19" name="Shape 17"/>
          <p:cNvSpPr/>
          <p:nvPr/>
        </p:nvSpPr>
        <p:spPr>
          <a:xfrm>
            <a:off x="640080" y="5074920"/>
            <a:ext cx="10881360" cy="960120"/>
          </a:xfrm>
          <a:prstGeom prst="roundRect">
            <a:avLst>
              <a:gd name="adj" fmla="val 7619"/>
            </a:avLst>
          </a:prstGeom>
          <a:solidFill>
            <a:srgbClr val="222937"/>
          </a:solidFill>
          <a:ln w="12700">
            <a:solidFill>
              <a:srgbClr val="222937"/>
            </a:solidFill>
            <a:prstDash val="solid"/>
          </a:ln>
        </p:spPr>
      </p:sp>
      <p:sp>
        <p:nvSpPr>
          <p:cNvPr id="20" name="Text 18"/>
          <p:cNvSpPr/>
          <p:nvPr/>
        </p:nvSpPr>
        <p:spPr>
          <a:xfrm>
            <a:off x="1005840" y="5248656"/>
            <a:ext cx="2377440" cy="329184"/>
          </a:xfrm>
          <a:prstGeom prst="rect">
            <a:avLst/>
          </a:prstGeom>
          <a:noFill/>
          <a:ln/>
        </p:spPr>
        <p:txBody>
          <a:bodyPr wrap="square" lIns="0" tIns="0" rIns="0" bIns="0" rtlCol="0" anchor="ctr"/>
          <a:lstStyle/>
          <a:p>
            <a:pPr indent="0" marL="0">
              <a:buNone/>
            </a:pPr>
            <a:r>
              <a:rPr lang="en-US" sz="1600" b="1" dirty="0">
                <a:solidFill>
                  <a:srgbClr val="E8ECF5"/>
                </a:solidFill>
                <a:latin typeface="Calibri" pitchFamily="34" charset="0"/>
                <a:ea typeface="Calibri" pitchFamily="34" charset="-122"/>
                <a:cs typeface="Calibri" pitchFamily="34" charset="-120"/>
              </a:rPr>
              <a:t>Tool-claim</a:t>
            </a:r>
            <a:endParaRPr lang="en-US" sz="1600" dirty="0"/>
          </a:p>
        </p:txBody>
      </p:sp>
      <p:sp>
        <p:nvSpPr>
          <p:cNvPr id="21" name="Shape 19"/>
          <p:cNvSpPr/>
          <p:nvPr/>
        </p:nvSpPr>
        <p:spPr>
          <a:xfrm>
            <a:off x="3429000" y="5285232"/>
            <a:ext cx="1371600" cy="292608"/>
          </a:xfrm>
          <a:prstGeom prst="roundRect">
            <a:avLst>
              <a:gd name="adj" fmla="val 43750"/>
            </a:avLst>
          </a:prstGeom>
          <a:solidFill>
            <a:srgbClr val="FBBF24">
              <a:alpha val="20000"/>
            </a:srgbClr>
          </a:solidFill>
          <a:ln w="9525">
            <a:solidFill>
              <a:srgbClr val="FBBF24"/>
            </a:solidFill>
            <a:prstDash val="solid"/>
          </a:ln>
        </p:spPr>
      </p:sp>
      <p:sp>
        <p:nvSpPr>
          <p:cNvPr id="22" name="Text 20"/>
          <p:cNvSpPr/>
          <p:nvPr/>
        </p:nvSpPr>
        <p:spPr>
          <a:xfrm>
            <a:off x="3429000" y="5285232"/>
            <a:ext cx="1371600" cy="292608"/>
          </a:xfrm>
          <a:prstGeom prst="rect">
            <a:avLst/>
          </a:prstGeom>
          <a:noFill/>
          <a:ln/>
        </p:spPr>
        <p:txBody>
          <a:bodyPr wrap="square" lIns="0" tIns="0" rIns="0" bIns="0" rtlCol="0" anchor="ctr"/>
          <a:lstStyle/>
          <a:p>
            <a:pPr algn="ctr" indent="0" marL="0">
              <a:buNone/>
            </a:pPr>
            <a:r>
              <a:rPr lang="en-US" sz="1050" b="1" dirty="0">
                <a:solidFill>
                  <a:srgbClr val="FBBF24"/>
                </a:solidFill>
                <a:latin typeface="Calibri" pitchFamily="34" charset="0"/>
                <a:ea typeface="Calibri" pitchFamily="34" charset="-122"/>
                <a:cs typeface="Calibri" pitchFamily="34" charset="-120"/>
              </a:rPr>
              <a:t>Experimental</a:t>
            </a:r>
            <a:endParaRPr lang="en-US" sz="1050" dirty="0"/>
          </a:p>
        </p:txBody>
      </p:sp>
      <p:sp>
        <p:nvSpPr>
          <p:cNvPr id="23" name="Text 21"/>
          <p:cNvSpPr/>
          <p:nvPr/>
        </p:nvSpPr>
        <p:spPr>
          <a:xfrm>
            <a:off x="5029200" y="5294376"/>
            <a:ext cx="6309360" cy="548640"/>
          </a:xfrm>
          <a:prstGeom prst="rect">
            <a:avLst/>
          </a:prstGeom>
          <a:noFill/>
          <a:ln/>
        </p:spPr>
        <p:txBody>
          <a:bodyPr wrap="square" lIns="0" tIns="0" rIns="0" bIns="0" rtlCol="0" anchor="ctr"/>
          <a:lstStyle/>
          <a:p>
            <a:pPr indent="0" marL="0">
              <a:buNone/>
            </a:pPr>
            <a:r>
              <a:rPr lang="en-US" sz="1250" dirty="0">
                <a:solidFill>
                  <a:srgbClr val="9AA4BD"/>
                </a:solidFill>
                <a:latin typeface="Calibri" pitchFamily="34" charset="0"/>
                <a:ea typeface="Calibri" pitchFamily="34" charset="-122"/>
                <a:cs typeface="Calibri" pitchFamily="34" charset="-120"/>
              </a:rPr>
              <a:t>Deterministic claim matching. Extracts nothing from agents that do not narrate.</a:t>
            </a:r>
            <a:endParaRPr lang="en-US" sz="1250" dirty="0"/>
          </a:p>
        </p:txBody>
      </p:sp>
      <p:sp>
        <p:nvSpPr>
          <p:cNvPr id="24" name="Text 22"/>
          <p:cNvSpPr/>
          <p:nvPr/>
        </p:nvSpPr>
        <p:spPr>
          <a:xfrm>
            <a:off x="640080" y="6172200"/>
            <a:ext cx="10881360" cy="320040"/>
          </a:xfrm>
          <a:prstGeom prst="rect">
            <a:avLst/>
          </a:prstGeom>
          <a:noFill/>
          <a:ln/>
        </p:spPr>
        <p:txBody>
          <a:bodyPr wrap="square" lIns="0" tIns="0" rIns="0" bIns="0" rtlCol="0" anchor="ctr"/>
          <a:lstStyle/>
          <a:p>
            <a:pPr indent="0" marL="0">
              <a:buNone/>
            </a:pPr>
            <a:r>
              <a:rPr lang="en-US" sz="1300" i="1" dirty="0">
                <a:solidFill>
                  <a:srgbClr val="22D3EE"/>
                </a:solidFill>
                <a:latin typeface="Calibri" pitchFamily="34" charset="0"/>
                <a:ea typeface="Calibri" pitchFamily="34" charset="-122"/>
                <a:cs typeface="Calibri" pitchFamily="34" charset="-120"/>
              </a:rPr>
              <a:t>The maturity label is shown in the product itself, not only in the report.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RESULT · DRIFT</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41922"/>
                </a:solidFill>
                <a:latin typeface="Cambria" pitchFamily="34" charset="0"/>
                <a:ea typeface="Cambria" pitchFamily="34" charset="-122"/>
                <a:cs typeface="Cambria" pitchFamily="34" charset="-120"/>
              </a:rPr>
              <a:t>The detector that had to be rebuilt</a:t>
            </a:r>
            <a:endParaRPr lang="en-US" sz="3400" dirty="0"/>
          </a:p>
        </p:txBody>
      </p:sp>
      <p:sp>
        <p:nvSpPr>
          <p:cNvPr id="4" name="Shape 2"/>
          <p:cNvSpPr/>
          <p:nvPr/>
        </p:nvSpPr>
        <p:spPr>
          <a:xfrm>
            <a:off x="640080" y="1691640"/>
            <a:ext cx="5212080" cy="1965960"/>
          </a:xfrm>
          <a:prstGeom prst="roundRect">
            <a:avLst>
              <a:gd name="adj" fmla="val 3721"/>
            </a:avLst>
          </a:prstGeom>
          <a:solidFill>
            <a:srgbClr val="FFFFFF"/>
          </a:solidFill>
          <a:ln w="12700">
            <a:solidFill>
              <a:srgbClr val="FFFFFF"/>
            </a:solidFill>
            <a:prstDash val="solid"/>
          </a:ln>
        </p:spPr>
      </p:sp>
      <p:sp>
        <p:nvSpPr>
          <p:cNvPr id="5" name="Text 3"/>
          <p:cNvSpPr/>
          <p:nvPr/>
        </p:nvSpPr>
        <p:spPr>
          <a:xfrm>
            <a:off x="960120" y="1874520"/>
            <a:ext cx="457200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What the synthetic benchmark said</a:t>
            </a:r>
            <a:endParaRPr lang="en-US" sz="1400" dirty="0"/>
          </a:p>
        </p:txBody>
      </p:sp>
      <p:sp>
        <p:nvSpPr>
          <p:cNvPr id="6" name="Text 4"/>
          <p:cNvSpPr/>
          <p:nvPr/>
        </p:nvSpPr>
        <p:spPr>
          <a:xfrm>
            <a:off x="960120" y="2240280"/>
            <a:ext cx="4572000" cy="11887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Detection looked adequate. The measured centroid distance never exceeded 0.099 against a 0.30 threshold, so the signal that most distinguishes the product had in fact never fired.</a:t>
            </a:r>
            <a:endParaRPr lang="en-US" sz="1250" dirty="0"/>
          </a:p>
        </p:txBody>
      </p:sp>
      <p:sp>
        <p:nvSpPr>
          <p:cNvPr id="7" name="Shape 5"/>
          <p:cNvSpPr/>
          <p:nvPr/>
        </p:nvSpPr>
        <p:spPr>
          <a:xfrm>
            <a:off x="6309360" y="1691640"/>
            <a:ext cx="5212080" cy="1965960"/>
          </a:xfrm>
          <a:prstGeom prst="roundRect">
            <a:avLst>
              <a:gd name="adj" fmla="val 3721"/>
            </a:avLst>
          </a:prstGeom>
          <a:solidFill>
            <a:srgbClr val="FFFFFF"/>
          </a:solidFill>
          <a:ln w="12700">
            <a:solidFill>
              <a:srgbClr val="FFFFFF"/>
            </a:solidFill>
            <a:prstDash val="solid"/>
          </a:ln>
        </p:spPr>
      </p:sp>
      <p:sp>
        <p:nvSpPr>
          <p:cNvPr id="8" name="Text 6"/>
          <p:cNvSpPr/>
          <p:nvPr/>
        </p:nvSpPr>
        <p:spPr>
          <a:xfrm>
            <a:off x="6629400" y="1874520"/>
            <a:ext cx="457200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What real agent text said</a:t>
            </a:r>
            <a:endParaRPr lang="en-US" sz="1400" dirty="0"/>
          </a:p>
        </p:txBody>
      </p:sp>
      <p:sp>
        <p:nvSpPr>
          <p:cNvPr id="9" name="Text 7"/>
          <p:cNvSpPr/>
          <p:nvPr/>
        </p:nvSpPr>
        <p:spPr>
          <a:xfrm>
            <a:off x="6629400" y="2240280"/>
            <a:ext cx="4572000" cy="11887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The shipped metric fired on 91.7% of unchanged operation. A multi-step agent legitimately says something different at every step, so the threshold sat inside ordinary variance.</a:t>
            </a:r>
            <a:endParaRPr lang="en-US" sz="1250" dirty="0"/>
          </a:p>
        </p:txBody>
      </p:sp>
      <p:sp>
        <p:nvSpPr>
          <p:cNvPr id="10" name="Text 8"/>
          <p:cNvSpPr/>
          <p:nvPr/>
        </p:nvSpPr>
        <p:spPr>
          <a:xfrm>
            <a:off x="640080" y="3840480"/>
            <a:ext cx="10881360" cy="32004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The fix was the representation, not the threshold — a baseline window mean against a current window mean, pooled and disjoint.</a:t>
            </a:r>
            <a:endParaRPr lang="en-US" sz="1350" dirty="0"/>
          </a:p>
        </p:txBody>
      </p:sp>
      <p:sp>
        <p:nvSpPr>
          <p:cNvPr id="11" name="Text 9"/>
          <p:cNvSpPr/>
          <p:nvPr/>
        </p:nvSpPr>
        <p:spPr>
          <a:xfrm>
            <a:off x="640080" y="4343400"/>
            <a:ext cx="2651760" cy="566928"/>
          </a:xfrm>
          <a:prstGeom prst="rect">
            <a:avLst/>
          </a:prstGeom>
          <a:noFill/>
          <a:ln/>
        </p:spPr>
        <p:txBody>
          <a:bodyPr wrap="square" lIns="0" tIns="0" rIns="0" bIns="0" rtlCol="0" anchor="ctr"/>
          <a:lstStyle/>
          <a:p>
            <a:pPr indent="0" marL="0">
              <a:buNone/>
            </a:pPr>
            <a:r>
              <a:rPr lang="en-US" sz="2600" b="1" dirty="0">
                <a:solidFill>
                  <a:srgbClr val="34D399"/>
                </a:solidFill>
                <a:latin typeface="Cambria" pitchFamily="34" charset="0"/>
                <a:ea typeface="Cambria" pitchFamily="34" charset="-122"/>
                <a:cs typeface="Cambria" pitchFamily="34" charset="-120"/>
              </a:rPr>
              <a:t>91.7% → 1.5%</a:t>
            </a:r>
            <a:endParaRPr lang="en-US" sz="2600" dirty="0"/>
          </a:p>
        </p:txBody>
      </p:sp>
      <p:sp>
        <p:nvSpPr>
          <p:cNvPr id="12" name="Text 10"/>
          <p:cNvSpPr/>
          <p:nvPr/>
        </p:nvSpPr>
        <p:spPr>
          <a:xfrm>
            <a:off x="640080" y="4919472"/>
            <a:ext cx="2651760" cy="274320"/>
          </a:xfrm>
          <a:prstGeom prst="rect">
            <a:avLst/>
          </a:prstGeom>
          <a:noFill/>
          <a:ln/>
        </p:spPr>
        <p:txBody>
          <a:bodyPr wrap="square" lIns="0" tIns="0" rIns="0" bIns="0" rtlCol="0" anchor="ctr"/>
          <a:lstStyle/>
          <a:p>
            <a:pPr indent="0" marL="0">
              <a:buNone/>
            </a:pPr>
            <a:r>
              <a:rPr lang="en-US" sz="1200" b="1" dirty="0">
                <a:solidFill>
                  <a:srgbClr val="141922"/>
                </a:solidFill>
                <a:latin typeface="Calibri" pitchFamily="34" charset="0"/>
                <a:ea typeface="Calibri" pitchFamily="34" charset="-122"/>
                <a:cs typeface="Calibri" pitchFamily="34" charset="-120"/>
              </a:rPr>
              <a:t>False alarms</a:t>
            </a:r>
            <a:endParaRPr lang="en-US" sz="1200" dirty="0"/>
          </a:p>
        </p:txBody>
      </p:sp>
      <p:sp>
        <p:nvSpPr>
          <p:cNvPr id="13" name="Text 11"/>
          <p:cNvSpPr/>
          <p:nvPr/>
        </p:nvSpPr>
        <p:spPr>
          <a:xfrm>
            <a:off x="3383280" y="4343400"/>
            <a:ext cx="2651760" cy="566928"/>
          </a:xfrm>
          <a:prstGeom prst="rect">
            <a:avLst/>
          </a:prstGeom>
          <a:noFill/>
          <a:ln/>
        </p:spPr>
        <p:txBody>
          <a:bodyPr wrap="square" lIns="0" tIns="0" rIns="0" bIns="0" rtlCol="0" anchor="ctr"/>
          <a:lstStyle/>
          <a:p>
            <a:pPr indent="0" marL="0">
              <a:buNone/>
            </a:pPr>
            <a:r>
              <a:rPr lang="en-US" sz="2600" b="1" dirty="0">
                <a:solidFill>
                  <a:srgbClr val="34D399"/>
                </a:solidFill>
                <a:latin typeface="Cambria" pitchFamily="34" charset="0"/>
                <a:ea typeface="Cambria" pitchFamily="34" charset="-122"/>
                <a:cs typeface="Cambria" pitchFamily="34" charset="-120"/>
              </a:rPr>
              <a:t>0.9192</a:t>
            </a:r>
            <a:endParaRPr lang="en-US" sz="2600" dirty="0"/>
          </a:p>
        </p:txBody>
      </p:sp>
      <p:sp>
        <p:nvSpPr>
          <p:cNvPr id="14" name="Text 12"/>
          <p:cNvSpPr/>
          <p:nvPr/>
        </p:nvSpPr>
        <p:spPr>
          <a:xfrm>
            <a:off x="3383280" y="4919472"/>
            <a:ext cx="2651760" cy="274320"/>
          </a:xfrm>
          <a:prstGeom prst="rect">
            <a:avLst/>
          </a:prstGeom>
          <a:noFill/>
          <a:ln/>
        </p:spPr>
        <p:txBody>
          <a:bodyPr wrap="square" lIns="0" tIns="0" rIns="0" bIns="0" rtlCol="0" anchor="ctr"/>
          <a:lstStyle/>
          <a:p>
            <a:pPr indent="0" marL="0">
              <a:buNone/>
            </a:pPr>
            <a:r>
              <a:rPr lang="en-US" sz="1200" b="1" dirty="0">
                <a:solidFill>
                  <a:srgbClr val="141922"/>
                </a:solidFill>
                <a:latin typeface="Calibri" pitchFamily="34" charset="0"/>
                <a:ea typeface="Calibri" pitchFamily="34" charset="-122"/>
                <a:cs typeface="Calibri" pitchFamily="34" charset="-120"/>
              </a:rPr>
              <a:t>Detection rate</a:t>
            </a:r>
            <a:endParaRPr lang="en-US" sz="1200" dirty="0"/>
          </a:p>
        </p:txBody>
      </p:sp>
      <p:sp>
        <p:nvSpPr>
          <p:cNvPr id="15" name="Text 13"/>
          <p:cNvSpPr/>
          <p:nvPr/>
        </p:nvSpPr>
        <p:spPr>
          <a:xfrm>
            <a:off x="6126480" y="4343400"/>
            <a:ext cx="2651760" cy="566928"/>
          </a:xfrm>
          <a:prstGeom prst="rect">
            <a:avLst/>
          </a:prstGeom>
          <a:noFill/>
          <a:ln/>
        </p:spPr>
        <p:txBody>
          <a:bodyPr wrap="square" lIns="0" tIns="0" rIns="0" bIns="0" rtlCol="0" anchor="ctr"/>
          <a:lstStyle/>
          <a:p>
            <a:pPr indent="0" marL="0">
              <a:buNone/>
            </a:pPr>
            <a:r>
              <a:rPr lang="en-US" sz="2600" b="1" dirty="0">
                <a:solidFill>
                  <a:srgbClr val="34D399"/>
                </a:solidFill>
                <a:latin typeface="Cambria" pitchFamily="34" charset="0"/>
                <a:ea typeface="Cambria" pitchFamily="34" charset="-122"/>
                <a:cs typeface="Cambria" pitchFamily="34" charset="-120"/>
              </a:rPr>
              <a:t>0.991</a:t>
            </a:r>
            <a:endParaRPr lang="en-US" sz="2600" dirty="0"/>
          </a:p>
        </p:txBody>
      </p:sp>
      <p:sp>
        <p:nvSpPr>
          <p:cNvPr id="16" name="Text 14"/>
          <p:cNvSpPr/>
          <p:nvPr/>
        </p:nvSpPr>
        <p:spPr>
          <a:xfrm>
            <a:off x="6126480" y="4919472"/>
            <a:ext cx="2651760" cy="274320"/>
          </a:xfrm>
          <a:prstGeom prst="rect">
            <a:avLst/>
          </a:prstGeom>
          <a:noFill/>
          <a:ln/>
        </p:spPr>
        <p:txBody>
          <a:bodyPr wrap="square" lIns="0" tIns="0" rIns="0" bIns="0" rtlCol="0" anchor="ctr"/>
          <a:lstStyle/>
          <a:p>
            <a:pPr indent="0" marL="0">
              <a:buNone/>
            </a:pPr>
            <a:r>
              <a:rPr lang="en-US" sz="1200" b="1" dirty="0">
                <a:solidFill>
                  <a:srgbClr val="141922"/>
                </a:solidFill>
                <a:latin typeface="Calibri" pitchFamily="34" charset="0"/>
                <a:ea typeface="Calibri" pitchFamily="34" charset="-122"/>
                <a:cs typeface="Calibri" pitchFamily="34" charset="-120"/>
              </a:rPr>
              <a:t>AUC, held out</a:t>
            </a:r>
            <a:endParaRPr lang="en-US" sz="1200" dirty="0"/>
          </a:p>
        </p:txBody>
      </p:sp>
      <p:sp>
        <p:nvSpPr>
          <p:cNvPr id="17" name="Text 15"/>
          <p:cNvSpPr/>
          <p:nvPr/>
        </p:nvSpPr>
        <p:spPr>
          <a:xfrm>
            <a:off x="8869680" y="4343400"/>
            <a:ext cx="2651760" cy="566928"/>
          </a:xfrm>
          <a:prstGeom prst="rect">
            <a:avLst/>
          </a:prstGeom>
          <a:noFill/>
          <a:ln/>
        </p:spPr>
        <p:txBody>
          <a:bodyPr wrap="square" lIns="0" tIns="0" rIns="0" bIns="0" rtlCol="0" anchor="ctr"/>
          <a:lstStyle/>
          <a:p>
            <a:pPr indent="0" marL="0">
              <a:buNone/>
            </a:pPr>
            <a:r>
              <a:rPr lang="en-US" sz="2600" b="1" dirty="0">
                <a:solidFill>
                  <a:srgbClr val="FBBF24"/>
                </a:solidFill>
                <a:latin typeface="Cambria" pitchFamily="34" charset="0"/>
                <a:ea typeface="Cambria" pitchFamily="34" charset="-122"/>
                <a:cs typeface="Cambria" pitchFamily="34" charset="-120"/>
              </a:rPr>
              <a:t>24.5%</a:t>
            </a:r>
            <a:endParaRPr lang="en-US" sz="2600" dirty="0"/>
          </a:p>
        </p:txBody>
      </p:sp>
      <p:sp>
        <p:nvSpPr>
          <p:cNvPr id="18" name="Text 16"/>
          <p:cNvSpPr/>
          <p:nvPr/>
        </p:nvSpPr>
        <p:spPr>
          <a:xfrm>
            <a:off x="8869680" y="4919472"/>
            <a:ext cx="2651760" cy="274320"/>
          </a:xfrm>
          <a:prstGeom prst="rect">
            <a:avLst/>
          </a:prstGeom>
          <a:noFill/>
          <a:ln/>
        </p:spPr>
        <p:txBody>
          <a:bodyPr wrap="square" lIns="0" tIns="0" rIns="0" bIns="0" rtlCol="0" anchor="ctr"/>
          <a:lstStyle/>
          <a:p>
            <a:pPr indent="0" marL="0">
              <a:buNone/>
            </a:pPr>
            <a:r>
              <a:rPr lang="en-US" sz="1200" b="1" dirty="0">
                <a:solidFill>
                  <a:srgbClr val="141922"/>
                </a:solidFill>
                <a:latin typeface="Calibri" pitchFamily="34" charset="0"/>
                <a:ea typeface="Calibri" pitchFamily="34" charset="-122"/>
                <a:cs typeface="Calibri" pitchFamily="34" charset="-120"/>
              </a:rPr>
              <a:t>Coverage — the cost</a:t>
            </a:r>
            <a:endParaRPr lang="en-US" sz="1200" dirty="0"/>
          </a:p>
        </p:txBody>
      </p:sp>
      <p:sp>
        <p:nvSpPr>
          <p:cNvPr id="19" name="Text 17"/>
          <p:cNvSpPr/>
          <p:nvPr/>
        </p:nvSpPr>
        <p:spPr>
          <a:xfrm>
            <a:off x="640080" y="5440680"/>
            <a:ext cx="10881360" cy="777240"/>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Calibrated on 89 dev tasks with the criterion fixed beforehand, then measured once on 111 held-out tasks. When this detector speaks it is accurate; it stays silent on roughly three quarters of sessions, and that number is never quoted without the accuracy.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RESULT · ENGINEERING</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E8ECF5"/>
                </a:solidFill>
                <a:latin typeface="Cambria" pitchFamily="34" charset="0"/>
                <a:ea typeface="Cambria" pitchFamily="34" charset="-122"/>
                <a:cs typeface="Cambria" pitchFamily="34" charset="-120"/>
              </a:rPr>
              <a:t>Production behaviour, measured rather than asserted</a:t>
            </a:r>
            <a:endParaRPr lang="en-US" sz="3400" dirty="0"/>
          </a:p>
        </p:txBody>
      </p:sp>
      <p:sp>
        <p:nvSpPr>
          <p:cNvPr id="4" name="Shape 2"/>
          <p:cNvSpPr/>
          <p:nvPr/>
        </p:nvSpPr>
        <p:spPr>
          <a:xfrm>
            <a:off x="640080" y="1828800"/>
            <a:ext cx="5349240" cy="1783080"/>
          </a:xfrm>
          <a:prstGeom prst="roundRect">
            <a:avLst>
              <a:gd name="adj" fmla="val 4103"/>
            </a:avLst>
          </a:prstGeom>
          <a:solidFill>
            <a:srgbClr val="222937"/>
          </a:solidFill>
          <a:ln w="12700">
            <a:solidFill>
              <a:srgbClr val="222937"/>
            </a:solidFill>
            <a:prstDash val="solid"/>
          </a:ln>
        </p:spPr>
      </p:sp>
      <p:sp>
        <p:nvSpPr>
          <p:cNvPr id="5" name="Text 3"/>
          <p:cNvSpPr/>
          <p:nvPr/>
        </p:nvSpPr>
        <p:spPr>
          <a:xfrm>
            <a:off x="960120" y="2011680"/>
            <a:ext cx="4754880" cy="566928"/>
          </a:xfrm>
          <a:prstGeom prst="rect">
            <a:avLst/>
          </a:prstGeom>
          <a:noFill/>
          <a:ln/>
        </p:spPr>
        <p:txBody>
          <a:bodyPr wrap="square" lIns="0" tIns="0" rIns="0" bIns="0" rtlCol="0" anchor="ctr"/>
          <a:lstStyle/>
          <a:p>
            <a:pPr indent="0" marL="0">
              <a:buNone/>
            </a:pPr>
            <a:r>
              <a:rPr lang="en-US" sz="2700" b="1" dirty="0">
                <a:solidFill>
                  <a:srgbClr val="34D399"/>
                </a:solidFill>
                <a:latin typeface="Cambria" pitchFamily="34" charset="0"/>
                <a:ea typeface="Cambria" pitchFamily="34" charset="-122"/>
                <a:cs typeface="Cambria" pitchFamily="34" charset="-120"/>
              </a:rPr>
              <a:t>exactly once</a:t>
            </a:r>
            <a:endParaRPr lang="en-US" sz="2700" dirty="0"/>
          </a:p>
        </p:txBody>
      </p:sp>
      <p:sp>
        <p:nvSpPr>
          <p:cNvPr id="6" name="Text 4"/>
          <p:cNvSpPr/>
          <p:nvPr/>
        </p:nvSpPr>
        <p:spPr>
          <a:xfrm>
            <a:off x="960120" y="256032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Crash recovery</a:t>
            </a:r>
            <a:endParaRPr lang="en-US" sz="1250" dirty="0"/>
          </a:p>
        </p:txBody>
      </p:sp>
      <p:sp>
        <p:nvSpPr>
          <p:cNvPr id="7" name="Text 5"/>
          <p:cNvSpPr/>
          <p:nvPr/>
        </p:nvSpPr>
        <p:spPr>
          <a:xfrm>
            <a:off x="960120" y="2852928"/>
            <a:ext cx="4754880" cy="65836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SIGKILL mid-evaluation across 8,000 spans:</a:t>
            </a:r>
            <a:endParaRPr lang="en-US" sz="1150" dirty="0"/>
          </a:p>
          <a:p>
            <a:pPr indent="0" marL="0">
              <a:buNone/>
            </a:pPr>
            <a:r>
              <a:rPr lang="en-US" sz="1150" dirty="0">
                <a:solidFill>
                  <a:srgbClr val="9AA4BD"/>
                </a:solidFill>
                <a:latin typeface="Calibri" pitchFamily="34" charset="0"/>
                <a:ea typeface="Calibri" pitchFamily="34" charset="-122"/>
                <a:cs typeface="Calibri" pitchFamily="34" charset="-120"/>
              </a:rPr>
              <a:t>0 lost, 0 retried, 0 duplicated</a:t>
            </a:r>
            <a:endParaRPr lang="en-US" sz="1150" dirty="0"/>
          </a:p>
        </p:txBody>
      </p:sp>
      <p:sp>
        <p:nvSpPr>
          <p:cNvPr id="8" name="Shape 6"/>
          <p:cNvSpPr/>
          <p:nvPr/>
        </p:nvSpPr>
        <p:spPr>
          <a:xfrm>
            <a:off x="6172200" y="1828800"/>
            <a:ext cx="5349240" cy="1783080"/>
          </a:xfrm>
          <a:prstGeom prst="roundRect">
            <a:avLst>
              <a:gd name="adj" fmla="val 4103"/>
            </a:avLst>
          </a:prstGeom>
          <a:solidFill>
            <a:srgbClr val="222937"/>
          </a:solidFill>
          <a:ln w="12700">
            <a:solidFill>
              <a:srgbClr val="222937"/>
            </a:solidFill>
            <a:prstDash val="solid"/>
          </a:ln>
        </p:spPr>
      </p:sp>
      <p:sp>
        <p:nvSpPr>
          <p:cNvPr id="9" name="Text 7"/>
          <p:cNvSpPr/>
          <p:nvPr/>
        </p:nvSpPr>
        <p:spPr>
          <a:xfrm>
            <a:off x="6492240" y="2011680"/>
            <a:ext cx="4754880" cy="566928"/>
          </a:xfrm>
          <a:prstGeom prst="rect">
            <a:avLst/>
          </a:prstGeom>
          <a:noFill/>
          <a:ln/>
        </p:spPr>
        <p:txBody>
          <a:bodyPr wrap="square" lIns="0" tIns="0" rIns="0" bIns="0" rtlCol="0" anchor="ctr"/>
          <a:lstStyle/>
          <a:p>
            <a:pPr indent="0" marL="0">
              <a:buNone/>
            </a:pPr>
            <a:r>
              <a:rPr lang="en-US" sz="2700" b="1" dirty="0">
                <a:solidFill>
                  <a:srgbClr val="22D3EE"/>
                </a:solidFill>
                <a:latin typeface="Cambria" pitchFamily="34" charset="0"/>
                <a:ea typeface="Cambria" pitchFamily="34" charset="-122"/>
                <a:cs typeface="Cambria" pitchFamily="34" charset="-120"/>
              </a:rPr>
              <a:t>12 spans/s</a:t>
            </a:r>
            <a:endParaRPr lang="en-US" sz="2700" dirty="0"/>
          </a:p>
        </p:txBody>
      </p:sp>
      <p:sp>
        <p:nvSpPr>
          <p:cNvPr id="10" name="Text 8"/>
          <p:cNvSpPr/>
          <p:nvPr/>
        </p:nvSpPr>
        <p:spPr>
          <a:xfrm>
            <a:off x="6492240" y="256032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Throughput at 4 workers</a:t>
            </a:r>
            <a:endParaRPr lang="en-US" sz="1250" dirty="0"/>
          </a:p>
        </p:txBody>
      </p:sp>
      <p:sp>
        <p:nvSpPr>
          <p:cNvPr id="11" name="Text 9"/>
          <p:cNvSpPr/>
          <p:nvPr/>
        </p:nvSpPr>
        <p:spPr>
          <a:xfrm>
            <a:off x="6492240" y="2852928"/>
            <a:ext cx="4754880" cy="65836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8 workers buys 8% more for 86% more</a:t>
            </a:r>
            <a:endParaRPr lang="en-US" sz="1150" dirty="0"/>
          </a:p>
          <a:p>
            <a:pPr indent="0" marL="0">
              <a:buNone/>
            </a:pPr>
            <a:r>
              <a:rPr lang="en-US" sz="1150" dirty="0">
                <a:solidFill>
                  <a:srgbClr val="9AA4BD"/>
                </a:solidFill>
                <a:latin typeface="Calibri" pitchFamily="34" charset="0"/>
                <a:ea typeface="Calibri" pitchFamily="34" charset="-122"/>
                <a:cs typeface="Calibri" pitchFamily="34" charset="-120"/>
              </a:rPr>
              <a:t>memory — 4 is the operating point</a:t>
            </a:r>
            <a:endParaRPr lang="en-US" sz="1150" dirty="0"/>
          </a:p>
        </p:txBody>
      </p:sp>
      <p:sp>
        <p:nvSpPr>
          <p:cNvPr id="12" name="Shape 10"/>
          <p:cNvSpPr/>
          <p:nvPr/>
        </p:nvSpPr>
        <p:spPr>
          <a:xfrm>
            <a:off x="640080" y="3977640"/>
            <a:ext cx="5349240" cy="1783080"/>
          </a:xfrm>
          <a:prstGeom prst="roundRect">
            <a:avLst>
              <a:gd name="adj" fmla="val 4103"/>
            </a:avLst>
          </a:prstGeom>
          <a:solidFill>
            <a:srgbClr val="222937"/>
          </a:solidFill>
          <a:ln w="12700">
            <a:solidFill>
              <a:srgbClr val="222937"/>
            </a:solidFill>
            <a:prstDash val="solid"/>
          </a:ln>
        </p:spPr>
      </p:sp>
      <p:sp>
        <p:nvSpPr>
          <p:cNvPr id="13" name="Text 11"/>
          <p:cNvSpPr/>
          <p:nvPr/>
        </p:nvSpPr>
        <p:spPr>
          <a:xfrm>
            <a:off x="960120" y="4160520"/>
            <a:ext cx="4754880" cy="566928"/>
          </a:xfrm>
          <a:prstGeom prst="rect">
            <a:avLst/>
          </a:prstGeom>
          <a:noFill/>
          <a:ln/>
        </p:spPr>
        <p:txBody>
          <a:bodyPr wrap="square" lIns="0" tIns="0" rIns="0" bIns="0" rtlCol="0" anchor="ctr"/>
          <a:lstStyle/>
          <a:p>
            <a:pPr indent="0" marL="0">
              <a:buNone/>
            </a:pPr>
            <a:r>
              <a:rPr lang="en-US" sz="2700" b="1" dirty="0">
                <a:solidFill>
                  <a:srgbClr val="22D3EE"/>
                </a:solidFill>
                <a:latin typeface="Cambria" pitchFamily="34" charset="0"/>
                <a:ea typeface="Cambria" pitchFamily="34" charset="-122"/>
                <a:cs typeface="Cambria" pitchFamily="34" charset="-120"/>
              </a:rPr>
              <a:t>1.97x</a:t>
            </a:r>
            <a:endParaRPr lang="en-US" sz="2700" dirty="0"/>
          </a:p>
        </p:txBody>
      </p:sp>
      <p:sp>
        <p:nvSpPr>
          <p:cNvPr id="14" name="Text 12"/>
          <p:cNvSpPr/>
          <p:nvPr/>
        </p:nvSpPr>
        <p:spPr>
          <a:xfrm>
            <a:off x="960120" y="470916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ONNX vs PyTorch</a:t>
            </a:r>
            <a:endParaRPr lang="en-US" sz="1250" dirty="0"/>
          </a:p>
        </p:txBody>
      </p:sp>
      <p:sp>
        <p:nvSpPr>
          <p:cNvPr id="15" name="Text 13"/>
          <p:cNvSpPr/>
          <p:nvPr/>
        </p:nvSpPr>
        <p:spPr>
          <a:xfrm>
            <a:off x="960120" y="5001768"/>
            <a:ext cx="4754880" cy="65836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Worst probability difference between</a:t>
            </a:r>
            <a:endParaRPr lang="en-US" sz="1150" dirty="0"/>
          </a:p>
          <a:p>
            <a:pPr indent="0" marL="0">
              <a:buNone/>
            </a:pPr>
            <a:r>
              <a:rPr lang="en-US" sz="1150" dirty="0">
                <a:solidFill>
                  <a:srgbClr val="9AA4BD"/>
                </a:solidFill>
                <a:latin typeface="Calibri" pitchFamily="34" charset="0"/>
                <a:ea typeface="Calibri" pitchFamily="34" charset="-122"/>
                <a:cs typeface="Calibri" pitchFamily="34" charset="-120"/>
              </a:rPr>
              <a:t>backends: 1.2e-08, i.e. identical</a:t>
            </a:r>
            <a:endParaRPr lang="en-US" sz="1150" dirty="0"/>
          </a:p>
        </p:txBody>
      </p:sp>
      <p:sp>
        <p:nvSpPr>
          <p:cNvPr id="16" name="Shape 14"/>
          <p:cNvSpPr/>
          <p:nvPr/>
        </p:nvSpPr>
        <p:spPr>
          <a:xfrm>
            <a:off x="6172200" y="3977640"/>
            <a:ext cx="5349240" cy="1783080"/>
          </a:xfrm>
          <a:prstGeom prst="roundRect">
            <a:avLst>
              <a:gd name="adj" fmla="val 4103"/>
            </a:avLst>
          </a:prstGeom>
          <a:solidFill>
            <a:srgbClr val="222937"/>
          </a:solidFill>
          <a:ln w="12700">
            <a:solidFill>
              <a:srgbClr val="222937"/>
            </a:solidFill>
            <a:prstDash val="solid"/>
          </a:ln>
        </p:spPr>
      </p:sp>
      <p:sp>
        <p:nvSpPr>
          <p:cNvPr id="17" name="Text 15"/>
          <p:cNvSpPr/>
          <p:nvPr/>
        </p:nvSpPr>
        <p:spPr>
          <a:xfrm>
            <a:off x="6492240" y="4160520"/>
            <a:ext cx="4754880" cy="566928"/>
          </a:xfrm>
          <a:prstGeom prst="rect">
            <a:avLst/>
          </a:prstGeom>
          <a:noFill/>
          <a:ln/>
        </p:spPr>
        <p:txBody>
          <a:bodyPr wrap="square" lIns="0" tIns="0" rIns="0" bIns="0" rtlCol="0" anchor="ctr"/>
          <a:lstStyle/>
          <a:p>
            <a:pPr indent="0" marL="0">
              <a:buNone/>
            </a:pPr>
            <a:r>
              <a:rPr lang="en-US" sz="2700" b="1" dirty="0">
                <a:solidFill>
                  <a:srgbClr val="34D399"/>
                </a:solidFill>
                <a:latin typeface="Cambria" pitchFamily="34" charset="0"/>
                <a:ea typeface="Cambria" pitchFamily="34" charset="-122"/>
                <a:cs typeface="Cambria" pitchFamily="34" charset="-120"/>
              </a:rPr>
              <a:t>1.24 &gt; 0.10 GB</a:t>
            </a:r>
            <a:endParaRPr lang="en-US" sz="2700" dirty="0"/>
          </a:p>
        </p:txBody>
      </p:sp>
      <p:sp>
        <p:nvSpPr>
          <p:cNvPr id="18" name="Text 16"/>
          <p:cNvSpPr/>
          <p:nvPr/>
        </p:nvSpPr>
        <p:spPr>
          <a:xfrm>
            <a:off x="6492240" y="470916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API memory footprint</a:t>
            </a:r>
            <a:endParaRPr lang="en-US" sz="1250" dirty="0"/>
          </a:p>
        </p:txBody>
      </p:sp>
      <p:sp>
        <p:nvSpPr>
          <p:cNvPr id="19" name="Text 17"/>
          <p:cNvSpPr/>
          <p:nvPr/>
        </p:nvSpPr>
        <p:spPr>
          <a:xfrm>
            <a:off x="6492240" y="5001768"/>
            <a:ext cx="4754880" cy="65836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Models moved off the ingest process;</a:t>
            </a:r>
            <a:endParaRPr lang="en-US" sz="1150" dirty="0"/>
          </a:p>
          <a:p>
            <a:pPr indent="0" marL="0">
              <a:buNone/>
            </a:pPr>
            <a:r>
              <a:rPr lang="en-US" sz="1150" dirty="0">
                <a:solidFill>
                  <a:srgbClr val="9AA4BD"/>
                </a:solidFill>
                <a:latin typeface="Calibri" pitchFamily="34" charset="0"/>
                <a:ea typeface="Calibri" pitchFamily="34" charset="-122"/>
                <a:cs typeface="Calibri" pitchFamily="34" charset="-120"/>
              </a:rPr>
              <a:t>time-to-ready unchanged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TURNING POINT</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41922"/>
                </a:solidFill>
                <a:latin typeface="Cambria" pitchFamily="34" charset="0"/>
                <a:ea typeface="Cambria" pitchFamily="34" charset="-122"/>
                <a:cs typeface="Cambria" pitchFamily="34" charset="-120"/>
              </a:rPr>
              <a:t>Three signals met external data. Three broke.</a:t>
            </a:r>
            <a:endParaRPr lang="en-US" sz="3400" dirty="0"/>
          </a:p>
        </p:txBody>
      </p:sp>
      <p:sp>
        <p:nvSpPr>
          <p:cNvPr id="4" name="Text 2"/>
          <p:cNvSpPr/>
          <p:nvPr/>
        </p:nvSpPr>
        <p:spPr>
          <a:xfrm>
            <a:off x="960120" y="1691640"/>
            <a:ext cx="1554480" cy="274320"/>
          </a:xfrm>
          <a:prstGeom prst="rect">
            <a:avLst/>
          </a:prstGeom>
          <a:noFill/>
          <a:ln/>
        </p:spPr>
        <p:txBody>
          <a:bodyPr wrap="square" lIns="0" tIns="0" rIns="0" bIns="0" rtlCol="0" anchor="ctr"/>
          <a:lstStyle/>
          <a:p>
            <a:pPr indent="0" marL="0">
              <a:buNone/>
            </a:pPr>
            <a:r>
              <a:rPr lang="en-US" sz="1050" b="1" spc="100" kern="0" dirty="0">
                <a:solidFill>
                  <a:srgbClr val="7A8496"/>
                </a:solidFill>
                <a:latin typeface="Calibri" pitchFamily="34" charset="0"/>
                <a:ea typeface="Calibri" pitchFamily="34" charset="-122"/>
                <a:cs typeface="Calibri" pitchFamily="34" charset="-120"/>
              </a:rPr>
              <a:t>SIGNAL</a:t>
            </a:r>
            <a:endParaRPr lang="en-US" sz="1050" dirty="0"/>
          </a:p>
        </p:txBody>
      </p:sp>
      <p:sp>
        <p:nvSpPr>
          <p:cNvPr id="5" name="Text 3"/>
          <p:cNvSpPr/>
          <p:nvPr/>
        </p:nvSpPr>
        <p:spPr>
          <a:xfrm>
            <a:off x="2606040" y="1691640"/>
            <a:ext cx="3108960" cy="274320"/>
          </a:xfrm>
          <a:prstGeom prst="rect">
            <a:avLst/>
          </a:prstGeom>
          <a:noFill/>
          <a:ln/>
        </p:spPr>
        <p:txBody>
          <a:bodyPr wrap="square" lIns="0" tIns="0" rIns="0" bIns="0" rtlCol="0" anchor="ctr"/>
          <a:lstStyle/>
          <a:p>
            <a:pPr indent="0" marL="0">
              <a:buNone/>
            </a:pPr>
            <a:r>
              <a:rPr lang="en-US" sz="1050" b="1" spc="100" kern="0" dirty="0">
                <a:solidFill>
                  <a:srgbClr val="7A8496"/>
                </a:solidFill>
                <a:latin typeface="Calibri" pitchFamily="34" charset="0"/>
                <a:ea typeface="Calibri" pitchFamily="34" charset="-122"/>
                <a:cs typeface="Calibri" pitchFamily="34" charset="-120"/>
              </a:rPr>
              <a:t>INTERNAL BENCHMARK</a:t>
            </a:r>
            <a:endParaRPr lang="en-US" sz="1050" dirty="0"/>
          </a:p>
        </p:txBody>
      </p:sp>
      <p:sp>
        <p:nvSpPr>
          <p:cNvPr id="6" name="Text 4"/>
          <p:cNvSpPr/>
          <p:nvPr/>
        </p:nvSpPr>
        <p:spPr>
          <a:xfrm>
            <a:off x="5760720" y="1691640"/>
            <a:ext cx="3383280" cy="274320"/>
          </a:xfrm>
          <a:prstGeom prst="rect">
            <a:avLst/>
          </a:prstGeom>
          <a:noFill/>
          <a:ln/>
        </p:spPr>
        <p:txBody>
          <a:bodyPr wrap="square" lIns="0" tIns="0" rIns="0" bIns="0" rtlCol="0" anchor="ctr"/>
          <a:lstStyle/>
          <a:p>
            <a:pPr indent="0" marL="0">
              <a:buNone/>
            </a:pPr>
            <a:r>
              <a:rPr lang="en-US" sz="1050" b="1" spc="100" kern="0" dirty="0">
                <a:solidFill>
                  <a:srgbClr val="7A8496"/>
                </a:solidFill>
                <a:latin typeface="Calibri" pitchFamily="34" charset="0"/>
                <a:ea typeface="Calibri" pitchFamily="34" charset="-122"/>
                <a:cs typeface="Calibri" pitchFamily="34" charset="-120"/>
              </a:rPr>
              <a:t>ON EXTERNAL DATA</a:t>
            </a:r>
            <a:endParaRPr lang="en-US" sz="1050" dirty="0"/>
          </a:p>
        </p:txBody>
      </p:sp>
      <p:sp>
        <p:nvSpPr>
          <p:cNvPr id="7" name="Text 5"/>
          <p:cNvSpPr/>
          <p:nvPr/>
        </p:nvSpPr>
        <p:spPr>
          <a:xfrm>
            <a:off x="9189720" y="1691640"/>
            <a:ext cx="2194560" cy="274320"/>
          </a:xfrm>
          <a:prstGeom prst="rect">
            <a:avLst/>
          </a:prstGeom>
          <a:noFill/>
          <a:ln/>
        </p:spPr>
        <p:txBody>
          <a:bodyPr wrap="square" lIns="0" tIns="0" rIns="0" bIns="0" rtlCol="0" anchor="ctr"/>
          <a:lstStyle/>
          <a:p>
            <a:pPr indent="0" marL="0">
              <a:buNone/>
            </a:pPr>
            <a:r>
              <a:rPr lang="en-US" sz="1050" b="1" spc="100" kern="0" dirty="0">
                <a:solidFill>
                  <a:srgbClr val="7A8496"/>
                </a:solidFill>
                <a:latin typeface="Calibri" pitchFamily="34" charset="0"/>
                <a:ea typeface="Calibri" pitchFamily="34" charset="-122"/>
                <a:cs typeface="Calibri" pitchFamily="34" charset="-120"/>
              </a:rPr>
              <a:t>WHERE IT STANDS</a:t>
            </a:r>
            <a:endParaRPr lang="en-US" sz="1050" dirty="0"/>
          </a:p>
        </p:txBody>
      </p:sp>
      <p:sp>
        <p:nvSpPr>
          <p:cNvPr id="8" name="Shape 6"/>
          <p:cNvSpPr/>
          <p:nvPr/>
        </p:nvSpPr>
        <p:spPr>
          <a:xfrm>
            <a:off x="640080" y="2057400"/>
            <a:ext cx="10881360" cy="1005840"/>
          </a:xfrm>
          <a:prstGeom prst="roundRect">
            <a:avLst>
              <a:gd name="adj" fmla="val 7273"/>
            </a:avLst>
          </a:prstGeom>
          <a:solidFill>
            <a:srgbClr val="FFFFFF"/>
          </a:solidFill>
          <a:ln w="12700">
            <a:solidFill>
              <a:srgbClr val="FFFFFF"/>
            </a:solidFill>
            <a:prstDash val="solid"/>
          </a:ln>
        </p:spPr>
      </p:sp>
      <p:sp>
        <p:nvSpPr>
          <p:cNvPr id="9" name="Text 7"/>
          <p:cNvSpPr/>
          <p:nvPr/>
        </p:nvSpPr>
        <p:spPr>
          <a:xfrm>
            <a:off x="960120" y="2386584"/>
            <a:ext cx="1554480" cy="329184"/>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Drift</a:t>
            </a:r>
            <a:endParaRPr lang="en-US" sz="1500" dirty="0"/>
          </a:p>
        </p:txBody>
      </p:sp>
      <p:sp>
        <p:nvSpPr>
          <p:cNvPr id="10" name="Text 8"/>
          <p:cNvSpPr/>
          <p:nvPr/>
        </p:nvSpPr>
        <p:spPr>
          <a:xfrm>
            <a:off x="2606040" y="2404872"/>
            <a:ext cx="3108960" cy="329184"/>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0.30 threshold looked calibrated</a:t>
            </a:r>
            <a:endParaRPr lang="en-US" sz="1250" dirty="0"/>
          </a:p>
        </p:txBody>
      </p:sp>
      <p:sp>
        <p:nvSpPr>
          <p:cNvPr id="11" name="Text 9"/>
          <p:cNvSpPr/>
          <p:nvPr/>
        </p:nvSpPr>
        <p:spPr>
          <a:xfrm>
            <a:off x="5760720" y="2404872"/>
            <a:ext cx="3383280" cy="329184"/>
          </a:xfrm>
          <a:prstGeom prst="rect">
            <a:avLst/>
          </a:prstGeom>
          <a:noFill/>
          <a:ln/>
        </p:spPr>
        <p:txBody>
          <a:bodyPr wrap="square" lIns="0" tIns="0" rIns="0" bIns="0" rtlCol="0" anchor="ctr"/>
          <a:lstStyle/>
          <a:p>
            <a:pPr indent="0" marL="0">
              <a:buNone/>
            </a:pPr>
            <a:r>
              <a:rPr lang="en-US" sz="1250" b="1" dirty="0">
                <a:solidFill>
                  <a:srgbClr val="34D399"/>
                </a:solidFill>
                <a:latin typeface="Calibri" pitchFamily="34" charset="0"/>
                <a:ea typeface="Calibri" pitchFamily="34" charset="-122"/>
                <a:cs typeface="Calibri" pitchFamily="34" charset="-120"/>
              </a:rPr>
              <a:t>91.7% false alarms on real text</a:t>
            </a:r>
            <a:endParaRPr lang="en-US" sz="1250" dirty="0"/>
          </a:p>
        </p:txBody>
      </p:sp>
      <p:sp>
        <p:nvSpPr>
          <p:cNvPr id="12" name="Text 10"/>
          <p:cNvSpPr/>
          <p:nvPr/>
        </p:nvSpPr>
        <p:spPr>
          <a:xfrm>
            <a:off x="9189720" y="2404872"/>
            <a:ext cx="2194560" cy="329184"/>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Diagnosed and rebuilt</a:t>
            </a:r>
            <a:endParaRPr lang="en-US" sz="1200" dirty="0"/>
          </a:p>
        </p:txBody>
      </p:sp>
      <p:sp>
        <p:nvSpPr>
          <p:cNvPr id="13" name="Shape 11"/>
          <p:cNvSpPr/>
          <p:nvPr/>
        </p:nvSpPr>
        <p:spPr>
          <a:xfrm>
            <a:off x="640080" y="3200400"/>
            <a:ext cx="10881360" cy="1005840"/>
          </a:xfrm>
          <a:prstGeom prst="roundRect">
            <a:avLst>
              <a:gd name="adj" fmla="val 7273"/>
            </a:avLst>
          </a:prstGeom>
          <a:solidFill>
            <a:srgbClr val="FFFFFF"/>
          </a:solidFill>
          <a:ln w="12700">
            <a:solidFill>
              <a:srgbClr val="FFFFFF"/>
            </a:solidFill>
            <a:prstDash val="solid"/>
          </a:ln>
        </p:spPr>
      </p:sp>
      <p:sp>
        <p:nvSpPr>
          <p:cNvPr id="14" name="Text 12"/>
          <p:cNvSpPr/>
          <p:nvPr/>
        </p:nvSpPr>
        <p:spPr>
          <a:xfrm>
            <a:off x="960120" y="3529584"/>
            <a:ext cx="1554480" cy="329184"/>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Tool-claim</a:t>
            </a:r>
            <a:endParaRPr lang="en-US" sz="1500" dirty="0"/>
          </a:p>
        </p:txBody>
      </p:sp>
      <p:sp>
        <p:nvSpPr>
          <p:cNvPr id="15" name="Text 13"/>
          <p:cNvSpPr/>
          <p:nvPr/>
        </p:nvSpPr>
        <p:spPr>
          <a:xfrm>
            <a:off x="2606040" y="3547872"/>
            <a:ext cx="3108960" cy="329184"/>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F1 0.842 on its own 19 cases</a:t>
            </a:r>
            <a:endParaRPr lang="en-US" sz="1250" dirty="0"/>
          </a:p>
        </p:txBody>
      </p:sp>
      <p:sp>
        <p:nvSpPr>
          <p:cNvPr id="16" name="Text 14"/>
          <p:cNvSpPr/>
          <p:nvPr/>
        </p:nvSpPr>
        <p:spPr>
          <a:xfrm>
            <a:off x="5760720" y="3547872"/>
            <a:ext cx="3383280" cy="329184"/>
          </a:xfrm>
          <a:prstGeom prst="rect">
            <a:avLst/>
          </a:prstGeom>
          <a:noFill/>
          <a:ln/>
        </p:spPr>
        <p:txBody>
          <a:bodyPr wrap="square" lIns="0" tIns="0" rIns="0" bIns="0" rtlCol="0" anchor="ctr"/>
          <a:lstStyle/>
          <a:p>
            <a:pPr indent="0" marL="0">
              <a:buNone/>
            </a:pPr>
            <a:r>
              <a:rPr lang="en-US" sz="1250" b="1" dirty="0">
                <a:solidFill>
                  <a:srgbClr val="FB7185"/>
                </a:solidFill>
                <a:latin typeface="Calibri" pitchFamily="34" charset="0"/>
                <a:ea typeface="Calibri" pitchFamily="34" charset="-122"/>
                <a:cs typeface="Calibri" pitchFamily="34" charset="-120"/>
              </a:rPr>
              <a:t>0 claims from 8,353 real prose spans</a:t>
            </a:r>
            <a:endParaRPr lang="en-US" sz="1250" dirty="0"/>
          </a:p>
        </p:txBody>
      </p:sp>
      <p:sp>
        <p:nvSpPr>
          <p:cNvPr id="17" name="Text 15"/>
          <p:cNvSpPr/>
          <p:nvPr/>
        </p:nvSpPr>
        <p:spPr>
          <a:xfrm>
            <a:off x="9189720" y="3547872"/>
            <a:ext cx="2194560" cy="329184"/>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Redesign blocked on labelling</a:t>
            </a:r>
            <a:endParaRPr lang="en-US" sz="1200" dirty="0"/>
          </a:p>
        </p:txBody>
      </p:sp>
      <p:sp>
        <p:nvSpPr>
          <p:cNvPr id="18" name="Shape 16"/>
          <p:cNvSpPr/>
          <p:nvPr/>
        </p:nvSpPr>
        <p:spPr>
          <a:xfrm>
            <a:off x="640080" y="4343400"/>
            <a:ext cx="10881360" cy="1005840"/>
          </a:xfrm>
          <a:prstGeom prst="roundRect">
            <a:avLst>
              <a:gd name="adj" fmla="val 7273"/>
            </a:avLst>
          </a:prstGeom>
          <a:solidFill>
            <a:srgbClr val="FFFFFF"/>
          </a:solidFill>
          <a:ln w="12700">
            <a:solidFill>
              <a:srgbClr val="FFFFFF"/>
            </a:solidFill>
            <a:prstDash val="solid"/>
          </a:ln>
        </p:spPr>
      </p:sp>
      <p:sp>
        <p:nvSpPr>
          <p:cNvPr id="19" name="Text 17"/>
          <p:cNvSpPr/>
          <p:nvPr/>
        </p:nvSpPr>
        <p:spPr>
          <a:xfrm>
            <a:off x="960120" y="4672584"/>
            <a:ext cx="1554480" cy="329184"/>
          </a:xfrm>
          <a:prstGeom prst="rect">
            <a:avLst/>
          </a:prstGeom>
          <a:noFill/>
          <a:ln/>
        </p:spPr>
        <p:txBody>
          <a:bodyPr wrap="square" lIns="0" tIns="0" rIns="0" bIns="0" rtlCol="0" anchor="ctr"/>
          <a:lstStyle/>
          <a:p>
            <a:pPr indent="0" marL="0">
              <a:buNone/>
            </a:pPr>
            <a:r>
              <a:rPr lang="en-US" sz="1500" b="1" dirty="0">
                <a:solidFill>
                  <a:srgbClr val="141922"/>
                </a:solidFill>
                <a:latin typeface="Calibri" pitchFamily="34" charset="0"/>
                <a:ea typeface="Calibri" pitchFamily="34" charset="-122"/>
                <a:cs typeface="Calibri" pitchFamily="34" charset="-120"/>
              </a:rPr>
              <a:t>Disagreement</a:t>
            </a:r>
            <a:endParaRPr lang="en-US" sz="1500" dirty="0"/>
          </a:p>
        </p:txBody>
      </p:sp>
      <p:sp>
        <p:nvSpPr>
          <p:cNvPr id="20" name="Text 18"/>
          <p:cNvSpPr/>
          <p:nvPr/>
        </p:nvSpPr>
        <p:spPr>
          <a:xfrm>
            <a:off x="2606040" y="4690872"/>
            <a:ext cx="3108960" cy="329184"/>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F1 0.960 on 22 authored cases</a:t>
            </a:r>
            <a:endParaRPr lang="en-US" sz="1250" dirty="0"/>
          </a:p>
        </p:txBody>
      </p:sp>
      <p:sp>
        <p:nvSpPr>
          <p:cNvPr id="21" name="Text 19"/>
          <p:cNvSpPr/>
          <p:nvPr/>
        </p:nvSpPr>
        <p:spPr>
          <a:xfrm>
            <a:off x="5760720" y="4690872"/>
            <a:ext cx="3383280" cy="329184"/>
          </a:xfrm>
          <a:prstGeom prst="rect">
            <a:avLst/>
          </a:prstGeom>
          <a:noFill/>
          <a:ln/>
        </p:spPr>
        <p:txBody>
          <a:bodyPr wrap="square" lIns="0" tIns="0" rIns="0" bIns="0" rtlCol="0" anchor="ctr"/>
          <a:lstStyle/>
          <a:p>
            <a:pPr indent="0" marL="0">
              <a:buNone/>
            </a:pPr>
            <a:r>
              <a:rPr lang="en-US" sz="1250" b="1" dirty="0">
                <a:solidFill>
                  <a:srgbClr val="FB7185"/>
                </a:solidFill>
                <a:latin typeface="Calibri" pitchFamily="34" charset="0"/>
                <a:ea typeface="Calibri" pitchFamily="34" charset="-122"/>
                <a:cs typeface="Calibri" pitchFamily="34" charset="-120"/>
              </a:rPr>
              <a:t>0 of 10 contradictions detected</a:t>
            </a:r>
            <a:endParaRPr lang="en-US" sz="1250" dirty="0"/>
          </a:p>
        </p:txBody>
      </p:sp>
      <p:sp>
        <p:nvSpPr>
          <p:cNvPr id="22" name="Text 20"/>
          <p:cNvSpPr/>
          <p:nvPr/>
        </p:nvSpPr>
        <p:spPr>
          <a:xfrm>
            <a:off x="9189720" y="4690872"/>
            <a:ext cx="2194560" cy="329184"/>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Open research question</a:t>
            </a:r>
            <a:endParaRPr lang="en-US" sz="1200" dirty="0"/>
          </a:p>
        </p:txBody>
      </p:sp>
      <p:sp>
        <p:nvSpPr>
          <p:cNvPr id="23" name="Shape 21"/>
          <p:cNvSpPr/>
          <p:nvPr/>
        </p:nvSpPr>
        <p:spPr>
          <a:xfrm>
            <a:off x="640080" y="5532120"/>
            <a:ext cx="10881360" cy="868680"/>
          </a:xfrm>
          <a:prstGeom prst="roundRect">
            <a:avLst>
              <a:gd name="adj" fmla="val 8421"/>
            </a:avLst>
          </a:prstGeom>
          <a:solidFill>
            <a:srgbClr val="1B2230"/>
          </a:solidFill>
          <a:ln w="12700">
            <a:solidFill>
              <a:srgbClr val="1B2230"/>
            </a:solidFill>
            <a:prstDash val="solid"/>
          </a:ln>
        </p:spPr>
      </p:sp>
      <p:sp>
        <p:nvSpPr>
          <p:cNvPr id="24" name="Text 22"/>
          <p:cNvSpPr/>
          <p:nvPr/>
        </p:nvSpPr>
        <p:spPr>
          <a:xfrm>
            <a:off x="1005840" y="5742432"/>
            <a:ext cx="10149840" cy="457200"/>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Every internal benchmark that has been checked against external data has broken or narrowed. That is a finding about benchmark design, not bad luck.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DIAGNOSIS</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E8ECF5"/>
                </a:solidFill>
                <a:latin typeface="Cambria" pitchFamily="34" charset="0"/>
                <a:ea typeface="Cambria" pitchFamily="34" charset="-122"/>
                <a:cs typeface="Cambria" pitchFamily="34" charset="-120"/>
              </a:rPr>
              <a:t>The benchmarks measured the wrong shape</a:t>
            </a:r>
            <a:endParaRPr lang="en-US" sz="3400" dirty="0"/>
          </a:p>
        </p:txBody>
      </p:sp>
      <p:sp>
        <p:nvSpPr>
          <p:cNvPr id="4" name="Shape 2"/>
          <p:cNvSpPr/>
          <p:nvPr/>
        </p:nvSpPr>
        <p:spPr>
          <a:xfrm>
            <a:off x="640080" y="1783080"/>
            <a:ext cx="5349240" cy="2148840"/>
          </a:xfrm>
          <a:prstGeom prst="roundRect">
            <a:avLst>
              <a:gd name="adj" fmla="val 3404"/>
            </a:avLst>
          </a:prstGeom>
          <a:solidFill>
            <a:srgbClr val="222937"/>
          </a:solidFill>
          <a:ln w="12700">
            <a:solidFill>
              <a:srgbClr val="222937"/>
            </a:solidFill>
            <a:prstDash val="solid"/>
          </a:ln>
        </p:spPr>
      </p:sp>
      <p:sp>
        <p:nvSpPr>
          <p:cNvPr id="5" name="Text 3"/>
          <p:cNvSpPr/>
          <p:nvPr/>
        </p:nvSpPr>
        <p:spPr>
          <a:xfrm>
            <a:off x="960120" y="1965960"/>
            <a:ext cx="4754880" cy="310896"/>
          </a:xfrm>
          <a:prstGeom prst="rect">
            <a:avLst/>
          </a:prstGeom>
          <a:noFill/>
          <a:ln/>
        </p:spPr>
        <p:txBody>
          <a:bodyPr wrap="square" lIns="0" tIns="0" rIns="0" bIns="0" rtlCol="0" anchor="ctr"/>
          <a:lstStyle/>
          <a:p>
            <a:pPr indent="0" marL="0">
              <a:buNone/>
            </a:pPr>
            <a:r>
              <a:rPr lang="en-US" sz="1600" b="1" dirty="0">
                <a:solidFill>
                  <a:srgbClr val="FBBF24"/>
                </a:solidFill>
                <a:latin typeface="Calibri" pitchFamily="34" charset="0"/>
                <a:ea typeface="Calibri" pitchFamily="34" charset="-122"/>
                <a:cs typeface="Calibri" pitchFamily="34" charset="-120"/>
              </a:rPr>
              <a:t>Tool-claim</a:t>
            </a:r>
            <a:endParaRPr lang="en-US" sz="1600" dirty="0"/>
          </a:p>
        </p:txBody>
      </p:sp>
      <p:sp>
        <p:nvSpPr>
          <p:cNvPr id="6" name="Text 4"/>
          <p:cNvSpPr/>
          <p:nvPr/>
        </p:nvSpPr>
        <p:spPr>
          <a:xfrm>
            <a:off x="960120" y="2359152"/>
            <a:ext cx="4754880" cy="1417320"/>
          </a:xfrm>
          <a:prstGeom prst="rect">
            <a:avLst/>
          </a:prstGeom>
          <a:noFill/>
          <a:ln/>
        </p:spPr>
        <p:txBody>
          <a:bodyPr wrap="square" lIns="0" tIns="0" rIns="0" bIns="0" rtlCol="0" anchor="ctr"/>
          <a:lstStyle/>
          <a:p>
            <a:pPr indent="0" marL="0">
              <a:buNone/>
            </a:pPr>
            <a:r>
              <a:rPr lang="en-US" sz="1250" dirty="0">
                <a:solidFill>
                  <a:srgbClr val="9AA4BD"/>
                </a:solidFill>
                <a:latin typeface="Calibri" pitchFamily="34" charset="0"/>
                <a:ea typeface="Calibri" pitchFamily="34" charset="-122"/>
                <a:cs typeface="Calibri" pitchFamily="34" charset="-120"/>
              </a:rPr>
              <a:t>The extractor looks for an agent narrating "I used the X tool". Modern harnesses never narrate it — the tool name lives in a structured tool_call field the validator never reads. Expanding the regex cannot fix this; the information is not in the text.</a:t>
            </a:r>
            <a:endParaRPr lang="en-US" sz="1250" dirty="0"/>
          </a:p>
        </p:txBody>
      </p:sp>
      <p:sp>
        <p:nvSpPr>
          <p:cNvPr id="7" name="Shape 5"/>
          <p:cNvSpPr/>
          <p:nvPr/>
        </p:nvSpPr>
        <p:spPr>
          <a:xfrm>
            <a:off x="6309360" y="1783080"/>
            <a:ext cx="5349240" cy="2148840"/>
          </a:xfrm>
          <a:prstGeom prst="roundRect">
            <a:avLst>
              <a:gd name="adj" fmla="val 3404"/>
            </a:avLst>
          </a:prstGeom>
          <a:solidFill>
            <a:srgbClr val="222937"/>
          </a:solidFill>
          <a:ln w="12700">
            <a:solidFill>
              <a:srgbClr val="222937"/>
            </a:solidFill>
            <a:prstDash val="solid"/>
          </a:ln>
        </p:spPr>
      </p:sp>
      <p:sp>
        <p:nvSpPr>
          <p:cNvPr id="8" name="Text 6"/>
          <p:cNvSpPr/>
          <p:nvPr/>
        </p:nvSpPr>
        <p:spPr>
          <a:xfrm>
            <a:off x="6629400" y="1965960"/>
            <a:ext cx="4754880" cy="310896"/>
          </a:xfrm>
          <a:prstGeom prst="rect">
            <a:avLst/>
          </a:prstGeom>
          <a:noFill/>
          <a:ln/>
        </p:spPr>
        <p:txBody>
          <a:bodyPr wrap="square" lIns="0" tIns="0" rIns="0" bIns="0" rtlCol="0" anchor="ctr"/>
          <a:lstStyle/>
          <a:p>
            <a:pPr indent="0" marL="0">
              <a:buNone/>
            </a:pPr>
            <a:r>
              <a:rPr lang="en-US" sz="1600" b="1" dirty="0">
                <a:solidFill>
                  <a:srgbClr val="FBBF24"/>
                </a:solidFill>
                <a:latin typeface="Calibri" pitchFamily="34" charset="0"/>
                <a:ea typeface="Calibri" pitchFamily="34" charset="-122"/>
                <a:cs typeface="Calibri" pitchFamily="34" charset="-120"/>
              </a:rPr>
              <a:t>Disagreement</a:t>
            </a:r>
            <a:endParaRPr lang="en-US" sz="1600" dirty="0"/>
          </a:p>
        </p:txBody>
      </p:sp>
      <p:sp>
        <p:nvSpPr>
          <p:cNvPr id="9" name="Text 7"/>
          <p:cNvSpPr/>
          <p:nvPr/>
        </p:nvSpPr>
        <p:spPr>
          <a:xfrm>
            <a:off x="6629400" y="2359152"/>
            <a:ext cx="4754880" cy="1417320"/>
          </a:xfrm>
          <a:prstGeom prst="rect">
            <a:avLst/>
          </a:prstGeom>
          <a:noFill/>
          <a:ln/>
        </p:spPr>
        <p:txBody>
          <a:bodyPr wrap="square" lIns="0" tIns="0" rIns="0" bIns="0" rtlCol="0" anchor="ctr"/>
          <a:lstStyle/>
          <a:p>
            <a:pPr indent="0" marL="0">
              <a:buNone/>
            </a:pPr>
            <a:r>
              <a:rPr lang="en-US" sz="1250" dirty="0">
                <a:solidFill>
                  <a:srgbClr val="9AA4BD"/>
                </a:solidFill>
                <a:latin typeface="Calibri" pitchFamily="34" charset="0"/>
                <a:ea typeface="Calibri" pitchFamily="34" charset="-122"/>
                <a:cs typeface="Calibri" pitchFamily="34" charset="-120"/>
              </a:rPr>
              <a:t>The 22 internal cases averaged ten words each — minimal pairs of exactly the shape the NLI model was trained on. Real debate turns run 2,000+ characters of hedged discourse. The benchmark handed the detector pre-extracted claims, so the missing extraction stage was invisible.</a:t>
            </a:r>
            <a:endParaRPr lang="en-US" sz="1250" dirty="0"/>
          </a:p>
        </p:txBody>
      </p:sp>
      <p:sp>
        <p:nvSpPr>
          <p:cNvPr id="10" name="Shape 8"/>
          <p:cNvSpPr/>
          <p:nvPr/>
        </p:nvSpPr>
        <p:spPr>
          <a:xfrm>
            <a:off x="640080" y="4160520"/>
            <a:ext cx="10881360" cy="1965960"/>
          </a:xfrm>
          <a:prstGeom prst="roundRect">
            <a:avLst>
              <a:gd name="adj" fmla="val 3721"/>
            </a:avLst>
          </a:prstGeom>
          <a:solidFill>
            <a:srgbClr val="1B2230"/>
          </a:solidFill>
          <a:ln w="12700">
            <a:solidFill>
              <a:srgbClr val="1B2230"/>
            </a:solidFill>
            <a:prstDash val="solid"/>
          </a:ln>
        </p:spPr>
      </p:sp>
      <p:sp>
        <p:nvSpPr>
          <p:cNvPr id="11" name="Text 9"/>
          <p:cNvSpPr/>
          <p:nvPr/>
        </p:nvSpPr>
        <p:spPr>
          <a:xfrm>
            <a:off x="1005840" y="4370832"/>
            <a:ext cx="10149840" cy="310896"/>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The finding that outlives the failure</a:t>
            </a:r>
            <a:endParaRPr lang="en-US" sz="1500" dirty="0"/>
          </a:p>
        </p:txBody>
      </p:sp>
      <p:sp>
        <p:nvSpPr>
          <p:cNvPr id="12" name="Text 10"/>
          <p:cNvSpPr/>
          <p:nvPr/>
        </p:nvSpPr>
        <p:spPr>
          <a:xfrm>
            <a:off x="1005840" y="4736592"/>
            <a:ext cx="10149840" cy="1234440"/>
          </a:xfrm>
          <a:prstGeom prst="rect">
            <a:avLst/>
          </a:prstGeom>
          <a:noFill/>
          <a:ln/>
        </p:spPr>
        <p:txBody>
          <a:bodyPr wrap="square" lIns="0" tIns="0" rIns="0" bIns="0" rtlCol="0" anchor="ctr"/>
          <a:lstStyle/>
          <a:p>
            <a:pPr indent="0" marL="0">
              <a:buNone/>
            </a:pPr>
            <a:r>
              <a:rPr lang="en-US" sz="1250" dirty="0">
                <a:solidFill>
                  <a:srgbClr val="9AA4BD"/>
                </a:solidFill>
                <a:latin typeface="Calibri" pitchFamily="34" charset="0"/>
                <a:ea typeface="Calibri" pitchFamily="34" charset="-122"/>
                <a:cs typeface="Calibri" pitchFamily="34" charset="-120"/>
              </a:rPr>
              <a:t>Real multi-agent systems distribute evidence across agents. Two agents can flatly contradict each other and both be correct about their own partition of the evidence. Six of forty labelled cases were exactly this. An NLI score compares two strings and has no representation of what each agent could see — so it cannot separate a genuine fault from legitimate disagreement under partial evidence. That gap widens as context distribution increases, which is precisely the regime this project targets.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41922"/>
                </a:solidFill>
                <a:latin typeface="Cambria" pitchFamily="34" charset="0"/>
                <a:ea typeface="Cambria" pitchFamily="34" charset="-122"/>
                <a:cs typeface="Cambria" pitchFamily="34" charset="-120"/>
              </a:rPr>
              <a:t>The discipline that made those findings possible</a:t>
            </a:r>
            <a:endParaRPr lang="en-US" sz="3400" dirty="0"/>
          </a:p>
        </p:txBody>
      </p:sp>
      <p:sp>
        <p:nvSpPr>
          <p:cNvPr id="4" name="Shape 2"/>
          <p:cNvSpPr/>
          <p:nvPr/>
        </p:nvSpPr>
        <p:spPr>
          <a:xfrm>
            <a:off x="640080" y="1691640"/>
            <a:ext cx="10881360" cy="1097280"/>
          </a:xfrm>
          <a:prstGeom prst="roundRect">
            <a:avLst>
              <a:gd name="adj" fmla="val 6667"/>
            </a:avLst>
          </a:prstGeom>
          <a:solidFill>
            <a:srgbClr val="FFFFFF"/>
          </a:solidFill>
          <a:ln w="12700">
            <a:solidFill>
              <a:srgbClr val="FFFFFF"/>
            </a:solidFill>
            <a:prstDash val="solid"/>
          </a:ln>
        </p:spPr>
      </p:sp>
      <p:sp>
        <p:nvSpPr>
          <p:cNvPr id="5" name="Text 3"/>
          <p:cNvSpPr/>
          <p:nvPr/>
        </p:nvSpPr>
        <p:spPr>
          <a:xfrm>
            <a:off x="960120" y="1984248"/>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1645920" y="1874520"/>
            <a:ext cx="9509760" cy="292608"/>
          </a:xfrm>
          <a:prstGeom prst="rect">
            <a:avLst/>
          </a:prstGeom>
          <a:noFill/>
          <a:ln/>
        </p:spPr>
        <p:txBody>
          <a:bodyPr wrap="square" lIns="0" tIns="0" rIns="0" bIns="0" rtlCol="0" anchor="ctr"/>
          <a:lstStyle/>
          <a:p>
            <a:pPr indent="0" marL="0">
              <a:buNone/>
            </a:pPr>
            <a:r>
              <a:rPr lang="en-US" sz="1450" b="1" dirty="0">
                <a:solidFill>
                  <a:srgbClr val="141922"/>
                </a:solidFill>
                <a:latin typeface="Calibri" pitchFamily="34" charset="0"/>
                <a:ea typeface="Calibri" pitchFamily="34" charset="-122"/>
                <a:cs typeface="Calibri" pitchFamily="34" charset="-120"/>
              </a:rPr>
              <a:t>Benchmark before fixing</a:t>
            </a:r>
            <a:endParaRPr lang="en-US" sz="1450" dirty="0"/>
          </a:p>
        </p:txBody>
      </p:sp>
      <p:sp>
        <p:nvSpPr>
          <p:cNvPr id="7" name="Text 5"/>
          <p:cNvSpPr/>
          <p:nvPr/>
        </p:nvSpPr>
        <p:spPr>
          <a:xfrm>
            <a:off x="1645920" y="2185416"/>
            <a:ext cx="9509760" cy="5486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The disagreement engine was measured against completely unmodified code first. Fixing first and measuring after produces a self-fulfilling score.</a:t>
            </a:r>
            <a:endParaRPr lang="en-US" sz="1200" dirty="0"/>
          </a:p>
        </p:txBody>
      </p:sp>
      <p:sp>
        <p:nvSpPr>
          <p:cNvPr id="8" name="Shape 6"/>
          <p:cNvSpPr/>
          <p:nvPr/>
        </p:nvSpPr>
        <p:spPr>
          <a:xfrm>
            <a:off x="640080" y="2898648"/>
            <a:ext cx="10881360" cy="1097280"/>
          </a:xfrm>
          <a:prstGeom prst="roundRect">
            <a:avLst>
              <a:gd name="adj" fmla="val 6667"/>
            </a:avLst>
          </a:prstGeom>
          <a:solidFill>
            <a:srgbClr val="FFFFFF"/>
          </a:solidFill>
          <a:ln w="12700">
            <a:solidFill>
              <a:srgbClr val="FFFFFF"/>
            </a:solidFill>
            <a:prstDash val="solid"/>
          </a:ln>
        </p:spPr>
      </p:sp>
      <p:sp>
        <p:nvSpPr>
          <p:cNvPr id="9" name="Text 7"/>
          <p:cNvSpPr/>
          <p:nvPr/>
        </p:nvSpPr>
        <p:spPr>
          <a:xfrm>
            <a:off x="960120" y="3191256"/>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Cambria" pitchFamily="34" charset="0"/>
                <a:ea typeface="Cambria" pitchFamily="34" charset="-122"/>
                <a:cs typeface="Cambria" pitchFamily="34" charset="-120"/>
              </a:rPr>
              <a:t>02</a:t>
            </a:r>
            <a:endParaRPr lang="en-US" sz="2200" dirty="0"/>
          </a:p>
        </p:txBody>
      </p:sp>
      <p:sp>
        <p:nvSpPr>
          <p:cNvPr id="10" name="Text 8"/>
          <p:cNvSpPr/>
          <p:nvPr/>
        </p:nvSpPr>
        <p:spPr>
          <a:xfrm>
            <a:off x="1645920" y="3081528"/>
            <a:ext cx="9509760" cy="292608"/>
          </a:xfrm>
          <a:prstGeom prst="rect">
            <a:avLst/>
          </a:prstGeom>
          <a:noFill/>
          <a:ln/>
        </p:spPr>
        <p:txBody>
          <a:bodyPr wrap="square" lIns="0" tIns="0" rIns="0" bIns="0" rtlCol="0" anchor="ctr"/>
          <a:lstStyle/>
          <a:p>
            <a:pPr indent="0" marL="0">
              <a:buNone/>
            </a:pPr>
            <a:r>
              <a:rPr lang="en-US" sz="1450" b="1" dirty="0">
                <a:solidFill>
                  <a:srgbClr val="141922"/>
                </a:solidFill>
                <a:latin typeface="Calibri" pitchFamily="34" charset="0"/>
                <a:ea typeface="Calibri" pitchFamily="34" charset="-122"/>
                <a:cs typeface="Calibri" pitchFamily="34" charset="-120"/>
              </a:rPr>
              <a:t>Report the contradiction</a:t>
            </a:r>
            <a:endParaRPr lang="en-US" sz="1450" dirty="0"/>
          </a:p>
        </p:txBody>
      </p:sp>
      <p:sp>
        <p:nvSpPr>
          <p:cNvPr id="11" name="Text 9"/>
          <p:cNvSpPr/>
          <p:nvPr/>
        </p:nvSpPr>
        <p:spPr>
          <a:xfrm>
            <a:off x="1645920" y="3392424"/>
            <a:ext cx="9509760" cy="5486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The relevance gate measured worse than baseline in isolation, F1 0.762 against 0.800. Only the combination paid off. Had it shipped alone, the benchmark would have read as a failure — and that was published.</a:t>
            </a:r>
            <a:endParaRPr lang="en-US" sz="1200" dirty="0"/>
          </a:p>
        </p:txBody>
      </p:sp>
      <p:sp>
        <p:nvSpPr>
          <p:cNvPr id="12" name="Shape 10"/>
          <p:cNvSpPr/>
          <p:nvPr/>
        </p:nvSpPr>
        <p:spPr>
          <a:xfrm>
            <a:off x="640080" y="4105656"/>
            <a:ext cx="10881360" cy="1097280"/>
          </a:xfrm>
          <a:prstGeom prst="roundRect">
            <a:avLst>
              <a:gd name="adj" fmla="val 6667"/>
            </a:avLst>
          </a:prstGeom>
          <a:solidFill>
            <a:srgbClr val="FFFFFF"/>
          </a:solidFill>
          <a:ln w="12700">
            <a:solidFill>
              <a:srgbClr val="FFFFFF"/>
            </a:solidFill>
            <a:prstDash val="solid"/>
          </a:ln>
        </p:spPr>
      </p:sp>
      <p:sp>
        <p:nvSpPr>
          <p:cNvPr id="13" name="Text 11"/>
          <p:cNvSpPr/>
          <p:nvPr/>
        </p:nvSpPr>
        <p:spPr>
          <a:xfrm>
            <a:off x="960120" y="4398264"/>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Cambria" pitchFamily="34" charset="0"/>
                <a:ea typeface="Cambria" pitchFamily="34" charset="-122"/>
                <a:cs typeface="Cambria" pitchFamily="34" charset="-120"/>
              </a:rPr>
              <a:t>03</a:t>
            </a:r>
            <a:endParaRPr lang="en-US" sz="2200" dirty="0"/>
          </a:p>
        </p:txBody>
      </p:sp>
      <p:sp>
        <p:nvSpPr>
          <p:cNvPr id="14" name="Text 12"/>
          <p:cNvSpPr/>
          <p:nvPr/>
        </p:nvSpPr>
        <p:spPr>
          <a:xfrm>
            <a:off x="1645920" y="4288536"/>
            <a:ext cx="9509760" cy="292608"/>
          </a:xfrm>
          <a:prstGeom prst="rect">
            <a:avLst/>
          </a:prstGeom>
          <a:noFill/>
          <a:ln/>
        </p:spPr>
        <p:txBody>
          <a:bodyPr wrap="square" lIns="0" tIns="0" rIns="0" bIns="0" rtlCol="0" anchor="ctr"/>
          <a:lstStyle/>
          <a:p>
            <a:pPr indent="0" marL="0">
              <a:buNone/>
            </a:pPr>
            <a:r>
              <a:rPr lang="en-US" sz="1450" b="1" dirty="0">
                <a:solidFill>
                  <a:srgbClr val="141922"/>
                </a:solidFill>
                <a:latin typeface="Calibri" pitchFamily="34" charset="0"/>
                <a:ea typeface="Calibri" pitchFamily="34" charset="-122"/>
                <a:cs typeface="Calibri" pitchFamily="34" charset="-120"/>
              </a:rPr>
              <a:t>Separate the label from the judge</a:t>
            </a:r>
            <a:endParaRPr lang="en-US" sz="1450" dirty="0"/>
          </a:p>
        </p:txBody>
      </p:sp>
      <p:sp>
        <p:nvSpPr>
          <p:cNvPr id="15" name="Text 13"/>
          <p:cNvSpPr/>
          <p:nvPr/>
        </p:nvSpPr>
        <p:spPr>
          <a:xfrm>
            <a:off x="1645920" y="4599432"/>
            <a:ext cx="9509760" cy="5486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Scoring an LLM judge against LLM-produced labels is circular, so results were split by label provenance. On the deterministic subset both systems tie at 1.000; the judge's entire advantage sits inside the circular subset.</a:t>
            </a:r>
            <a:endParaRPr lang="en-US" sz="1200" dirty="0"/>
          </a:p>
        </p:txBody>
      </p:sp>
      <p:sp>
        <p:nvSpPr>
          <p:cNvPr id="16" name="Shape 14"/>
          <p:cNvSpPr/>
          <p:nvPr/>
        </p:nvSpPr>
        <p:spPr>
          <a:xfrm>
            <a:off x="640080" y="5312664"/>
            <a:ext cx="10881360" cy="1097280"/>
          </a:xfrm>
          <a:prstGeom prst="roundRect">
            <a:avLst>
              <a:gd name="adj" fmla="val 6667"/>
            </a:avLst>
          </a:prstGeom>
          <a:solidFill>
            <a:srgbClr val="FFFFFF"/>
          </a:solidFill>
          <a:ln w="12700">
            <a:solidFill>
              <a:srgbClr val="FFFFFF"/>
            </a:solidFill>
            <a:prstDash val="solid"/>
          </a:ln>
        </p:spPr>
      </p:sp>
      <p:sp>
        <p:nvSpPr>
          <p:cNvPr id="17" name="Text 15"/>
          <p:cNvSpPr/>
          <p:nvPr/>
        </p:nvSpPr>
        <p:spPr>
          <a:xfrm>
            <a:off x="960120" y="5605272"/>
            <a:ext cx="548640" cy="457200"/>
          </a:xfrm>
          <a:prstGeom prst="rect">
            <a:avLst/>
          </a:prstGeom>
          <a:noFill/>
          <a:ln/>
        </p:spPr>
        <p:txBody>
          <a:bodyPr wrap="square" lIns="0" tIns="0" rIns="0" bIns="0" rtlCol="0" anchor="ctr"/>
          <a:lstStyle/>
          <a:p>
            <a:pPr indent="0" marL="0">
              <a:buNone/>
            </a:pPr>
            <a:r>
              <a:rPr lang="en-US" sz="2200" b="1" dirty="0">
                <a:solidFill>
                  <a:srgbClr val="22D3EE"/>
                </a:solidFill>
                <a:latin typeface="Cambria" pitchFamily="34" charset="0"/>
                <a:ea typeface="Cambria" pitchFamily="34" charset="-122"/>
                <a:cs typeface="Cambria" pitchFamily="34" charset="-120"/>
              </a:rPr>
              <a:t>04</a:t>
            </a:r>
            <a:endParaRPr lang="en-US" sz="2200" dirty="0"/>
          </a:p>
        </p:txBody>
      </p:sp>
      <p:sp>
        <p:nvSpPr>
          <p:cNvPr id="18" name="Text 16"/>
          <p:cNvSpPr/>
          <p:nvPr/>
        </p:nvSpPr>
        <p:spPr>
          <a:xfrm>
            <a:off x="1645920" y="5495544"/>
            <a:ext cx="9509760" cy="292608"/>
          </a:xfrm>
          <a:prstGeom prst="rect">
            <a:avLst/>
          </a:prstGeom>
          <a:noFill/>
          <a:ln/>
        </p:spPr>
        <p:txBody>
          <a:bodyPr wrap="square" lIns="0" tIns="0" rIns="0" bIns="0" rtlCol="0" anchor="ctr"/>
          <a:lstStyle/>
          <a:p>
            <a:pPr indent="0" marL="0">
              <a:buNone/>
            </a:pPr>
            <a:r>
              <a:rPr lang="en-US" sz="1450" b="1" dirty="0">
                <a:solidFill>
                  <a:srgbClr val="141922"/>
                </a:solidFill>
                <a:latin typeface="Calibri" pitchFamily="34" charset="0"/>
                <a:ea typeface="Calibri" pitchFamily="34" charset="-122"/>
                <a:cs typeface="Calibri" pitchFamily="34" charset="-120"/>
              </a:rPr>
              <a:t>Install the competitor, do not read its marketing</a:t>
            </a:r>
            <a:endParaRPr lang="en-US" sz="1450" dirty="0"/>
          </a:p>
        </p:txBody>
      </p:sp>
      <p:sp>
        <p:nvSpPr>
          <p:cNvPr id="19" name="Text 17"/>
          <p:cNvSpPr/>
          <p:nvPr/>
        </p:nvSpPr>
        <p:spPr>
          <a:xfrm>
            <a:off x="1645920" y="5806440"/>
            <a:ext cx="9509760" cy="5486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Two positioning claims were refuted by actually running Phoenix and MLflow. Both ship tool-call verification, so that differentiator is finished.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CURRENT STATE</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E8ECF5"/>
                </a:solidFill>
                <a:latin typeface="Cambria" pitchFamily="34" charset="0"/>
                <a:ea typeface="Cambria" pitchFamily="34" charset="-122"/>
                <a:cs typeface="Cambria" pitchFamily="34" charset="-120"/>
              </a:rPr>
              <a:t>What is real today</a:t>
            </a:r>
            <a:endParaRPr lang="en-US" sz="3400" dirty="0"/>
          </a:p>
        </p:txBody>
      </p:sp>
      <p:sp>
        <p:nvSpPr>
          <p:cNvPr id="4" name="Text 2"/>
          <p:cNvSpPr/>
          <p:nvPr/>
        </p:nvSpPr>
        <p:spPr>
          <a:xfrm>
            <a:off x="640080" y="1828800"/>
            <a:ext cx="3108960" cy="548640"/>
          </a:xfrm>
          <a:prstGeom prst="rect">
            <a:avLst/>
          </a:prstGeom>
          <a:noFill/>
          <a:ln/>
        </p:spPr>
        <p:txBody>
          <a:bodyPr wrap="square" lIns="0" tIns="0" rIns="0" bIns="0" rtlCol="0" anchor="ctr"/>
          <a:lstStyle/>
          <a:p>
            <a:pPr indent="0" marL="0">
              <a:buNone/>
            </a:pPr>
            <a:r>
              <a:rPr lang="en-US" sz="2800" b="1" dirty="0">
                <a:solidFill>
                  <a:srgbClr val="34D399"/>
                </a:solidFill>
                <a:latin typeface="Cambria" pitchFamily="34" charset="0"/>
                <a:ea typeface="Cambria" pitchFamily="34" charset="-122"/>
                <a:cs typeface="Cambria" pitchFamily="34" charset="-120"/>
              </a:rPr>
              <a:t>422 / 136</a:t>
            </a:r>
            <a:endParaRPr lang="en-US" sz="2800" dirty="0"/>
          </a:p>
        </p:txBody>
      </p:sp>
      <p:sp>
        <p:nvSpPr>
          <p:cNvPr id="5" name="Text 3"/>
          <p:cNvSpPr/>
          <p:nvPr/>
        </p:nvSpPr>
        <p:spPr>
          <a:xfrm>
            <a:off x="640080" y="2359152"/>
            <a:ext cx="3108960" cy="274320"/>
          </a:xfrm>
          <a:prstGeom prst="rect">
            <a:avLst/>
          </a:prstGeom>
          <a:noFill/>
          <a:ln/>
        </p:spPr>
        <p:txBody>
          <a:bodyPr wrap="square" lIns="0" tIns="0" rIns="0" bIns="0" rtlCol="0" anchor="ctr"/>
          <a:lstStyle/>
          <a:p>
            <a:pPr indent="0" marL="0">
              <a:buNone/>
            </a:pPr>
            <a:r>
              <a:rPr lang="en-US" sz="1200" dirty="0">
                <a:solidFill>
                  <a:srgbClr val="9AA4BD"/>
                </a:solidFill>
                <a:latin typeface="Calibri" pitchFamily="34" charset="0"/>
                <a:ea typeface="Calibri" pitchFamily="34" charset="-122"/>
                <a:cs typeface="Calibri" pitchFamily="34" charset="-120"/>
              </a:rPr>
              <a:t>Backend / dashboard tests passing</a:t>
            </a:r>
            <a:endParaRPr lang="en-US" sz="1200" dirty="0"/>
          </a:p>
        </p:txBody>
      </p:sp>
      <p:sp>
        <p:nvSpPr>
          <p:cNvPr id="6" name="Text 4"/>
          <p:cNvSpPr/>
          <p:nvPr/>
        </p:nvSpPr>
        <p:spPr>
          <a:xfrm>
            <a:off x="640080" y="2880360"/>
            <a:ext cx="3108960" cy="548640"/>
          </a:xfrm>
          <a:prstGeom prst="rect">
            <a:avLst/>
          </a:prstGeom>
          <a:noFill/>
          <a:ln/>
        </p:spPr>
        <p:txBody>
          <a:bodyPr wrap="square" lIns="0" tIns="0" rIns="0" bIns="0" rtlCol="0" anchor="ctr"/>
          <a:lstStyle/>
          <a:p>
            <a:pPr indent="0" marL="0">
              <a:buNone/>
            </a:pPr>
            <a:r>
              <a:rPr lang="en-US" sz="2800" b="1" dirty="0">
                <a:solidFill>
                  <a:srgbClr val="22D3EE"/>
                </a:solidFill>
                <a:latin typeface="Cambria" pitchFamily="34" charset="0"/>
                <a:ea typeface="Cambria" pitchFamily="34" charset="-122"/>
                <a:cs typeface="Cambria" pitchFamily="34" charset="-120"/>
              </a:rPr>
              <a:t>117</a:t>
            </a:r>
            <a:endParaRPr lang="en-US" sz="2800" dirty="0"/>
          </a:p>
        </p:txBody>
      </p:sp>
      <p:sp>
        <p:nvSpPr>
          <p:cNvPr id="7" name="Text 5"/>
          <p:cNvSpPr/>
          <p:nvPr/>
        </p:nvSpPr>
        <p:spPr>
          <a:xfrm>
            <a:off x="640080" y="3410712"/>
            <a:ext cx="3108960" cy="274320"/>
          </a:xfrm>
          <a:prstGeom prst="rect">
            <a:avLst/>
          </a:prstGeom>
          <a:noFill/>
          <a:ln/>
        </p:spPr>
        <p:txBody>
          <a:bodyPr wrap="square" lIns="0" tIns="0" rIns="0" bIns="0" rtlCol="0" anchor="ctr"/>
          <a:lstStyle/>
          <a:p>
            <a:pPr indent="0" marL="0">
              <a:buNone/>
            </a:pPr>
            <a:r>
              <a:rPr lang="en-US" sz="1200" dirty="0">
                <a:solidFill>
                  <a:srgbClr val="9AA4BD"/>
                </a:solidFill>
                <a:latin typeface="Calibri" pitchFamily="34" charset="0"/>
                <a:ea typeface="Calibri" pitchFamily="34" charset="-122"/>
                <a:cs typeface="Calibri" pitchFamily="34" charset="-120"/>
              </a:rPr>
              <a:t>Evaluations on the live site, 22 Oct</a:t>
            </a:r>
            <a:endParaRPr lang="en-US" sz="1200" dirty="0"/>
          </a:p>
        </p:txBody>
      </p:sp>
      <p:sp>
        <p:nvSpPr>
          <p:cNvPr id="8" name="Text 6"/>
          <p:cNvSpPr/>
          <p:nvPr/>
        </p:nvSpPr>
        <p:spPr>
          <a:xfrm>
            <a:off x="640080" y="3931920"/>
            <a:ext cx="3108960" cy="548640"/>
          </a:xfrm>
          <a:prstGeom prst="rect">
            <a:avLst/>
          </a:prstGeom>
          <a:noFill/>
          <a:ln/>
        </p:spPr>
        <p:txBody>
          <a:bodyPr wrap="square" lIns="0" tIns="0" rIns="0" bIns="0" rtlCol="0" anchor="ctr"/>
          <a:lstStyle/>
          <a:p>
            <a:pPr indent="0" marL="0">
              <a:buNone/>
            </a:pPr>
            <a:r>
              <a:rPr lang="en-US" sz="2800" b="1" dirty="0">
                <a:solidFill>
                  <a:srgbClr val="22D3EE"/>
                </a:solidFill>
                <a:latin typeface="Cambria" pitchFamily="34" charset="0"/>
                <a:ea typeface="Cambria" pitchFamily="34" charset="-122"/>
                <a:cs typeface="Cambria" pitchFamily="34" charset="-120"/>
              </a:rPr>
              <a:t>5</a:t>
            </a:r>
            <a:endParaRPr lang="en-US" sz="2800" dirty="0"/>
          </a:p>
        </p:txBody>
      </p:sp>
      <p:sp>
        <p:nvSpPr>
          <p:cNvPr id="9" name="Text 7"/>
          <p:cNvSpPr/>
          <p:nvPr/>
        </p:nvSpPr>
        <p:spPr>
          <a:xfrm>
            <a:off x="640080" y="4462272"/>
            <a:ext cx="3108960" cy="274320"/>
          </a:xfrm>
          <a:prstGeom prst="rect">
            <a:avLst/>
          </a:prstGeom>
          <a:noFill/>
          <a:ln/>
        </p:spPr>
        <p:txBody>
          <a:bodyPr wrap="square" lIns="0" tIns="0" rIns="0" bIns="0" rtlCol="0" anchor="ctr"/>
          <a:lstStyle/>
          <a:p>
            <a:pPr indent="0" marL="0">
              <a:buNone/>
            </a:pPr>
            <a:r>
              <a:rPr lang="en-US" sz="1200" dirty="0">
                <a:solidFill>
                  <a:srgbClr val="9AA4BD"/>
                </a:solidFill>
                <a:latin typeface="Calibri" pitchFamily="34" charset="0"/>
                <a:ea typeface="Calibri" pitchFamily="34" charset="-122"/>
                <a:cs typeface="Calibri" pitchFamily="34" charset="-120"/>
              </a:rPr>
              <a:t>Versioned evaluation datasets</a:t>
            </a:r>
            <a:endParaRPr lang="en-US" sz="1200" dirty="0"/>
          </a:p>
        </p:txBody>
      </p:sp>
      <p:sp>
        <p:nvSpPr>
          <p:cNvPr id="10" name="Shape 8"/>
          <p:cNvSpPr/>
          <p:nvPr/>
        </p:nvSpPr>
        <p:spPr>
          <a:xfrm>
            <a:off x="4297680" y="1737360"/>
            <a:ext cx="7223760" cy="3931920"/>
          </a:xfrm>
          <a:prstGeom prst="roundRect">
            <a:avLst>
              <a:gd name="adj" fmla="val 1860"/>
            </a:avLst>
          </a:prstGeom>
          <a:solidFill>
            <a:srgbClr val="222937"/>
          </a:solidFill>
          <a:ln w="12700">
            <a:solidFill>
              <a:srgbClr val="222937"/>
            </a:solidFill>
            <a:prstDash val="solid"/>
          </a:ln>
        </p:spPr>
      </p:sp>
      <p:sp>
        <p:nvSpPr>
          <p:cNvPr id="11" name="Text 9"/>
          <p:cNvSpPr/>
          <p:nvPr/>
        </p:nvSpPr>
        <p:spPr>
          <a:xfrm>
            <a:off x="4617720" y="1920240"/>
            <a:ext cx="6583680" cy="310896"/>
          </a:xfrm>
          <a:prstGeom prst="rect">
            <a:avLst/>
          </a:prstGeom>
          <a:noFill/>
          <a:ln/>
        </p:spPr>
        <p:txBody>
          <a:bodyPr wrap="square" lIns="0" tIns="0" rIns="0" bIns="0" rtlCol="0" anchor="ctr"/>
          <a:lstStyle/>
          <a:p>
            <a:pPr indent="0" marL="0">
              <a:buNone/>
            </a:pPr>
            <a:r>
              <a:rPr lang="en-US" sz="1500" b="1" dirty="0">
                <a:solidFill>
                  <a:srgbClr val="E8ECF5"/>
                </a:solidFill>
                <a:latin typeface="Calibri" pitchFamily="34" charset="0"/>
                <a:ea typeface="Calibri" pitchFamily="34" charset="-122"/>
                <a:cs typeface="Calibri" pitchFamily="34" charset="-120"/>
              </a:rPr>
              <a:t>Shipped and verified</a:t>
            </a:r>
            <a:endParaRPr lang="en-US" sz="1500" dirty="0"/>
          </a:p>
        </p:txBody>
      </p:sp>
      <p:sp>
        <p:nvSpPr>
          <p:cNvPr id="12" name="Text 10"/>
          <p:cNvSpPr/>
          <p:nvPr/>
        </p:nvSpPr>
        <p:spPr>
          <a:xfrm>
            <a:off x="4617720" y="2331720"/>
            <a:ext cx="6583680" cy="310896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9AA4BD"/>
                </a:solidFill>
                <a:latin typeface="Calibri" pitchFamily="34" charset="0"/>
                <a:ea typeface="Calibri" pitchFamily="34" charset="-122"/>
                <a:cs typeface="Calibri" pitchFamily="34" charset="-120"/>
              </a:rPr>
              <a:t>Schema under Alembic, with a baseline verified byte-identical across 43,941 rows.</a:t>
            </a:r>
            <a:endParaRPr lang="en-US" sz="1250" dirty="0"/>
          </a:p>
          <a:p>
            <a:pPr marL="342900" indent="-342900">
              <a:spcAft>
                <a:spcPts val="900"/>
              </a:spcAft>
              <a:buSzPct val="100000"/>
              <a:buChar char="•"/>
            </a:pPr>
            <a:r>
              <a:rPr lang="en-US" sz="1250" dirty="0">
                <a:solidFill>
                  <a:srgbClr val="9AA4BD"/>
                </a:solidFill>
                <a:latin typeface="Calibri" pitchFamily="34" charset="0"/>
                <a:ea typeface="Calibri" pitchFamily="34" charset="-122"/>
                <a:cs typeface="Calibri" pitchFamily="34" charset="-120"/>
              </a:rPr>
              <a:t>Durable leased queue with exactly-once recovery, proven by killing the process.</a:t>
            </a:r>
            <a:endParaRPr lang="en-US" sz="1250" dirty="0"/>
          </a:p>
          <a:p>
            <a:pPr marL="342900" indent="-342900">
              <a:spcAft>
                <a:spcPts val="900"/>
              </a:spcAft>
              <a:buSzPct val="100000"/>
              <a:buChar char="•"/>
            </a:pPr>
            <a:r>
              <a:rPr lang="en-US" sz="1250" dirty="0">
                <a:solidFill>
                  <a:srgbClr val="9AA4BD"/>
                </a:solidFill>
                <a:latin typeface="Calibri" pitchFamily="34" charset="0"/>
                <a:ea typeface="Calibri" pitchFamily="34" charset="-122"/>
                <a:cs typeface="Calibri" pitchFamily="34" charset="-120"/>
              </a:rPr>
              <a:t>Retention that actually deletes — 43,000 rows purged with zero orphaned records.</a:t>
            </a:r>
            <a:endParaRPr lang="en-US" sz="1250" dirty="0"/>
          </a:p>
          <a:p>
            <a:pPr marL="342900" indent="-342900">
              <a:spcAft>
                <a:spcPts val="900"/>
              </a:spcAft>
              <a:buSzPct val="100000"/>
              <a:buChar char="•"/>
            </a:pPr>
            <a:r>
              <a:rPr lang="en-US" sz="1250" dirty="0">
                <a:solidFill>
                  <a:srgbClr val="9AA4BD"/>
                </a:solidFill>
                <a:latin typeface="Calibri" pitchFamily="34" charset="0"/>
                <a:ea typeface="Calibri" pitchFamily="34" charset="-122"/>
                <a:cs typeface="Calibri" pitchFamily="34" charset="-120"/>
              </a:rPr>
              <a:t>Self-monitoring: the platform reports its own evaluator fleet, queue depth and readiness.</a:t>
            </a:r>
            <a:endParaRPr lang="en-US" sz="1250" dirty="0"/>
          </a:p>
          <a:p>
            <a:pPr marL="342900" indent="-342900">
              <a:spcAft>
                <a:spcPts val="900"/>
              </a:spcAft>
              <a:buSzPct val="100000"/>
              <a:buChar char="•"/>
            </a:pPr>
            <a:r>
              <a:rPr lang="en-US" sz="1250" dirty="0">
                <a:solidFill>
                  <a:srgbClr val="9AA4BD"/>
                </a:solidFill>
                <a:latin typeface="Calibri" pitchFamily="34" charset="0"/>
                <a:ea typeface="Calibri" pitchFamily="34" charset="-122"/>
                <a:cs typeface="Calibri" pitchFamily="34" charset="-120"/>
              </a:rPr>
              <a:t>Operator console reading live endpoints, with unavailable data shown as unavailable.</a:t>
            </a:r>
            <a:endParaRPr lang="en-US" sz="1250" dirty="0"/>
          </a:p>
          <a:p>
            <a:pPr marL="342900" indent="-342900">
              <a:spcAft>
                <a:spcPts val="900"/>
              </a:spcAft>
              <a:buSzPct val="100000"/>
              <a:buChar char="•"/>
            </a:pPr>
            <a:r>
              <a:rPr lang="en-US" sz="1250" dirty="0">
                <a:solidFill>
                  <a:srgbClr val="9AA4BD"/>
                </a:solidFill>
                <a:latin typeface="Calibri" pitchFamily="34" charset="0"/>
                <a:ea typeface="Calibri" pitchFamily="34" charset="-122"/>
                <a:cs typeface="Calibri" pitchFamily="34" charset="-120"/>
              </a:rPr>
              <a:t>Drift baselines that survive a worker restart, so alerting is not blind after one.</a:t>
            </a:r>
            <a:endParaRPr lang="en-US" sz="1250" dirty="0"/>
          </a:p>
        </p:txBody>
      </p:sp>
      <p:sp>
        <p:nvSpPr>
          <p:cNvPr id="13" name="Text 11"/>
          <p:cNvSpPr/>
          <p:nvPr/>
        </p:nvSpPr>
        <p:spPr>
          <a:xfrm>
            <a:off x="640080" y="5943600"/>
            <a:ext cx="10881360" cy="365760"/>
          </a:xfrm>
          <a:prstGeom prst="rect">
            <a:avLst/>
          </a:prstGeom>
          <a:noFill/>
          <a:ln/>
        </p:spPr>
        <p:txBody>
          <a:bodyPr wrap="square" lIns="0" tIns="0" rIns="0" bIns="0" rtlCol="0" anchor="ctr"/>
          <a:lstStyle/>
          <a:p>
            <a:pPr indent="0" marL="0">
              <a:buNone/>
            </a:pPr>
            <a:r>
              <a:rPr lang="en-US" sz="1250" i="1" dirty="0">
                <a:solidFill>
                  <a:srgbClr val="6B7690"/>
                </a:solidFill>
                <a:latin typeface="Calibri" pitchFamily="34" charset="0"/>
                <a:ea typeface="Calibri" pitchFamily="34" charset="-122"/>
                <a:cs typeface="Calibri" pitchFamily="34" charset="-120"/>
              </a:rPr>
              <a:t>Deferred deliberately, with stated reasons: multi-tenancy, key rotation, backup and restore, Postgres, OTLP.</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84048"/>
            <a:ext cx="7315200"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LIMITATIONS</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41922"/>
                </a:solidFill>
                <a:latin typeface="Cambria" pitchFamily="34" charset="0"/>
                <a:ea typeface="Cambria" pitchFamily="34" charset="-122"/>
                <a:cs typeface="Cambria" pitchFamily="34" charset="-120"/>
              </a:rPr>
              <a:t>Stated, because a panel will find them anyway</a:t>
            </a:r>
            <a:endParaRPr lang="en-US" sz="3400" dirty="0"/>
          </a:p>
        </p:txBody>
      </p:sp>
      <p:sp>
        <p:nvSpPr>
          <p:cNvPr id="4" name="Shape 2"/>
          <p:cNvSpPr/>
          <p:nvPr/>
        </p:nvSpPr>
        <p:spPr>
          <a:xfrm>
            <a:off x="640080" y="1645920"/>
            <a:ext cx="10881360" cy="896112"/>
          </a:xfrm>
          <a:prstGeom prst="roundRect">
            <a:avLst>
              <a:gd name="adj" fmla="val 8163"/>
            </a:avLst>
          </a:prstGeom>
          <a:solidFill>
            <a:srgbClr val="FFFFFF"/>
          </a:solidFill>
          <a:ln w="12700">
            <a:solidFill>
              <a:srgbClr val="FFFFFF"/>
            </a:solidFill>
            <a:prstDash val="solid"/>
          </a:ln>
        </p:spPr>
      </p:sp>
      <p:sp>
        <p:nvSpPr>
          <p:cNvPr id="5" name="Shape 3"/>
          <p:cNvSpPr/>
          <p:nvPr/>
        </p:nvSpPr>
        <p:spPr>
          <a:xfrm>
            <a:off x="1005840" y="2011680"/>
            <a:ext cx="164592" cy="164592"/>
          </a:xfrm>
          <a:prstGeom prst="ellipse">
            <a:avLst/>
          </a:prstGeom>
          <a:solidFill>
            <a:srgbClr val="FBBF24"/>
          </a:solidFill>
          <a:ln w="12700">
            <a:solidFill>
              <a:srgbClr val="333333"/>
            </a:solidFill>
            <a:prstDash val="solid"/>
          </a:ln>
        </p:spPr>
      </p:sp>
      <p:sp>
        <p:nvSpPr>
          <p:cNvPr id="6" name="Text 4"/>
          <p:cNvSpPr/>
          <p:nvPr/>
        </p:nvSpPr>
        <p:spPr>
          <a:xfrm>
            <a:off x="1371600" y="1783080"/>
            <a:ext cx="969264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Drift coverage is 24.5%</a:t>
            </a:r>
            <a:endParaRPr lang="en-US" sz="1400" dirty="0"/>
          </a:p>
        </p:txBody>
      </p:sp>
      <p:sp>
        <p:nvSpPr>
          <p:cNvPr id="7" name="Text 5"/>
          <p:cNvSpPr/>
          <p:nvPr/>
        </p:nvSpPr>
        <p:spPr>
          <a:xfrm>
            <a:off x="1371600" y="2103120"/>
            <a:ext cx="9692640" cy="329184"/>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The windowed metric needs both windows filled, so roughly three quarters of sessions produce no drift verdict at all.</a:t>
            </a:r>
            <a:endParaRPr lang="en-US" sz="1200" dirty="0"/>
          </a:p>
        </p:txBody>
      </p:sp>
      <p:sp>
        <p:nvSpPr>
          <p:cNvPr id="8" name="Shape 6"/>
          <p:cNvSpPr/>
          <p:nvPr/>
        </p:nvSpPr>
        <p:spPr>
          <a:xfrm>
            <a:off x="640080" y="2651760"/>
            <a:ext cx="10881360" cy="896112"/>
          </a:xfrm>
          <a:prstGeom prst="roundRect">
            <a:avLst>
              <a:gd name="adj" fmla="val 8163"/>
            </a:avLst>
          </a:prstGeom>
          <a:solidFill>
            <a:srgbClr val="FFFFFF"/>
          </a:solidFill>
          <a:ln w="12700">
            <a:solidFill>
              <a:srgbClr val="FFFFFF"/>
            </a:solidFill>
            <a:prstDash val="solid"/>
          </a:ln>
        </p:spPr>
      </p:sp>
      <p:sp>
        <p:nvSpPr>
          <p:cNvPr id="9" name="Shape 7"/>
          <p:cNvSpPr/>
          <p:nvPr/>
        </p:nvSpPr>
        <p:spPr>
          <a:xfrm>
            <a:off x="1005840" y="3017520"/>
            <a:ext cx="164592" cy="164592"/>
          </a:xfrm>
          <a:prstGeom prst="ellipse">
            <a:avLst/>
          </a:prstGeom>
          <a:solidFill>
            <a:srgbClr val="FBBF24"/>
          </a:solidFill>
          <a:ln w="12700">
            <a:solidFill>
              <a:srgbClr val="333333"/>
            </a:solidFill>
            <a:prstDash val="solid"/>
          </a:ln>
        </p:spPr>
      </p:sp>
      <p:sp>
        <p:nvSpPr>
          <p:cNvPr id="10" name="Text 8"/>
          <p:cNvSpPr/>
          <p:nvPr/>
        </p:nvSpPr>
        <p:spPr>
          <a:xfrm>
            <a:off x="1371600" y="2788920"/>
            <a:ext cx="969264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Two of four signals are unvalidated</a:t>
            </a:r>
            <a:endParaRPr lang="en-US" sz="1400" dirty="0"/>
          </a:p>
        </p:txBody>
      </p:sp>
      <p:sp>
        <p:nvSpPr>
          <p:cNvPr id="11" name="Text 9"/>
          <p:cNvSpPr/>
          <p:nvPr/>
        </p:nvSpPr>
        <p:spPr>
          <a:xfrm>
            <a:off x="1371600" y="3108960"/>
            <a:ext cx="9692640" cy="329184"/>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Tool-claim and disagreement are labelled Experimental in the product and should not be relied on for decisions.</a:t>
            </a:r>
            <a:endParaRPr lang="en-US" sz="1200" dirty="0"/>
          </a:p>
        </p:txBody>
      </p:sp>
      <p:sp>
        <p:nvSpPr>
          <p:cNvPr id="12" name="Shape 10"/>
          <p:cNvSpPr/>
          <p:nvPr/>
        </p:nvSpPr>
        <p:spPr>
          <a:xfrm>
            <a:off x="640080" y="3657600"/>
            <a:ext cx="10881360" cy="896112"/>
          </a:xfrm>
          <a:prstGeom prst="roundRect">
            <a:avLst>
              <a:gd name="adj" fmla="val 8163"/>
            </a:avLst>
          </a:prstGeom>
          <a:solidFill>
            <a:srgbClr val="FFFFFF"/>
          </a:solidFill>
          <a:ln w="12700">
            <a:solidFill>
              <a:srgbClr val="FFFFFF"/>
            </a:solidFill>
            <a:prstDash val="solid"/>
          </a:ln>
        </p:spPr>
      </p:sp>
      <p:sp>
        <p:nvSpPr>
          <p:cNvPr id="13" name="Shape 11"/>
          <p:cNvSpPr/>
          <p:nvPr/>
        </p:nvSpPr>
        <p:spPr>
          <a:xfrm>
            <a:off x="1005840" y="4023360"/>
            <a:ext cx="164592" cy="164592"/>
          </a:xfrm>
          <a:prstGeom prst="ellipse">
            <a:avLst/>
          </a:prstGeom>
          <a:solidFill>
            <a:srgbClr val="FBBF24"/>
          </a:solidFill>
          <a:ln w="12700">
            <a:solidFill>
              <a:srgbClr val="333333"/>
            </a:solidFill>
            <a:prstDash val="solid"/>
          </a:ln>
        </p:spPr>
      </p:sp>
      <p:sp>
        <p:nvSpPr>
          <p:cNvPr id="14" name="Text 12"/>
          <p:cNvSpPr/>
          <p:nvPr/>
        </p:nvSpPr>
        <p:spPr>
          <a:xfrm>
            <a:off x="1371600" y="3794760"/>
            <a:ext cx="969264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Single shared API key</a:t>
            </a:r>
            <a:endParaRPr lang="en-US" sz="1400" dirty="0"/>
          </a:p>
        </p:txBody>
      </p:sp>
      <p:sp>
        <p:nvSpPr>
          <p:cNvPr id="15" name="Text 13"/>
          <p:cNvSpPr/>
          <p:nvPr/>
        </p:nvSpPr>
        <p:spPr>
          <a:xfrm>
            <a:off x="1371600" y="4114800"/>
            <a:ext cx="9692640" cy="329184"/>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No rotation, no tenancy. A deliberate choice for a self-hosted single-tenant deployment, not an oversight.</a:t>
            </a:r>
            <a:endParaRPr lang="en-US" sz="1200" dirty="0"/>
          </a:p>
        </p:txBody>
      </p:sp>
      <p:sp>
        <p:nvSpPr>
          <p:cNvPr id="16" name="Shape 14"/>
          <p:cNvSpPr/>
          <p:nvPr/>
        </p:nvSpPr>
        <p:spPr>
          <a:xfrm>
            <a:off x="640080" y="4663440"/>
            <a:ext cx="10881360" cy="896112"/>
          </a:xfrm>
          <a:prstGeom prst="roundRect">
            <a:avLst>
              <a:gd name="adj" fmla="val 8163"/>
            </a:avLst>
          </a:prstGeom>
          <a:solidFill>
            <a:srgbClr val="FFFFFF"/>
          </a:solidFill>
          <a:ln w="12700">
            <a:solidFill>
              <a:srgbClr val="FFFFFF"/>
            </a:solidFill>
            <a:prstDash val="solid"/>
          </a:ln>
        </p:spPr>
      </p:sp>
      <p:sp>
        <p:nvSpPr>
          <p:cNvPr id="17" name="Shape 15"/>
          <p:cNvSpPr/>
          <p:nvPr/>
        </p:nvSpPr>
        <p:spPr>
          <a:xfrm>
            <a:off x="1005840" y="5029200"/>
            <a:ext cx="164592" cy="164592"/>
          </a:xfrm>
          <a:prstGeom prst="ellipse">
            <a:avLst/>
          </a:prstGeom>
          <a:solidFill>
            <a:srgbClr val="FBBF24"/>
          </a:solidFill>
          <a:ln w="12700">
            <a:solidFill>
              <a:srgbClr val="333333"/>
            </a:solidFill>
            <a:prstDash val="solid"/>
          </a:ln>
        </p:spPr>
      </p:sp>
      <p:sp>
        <p:nvSpPr>
          <p:cNvPr id="18" name="Text 16"/>
          <p:cNvSpPr/>
          <p:nvPr/>
        </p:nvSpPr>
        <p:spPr>
          <a:xfrm>
            <a:off x="1371600" y="4800600"/>
            <a:ext cx="969264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Evaluation coverage is currently ~6%</a:t>
            </a:r>
            <a:endParaRPr lang="en-US" sz="1400" dirty="0"/>
          </a:p>
        </p:txBody>
      </p:sp>
      <p:sp>
        <p:nvSpPr>
          <p:cNvPr id="19" name="Text 17"/>
          <p:cNvSpPr/>
          <p:nvPr/>
        </p:nvSpPr>
        <p:spPr>
          <a:xfrm>
            <a:off x="1371600" y="5120640"/>
            <a:ext cx="9692640" cy="329184"/>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Most stored spans predate the worker and were never enqueued. The mechanism is sound; the backlog is not processed.</a:t>
            </a:r>
            <a:endParaRPr lang="en-US" sz="1200" dirty="0"/>
          </a:p>
        </p:txBody>
      </p:sp>
      <p:sp>
        <p:nvSpPr>
          <p:cNvPr id="20" name="Shape 18"/>
          <p:cNvSpPr/>
          <p:nvPr/>
        </p:nvSpPr>
        <p:spPr>
          <a:xfrm>
            <a:off x="640080" y="5669280"/>
            <a:ext cx="10881360" cy="896112"/>
          </a:xfrm>
          <a:prstGeom prst="roundRect">
            <a:avLst>
              <a:gd name="adj" fmla="val 8163"/>
            </a:avLst>
          </a:prstGeom>
          <a:solidFill>
            <a:srgbClr val="FFFFFF"/>
          </a:solidFill>
          <a:ln w="12700">
            <a:solidFill>
              <a:srgbClr val="FFFFFF"/>
            </a:solidFill>
            <a:prstDash val="solid"/>
          </a:ln>
        </p:spPr>
      </p:sp>
      <p:sp>
        <p:nvSpPr>
          <p:cNvPr id="21" name="Shape 19"/>
          <p:cNvSpPr/>
          <p:nvPr/>
        </p:nvSpPr>
        <p:spPr>
          <a:xfrm>
            <a:off x="1005840" y="6035040"/>
            <a:ext cx="164592" cy="164592"/>
          </a:xfrm>
          <a:prstGeom prst="ellipse">
            <a:avLst/>
          </a:prstGeom>
          <a:solidFill>
            <a:srgbClr val="FBBF24"/>
          </a:solidFill>
          <a:ln w="12700">
            <a:solidFill>
              <a:srgbClr val="333333"/>
            </a:solidFill>
            <a:prstDash val="solid"/>
          </a:ln>
        </p:spPr>
      </p:sp>
      <p:sp>
        <p:nvSpPr>
          <p:cNvPr id="22" name="Text 20"/>
          <p:cNvSpPr/>
          <p:nvPr/>
        </p:nvSpPr>
        <p:spPr>
          <a:xfrm>
            <a:off x="1371600" y="5806440"/>
            <a:ext cx="969264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Datadog was never audited</a:t>
            </a:r>
            <a:endParaRPr lang="en-US" sz="1400" dirty="0"/>
          </a:p>
        </p:txBody>
      </p:sp>
      <p:sp>
        <p:nvSpPr>
          <p:cNvPr id="23" name="Text 21"/>
          <p:cNvSpPr/>
          <p:nvPr/>
        </p:nvSpPr>
        <p:spPr>
          <a:xfrm>
            <a:off x="1371600" y="6126480"/>
            <a:ext cx="9692640" cy="329184"/>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It cannot be installed, so its column in the competitive matrix is the least reliable and is marked as such.</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1737360" y="3840480"/>
            <a:ext cx="4937760" cy="4937760"/>
          </a:xfrm>
          <a:prstGeom prst="ellipse">
            <a:avLst/>
          </a:prstGeom>
          <a:solidFill>
            <a:srgbClr val="22D3EE">
              <a:alpha val="7000"/>
            </a:srgbClr>
          </a:solidFill>
          <a:ln w="12700">
            <a:solidFill>
              <a:srgbClr val="333333"/>
            </a:solidFill>
            <a:prstDash val="solid"/>
          </a:ln>
        </p:spPr>
      </p:sp>
      <p:sp>
        <p:nvSpPr>
          <p:cNvPr id="3" name="Text 1"/>
          <p:cNvSpPr/>
          <p:nvPr/>
        </p:nvSpPr>
        <p:spPr>
          <a:xfrm>
            <a:off x="640080" y="1417320"/>
            <a:ext cx="10881360" cy="365760"/>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The contribution</a:t>
            </a:r>
            <a:endParaRPr lang="en-US" sz="1200" dirty="0"/>
          </a:p>
        </p:txBody>
      </p:sp>
      <p:sp>
        <p:nvSpPr>
          <p:cNvPr id="4" name="Text 2"/>
          <p:cNvSpPr/>
          <p:nvPr/>
        </p:nvSpPr>
        <p:spPr>
          <a:xfrm>
            <a:off x="640080" y="1828800"/>
            <a:ext cx="10424160" cy="1371600"/>
          </a:xfrm>
          <a:prstGeom prst="rect">
            <a:avLst/>
          </a:prstGeom>
          <a:noFill/>
          <a:ln/>
        </p:spPr>
        <p:txBody>
          <a:bodyPr wrap="square" lIns="0" tIns="0" rIns="0" bIns="0" rtlCol="0" anchor="ctr"/>
          <a:lstStyle/>
          <a:p>
            <a:pPr indent="0" marL="0">
              <a:buNone/>
            </a:pPr>
            <a:r>
              <a:rPr lang="en-US" sz="4200" b="1" dirty="0">
                <a:solidFill>
                  <a:srgbClr val="E8ECF5"/>
                </a:solidFill>
                <a:latin typeface="Cambria" pitchFamily="34" charset="0"/>
                <a:ea typeface="Cambria" pitchFamily="34" charset="-122"/>
                <a:cs typeface="Cambria" pitchFamily="34" charset="-120"/>
              </a:rPr>
              <a:t>An evaluation tool that was honestly evaluated</a:t>
            </a:r>
            <a:endParaRPr lang="en-US" sz="4200" dirty="0"/>
          </a:p>
        </p:txBody>
      </p:sp>
      <p:sp>
        <p:nvSpPr>
          <p:cNvPr id="5" name="Text 3"/>
          <p:cNvSpPr/>
          <p:nvPr/>
        </p:nvSpPr>
        <p:spPr>
          <a:xfrm>
            <a:off x="640080" y="3291840"/>
            <a:ext cx="10424160" cy="2377440"/>
          </a:xfrm>
          <a:prstGeom prst="rect">
            <a:avLst/>
          </a:prstGeom>
          <a:noFill/>
          <a:ln/>
        </p:spPr>
        <p:txBody>
          <a:bodyPr wrap="square" lIns="0" tIns="0" rIns="0" bIns="0" rtlCol="0" anchor="ctr"/>
          <a:lstStyle/>
          <a:p>
            <a:pPr marL="342900" indent="-342900">
              <a:spcAft>
                <a:spcPts val="1100"/>
              </a:spcAft>
              <a:buSzPct val="100000"/>
              <a:buChar char="•"/>
            </a:pPr>
            <a:r>
              <a:rPr lang="en-US" sz="1400" dirty="0">
                <a:solidFill>
                  <a:srgbClr val="9AA4BD"/>
                </a:solidFill>
                <a:latin typeface="Calibri" pitchFamily="34" charset="0"/>
                <a:ea typeface="Calibri" pitchFamily="34" charset="-122"/>
                <a:cs typeface="Calibri" pitchFamily="34" charset="-120"/>
              </a:rPr>
              <a:t>A working system: every span evaluated on CPU, with durable execution, retention, migrations and self-monitoring — each claim backed by a measurement.</a:t>
            </a:r>
            <a:endParaRPr lang="en-US" sz="1400" dirty="0"/>
          </a:p>
          <a:p>
            <a:pPr marL="342900" indent="-342900">
              <a:spcAft>
                <a:spcPts val="1100"/>
              </a:spcAft>
              <a:buSzPct val="100000"/>
              <a:buChar char="•"/>
            </a:pPr>
            <a:r>
              <a:rPr lang="en-US" sz="1400" dirty="0">
                <a:solidFill>
                  <a:srgbClr val="9AA4BD"/>
                </a:solidFill>
                <a:latin typeface="Calibri" pitchFamily="34" charset="0"/>
                <a:ea typeface="Calibri" pitchFamily="34" charset="-122"/>
                <a:cs typeface="Calibri" pitchFamily="34" charset="-120"/>
              </a:rPr>
              <a:t>A validated capability: drift, rebuilt after failing on real text and now measured at AUC 0.991 on a held-out split, with its 24.5% coverage stated alongside.</a:t>
            </a:r>
            <a:endParaRPr lang="en-US" sz="1400" dirty="0"/>
          </a:p>
          <a:p>
            <a:pPr marL="342900" indent="-342900">
              <a:spcAft>
                <a:spcPts val="1100"/>
              </a:spcAft>
              <a:buSzPct val="100000"/>
              <a:buChar char="•"/>
            </a:pPr>
            <a:r>
              <a:rPr lang="en-US" sz="1400" dirty="0">
                <a:solidFill>
                  <a:srgbClr val="9AA4BD"/>
                </a:solidFill>
                <a:latin typeface="Calibri" pitchFamily="34" charset="0"/>
                <a:ea typeface="Calibri" pitchFamily="34" charset="-122"/>
                <a:cs typeface="Calibri" pitchFamily="34" charset="-120"/>
              </a:rPr>
              <a:t>A negative result worth reporting: three self-authored benchmarks that did not survive external data, each with a diagnosis of why.</a:t>
            </a:r>
            <a:endParaRPr lang="en-US" sz="1400" dirty="0"/>
          </a:p>
          <a:p>
            <a:pPr marL="342900" indent="-342900">
              <a:spcAft>
                <a:spcPts val="1100"/>
              </a:spcAft>
              <a:buSzPct val="100000"/>
              <a:buChar char="•"/>
            </a:pPr>
            <a:r>
              <a:rPr lang="en-US" sz="1400" dirty="0">
                <a:solidFill>
                  <a:srgbClr val="9AA4BD"/>
                </a:solidFill>
                <a:latin typeface="Calibri" pitchFamily="34" charset="0"/>
                <a:ea typeface="Calibri" pitchFamily="34" charset="-122"/>
                <a:cs typeface="Calibri" pitchFamily="34" charset="-120"/>
              </a:rPr>
              <a:t>An open research question: contradiction detection cannot separate genuine faults from legitimate disagreement under distributed evidence.</a:t>
            </a:r>
            <a:endParaRPr lang="en-US" sz="1400" dirty="0"/>
          </a:p>
        </p:txBody>
      </p:sp>
      <p:sp>
        <p:nvSpPr>
          <p:cNvPr id="6" name="Text 4"/>
          <p:cNvSpPr/>
          <p:nvPr/>
        </p:nvSpPr>
        <p:spPr>
          <a:xfrm>
            <a:off x="640080" y="5943600"/>
            <a:ext cx="5486400" cy="457200"/>
          </a:xfrm>
          <a:prstGeom prst="rect">
            <a:avLst/>
          </a:prstGeom>
          <a:noFill/>
          <a:ln/>
        </p:spPr>
        <p:txBody>
          <a:bodyPr wrap="square" lIns="0" tIns="0" rIns="0" bIns="0" rtlCol="0" anchor="ctr"/>
          <a:lstStyle/>
          <a:p>
            <a:pPr indent="0" marL="0">
              <a:buNone/>
            </a:pPr>
            <a:r>
              <a:rPr lang="en-US" sz="2000" b="1" dirty="0">
                <a:solidFill>
                  <a:srgbClr val="E8ECF5"/>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AgentPulse</dc:title>
  <dc:subject>PptxGenJS Presentation</dc:subject>
  <dc:creator>Somnath Reddy</dc:creator>
  <cp:lastModifiedBy>Somnath Reddy</cp:lastModifiedBy>
  <cp:revision>1</cp:revision>
  <dcterms:created xsi:type="dcterms:W3CDTF">2026-10-25T11:49:45Z</dcterms:created>
  <dcterms:modified xsi:type="dcterms:W3CDTF">2026-10-25T11:49:45Z</dcterms:modified>
</cp:coreProperties>
</file>