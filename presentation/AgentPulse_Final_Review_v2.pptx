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F1</c:v>
                </c:pt>
              </c:strCache>
            </c:strRef>
          </c:tx>
          <c:spPr>
            <a:solidFill>
              <a:srgbClr val="3A4456"/>
            </a:solidFill>
            <a:effectLst/>
          </c:spPr>
          <c:invertIfNegative val="0"/>
          <c:dLbls>
            <c:numFmt formatCode="0.000" sourceLinked="0"/>
            <c:txPr>
              <a:bodyPr/>
              <a:lstStyle/>
              <a:p>
                <a:pPr>
                  <a:defRPr b="0" i="0" strike="noStrike" sz="1000" u="none">
                    <a:solidFill>
                      <a:srgbClr val="E8ECF5"/>
                    </a:solidFill>
                    <a:latin typeface="Arial"/>
                  </a:defRPr>
                </a:pPr>
              </a:p>
            </c:txPr>
            <c:showLegendKey val="0"/>
            <c:showVal val="1"/>
            <c:showCatName val="0"/>
            <c:showSerName val="0"/>
            <c:showPercent val="0"/>
            <c:showBubbleSize val="0"/>
            <c:showLeaderLines val="0"/>
          </c:dLbls>
          <c:dPt>
            <c:idx val="0"/>
            <c:invertIfNegative val="0"/>
            <c:bubble3D val="0"/>
            <c:spPr>
              <a:solidFill>
                <a:srgbClr val="3A4456"/>
              </a:solidFill>
              <a:effectLst/>
            </c:spPr>
          </c:dPt>
          <c:dPt>
            <c:idx val="1"/>
            <c:invertIfNegative val="0"/>
            <c:bubble3D val="0"/>
            <c:spPr>
              <a:solidFill>
                <a:srgbClr val="2C3547"/>
              </a:solidFill>
              <a:effectLst/>
            </c:spPr>
          </c:dPt>
          <c:dPt>
            <c:idx val="2"/>
            <c:invertIfNegative val="0"/>
            <c:bubble3D val="0"/>
            <c:spPr>
              <a:solidFill>
                <a:srgbClr val="22D3EE"/>
              </a:solidFill>
              <a:effectLst/>
            </c:spPr>
          </c:dPt>
          <c:dPt>
            <c:idx val="3"/>
            <c:invertIfNegative val="0"/>
            <c:bubble3D val="0"/>
            <c:spPr>
              <a:solidFill>
                <a:srgbClr val="2C3547"/>
              </a:solidFill>
              <a:effectLst/>
            </c:spPr>
          </c:dPt>
          <c:dPt>
            <c:idx val="4"/>
            <c:invertIfNegative val="0"/>
            <c:bubble3D val="0"/>
            <c:spPr>
              <a:solidFill>
                <a:srgbClr val="2C3547"/>
              </a:solidFill>
              <a:effectLst/>
            </c:spPr>
          </c:dPt>
          <c:dPt>
            <c:idx val="5"/>
            <c:invertIfNegative val="0"/>
            <c:bubble3D val="0"/>
            <c:spPr>
              <a:solidFill>
                <a:srgbClr val="FB7185"/>
              </a:solidFill>
              <a:effectLst/>
            </c:spPr>
          </c:dPt>
          <c:dPt>
            <c:idx val="6"/>
            <c:invertIfNegative val="0"/>
            <c:bubble3D val="0"/>
            <c:spPr>
              <a:solidFill>
                <a:srgbClr val="22D3EE"/>
              </a:solidFill>
              <a:effectLst/>
            </c:spPr>
          </c:dPt>
          <c:cat>
            <c:multiLvlStrRef>
              <c:f>Sheet1!$A$2:$A$8</c:f>
              <c:multiLvlStrCache>
                <c:ptCount val="7"/>
                <c:lvl>
                  <c:pt idx="0">
                    <c:v>A MiniLM</c:v>
                  </c:pt>
                  <c:pt idx="1">
                    <c:v>B DeBERTa</c:v>
                  </c:pt>
                  <c:pt idx="2">
                    <c:v>C Cascade</c:v>
                  </c:pt>
                  <c:pt idx="3">
                    <c:v>D + tool</c:v>
                  </c:pt>
                  <c:pt idx="4">
                    <c:v>E + disagree</c:v>
                  </c:pt>
                  <c:pt idx="5">
                    <c:v>F + drift</c:v>
                  </c:pt>
                  <c:pt idx="6">
                    <c:v>G Full</c:v>
                  </c:pt>
                </c:lvl>
              </c:multiLvlStrCache>
            </c:multiLvlStrRef>
          </c:cat>
          <c:val>
            <c:numRef>
              <c:f>Sheet1!$B$2:$B$8</c:f>
              <c:numCache>
                <c:formatCode>General</c:formatCode>
                <c:ptCount val="7"/>
                <c:pt idx="0">
                  <c:v>0.786</c:v>
                </c:pt>
                <c:pt idx="1">
                  <c:v>0.963</c:v>
                </c:pt>
                <c:pt idx="2">
                  <c:v>0.963</c:v>
                </c:pt>
                <c:pt idx="3">
                  <c:v>0.963</c:v>
                </c:pt>
                <c:pt idx="4">
                  <c:v>0.963</c:v>
                </c:pt>
                <c:pt idx="5">
                  <c:v>0.619</c:v>
                </c:pt>
                <c:pt idx="6">
                  <c:v>0.963</c:v>
                </c:pt>
              </c:numCache>
            </c:numRef>
          </c:val>
        </c:ser>
        <c:dLbls>
          <c:numFmt formatCode="0.000" sourceLinked="0"/>
          <c:txPr>
            <a:bodyPr/>
            <a:lstStyle/>
            <a:p>
              <a:pPr>
                <a:defRPr b="0" i="0" strike="noStrike" sz="1000" u="none">
                  <a:solidFill>
                    <a:srgbClr val="E8ECF5"/>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9AA4BD"/>
                </a:solidFill>
                <a:latin typeface="Arial"/>
              </a:defRPr>
            </a:pPr>
            <a:endParaRPr lang="en-US"/>
          </a:p>
        </c:txPr>
        <c:crossAx val="2094734552"/>
        <c:crosses val="autoZero"/>
        <c:auto val="1"/>
        <c:lblAlgn val="ctr"/>
        <c:noMultiLvlLbl val="1"/>
      </c:catAx>
      <c:valAx>
        <c:axId val="2094734552"/>
        <c:scaling>
          <c:orientation val="minMax"/>
          <c:max val="1.1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Fill in guide and panel names before presenting. State the review number out loud so the panel knows which checklist you are being measured against.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to ninety seconds. The one sentence that must land is the last one: rare faults plus sampled evaluation equals faults you never see. Everything in the architecture follows from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 of the seventeen surveyed works are from 2023 onward, which meets the checklist requirement. The limitation column is what motivates the gap on the next slide: consistency metrics assume a single-document premise, judge-based methods pay per evaluation, drift methods are not tied to correctness, and MAST describes multi-agent failures without detecting them at runtime. Read every paper on this slide before the review - a panel that finds you cannot discuss a row you cited will discount the whole survey.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objectives, each with a measured outcome next to it rather than a claim. Be ready to defend O5: reporting that three of four signals failed external validation is a completed objective, not an incomplete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ready for "why this over alternatives" on every box. The three justifications on the right are the answers. The strongest is the last: if evaluation is inline you are forced back to sampling, and the whole premise collapses.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line is a deliberate concession. If a panel member raises label quality, you have already named it as the largest validity threat, and you can point to the kappa figure and the provenance split as the mitigations.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skip past the red row. Volunteering that your full system underperforms an ablated variant, and giving the mechanism plus the date caveat, is far stronger than being caught at it. Expect a question here and welcome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panel will ask why four configurations report the same F1. The answer is the strongest methodological point in the deck: the test split could not exercise those components, and noticing that is what led to the external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validated signals with their held-out numbers, then the story of how drift got there. Always say the coverage figure in the same breath as the AUC - that pairing is the honesty discipline this project is built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brisk, ninety seconds. The framing sentence: every one of these was obtained by running the system, not by reasoning about the design. The durability figure in particular came from actually killing the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exists because the Final Review checklist asks for statistical rigor and the honest answer is mixed. Saying so directly is far safer than presenting a single-run F1 as though it were an established interval.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slide in the deck. Three for three is not bad luck, it is a finding about how self-authored benchmarks get built. If you only get one technical point across in the viva, make it the evidence-partition problem on the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 calmly and without apology. Every line has a number or a reason behind it. Naming your own limits converts a likely attack into evidence of rigour.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technical half here. The line to say out loud: anyone can demo a dashboard - what distinguishes this work is that it turned its instruments on itself and published what it found.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hide the three outstanding items - the panel has the checklist in front of them and will notice. Listing them with a timeline reads as control; being caught reads as the opposite.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checklist asks that future work identify genuine next steps rather than filler. Items 1 to 3 are commitments with dates; items 4 and 5 are the open questions this project surfaced.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slide - do not present unless asked. Its purpose is to have the full list on hand if the panel asks what else was surveyed beyond the ten rows in the comparison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fourth bullet, not the first. Then stop talking and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117"/>
        </a:solidFill>
      </p:bgPr>
    </p:bg>
    <p:spTree>
      <p:nvGrpSpPr>
        <p:cNvPr id="1" name=""/>
        <p:cNvGrpSpPr/>
        <p:nvPr/>
      </p:nvGrpSpPr>
      <p:grpSpPr>
        <a:xfrm>
          <a:off x="0" y="0"/>
          <a:ext cx="0" cy="0"/>
          <a:chOff x="0" y="0"/>
          <a:chExt cx="0" cy="0"/>
        </a:xfrm>
      </p:grpSpPr>
      <p:sp>
        <p:nvSpPr>
          <p:cNvPr id="2" name="Shape 0"/>
          <p:cNvSpPr/>
          <p:nvPr/>
        </p:nvSpPr>
        <p:spPr>
          <a:xfrm>
            <a:off x="8778240" y="-1554480"/>
            <a:ext cx="4937760" cy="4937760"/>
          </a:xfrm>
          <a:prstGeom prst="ellipse">
            <a:avLst/>
          </a:prstGeom>
          <a:solidFill>
            <a:srgbClr val="22D3EE">
              <a:alpha val="8000"/>
            </a:srgbClr>
          </a:solidFill>
          <a:ln w="12700">
            <a:solidFill>
              <a:srgbClr val="333333"/>
            </a:solidFill>
            <a:prstDash val="solid"/>
          </a:ln>
        </p:spPr>
      </p:sp>
      <p:sp>
        <p:nvSpPr>
          <p:cNvPr id="3" name="Text 1"/>
          <p:cNvSpPr/>
          <p:nvPr/>
        </p:nvSpPr>
        <p:spPr>
          <a:xfrm>
            <a:off x="640080" y="1463040"/>
            <a:ext cx="7315200" cy="274320"/>
          </a:xfrm>
          <a:prstGeom prst="rect">
            <a:avLst/>
          </a:prstGeom>
          <a:noFill/>
          <a:ln/>
        </p:spPr>
        <p:txBody>
          <a:bodyPr wrap="square" lIns="0" tIns="0" rIns="0" bIns="0" rtlCol="0" anchor="ctr"/>
          <a:lstStyle/>
          <a:p>
            <a:pPr indent="0" marL="0">
              <a:buNone/>
            </a:pPr>
            <a:r>
              <a:rPr lang="en-US" sz="1200" b="1" spc="300" kern="0" dirty="0">
                <a:solidFill>
                  <a:srgbClr val="22D3EE"/>
                </a:solidFill>
                <a:latin typeface="Calibri" pitchFamily="34" charset="0"/>
                <a:ea typeface="Calibri" pitchFamily="34" charset="-122"/>
                <a:cs typeface="Calibri" pitchFamily="34" charset="-120"/>
              </a:rPr>
              <a:t>FINAL REVIEW</a:t>
            </a:r>
            <a:endParaRPr lang="en-US" sz="1200" dirty="0"/>
          </a:p>
        </p:txBody>
      </p:sp>
      <p:sp>
        <p:nvSpPr>
          <p:cNvPr id="4" name="Text 2"/>
          <p:cNvSpPr/>
          <p:nvPr/>
        </p:nvSpPr>
        <p:spPr>
          <a:xfrm>
            <a:off x="640080" y="1874520"/>
            <a:ext cx="8229600" cy="1005840"/>
          </a:xfrm>
          <a:prstGeom prst="rect">
            <a:avLst/>
          </a:prstGeom>
          <a:noFill/>
          <a:ln/>
        </p:spPr>
        <p:txBody>
          <a:bodyPr wrap="square" lIns="0" tIns="0" rIns="0" bIns="0" rtlCol="0" anchor="ctr"/>
          <a:lstStyle/>
          <a:p>
            <a:pPr indent="0" marL="0">
              <a:buNone/>
            </a:pPr>
            <a:r>
              <a:rPr lang="en-US" sz="5400" b="1" dirty="0">
                <a:solidFill>
                  <a:srgbClr val="E8ECF5"/>
                </a:solidFill>
                <a:latin typeface="Cambria" pitchFamily="34" charset="0"/>
                <a:ea typeface="Cambria" pitchFamily="34" charset="-122"/>
                <a:cs typeface="Cambria" pitchFamily="34" charset="-120"/>
              </a:rPr>
              <a:t>AgentPulse</a:t>
            </a:r>
            <a:endParaRPr lang="en-US" sz="5400" dirty="0"/>
          </a:p>
        </p:txBody>
      </p:sp>
      <p:sp>
        <p:nvSpPr>
          <p:cNvPr id="5" name="Text 3"/>
          <p:cNvSpPr/>
          <p:nvPr/>
        </p:nvSpPr>
        <p:spPr>
          <a:xfrm>
            <a:off x="640080" y="2880360"/>
            <a:ext cx="7680960" cy="731520"/>
          </a:xfrm>
          <a:prstGeom prst="rect">
            <a:avLst/>
          </a:prstGeom>
          <a:noFill/>
          <a:ln/>
        </p:spPr>
        <p:txBody>
          <a:bodyPr wrap="square" lIns="0" tIns="0" rIns="0" bIns="0" rtlCol="0" anchor="ctr"/>
          <a:lstStyle/>
          <a:p>
            <a:pPr indent="0" marL="0">
              <a:buNone/>
            </a:pPr>
            <a:r>
              <a:rPr lang="en-US" sz="1800" dirty="0">
                <a:solidFill>
                  <a:srgbClr val="9AA4BD"/>
                </a:solidFill>
                <a:latin typeface="Calibri" pitchFamily="34" charset="0"/>
                <a:ea typeface="Calibri" pitchFamily="34" charset="-122"/>
                <a:cs typeface="Calibri" pitchFamily="34" charset="-120"/>
              </a:rPr>
              <a:t>Continuous grounding and drift observability for multi-agent LLM systems</a:t>
            </a:r>
            <a:endParaRPr lang="en-US" sz="1800" dirty="0"/>
          </a:p>
        </p:txBody>
      </p:sp>
      <p:sp>
        <p:nvSpPr>
          <p:cNvPr id="6" name="Text 4"/>
          <p:cNvSpPr/>
          <p:nvPr/>
        </p:nvSpPr>
        <p:spPr>
          <a:xfrm>
            <a:off x="640080" y="3977640"/>
            <a:ext cx="7315200" cy="292608"/>
          </a:xfrm>
          <a:prstGeom prst="rect">
            <a:avLst/>
          </a:prstGeom>
          <a:noFill/>
          <a:ln/>
        </p:spPr>
        <p:txBody>
          <a:bodyPr wrap="square" lIns="0" tIns="0" rIns="0" bIns="0" rtlCol="0" anchor="ctr"/>
          <a:lstStyle/>
          <a:p>
            <a:pPr indent="0" marL="0">
              <a:buNone/>
            </a:pPr>
            <a:r>
              <a:rPr lang="en-US" sz="1300" b="1" dirty="0">
                <a:solidFill>
                  <a:srgbClr val="22D3EE"/>
                </a:solidFill>
                <a:latin typeface="Calibri" pitchFamily="34" charset="0"/>
                <a:ea typeface="Calibri" pitchFamily="34" charset="-122"/>
                <a:cs typeface="Calibri" pitchFamily="34" charset="-120"/>
              </a:rPr>
              <a:t>M.Tech - AIML</a:t>
            </a:r>
            <a:endParaRPr lang="en-US" sz="1300" dirty="0"/>
          </a:p>
        </p:txBody>
      </p:sp>
      <p:sp>
        <p:nvSpPr>
          <p:cNvPr id="7" name="Text 5"/>
          <p:cNvSpPr/>
          <p:nvPr/>
        </p:nvSpPr>
        <p:spPr>
          <a:xfrm>
            <a:off x="640080" y="5074920"/>
            <a:ext cx="4572000" cy="320040"/>
          </a:xfrm>
          <a:prstGeom prst="rect">
            <a:avLst/>
          </a:prstGeom>
          <a:noFill/>
          <a:ln/>
        </p:spPr>
        <p:txBody>
          <a:bodyPr wrap="square" lIns="0" tIns="0" rIns="0" bIns="0" rtlCol="0" anchor="ctr"/>
          <a:lstStyle/>
          <a:p>
            <a:pPr indent="0" marL="0">
              <a:buNone/>
            </a:pPr>
            <a:r>
              <a:rPr lang="en-US" sz="1500" b="1" dirty="0">
                <a:solidFill>
                  <a:srgbClr val="E8ECF5"/>
                </a:solidFill>
                <a:latin typeface="Calibri" pitchFamily="34" charset="0"/>
                <a:ea typeface="Calibri" pitchFamily="34" charset="-122"/>
                <a:cs typeface="Calibri" pitchFamily="34" charset="-120"/>
              </a:rPr>
              <a:t>Somnath Reddy</a:t>
            </a:r>
            <a:endParaRPr lang="en-US" sz="1500" dirty="0"/>
          </a:p>
        </p:txBody>
      </p:sp>
      <p:sp>
        <p:nvSpPr>
          <p:cNvPr id="8" name="Text 6"/>
          <p:cNvSpPr/>
          <p:nvPr/>
        </p:nvSpPr>
        <p:spPr>
          <a:xfrm>
            <a:off x="640080" y="5440680"/>
            <a:ext cx="8229600" cy="274320"/>
          </a:xfrm>
          <a:prstGeom prst="rect">
            <a:avLst/>
          </a:prstGeom>
          <a:noFill/>
          <a:ln/>
        </p:spPr>
        <p:txBody>
          <a:bodyPr wrap="square" lIns="0" tIns="0" rIns="0" bIns="0" rtlCol="0" anchor="ctr"/>
          <a:lstStyle/>
          <a:p>
            <a:pPr indent="0" marL="0">
              <a:buNone/>
            </a:pPr>
            <a:r>
              <a:rPr lang="en-US" sz="1150" dirty="0">
                <a:solidFill>
                  <a:srgbClr val="6B7690"/>
                </a:solidFill>
                <a:latin typeface="Calibri" pitchFamily="34" charset="0"/>
                <a:ea typeface="Calibri" pitchFamily="34" charset="-122"/>
                <a:cs typeface="Calibri" pitchFamily="34" charset="-120"/>
              </a:rPr>
              <a:t>Guide: ______________________     Panel: ______________________</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640080" y="365760"/>
            <a:ext cx="9144000" cy="237744"/>
          </a:xfrm>
          <a:prstGeom prst="rect">
            <a:avLst/>
          </a:prstGeom>
          <a:noFill/>
          <a:ln/>
        </p:spPr>
        <p:txBody>
          <a:bodyPr wrap="square" lIns="0" tIns="0" rIns="0" bIns="0" rtlCol="0" anchor="ctr"/>
          <a:lstStyle/>
          <a:p>
            <a:pPr indent="0" marL="0">
              <a:buNone/>
            </a:pPr>
            <a:r>
              <a:rPr lang="en-US" sz="1050" b="1" spc="200" kern="0" dirty="0">
                <a:solidFill>
                  <a:srgbClr val="22D3EE"/>
                </a:solidFill>
                <a:latin typeface="Calibri" pitchFamily="34" charset="0"/>
                <a:ea typeface="Calibri" pitchFamily="34" charset="-122"/>
                <a:cs typeface="Calibri" pitchFamily="34" charset="-120"/>
              </a:rPr>
              <a:t>PROBLEM STATEMENT</a:t>
            </a:r>
            <a:endParaRPr lang="en-US" sz="1050" dirty="0"/>
          </a:p>
        </p:txBody>
      </p:sp>
      <p:sp>
        <p:nvSpPr>
          <p:cNvPr id="3" name="Text 1"/>
          <p:cNvSpPr/>
          <p:nvPr/>
        </p:nvSpPr>
        <p:spPr>
          <a:xfrm>
            <a:off x="640080" y="621792"/>
            <a:ext cx="10881360" cy="640080"/>
          </a:xfrm>
          <a:prstGeom prst="rect">
            <a:avLst/>
          </a:prstGeom>
          <a:noFill/>
          <a:ln/>
        </p:spPr>
        <p:txBody>
          <a:bodyPr wrap="square" lIns="0" tIns="0" rIns="0" bIns="0" rtlCol="0" anchor="ctr"/>
          <a:lstStyle/>
          <a:p>
            <a:pPr indent="0" marL="0">
              <a:buNone/>
            </a:pPr>
            <a:r>
              <a:rPr lang="en-US" sz="3100" b="1" dirty="0">
                <a:solidFill>
                  <a:srgbClr val="141922"/>
                </a:solidFill>
                <a:latin typeface="Cambria" pitchFamily="34" charset="0"/>
                <a:ea typeface="Cambria" pitchFamily="34" charset="-122"/>
                <a:cs typeface="Cambria" pitchFamily="34" charset="-120"/>
              </a:rPr>
              <a:t>Multi-agent systems fail without failing</a:t>
            </a:r>
            <a:endParaRPr lang="en-US" sz="3100" dirty="0"/>
          </a:p>
        </p:txBody>
      </p:sp>
      <p:sp>
        <p:nvSpPr>
          <p:cNvPr id="4" name="Shape 2"/>
          <p:cNvSpPr/>
          <p:nvPr/>
        </p:nvSpPr>
        <p:spPr>
          <a:xfrm>
            <a:off x="8321040" y="384048"/>
            <a:ext cx="3200400" cy="256032"/>
          </a:xfrm>
          <a:prstGeom prst="roundRect">
            <a:avLst>
              <a:gd name="adj" fmla="val 42857"/>
            </a:avLst>
          </a:prstGeom>
          <a:solidFill>
            <a:srgbClr val="22D3EE">
              <a:alpha val="12000"/>
            </a:srgbClr>
          </a:solidFill>
          <a:ln w="7620">
            <a:solidFill>
              <a:srgbClr val="22D3EE"/>
            </a:solidFill>
            <a:prstDash val="solid"/>
          </a:ln>
        </p:spPr>
      </p:sp>
      <p:sp>
        <p:nvSpPr>
          <p:cNvPr id="5" name="Text 3"/>
          <p:cNvSpPr/>
          <p:nvPr/>
        </p:nvSpPr>
        <p:spPr>
          <a:xfrm>
            <a:off x="8321040" y="384048"/>
            <a:ext cx="3200400" cy="256032"/>
          </a:xfrm>
          <a:prstGeom prst="rect">
            <a:avLst/>
          </a:prstGeom>
          <a:noFill/>
          <a:ln/>
        </p:spPr>
        <p:txBody>
          <a:bodyPr wrap="square" lIns="0" tIns="0" rIns="0" bIns="0" rtlCol="0" anchor="ctr"/>
          <a:lstStyle/>
          <a:p>
            <a:pPr algn="ctr" indent="0" marL="0">
              <a:buNone/>
            </a:pPr>
            <a:r>
              <a:rPr lang="en-US" sz="900" b="1" dirty="0">
                <a:solidFill>
                  <a:srgbClr val="22D3EE"/>
                </a:solidFill>
                <a:latin typeface="Calibri" pitchFamily="34" charset="0"/>
                <a:ea typeface="Calibri" pitchFamily="34" charset="-122"/>
                <a:cs typeface="Calibri" pitchFamily="34" charset="-120"/>
              </a:rPr>
              <a:t>Problem statement + motivation</a:t>
            </a:r>
            <a:endParaRPr lang="en-US" sz="900" dirty="0"/>
          </a:p>
        </p:txBody>
      </p:sp>
      <p:sp>
        <p:nvSpPr>
          <p:cNvPr id="6" name="Text 4"/>
          <p:cNvSpPr/>
          <p:nvPr/>
        </p:nvSpPr>
        <p:spPr>
          <a:xfrm>
            <a:off x="640080" y="1463040"/>
            <a:ext cx="10881360" cy="640080"/>
          </a:xfrm>
          <a:prstGeom prst="rect">
            <a:avLst/>
          </a:prstGeom>
          <a:noFill/>
          <a:ln/>
        </p:spPr>
        <p:txBody>
          <a:bodyPr wrap="square" lIns="0" tIns="0" rIns="0" bIns="0" rtlCol="0" anchor="ctr"/>
          <a:lstStyle/>
          <a:p>
            <a:pPr indent="0" marL="0">
              <a:buNone/>
            </a:pPr>
            <a:r>
              <a:rPr lang="en-US" sz="1450" dirty="0">
                <a:solidFill>
                  <a:srgbClr val="141922"/>
                </a:solidFill>
                <a:latin typeface="Calibri" pitchFamily="34" charset="0"/>
                <a:ea typeface="Calibri" pitchFamily="34" charset="-122"/>
                <a:cs typeface="Calibri" pitchFamily="34" charset="-120"/>
              </a:rPr>
              <a:t>A multi-agent LLM pipeline can produce a fluent, well-formed, entirely unsupported answer while every service reports success. No exception is raised and no latency alarm fires.</a:t>
            </a:r>
            <a:endParaRPr lang="en-US" sz="1450" dirty="0"/>
          </a:p>
        </p:txBody>
      </p:sp>
      <p:sp>
        <p:nvSpPr>
          <p:cNvPr id="7" name="Shape 5"/>
          <p:cNvSpPr/>
          <p:nvPr/>
        </p:nvSpPr>
        <p:spPr>
          <a:xfrm>
            <a:off x="640080" y="2286000"/>
            <a:ext cx="2606040" cy="1691640"/>
          </a:xfrm>
          <a:prstGeom prst="roundRect">
            <a:avLst>
              <a:gd name="adj" fmla="val 3784"/>
            </a:avLst>
          </a:prstGeom>
          <a:solidFill>
            <a:srgbClr val="FFFFFF"/>
          </a:solidFill>
          <a:ln w="12700">
            <a:solidFill>
              <a:srgbClr val="FFFFFF"/>
            </a:solidFill>
            <a:prstDash val="solid"/>
          </a:ln>
        </p:spPr>
      </p:sp>
      <p:sp>
        <p:nvSpPr>
          <p:cNvPr id="8" name="Shape 6"/>
          <p:cNvSpPr/>
          <p:nvPr/>
        </p:nvSpPr>
        <p:spPr>
          <a:xfrm>
            <a:off x="896112" y="2514600"/>
            <a:ext cx="182880" cy="182880"/>
          </a:xfrm>
          <a:prstGeom prst="ellipse">
            <a:avLst/>
          </a:prstGeom>
          <a:solidFill>
            <a:srgbClr val="FB7185"/>
          </a:solidFill>
          <a:ln w="12700">
            <a:solidFill>
              <a:srgbClr val="333333"/>
            </a:solidFill>
            <a:prstDash val="solid"/>
          </a:ln>
        </p:spPr>
      </p:sp>
      <p:sp>
        <p:nvSpPr>
          <p:cNvPr id="9" name="Text 7"/>
          <p:cNvSpPr/>
          <p:nvPr/>
        </p:nvSpPr>
        <p:spPr>
          <a:xfrm>
            <a:off x="896112" y="2761488"/>
            <a:ext cx="2148840" cy="457200"/>
          </a:xfrm>
          <a:prstGeom prst="rect">
            <a:avLst/>
          </a:prstGeom>
          <a:noFill/>
          <a:ln/>
        </p:spPr>
        <p:txBody>
          <a:bodyPr wrap="square" lIns="0" tIns="0" rIns="0" bIns="0" rtlCol="0" anchor="ctr"/>
          <a:lstStyle/>
          <a:p>
            <a:pPr indent="0" marL="0">
              <a:buNone/>
            </a:pPr>
            <a:r>
              <a:rPr lang="en-US" sz="1350" b="1" dirty="0">
                <a:solidFill>
                  <a:srgbClr val="141922"/>
                </a:solidFill>
                <a:latin typeface="Calibri" pitchFamily="34" charset="0"/>
                <a:ea typeface="Calibri" pitchFamily="34" charset="-122"/>
                <a:cs typeface="Calibri" pitchFamily="34" charset="-120"/>
              </a:rPr>
              <a:t>Grounding failure</a:t>
            </a:r>
            <a:endParaRPr lang="en-US" sz="1350" dirty="0"/>
          </a:p>
        </p:txBody>
      </p:sp>
      <p:sp>
        <p:nvSpPr>
          <p:cNvPr id="10" name="Text 8"/>
          <p:cNvSpPr/>
          <p:nvPr/>
        </p:nvSpPr>
        <p:spPr>
          <a:xfrm>
            <a:off x="896112" y="3218688"/>
            <a:ext cx="2148840" cy="685800"/>
          </a:xfrm>
          <a:prstGeom prst="rect">
            <a:avLst/>
          </a:prstGeom>
          <a:noFill/>
          <a:ln/>
        </p:spPr>
        <p:txBody>
          <a:bodyPr wrap="square" lIns="0" tIns="0" rIns="0" bIns="0" rtlCol="0" anchor="ctr"/>
          <a:lstStyle/>
          <a:p>
            <a:pPr indent="0" marL="0">
              <a:buNone/>
            </a:pPr>
            <a:r>
              <a:rPr lang="en-US" sz="1150" dirty="0">
                <a:solidFill>
                  <a:srgbClr val="5A6478"/>
                </a:solidFill>
                <a:latin typeface="Calibri" pitchFamily="34" charset="0"/>
                <a:ea typeface="Calibri" pitchFamily="34" charset="-122"/>
                <a:cs typeface="Calibri" pitchFamily="34" charset="-120"/>
              </a:rPr>
              <a:t>A claim its own retrieved evidence does not support.</a:t>
            </a:r>
            <a:endParaRPr lang="en-US" sz="1150" dirty="0"/>
          </a:p>
        </p:txBody>
      </p:sp>
      <p:sp>
        <p:nvSpPr>
          <p:cNvPr id="11" name="Shape 9"/>
          <p:cNvSpPr/>
          <p:nvPr/>
        </p:nvSpPr>
        <p:spPr>
          <a:xfrm>
            <a:off x="3383280" y="2286000"/>
            <a:ext cx="2606040" cy="1691640"/>
          </a:xfrm>
          <a:prstGeom prst="roundRect">
            <a:avLst>
              <a:gd name="adj" fmla="val 3784"/>
            </a:avLst>
          </a:prstGeom>
          <a:solidFill>
            <a:srgbClr val="FFFFFF"/>
          </a:solidFill>
          <a:ln w="12700">
            <a:solidFill>
              <a:srgbClr val="FFFFFF"/>
            </a:solidFill>
            <a:prstDash val="solid"/>
          </a:ln>
        </p:spPr>
      </p:sp>
      <p:sp>
        <p:nvSpPr>
          <p:cNvPr id="12" name="Shape 10"/>
          <p:cNvSpPr/>
          <p:nvPr/>
        </p:nvSpPr>
        <p:spPr>
          <a:xfrm>
            <a:off x="3639312" y="2514600"/>
            <a:ext cx="182880" cy="182880"/>
          </a:xfrm>
          <a:prstGeom prst="ellipse">
            <a:avLst/>
          </a:prstGeom>
          <a:solidFill>
            <a:srgbClr val="FBBF24"/>
          </a:solidFill>
          <a:ln w="12700">
            <a:solidFill>
              <a:srgbClr val="333333"/>
            </a:solidFill>
            <a:prstDash val="solid"/>
          </a:ln>
        </p:spPr>
      </p:sp>
      <p:sp>
        <p:nvSpPr>
          <p:cNvPr id="13" name="Text 11"/>
          <p:cNvSpPr/>
          <p:nvPr/>
        </p:nvSpPr>
        <p:spPr>
          <a:xfrm>
            <a:off x="3639312" y="2761488"/>
            <a:ext cx="2148840" cy="457200"/>
          </a:xfrm>
          <a:prstGeom prst="rect">
            <a:avLst/>
          </a:prstGeom>
          <a:noFill/>
          <a:ln/>
        </p:spPr>
        <p:txBody>
          <a:bodyPr wrap="square" lIns="0" tIns="0" rIns="0" bIns="0" rtlCol="0" anchor="ctr"/>
          <a:lstStyle/>
          <a:p>
            <a:pPr indent="0" marL="0">
              <a:buNone/>
            </a:pPr>
            <a:r>
              <a:rPr lang="en-US" sz="1350" b="1" dirty="0">
                <a:solidFill>
                  <a:srgbClr val="141922"/>
                </a:solidFill>
                <a:latin typeface="Calibri" pitchFamily="34" charset="0"/>
                <a:ea typeface="Calibri" pitchFamily="34" charset="-122"/>
                <a:cs typeface="Calibri" pitchFamily="34" charset="-120"/>
              </a:rPr>
              <a:t>Cross-agent contradiction</a:t>
            </a:r>
            <a:endParaRPr lang="en-US" sz="1350" dirty="0"/>
          </a:p>
        </p:txBody>
      </p:sp>
      <p:sp>
        <p:nvSpPr>
          <p:cNvPr id="14" name="Text 12"/>
          <p:cNvSpPr/>
          <p:nvPr/>
        </p:nvSpPr>
        <p:spPr>
          <a:xfrm>
            <a:off x="3639312" y="3218688"/>
            <a:ext cx="2148840" cy="685800"/>
          </a:xfrm>
          <a:prstGeom prst="rect">
            <a:avLst/>
          </a:prstGeom>
          <a:noFill/>
          <a:ln/>
        </p:spPr>
        <p:txBody>
          <a:bodyPr wrap="square" lIns="0" tIns="0" rIns="0" bIns="0" rtlCol="0" anchor="ctr"/>
          <a:lstStyle/>
          <a:p>
            <a:pPr indent="0" marL="0">
              <a:buNone/>
            </a:pPr>
            <a:r>
              <a:rPr lang="en-US" sz="1150" dirty="0">
                <a:solidFill>
                  <a:srgbClr val="5A6478"/>
                </a:solidFill>
                <a:latin typeface="Calibri" pitchFamily="34" charset="0"/>
                <a:ea typeface="Calibri" pitchFamily="34" charset="-122"/>
                <a:cs typeface="Calibri" pitchFamily="34" charset="-120"/>
              </a:rPr>
              <a:t>Two agents disagree and the pipeline proceeds regardless.</a:t>
            </a:r>
            <a:endParaRPr lang="en-US" sz="1150" dirty="0"/>
          </a:p>
        </p:txBody>
      </p:sp>
      <p:sp>
        <p:nvSpPr>
          <p:cNvPr id="15" name="Shape 13"/>
          <p:cNvSpPr/>
          <p:nvPr/>
        </p:nvSpPr>
        <p:spPr>
          <a:xfrm>
            <a:off x="6126480" y="2286000"/>
            <a:ext cx="2606040" cy="1691640"/>
          </a:xfrm>
          <a:prstGeom prst="roundRect">
            <a:avLst>
              <a:gd name="adj" fmla="val 3784"/>
            </a:avLst>
          </a:prstGeom>
          <a:solidFill>
            <a:srgbClr val="FFFFFF"/>
          </a:solidFill>
          <a:ln w="12700">
            <a:solidFill>
              <a:srgbClr val="FFFFFF"/>
            </a:solidFill>
            <a:prstDash val="solid"/>
          </a:ln>
        </p:spPr>
      </p:sp>
      <p:sp>
        <p:nvSpPr>
          <p:cNvPr id="16" name="Shape 14"/>
          <p:cNvSpPr/>
          <p:nvPr/>
        </p:nvSpPr>
        <p:spPr>
          <a:xfrm>
            <a:off x="6382512" y="2514600"/>
            <a:ext cx="182880" cy="182880"/>
          </a:xfrm>
          <a:prstGeom prst="ellipse">
            <a:avLst/>
          </a:prstGeom>
          <a:solidFill>
            <a:srgbClr val="FB7185"/>
          </a:solidFill>
          <a:ln w="12700">
            <a:solidFill>
              <a:srgbClr val="333333"/>
            </a:solidFill>
            <a:prstDash val="solid"/>
          </a:ln>
        </p:spPr>
      </p:sp>
      <p:sp>
        <p:nvSpPr>
          <p:cNvPr id="17" name="Text 15"/>
          <p:cNvSpPr/>
          <p:nvPr/>
        </p:nvSpPr>
        <p:spPr>
          <a:xfrm>
            <a:off x="6382512" y="2761488"/>
            <a:ext cx="2148840" cy="457200"/>
          </a:xfrm>
          <a:prstGeom prst="rect">
            <a:avLst/>
          </a:prstGeom>
          <a:noFill/>
          <a:ln/>
        </p:spPr>
        <p:txBody>
          <a:bodyPr wrap="square" lIns="0" tIns="0" rIns="0" bIns="0" rtlCol="0" anchor="ctr"/>
          <a:lstStyle/>
          <a:p>
            <a:pPr indent="0" marL="0">
              <a:buNone/>
            </a:pPr>
            <a:r>
              <a:rPr lang="en-US" sz="1350" b="1" dirty="0">
                <a:solidFill>
                  <a:srgbClr val="141922"/>
                </a:solidFill>
                <a:latin typeface="Calibri" pitchFamily="34" charset="0"/>
                <a:ea typeface="Calibri" pitchFamily="34" charset="-122"/>
                <a:cs typeface="Calibri" pitchFamily="34" charset="-120"/>
              </a:rPr>
              <a:t>Tool-result fabrication</a:t>
            </a:r>
            <a:endParaRPr lang="en-US" sz="1350" dirty="0"/>
          </a:p>
        </p:txBody>
      </p:sp>
      <p:sp>
        <p:nvSpPr>
          <p:cNvPr id="18" name="Text 16"/>
          <p:cNvSpPr/>
          <p:nvPr/>
        </p:nvSpPr>
        <p:spPr>
          <a:xfrm>
            <a:off x="6382512" y="3218688"/>
            <a:ext cx="2148840" cy="685800"/>
          </a:xfrm>
          <a:prstGeom prst="rect">
            <a:avLst/>
          </a:prstGeom>
          <a:noFill/>
          <a:ln/>
        </p:spPr>
        <p:txBody>
          <a:bodyPr wrap="square" lIns="0" tIns="0" rIns="0" bIns="0" rtlCol="0" anchor="ctr"/>
          <a:lstStyle/>
          <a:p>
            <a:pPr indent="0" marL="0">
              <a:buNone/>
            </a:pPr>
            <a:r>
              <a:rPr lang="en-US" sz="1150" dirty="0">
                <a:solidFill>
                  <a:srgbClr val="5A6478"/>
                </a:solidFill>
                <a:latin typeface="Calibri" pitchFamily="34" charset="0"/>
                <a:ea typeface="Calibri" pitchFamily="34" charset="-122"/>
                <a:cs typeface="Calibri" pitchFamily="34" charset="-120"/>
              </a:rPr>
              <a:t>The agent describes a result the tool never returned.</a:t>
            </a:r>
            <a:endParaRPr lang="en-US" sz="1150" dirty="0"/>
          </a:p>
        </p:txBody>
      </p:sp>
      <p:sp>
        <p:nvSpPr>
          <p:cNvPr id="19" name="Shape 17"/>
          <p:cNvSpPr/>
          <p:nvPr/>
        </p:nvSpPr>
        <p:spPr>
          <a:xfrm>
            <a:off x="8869680" y="2286000"/>
            <a:ext cx="2606040" cy="1691640"/>
          </a:xfrm>
          <a:prstGeom prst="roundRect">
            <a:avLst>
              <a:gd name="adj" fmla="val 3784"/>
            </a:avLst>
          </a:prstGeom>
          <a:solidFill>
            <a:srgbClr val="FFFFFF"/>
          </a:solidFill>
          <a:ln w="12700">
            <a:solidFill>
              <a:srgbClr val="FFFFFF"/>
            </a:solidFill>
            <a:prstDash val="solid"/>
          </a:ln>
        </p:spPr>
      </p:sp>
      <p:sp>
        <p:nvSpPr>
          <p:cNvPr id="20" name="Shape 18"/>
          <p:cNvSpPr/>
          <p:nvPr/>
        </p:nvSpPr>
        <p:spPr>
          <a:xfrm>
            <a:off x="9125712" y="2514600"/>
            <a:ext cx="182880" cy="182880"/>
          </a:xfrm>
          <a:prstGeom prst="ellipse">
            <a:avLst/>
          </a:prstGeom>
          <a:solidFill>
            <a:srgbClr val="FBBF24"/>
          </a:solidFill>
          <a:ln w="12700">
            <a:solidFill>
              <a:srgbClr val="333333"/>
            </a:solidFill>
            <a:prstDash val="solid"/>
          </a:ln>
        </p:spPr>
      </p:sp>
      <p:sp>
        <p:nvSpPr>
          <p:cNvPr id="21" name="Text 19"/>
          <p:cNvSpPr/>
          <p:nvPr/>
        </p:nvSpPr>
        <p:spPr>
          <a:xfrm>
            <a:off x="9125712" y="2761488"/>
            <a:ext cx="2148840" cy="457200"/>
          </a:xfrm>
          <a:prstGeom prst="rect">
            <a:avLst/>
          </a:prstGeom>
          <a:noFill/>
          <a:ln/>
        </p:spPr>
        <p:txBody>
          <a:bodyPr wrap="square" lIns="0" tIns="0" rIns="0" bIns="0" rtlCol="0" anchor="ctr"/>
          <a:lstStyle/>
          <a:p>
            <a:pPr indent="0" marL="0">
              <a:buNone/>
            </a:pPr>
            <a:r>
              <a:rPr lang="en-US" sz="1350" b="1" dirty="0">
                <a:solidFill>
                  <a:srgbClr val="141922"/>
                </a:solidFill>
                <a:latin typeface="Calibri" pitchFamily="34" charset="0"/>
                <a:ea typeface="Calibri" pitchFamily="34" charset="-122"/>
                <a:cs typeface="Calibri" pitchFamily="34" charset="-120"/>
              </a:rPr>
              <a:t>Behavioural drift</a:t>
            </a:r>
            <a:endParaRPr lang="en-US" sz="1350" dirty="0"/>
          </a:p>
        </p:txBody>
      </p:sp>
      <p:sp>
        <p:nvSpPr>
          <p:cNvPr id="22" name="Text 20"/>
          <p:cNvSpPr/>
          <p:nvPr/>
        </p:nvSpPr>
        <p:spPr>
          <a:xfrm>
            <a:off x="9125712" y="3218688"/>
            <a:ext cx="2148840" cy="685800"/>
          </a:xfrm>
          <a:prstGeom prst="rect">
            <a:avLst/>
          </a:prstGeom>
          <a:noFill/>
          <a:ln/>
        </p:spPr>
        <p:txBody>
          <a:bodyPr wrap="square" lIns="0" tIns="0" rIns="0" bIns="0" rtlCol="0" anchor="ctr"/>
          <a:lstStyle/>
          <a:p>
            <a:pPr indent="0" marL="0">
              <a:buNone/>
            </a:pPr>
            <a:r>
              <a:rPr lang="en-US" sz="1150" dirty="0">
                <a:solidFill>
                  <a:srgbClr val="5A6478"/>
                </a:solidFill>
                <a:latin typeface="Calibri" pitchFamily="34" charset="0"/>
                <a:ea typeface="Calibri" pitchFamily="34" charset="-122"/>
                <a:cs typeface="Calibri" pitchFamily="34" charset="-120"/>
              </a:rPr>
              <a:t>Output distribution moves after a model or prompt change.</a:t>
            </a:r>
            <a:endParaRPr lang="en-US" sz="1150" dirty="0"/>
          </a:p>
        </p:txBody>
      </p:sp>
      <p:sp>
        <p:nvSpPr>
          <p:cNvPr id="23" name="Shape 21"/>
          <p:cNvSpPr/>
          <p:nvPr/>
        </p:nvSpPr>
        <p:spPr>
          <a:xfrm>
            <a:off x="640080" y="4251960"/>
            <a:ext cx="10881360" cy="1371600"/>
          </a:xfrm>
          <a:prstGeom prst="roundRect">
            <a:avLst>
              <a:gd name="adj" fmla="val 4667"/>
            </a:avLst>
          </a:prstGeom>
          <a:solidFill>
            <a:srgbClr val="FFFFFF"/>
          </a:solidFill>
          <a:ln w="12700">
            <a:solidFill>
              <a:srgbClr val="FFFFFF"/>
            </a:solidFill>
            <a:prstDash val="solid"/>
          </a:ln>
        </p:spPr>
      </p:sp>
      <p:sp>
        <p:nvSpPr>
          <p:cNvPr id="24" name="Text 22"/>
          <p:cNvSpPr/>
          <p:nvPr/>
        </p:nvSpPr>
        <p:spPr>
          <a:xfrm>
            <a:off x="960120" y="4434840"/>
            <a:ext cx="10241280" cy="274320"/>
          </a:xfrm>
          <a:prstGeom prst="rect">
            <a:avLst/>
          </a:prstGeom>
          <a:noFill/>
          <a:ln/>
        </p:spPr>
        <p:txBody>
          <a:bodyPr wrap="square" lIns="0" tIns="0" rIns="0" bIns="0" rtlCol="0" anchor="ctr"/>
          <a:lstStyle/>
          <a:p>
            <a:pPr indent="0" marL="0">
              <a:buNone/>
            </a:pPr>
            <a:r>
              <a:rPr lang="en-US" sz="1350" b="1" dirty="0">
                <a:solidFill>
                  <a:srgbClr val="141922"/>
                </a:solidFill>
                <a:latin typeface="Calibri" pitchFamily="34" charset="0"/>
                <a:ea typeface="Calibri" pitchFamily="34" charset="-122"/>
                <a:cs typeface="Calibri" pitchFamily="34" charset="-120"/>
              </a:rPr>
              <a:t>Why it matters</a:t>
            </a:r>
            <a:endParaRPr lang="en-US" sz="1350" dirty="0"/>
          </a:p>
        </p:txBody>
      </p:sp>
      <p:sp>
        <p:nvSpPr>
          <p:cNvPr id="25" name="Text 23"/>
          <p:cNvSpPr/>
          <p:nvPr/>
        </p:nvSpPr>
        <p:spPr>
          <a:xfrm>
            <a:off x="960120" y="4754880"/>
            <a:ext cx="10241280" cy="731520"/>
          </a:xfrm>
          <a:prstGeom prst="rect">
            <a:avLst/>
          </a:prstGeom>
          <a:noFill/>
          <a:ln/>
        </p:spPr>
        <p:txBody>
          <a:bodyPr wrap="square" lIns="0" tIns="0" rIns="0" bIns="0" rtlCol="0" anchor="ctr"/>
          <a:lstStyle/>
          <a:p>
            <a:pPr indent="0" marL="0">
              <a:buNone/>
            </a:pPr>
            <a:r>
              <a:rPr lang="en-US" sz="1250" dirty="0">
                <a:solidFill>
                  <a:srgbClr val="5A6478"/>
                </a:solidFill>
                <a:latin typeface="Calibri" pitchFamily="34" charset="0"/>
                <a:ea typeface="Calibri" pitchFamily="34" charset="-122"/>
                <a:cs typeface="Calibri" pitchFamily="34" charset="-120"/>
              </a:rPr>
              <a:t>These faults are rare, so the standard practice of sampling a percentage of traffic for quality evaluation is structurally the wrong instrument: the sample is most likely to miss exactly the events worth catching. Anyone deploying agents in a regulated or high-consequence setting needs per-span evidence, not an aggregate.</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640080" y="365760"/>
            <a:ext cx="9144000" cy="237744"/>
          </a:xfrm>
          <a:prstGeom prst="rect">
            <a:avLst/>
          </a:prstGeom>
          <a:noFill/>
          <a:ln/>
        </p:spPr>
        <p:txBody>
          <a:bodyPr wrap="square" lIns="0" tIns="0" rIns="0" bIns="0" rtlCol="0" anchor="ctr"/>
          <a:lstStyle/>
          <a:p>
            <a:pPr indent="0" marL="0">
              <a:buNone/>
            </a:pPr>
            <a:r>
              <a:rPr lang="en-US" sz="1050" b="1" spc="200" kern="0" dirty="0">
                <a:solidFill>
                  <a:srgbClr val="22D3EE"/>
                </a:solidFill>
                <a:latin typeface="Calibri" pitchFamily="34" charset="0"/>
                <a:ea typeface="Calibri" pitchFamily="34" charset="-122"/>
                <a:cs typeface="Calibri" pitchFamily="34" charset="-120"/>
              </a:rPr>
              <a:t>LITERATURE SURVEY</a:t>
            </a:r>
            <a:endParaRPr lang="en-US" sz="1050" dirty="0"/>
          </a:p>
        </p:txBody>
      </p:sp>
      <p:sp>
        <p:nvSpPr>
          <p:cNvPr id="3" name="Text 1"/>
          <p:cNvSpPr/>
          <p:nvPr/>
        </p:nvSpPr>
        <p:spPr>
          <a:xfrm>
            <a:off x="640080" y="621792"/>
            <a:ext cx="10881360" cy="640080"/>
          </a:xfrm>
          <a:prstGeom prst="rect">
            <a:avLst/>
          </a:prstGeom>
          <a:noFill/>
          <a:ln/>
        </p:spPr>
        <p:txBody>
          <a:bodyPr wrap="square" lIns="0" tIns="0" rIns="0" bIns="0" rtlCol="0" anchor="ctr"/>
          <a:lstStyle/>
          <a:p>
            <a:pPr indent="0" marL="0">
              <a:buNone/>
            </a:pPr>
            <a:r>
              <a:rPr lang="en-US" sz="3100" b="1" dirty="0">
                <a:solidFill>
                  <a:srgbClr val="141922"/>
                </a:solidFill>
                <a:latin typeface="Cambria" pitchFamily="34" charset="0"/>
                <a:ea typeface="Cambria" pitchFamily="34" charset="-122"/>
                <a:cs typeface="Cambria" pitchFamily="34" charset="-120"/>
              </a:rPr>
              <a:t>Comparison of prior work</a:t>
            </a:r>
            <a:endParaRPr lang="en-US" sz="3100" dirty="0"/>
          </a:p>
        </p:txBody>
      </p:sp>
      <p:sp>
        <p:nvSpPr>
          <p:cNvPr id="4" name="Shape 2"/>
          <p:cNvSpPr/>
          <p:nvPr/>
        </p:nvSpPr>
        <p:spPr>
          <a:xfrm>
            <a:off x="8321040" y="384048"/>
            <a:ext cx="3200400" cy="256032"/>
          </a:xfrm>
          <a:prstGeom prst="roundRect">
            <a:avLst>
              <a:gd name="adj" fmla="val 42857"/>
            </a:avLst>
          </a:prstGeom>
          <a:solidFill>
            <a:srgbClr val="22D3EE">
              <a:alpha val="12000"/>
            </a:srgbClr>
          </a:solidFill>
          <a:ln w="7620">
            <a:solidFill>
              <a:srgbClr val="22D3EE"/>
            </a:solidFill>
            <a:prstDash val="solid"/>
          </a:ln>
        </p:spPr>
      </p:sp>
      <p:sp>
        <p:nvSpPr>
          <p:cNvPr id="5" name="Text 3"/>
          <p:cNvSpPr/>
          <p:nvPr/>
        </p:nvSpPr>
        <p:spPr>
          <a:xfrm>
            <a:off x="8321040" y="384048"/>
            <a:ext cx="3200400" cy="256032"/>
          </a:xfrm>
          <a:prstGeom prst="rect">
            <a:avLst/>
          </a:prstGeom>
          <a:noFill/>
          <a:ln/>
        </p:spPr>
        <p:txBody>
          <a:bodyPr wrap="square" lIns="0" tIns="0" rIns="0" bIns="0" rtlCol="0" anchor="ctr"/>
          <a:lstStyle/>
          <a:p>
            <a:pPr algn="ctr" indent="0" marL="0">
              <a:buNone/>
            </a:pPr>
            <a:r>
              <a:rPr lang="en-US" sz="900" b="1" dirty="0">
                <a:solidFill>
                  <a:srgbClr val="22D3EE"/>
                </a:solidFill>
                <a:latin typeface="Calibri" pitchFamily="34" charset="0"/>
                <a:ea typeface="Calibri" pitchFamily="34" charset="-122"/>
                <a:cs typeface="Calibri" pitchFamily="34" charset="-120"/>
              </a:rPr>
              <a:t>Lit. survey - comparison table</a:t>
            </a:r>
            <a:endParaRPr lang="en-US" sz="900" dirty="0"/>
          </a:p>
        </p:txBody>
      </p:sp>
      <p:sp>
        <p:nvSpPr>
          <p:cNvPr id="6" name="Text 4"/>
          <p:cNvSpPr/>
          <p:nvPr/>
        </p:nvSpPr>
        <p:spPr>
          <a:xfrm>
            <a:off x="841248" y="1353312"/>
            <a:ext cx="1691640" cy="274320"/>
          </a:xfrm>
          <a:prstGeom prst="rect">
            <a:avLst/>
          </a:prstGeom>
          <a:noFill/>
          <a:ln/>
        </p:spPr>
        <p:txBody>
          <a:bodyPr wrap="square" lIns="0" tIns="0" rIns="0" bIns="0" rtlCol="0" anchor="ctr"/>
          <a:lstStyle/>
          <a:p>
            <a:pPr indent="0" marL="0">
              <a:buNone/>
            </a:pPr>
            <a:r>
              <a:rPr lang="en-US" sz="850" b="1" spc="100" kern="0" dirty="0">
                <a:solidFill>
                  <a:srgbClr val="7A8496"/>
                </a:solidFill>
                <a:latin typeface="Calibri" pitchFamily="34" charset="0"/>
                <a:ea typeface="Calibri" pitchFamily="34" charset="-122"/>
                <a:cs typeface="Calibri" pitchFamily="34" charset="-120"/>
              </a:rPr>
              <a:t>WORK, YEAR</a:t>
            </a:r>
            <a:endParaRPr lang="en-US" sz="850" dirty="0"/>
          </a:p>
        </p:txBody>
      </p:sp>
      <p:sp>
        <p:nvSpPr>
          <p:cNvPr id="7" name="Text 5"/>
          <p:cNvSpPr/>
          <p:nvPr/>
        </p:nvSpPr>
        <p:spPr>
          <a:xfrm>
            <a:off x="2514600" y="1353312"/>
            <a:ext cx="2423160" cy="274320"/>
          </a:xfrm>
          <a:prstGeom prst="rect">
            <a:avLst/>
          </a:prstGeom>
          <a:noFill/>
          <a:ln/>
        </p:spPr>
        <p:txBody>
          <a:bodyPr wrap="square" lIns="0" tIns="0" rIns="0" bIns="0" rtlCol="0" anchor="ctr"/>
          <a:lstStyle/>
          <a:p>
            <a:pPr indent="0" marL="0">
              <a:buNone/>
            </a:pPr>
            <a:r>
              <a:rPr lang="en-US" sz="850" b="1" spc="100" kern="0" dirty="0">
                <a:solidFill>
                  <a:srgbClr val="7A8496"/>
                </a:solidFill>
                <a:latin typeface="Calibri" pitchFamily="34" charset="0"/>
                <a:ea typeface="Calibri" pitchFamily="34" charset="-122"/>
                <a:cs typeface="Calibri" pitchFamily="34" charset="-120"/>
              </a:rPr>
              <a:t>METHOD</a:t>
            </a:r>
            <a:endParaRPr lang="en-US" sz="850" dirty="0"/>
          </a:p>
        </p:txBody>
      </p:sp>
      <p:sp>
        <p:nvSpPr>
          <p:cNvPr id="8" name="Text 6"/>
          <p:cNvSpPr/>
          <p:nvPr/>
        </p:nvSpPr>
        <p:spPr>
          <a:xfrm>
            <a:off x="4937760" y="1353312"/>
            <a:ext cx="2286000" cy="274320"/>
          </a:xfrm>
          <a:prstGeom prst="rect">
            <a:avLst/>
          </a:prstGeom>
          <a:noFill/>
          <a:ln/>
        </p:spPr>
        <p:txBody>
          <a:bodyPr wrap="square" lIns="0" tIns="0" rIns="0" bIns="0" rtlCol="0" anchor="ctr"/>
          <a:lstStyle/>
          <a:p>
            <a:pPr indent="0" marL="0">
              <a:buNone/>
            </a:pPr>
            <a:r>
              <a:rPr lang="en-US" sz="850" b="1" spc="100" kern="0" dirty="0">
                <a:solidFill>
                  <a:srgbClr val="7A8496"/>
                </a:solidFill>
                <a:latin typeface="Calibri" pitchFamily="34" charset="0"/>
                <a:ea typeface="Calibri" pitchFamily="34" charset="-122"/>
                <a:cs typeface="Calibri" pitchFamily="34" charset="-120"/>
              </a:rPr>
              <a:t>EVALUATED ON</a:t>
            </a:r>
            <a:endParaRPr lang="en-US" sz="850" dirty="0"/>
          </a:p>
        </p:txBody>
      </p:sp>
      <p:sp>
        <p:nvSpPr>
          <p:cNvPr id="9" name="Text 7"/>
          <p:cNvSpPr/>
          <p:nvPr/>
        </p:nvSpPr>
        <p:spPr>
          <a:xfrm>
            <a:off x="7223760" y="1353312"/>
            <a:ext cx="1737360" cy="274320"/>
          </a:xfrm>
          <a:prstGeom prst="rect">
            <a:avLst/>
          </a:prstGeom>
          <a:noFill/>
          <a:ln/>
        </p:spPr>
        <p:txBody>
          <a:bodyPr wrap="square" lIns="0" tIns="0" rIns="0" bIns="0" rtlCol="0" anchor="ctr"/>
          <a:lstStyle/>
          <a:p>
            <a:pPr indent="0" marL="0">
              <a:buNone/>
            </a:pPr>
            <a:r>
              <a:rPr lang="en-US" sz="850" b="1" spc="100" kern="0" dirty="0">
                <a:solidFill>
                  <a:srgbClr val="7A8496"/>
                </a:solidFill>
                <a:latin typeface="Calibri" pitchFamily="34" charset="0"/>
                <a:ea typeface="Calibri" pitchFamily="34" charset="-122"/>
                <a:cs typeface="Calibri" pitchFamily="34" charset="-120"/>
              </a:rPr>
              <a:t>METRIC</a:t>
            </a:r>
            <a:endParaRPr lang="en-US" sz="850" dirty="0"/>
          </a:p>
        </p:txBody>
      </p:sp>
      <p:sp>
        <p:nvSpPr>
          <p:cNvPr id="10" name="Text 8"/>
          <p:cNvSpPr/>
          <p:nvPr/>
        </p:nvSpPr>
        <p:spPr>
          <a:xfrm>
            <a:off x="8961120" y="1353312"/>
            <a:ext cx="2560320" cy="274320"/>
          </a:xfrm>
          <a:prstGeom prst="rect">
            <a:avLst/>
          </a:prstGeom>
          <a:noFill/>
          <a:ln/>
        </p:spPr>
        <p:txBody>
          <a:bodyPr wrap="square" lIns="0" tIns="0" rIns="0" bIns="0" rtlCol="0" anchor="ctr"/>
          <a:lstStyle/>
          <a:p>
            <a:pPr indent="0" marL="0">
              <a:buNone/>
            </a:pPr>
            <a:r>
              <a:rPr lang="en-US" sz="850" b="1" spc="100" kern="0" dirty="0">
                <a:solidFill>
                  <a:srgbClr val="7A8496"/>
                </a:solidFill>
                <a:latin typeface="Calibri" pitchFamily="34" charset="0"/>
                <a:ea typeface="Calibri" pitchFamily="34" charset="-122"/>
                <a:cs typeface="Calibri" pitchFamily="34" charset="-120"/>
              </a:rPr>
              <a:t>LIMITATION FOR THIS PROBLEM</a:t>
            </a:r>
            <a:endParaRPr lang="en-US" sz="850" dirty="0"/>
          </a:p>
        </p:txBody>
      </p:sp>
      <p:sp>
        <p:nvSpPr>
          <p:cNvPr id="11" name="Shape 9"/>
          <p:cNvSpPr/>
          <p:nvPr/>
        </p:nvSpPr>
        <p:spPr>
          <a:xfrm>
            <a:off x="640080" y="1655064"/>
            <a:ext cx="10881360" cy="493776"/>
          </a:xfrm>
          <a:prstGeom prst="roundRect">
            <a:avLst>
              <a:gd name="adj" fmla="val 12963"/>
            </a:avLst>
          </a:prstGeom>
          <a:solidFill>
            <a:srgbClr val="FFFFFF"/>
          </a:solidFill>
          <a:ln w="12700">
            <a:solidFill>
              <a:srgbClr val="FFFFFF"/>
            </a:solidFill>
            <a:prstDash val="solid"/>
          </a:ln>
        </p:spPr>
      </p:sp>
      <p:sp>
        <p:nvSpPr>
          <p:cNvPr id="12" name="Text 10"/>
          <p:cNvSpPr/>
          <p:nvPr/>
        </p:nvSpPr>
        <p:spPr>
          <a:xfrm>
            <a:off x="841248" y="1783080"/>
            <a:ext cx="1691640" cy="274320"/>
          </a:xfrm>
          <a:prstGeom prst="rect">
            <a:avLst/>
          </a:prstGeom>
          <a:noFill/>
          <a:ln/>
        </p:spPr>
        <p:txBody>
          <a:bodyPr wrap="square" lIns="0" tIns="0" rIns="0" bIns="0" rtlCol="0" anchor="ctr"/>
          <a:lstStyle/>
          <a:p>
            <a:pPr indent="0" marL="0">
              <a:buNone/>
            </a:pPr>
            <a:r>
              <a:rPr lang="en-US" sz="980" b="1" dirty="0">
                <a:solidFill>
                  <a:srgbClr val="5A6478"/>
                </a:solidFill>
                <a:latin typeface="Calibri" pitchFamily="34" charset="0"/>
                <a:ea typeface="Calibri" pitchFamily="34" charset="-122"/>
                <a:cs typeface="Calibri" pitchFamily="34" charset="-120"/>
              </a:rPr>
              <a:t>SummaC, 2022</a:t>
            </a:r>
            <a:endParaRPr lang="en-US" sz="980" dirty="0"/>
          </a:p>
        </p:txBody>
      </p:sp>
      <p:sp>
        <p:nvSpPr>
          <p:cNvPr id="13" name="Text 11"/>
          <p:cNvSpPr/>
          <p:nvPr/>
        </p:nvSpPr>
        <p:spPr>
          <a:xfrm>
            <a:off x="2514600" y="1783080"/>
            <a:ext cx="2423160" cy="274320"/>
          </a:xfrm>
          <a:prstGeom prst="rect">
            <a:avLst/>
          </a:prstGeom>
          <a:noFill/>
          <a:ln/>
        </p:spPr>
        <p:txBody>
          <a:bodyPr wrap="square" lIns="0" tIns="0" rIns="0" bIns="0" rtlCol="0" anchor="ctr"/>
          <a:lstStyle/>
          <a:p>
            <a:pPr indent="0" marL="0">
              <a:buNone/>
            </a:pPr>
            <a:r>
              <a:rPr lang="en-US" sz="980" dirty="0">
                <a:solidFill>
                  <a:srgbClr val="5A6478"/>
                </a:solidFill>
                <a:latin typeface="Calibri" pitchFamily="34" charset="0"/>
                <a:ea typeface="Calibri" pitchFamily="34" charset="-122"/>
                <a:cs typeface="Calibri" pitchFamily="34" charset="-120"/>
              </a:rPr>
              <a:t>NLI at sentence granularity</a:t>
            </a:r>
            <a:endParaRPr lang="en-US" sz="980" dirty="0"/>
          </a:p>
        </p:txBody>
      </p:sp>
      <p:sp>
        <p:nvSpPr>
          <p:cNvPr id="14" name="Text 12"/>
          <p:cNvSpPr/>
          <p:nvPr/>
        </p:nvSpPr>
        <p:spPr>
          <a:xfrm>
            <a:off x="4937760" y="1783080"/>
            <a:ext cx="2286000" cy="274320"/>
          </a:xfrm>
          <a:prstGeom prst="rect">
            <a:avLst/>
          </a:prstGeom>
          <a:noFill/>
          <a:ln/>
        </p:spPr>
        <p:txBody>
          <a:bodyPr wrap="square" lIns="0" tIns="0" rIns="0" bIns="0" rtlCol="0" anchor="ctr"/>
          <a:lstStyle/>
          <a:p>
            <a:pPr indent="0" marL="0">
              <a:buNone/>
            </a:pPr>
            <a:r>
              <a:rPr lang="en-US" sz="980" dirty="0">
                <a:solidFill>
                  <a:srgbClr val="5A6478"/>
                </a:solidFill>
                <a:latin typeface="Calibri" pitchFamily="34" charset="0"/>
                <a:ea typeface="Calibri" pitchFamily="34" charset="-122"/>
                <a:cs typeface="Calibri" pitchFamily="34" charset="-120"/>
              </a:rPr>
              <a:t>SummaC, 6 datasets</a:t>
            </a:r>
            <a:endParaRPr lang="en-US" sz="980" dirty="0"/>
          </a:p>
        </p:txBody>
      </p:sp>
      <p:sp>
        <p:nvSpPr>
          <p:cNvPr id="15" name="Text 13"/>
          <p:cNvSpPr/>
          <p:nvPr/>
        </p:nvSpPr>
        <p:spPr>
          <a:xfrm>
            <a:off x="7223760" y="1783080"/>
            <a:ext cx="1737360" cy="274320"/>
          </a:xfrm>
          <a:prstGeom prst="rect">
            <a:avLst/>
          </a:prstGeom>
          <a:noFill/>
          <a:ln/>
        </p:spPr>
        <p:txBody>
          <a:bodyPr wrap="square" lIns="0" tIns="0" rIns="0" bIns="0" rtlCol="0" anchor="ctr"/>
          <a:lstStyle/>
          <a:p>
            <a:pPr indent="0" marL="0">
              <a:buNone/>
            </a:pPr>
            <a:r>
              <a:rPr lang="en-US" sz="980" dirty="0">
                <a:solidFill>
                  <a:srgbClr val="5A6478"/>
                </a:solidFill>
                <a:latin typeface="Calibri" pitchFamily="34" charset="0"/>
                <a:ea typeface="Calibri" pitchFamily="34" charset="-122"/>
                <a:cs typeface="Calibri" pitchFamily="34" charset="-120"/>
              </a:rPr>
              <a:t>Bal. acc 74.4%</a:t>
            </a:r>
            <a:endParaRPr lang="en-US" sz="980" dirty="0"/>
          </a:p>
        </p:txBody>
      </p:sp>
      <p:sp>
        <p:nvSpPr>
          <p:cNvPr id="16" name="Text 14"/>
          <p:cNvSpPr/>
          <p:nvPr/>
        </p:nvSpPr>
        <p:spPr>
          <a:xfrm>
            <a:off x="8961120" y="1783080"/>
            <a:ext cx="2560320" cy="274320"/>
          </a:xfrm>
          <a:prstGeom prst="rect">
            <a:avLst/>
          </a:prstGeom>
          <a:noFill/>
          <a:ln/>
        </p:spPr>
        <p:txBody>
          <a:bodyPr wrap="square" lIns="0" tIns="0" rIns="0" bIns="0" rtlCol="0" anchor="ctr"/>
          <a:lstStyle/>
          <a:p>
            <a:pPr indent="0" marL="0">
              <a:buNone/>
            </a:pPr>
            <a:r>
              <a:rPr lang="en-US" sz="980" dirty="0">
                <a:solidFill>
                  <a:srgbClr val="5A6478"/>
                </a:solidFill>
                <a:latin typeface="Calibri" pitchFamily="34" charset="0"/>
                <a:ea typeface="Calibri" pitchFamily="34" charset="-122"/>
                <a:cs typeface="Calibri" pitchFamily="34" charset="-120"/>
              </a:rPr>
              <a:t>Summarisation only; single-document premise</a:t>
            </a:r>
            <a:endParaRPr lang="en-US" sz="980" dirty="0"/>
          </a:p>
        </p:txBody>
      </p:sp>
      <p:sp>
        <p:nvSpPr>
          <p:cNvPr id="17" name="Shape 15"/>
          <p:cNvSpPr/>
          <p:nvPr/>
        </p:nvSpPr>
        <p:spPr>
          <a:xfrm>
            <a:off x="640080" y="2194560"/>
            <a:ext cx="10881360" cy="493776"/>
          </a:xfrm>
          <a:prstGeom prst="roundRect">
            <a:avLst>
              <a:gd name="adj" fmla="val 12963"/>
            </a:avLst>
          </a:prstGeom>
          <a:solidFill>
            <a:srgbClr val="FAFBFD"/>
          </a:solidFill>
          <a:ln w="12700">
            <a:solidFill>
              <a:srgbClr val="FAFBFD"/>
            </a:solidFill>
            <a:prstDash val="solid"/>
          </a:ln>
        </p:spPr>
      </p:sp>
      <p:sp>
        <p:nvSpPr>
          <p:cNvPr id="18" name="Text 16"/>
          <p:cNvSpPr/>
          <p:nvPr/>
        </p:nvSpPr>
        <p:spPr>
          <a:xfrm>
            <a:off x="841248" y="2322576"/>
            <a:ext cx="1691640" cy="274320"/>
          </a:xfrm>
          <a:prstGeom prst="rect">
            <a:avLst/>
          </a:prstGeom>
          <a:noFill/>
          <a:ln/>
        </p:spPr>
        <p:txBody>
          <a:bodyPr wrap="square" lIns="0" tIns="0" rIns="0" bIns="0" rtlCol="0" anchor="ctr"/>
          <a:lstStyle/>
          <a:p>
            <a:pPr indent="0" marL="0">
              <a:buNone/>
            </a:pPr>
            <a:r>
              <a:rPr lang="en-US" sz="980" b="1" dirty="0">
                <a:solidFill>
                  <a:srgbClr val="5A6478"/>
                </a:solidFill>
                <a:latin typeface="Calibri" pitchFamily="34" charset="0"/>
                <a:ea typeface="Calibri" pitchFamily="34" charset="-122"/>
                <a:cs typeface="Calibri" pitchFamily="34" charset="-120"/>
              </a:rPr>
              <a:t>AlignScore, 2023</a:t>
            </a:r>
            <a:endParaRPr lang="en-US" sz="980" dirty="0"/>
          </a:p>
        </p:txBody>
      </p:sp>
      <p:sp>
        <p:nvSpPr>
          <p:cNvPr id="19" name="Text 17"/>
          <p:cNvSpPr/>
          <p:nvPr/>
        </p:nvSpPr>
        <p:spPr>
          <a:xfrm>
            <a:off x="2514600" y="2322576"/>
            <a:ext cx="2423160" cy="274320"/>
          </a:xfrm>
          <a:prstGeom prst="rect">
            <a:avLst/>
          </a:prstGeom>
          <a:noFill/>
          <a:ln/>
        </p:spPr>
        <p:txBody>
          <a:bodyPr wrap="square" lIns="0" tIns="0" rIns="0" bIns="0" rtlCol="0" anchor="ctr"/>
          <a:lstStyle/>
          <a:p>
            <a:pPr indent="0" marL="0">
              <a:buNone/>
            </a:pPr>
            <a:r>
              <a:rPr lang="en-US" sz="980" dirty="0">
                <a:solidFill>
                  <a:srgbClr val="5A6478"/>
                </a:solidFill>
                <a:latin typeface="Calibri" pitchFamily="34" charset="0"/>
                <a:ea typeface="Calibri" pitchFamily="34" charset="-122"/>
                <a:cs typeface="Calibri" pitchFamily="34" charset="-120"/>
              </a:rPr>
              <a:t>Unified alignment function</a:t>
            </a:r>
            <a:endParaRPr lang="en-US" sz="980" dirty="0"/>
          </a:p>
        </p:txBody>
      </p:sp>
      <p:sp>
        <p:nvSpPr>
          <p:cNvPr id="20" name="Text 18"/>
          <p:cNvSpPr/>
          <p:nvPr/>
        </p:nvSpPr>
        <p:spPr>
          <a:xfrm>
            <a:off x="4937760" y="2322576"/>
            <a:ext cx="2286000" cy="274320"/>
          </a:xfrm>
          <a:prstGeom prst="rect">
            <a:avLst/>
          </a:prstGeom>
          <a:noFill/>
          <a:ln/>
        </p:spPr>
        <p:txBody>
          <a:bodyPr wrap="square" lIns="0" tIns="0" rIns="0" bIns="0" rtlCol="0" anchor="ctr"/>
          <a:lstStyle/>
          <a:p>
            <a:pPr indent="0" marL="0">
              <a:buNone/>
            </a:pPr>
            <a:r>
              <a:rPr lang="en-US" sz="980" dirty="0">
                <a:solidFill>
                  <a:srgbClr val="5A6478"/>
                </a:solidFill>
                <a:latin typeface="Calibri" pitchFamily="34" charset="0"/>
                <a:ea typeface="Calibri" pitchFamily="34" charset="-122"/>
                <a:cs typeface="Calibri" pitchFamily="34" charset="-120"/>
              </a:rPr>
              <a:t>NLI + QA + fact verif.</a:t>
            </a:r>
            <a:endParaRPr lang="en-US" sz="980" dirty="0"/>
          </a:p>
        </p:txBody>
      </p:sp>
      <p:sp>
        <p:nvSpPr>
          <p:cNvPr id="21" name="Text 19"/>
          <p:cNvSpPr/>
          <p:nvPr/>
        </p:nvSpPr>
        <p:spPr>
          <a:xfrm>
            <a:off x="7223760" y="2322576"/>
            <a:ext cx="1737360" cy="274320"/>
          </a:xfrm>
          <a:prstGeom prst="rect">
            <a:avLst/>
          </a:prstGeom>
          <a:noFill/>
          <a:ln/>
        </p:spPr>
        <p:txBody>
          <a:bodyPr wrap="square" lIns="0" tIns="0" rIns="0" bIns="0" rtlCol="0" anchor="ctr"/>
          <a:lstStyle/>
          <a:p>
            <a:pPr indent="0" marL="0">
              <a:buNone/>
            </a:pPr>
            <a:r>
              <a:rPr lang="en-US" sz="980" dirty="0">
                <a:solidFill>
                  <a:srgbClr val="5A6478"/>
                </a:solidFill>
                <a:latin typeface="Calibri" pitchFamily="34" charset="0"/>
                <a:ea typeface="Calibri" pitchFamily="34" charset="-122"/>
                <a:cs typeface="Calibri" pitchFamily="34" charset="-120"/>
              </a:rPr>
              <a:t>Corr. with human</a:t>
            </a:r>
            <a:endParaRPr lang="en-US" sz="980" dirty="0"/>
          </a:p>
        </p:txBody>
      </p:sp>
      <p:sp>
        <p:nvSpPr>
          <p:cNvPr id="22" name="Text 20"/>
          <p:cNvSpPr/>
          <p:nvPr/>
        </p:nvSpPr>
        <p:spPr>
          <a:xfrm>
            <a:off x="8961120" y="2322576"/>
            <a:ext cx="2560320" cy="274320"/>
          </a:xfrm>
          <a:prstGeom prst="rect">
            <a:avLst/>
          </a:prstGeom>
          <a:noFill/>
          <a:ln/>
        </p:spPr>
        <p:txBody>
          <a:bodyPr wrap="square" lIns="0" tIns="0" rIns="0" bIns="0" rtlCol="0" anchor="ctr"/>
          <a:lstStyle/>
          <a:p>
            <a:pPr indent="0" marL="0">
              <a:buNone/>
            </a:pPr>
            <a:r>
              <a:rPr lang="en-US" sz="980" dirty="0">
                <a:solidFill>
                  <a:srgbClr val="5A6478"/>
                </a:solidFill>
                <a:latin typeface="Calibri" pitchFamily="34" charset="0"/>
                <a:ea typeface="Calibri" pitchFamily="34" charset="-122"/>
                <a:cs typeface="Calibri" pitchFamily="34" charset="-120"/>
              </a:rPr>
              <a:t>Needs a trained unified model; no drift notion</a:t>
            </a:r>
            <a:endParaRPr lang="en-US" sz="980" dirty="0"/>
          </a:p>
        </p:txBody>
      </p:sp>
      <p:sp>
        <p:nvSpPr>
          <p:cNvPr id="23" name="Shape 21"/>
          <p:cNvSpPr/>
          <p:nvPr/>
        </p:nvSpPr>
        <p:spPr>
          <a:xfrm>
            <a:off x="640080" y="2734056"/>
            <a:ext cx="10881360" cy="493776"/>
          </a:xfrm>
          <a:prstGeom prst="roundRect">
            <a:avLst>
              <a:gd name="adj" fmla="val 12963"/>
            </a:avLst>
          </a:prstGeom>
          <a:solidFill>
            <a:srgbClr val="FFFFFF"/>
          </a:solidFill>
          <a:ln w="12700">
            <a:solidFill>
              <a:srgbClr val="FFFFFF"/>
            </a:solidFill>
            <a:prstDash val="solid"/>
          </a:ln>
        </p:spPr>
      </p:sp>
      <p:sp>
        <p:nvSpPr>
          <p:cNvPr id="24" name="Text 22"/>
          <p:cNvSpPr/>
          <p:nvPr/>
        </p:nvSpPr>
        <p:spPr>
          <a:xfrm>
            <a:off x="841248" y="2862072"/>
            <a:ext cx="1691640" cy="274320"/>
          </a:xfrm>
          <a:prstGeom prst="rect">
            <a:avLst/>
          </a:prstGeom>
          <a:noFill/>
          <a:ln/>
        </p:spPr>
        <p:txBody>
          <a:bodyPr wrap="square" lIns="0" tIns="0" rIns="0" bIns="0" rtlCol="0" anchor="ctr"/>
          <a:lstStyle/>
          <a:p>
            <a:pPr indent="0" marL="0">
              <a:buNone/>
            </a:pPr>
            <a:r>
              <a:rPr lang="en-US" sz="980" b="1" dirty="0">
                <a:solidFill>
                  <a:srgbClr val="5A6478"/>
                </a:solidFill>
                <a:latin typeface="Calibri" pitchFamily="34" charset="0"/>
                <a:ea typeface="Calibri" pitchFamily="34" charset="-122"/>
                <a:cs typeface="Calibri" pitchFamily="34" charset="-120"/>
              </a:rPr>
              <a:t>RAGAS, 2023</a:t>
            </a:r>
            <a:endParaRPr lang="en-US" sz="980" dirty="0"/>
          </a:p>
        </p:txBody>
      </p:sp>
      <p:sp>
        <p:nvSpPr>
          <p:cNvPr id="25" name="Text 23"/>
          <p:cNvSpPr/>
          <p:nvPr/>
        </p:nvSpPr>
        <p:spPr>
          <a:xfrm>
            <a:off x="2514600" y="2862072"/>
            <a:ext cx="2423160" cy="274320"/>
          </a:xfrm>
          <a:prstGeom prst="rect">
            <a:avLst/>
          </a:prstGeom>
          <a:noFill/>
          <a:ln/>
        </p:spPr>
        <p:txBody>
          <a:bodyPr wrap="square" lIns="0" tIns="0" rIns="0" bIns="0" rtlCol="0" anchor="ctr"/>
          <a:lstStyle/>
          <a:p>
            <a:pPr indent="0" marL="0">
              <a:buNone/>
            </a:pPr>
            <a:r>
              <a:rPr lang="en-US" sz="980" dirty="0">
                <a:solidFill>
                  <a:srgbClr val="5A6478"/>
                </a:solidFill>
                <a:latin typeface="Calibri" pitchFamily="34" charset="0"/>
                <a:ea typeface="Calibri" pitchFamily="34" charset="-122"/>
                <a:cs typeface="Calibri" pitchFamily="34" charset="-120"/>
              </a:rPr>
              <a:t>Reference-free LLM judge</a:t>
            </a:r>
            <a:endParaRPr lang="en-US" sz="980" dirty="0"/>
          </a:p>
        </p:txBody>
      </p:sp>
      <p:sp>
        <p:nvSpPr>
          <p:cNvPr id="26" name="Text 24"/>
          <p:cNvSpPr/>
          <p:nvPr/>
        </p:nvSpPr>
        <p:spPr>
          <a:xfrm>
            <a:off x="4937760" y="2862072"/>
            <a:ext cx="2286000" cy="274320"/>
          </a:xfrm>
          <a:prstGeom prst="rect">
            <a:avLst/>
          </a:prstGeom>
          <a:noFill/>
          <a:ln/>
        </p:spPr>
        <p:txBody>
          <a:bodyPr wrap="square" lIns="0" tIns="0" rIns="0" bIns="0" rtlCol="0" anchor="ctr"/>
          <a:lstStyle/>
          <a:p>
            <a:pPr indent="0" marL="0">
              <a:buNone/>
            </a:pPr>
            <a:r>
              <a:rPr lang="en-US" sz="980" dirty="0">
                <a:solidFill>
                  <a:srgbClr val="5A6478"/>
                </a:solidFill>
                <a:latin typeface="Calibri" pitchFamily="34" charset="0"/>
                <a:ea typeface="Calibri" pitchFamily="34" charset="-122"/>
                <a:cs typeface="Calibri" pitchFamily="34" charset="-120"/>
              </a:rPr>
              <a:t>WikiEval</a:t>
            </a:r>
            <a:endParaRPr lang="en-US" sz="980" dirty="0"/>
          </a:p>
        </p:txBody>
      </p:sp>
      <p:sp>
        <p:nvSpPr>
          <p:cNvPr id="27" name="Text 25"/>
          <p:cNvSpPr/>
          <p:nvPr/>
        </p:nvSpPr>
        <p:spPr>
          <a:xfrm>
            <a:off x="7223760" y="2862072"/>
            <a:ext cx="1737360" cy="274320"/>
          </a:xfrm>
          <a:prstGeom prst="rect">
            <a:avLst/>
          </a:prstGeom>
          <a:noFill/>
          <a:ln/>
        </p:spPr>
        <p:txBody>
          <a:bodyPr wrap="square" lIns="0" tIns="0" rIns="0" bIns="0" rtlCol="0" anchor="ctr"/>
          <a:lstStyle/>
          <a:p>
            <a:pPr indent="0" marL="0">
              <a:buNone/>
            </a:pPr>
            <a:r>
              <a:rPr lang="en-US" sz="980" dirty="0">
                <a:solidFill>
                  <a:srgbClr val="5A6478"/>
                </a:solidFill>
                <a:latin typeface="Calibri" pitchFamily="34" charset="0"/>
                <a:ea typeface="Calibri" pitchFamily="34" charset="-122"/>
                <a:cs typeface="Calibri" pitchFamily="34" charset="-120"/>
              </a:rPr>
              <a:t>Faithfulness, relevance</a:t>
            </a:r>
            <a:endParaRPr lang="en-US" sz="980" dirty="0"/>
          </a:p>
        </p:txBody>
      </p:sp>
      <p:sp>
        <p:nvSpPr>
          <p:cNvPr id="28" name="Text 26"/>
          <p:cNvSpPr/>
          <p:nvPr/>
        </p:nvSpPr>
        <p:spPr>
          <a:xfrm>
            <a:off x="8961120" y="2862072"/>
            <a:ext cx="2560320" cy="274320"/>
          </a:xfrm>
          <a:prstGeom prst="rect">
            <a:avLst/>
          </a:prstGeom>
          <a:noFill/>
          <a:ln/>
        </p:spPr>
        <p:txBody>
          <a:bodyPr wrap="square" lIns="0" tIns="0" rIns="0" bIns="0" rtlCol="0" anchor="ctr"/>
          <a:lstStyle/>
          <a:p>
            <a:pPr indent="0" marL="0">
              <a:buNone/>
            </a:pPr>
            <a:r>
              <a:rPr lang="en-US" sz="980" dirty="0">
                <a:solidFill>
                  <a:srgbClr val="5A6478"/>
                </a:solidFill>
                <a:latin typeface="Calibri" pitchFamily="34" charset="0"/>
                <a:ea typeface="Calibri" pitchFamily="34" charset="-122"/>
                <a:cs typeface="Calibri" pitchFamily="34" charset="-120"/>
              </a:rPr>
              <a:t>Judge bias; cost scales with coverage</a:t>
            </a:r>
            <a:endParaRPr lang="en-US" sz="980" dirty="0"/>
          </a:p>
        </p:txBody>
      </p:sp>
      <p:sp>
        <p:nvSpPr>
          <p:cNvPr id="29" name="Shape 27"/>
          <p:cNvSpPr/>
          <p:nvPr/>
        </p:nvSpPr>
        <p:spPr>
          <a:xfrm>
            <a:off x="640080" y="3273552"/>
            <a:ext cx="10881360" cy="493776"/>
          </a:xfrm>
          <a:prstGeom prst="roundRect">
            <a:avLst>
              <a:gd name="adj" fmla="val 12963"/>
            </a:avLst>
          </a:prstGeom>
          <a:solidFill>
            <a:srgbClr val="FAFBFD"/>
          </a:solidFill>
          <a:ln w="12700">
            <a:solidFill>
              <a:srgbClr val="FAFBFD"/>
            </a:solidFill>
            <a:prstDash val="solid"/>
          </a:ln>
        </p:spPr>
      </p:sp>
      <p:sp>
        <p:nvSpPr>
          <p:cNvPr id="30" name="Text 28"/>
          <p:cNvSpPr/>
          <p:nvPr/>
        </p:nvSpPr>
        <p:spPr>
          <a:xfrm>
            <a:off x="841248" y="3401568"/>
            <a:ext cx="1691640" cy="274320"/>
          </a:xfrm>
          <a:prstGeom prst="rect">
            <a:avLst/>
          </a:prstGeom>
          <a:noFill/>
          <a:ln/>
        </p:spPr>
        <p:txBody>
          <a:bodyPr wrap="square" lIns="0" tIns="0" rIns="0" bIns="0" rtlCol="0" anchor="ctr"/>
          <a:lstStyle/>
          <a:p>
            <a:pPr indent="0" marL="0">
              <a:buNone/>
            </a:pPr>
            <a:r>
              <a:rPr lang="en-US" sz="980" b="1" dirty="0">
                <a:solidFill>
                  <a:srgbClr val="5A6478"/>
                </a:solidFill>
                <a:latin typeface="Calibri" pitchFamily="34" charset="0"/>
                <a:ea typeface="Calibri" pitchFamily="34" charset="-122"/>
                <a:cs typeface="Calibri" pitchFamily="34" charset="-120"/>
              </a:rPr>
              <a:t>ARES, 2023</a:t>
            </a:r>
            <a:endParaRPr lang="en-US" sz="980" dirty="0"/>
          </a:p>
        </p:txBody>
      </p:sp>
      <p:sp>
        <p:nvSpPr>
          <p:cNvPr id="31" name="Text 29"/>
          <p:cNvSpPr/>
          <p:nvPr/>
        </p:nvSpPr>
        <p:spPr>
          <a:xfrm>
            <a:off x="2514600" y="3401568"/>
            <a:ext cx="2423160" cy="274320"/>
          </a:xfrm>
          <a:prstGeom prst="rect">
            <a:avLst/>
          </a:prstGeom>
          <a:noFill/>
          <a:ln/>
        </p:spPr>
        <p:txBody>
          <a:bodyPr wrap="square" lIns="0" tIns="0" rIns="0" bIns="0" rtlCol="0" anchor="ctr"/>
          <a:lstStyle/>
          <a:p>
            <a:pPr indent="0" marL="0">
              <a:buNone/>
            </a:pPr>
            <a:r>
              <a:rPr lang="en-US" sz="980" dirty="0">
                <a:solidFill>
                  <a:srgbClr val="5A6478"/>
                </a:solidFill>
                <a:latin typeface="Calibri" pitchFamily="34" charset="0"/>
                <a:ea typeface="Calibri" pitchFamily="34" charset="-122"/>
                <a:cs typeface="Calibri" pitchFamily="34" charset="-120"/>
              </a:rPr>
              <a:t>Fine-tuned judges + PPI</a:t>
            </a:r>
            <a:endParaRPr lang="en-US" sz="980" dirty="0"/>
          </a:p>
        </p:txBody>
      </p:sp>
      <p:sp>
        <p:nvSpPr>
          <p:cNvPr id="32" name="Text 30"/>
          <p:cNvSpPr/>
          <p:nvPr/>
        </p:nvSpPr>
        <p:spPr>
          <a:xfrm>
            <a:off x="4937760" y="3401568"/>
            <a:ext cx="2286000" cy="274320"/>
          </a:xfrm>
          <a:prstGeom prst="rect">
            <a:avLst/>
          </a:prstGeom>
          <a:noFill/>
          <a:ln/>
        </p:spPr>
        <p:txBody>
          <a:bodyPr wrap="square" lIns="0" tIns="0" rIns="0" bIns="0" rtlCol="0" anchor="ctr"/>
          <a:lstStyle/>
          <a:p>
            <a:pPr indent="0" marL="0">
              <a:buNone/>
            </a:pPr>
            <a:r>
              <a:rPr lang="en-US" sz="980" dirty="0">
                <a:solidFill>
                  <a:srgbClr val="5A6478"/>
                </a:solidFill>
                <a:latin typeface="Calibri" pitchFamily="34" charset="0"/>
                <a:ea typeface="Calibri" pitchFamily="34" charset="-122"/>
                <a:cs typeface="Calibri" pitchFamily="34" charset="-120"/>
              </a:rPr>
              <a:t>KILT, SuperGLUE, AIS</a:t>
            </a:r>
            <a:endParaRPr lang="en-US" sz="980" dirty="0"/>
          </a:p>
        </p:txBody>
      </p:sp>
      <p:sp>
        <p:nvSpPr>
          <p:cNvPr id="33" name="Text 31"/>
          <p:cNvSpPr/>
          <p:nvPr/>
        </p:nvSpPr>
        <p:spPr>
          <a:xfrm>
            <a:off x="7223760" y="3401568"/>
            <a:ext cx="1737360" cy="274320"/>
          </a:xfrm>
          <a:prstGeom prst="rect">
            <a:avLst/>
          </a:prstGeom>
          <a:noFill/>
          <a:ln/>
        </p:spPr>
        <p:txBody>
          <a:bodyPr wrap="square" lIns="0" tIns="0" rIns="0" bIns="0" rtlCol="0" anchor="ctr"/>
          <a:lstStyle/>
          <a:p>
            <a:pPr indent="0" marL="0">
              <a:buNone/>
            </a:pPr>
            <a:r>
              <a:rPr lang="en-US" sz="980" dirty="0">
                <a:solidFill>
                  <a:srgbClr val="5A6478"/>
                </a:solidFill>
                <a:latin typeface="Calibri" pitchFamily="34" charset="0"/>
                <a:ea typeface="Calibri" pitchFamily="34" charset="-122"/>
                <a:cs typeface="Calibri" pitchFamily="34" charset="-120"/>
              </a:rPr>
              <a:t>Ctx / answer accuracy</a:t>
            </a:r>
            <a:endParaRPr lang="en-US" sz="980" dirty="0"/>
          </a:p>
        </p:txBody>
      </p:sp>
      <p:sp>
        <p:nvSpPr>
          <p:cNvPr id="34" name="Text 32"/>
          <p:cNvSpPr/>
          <p:nvPr/>
        </p:nvSpPr>
        <p:spPr>
          <a:xfrm>
            <a:off x="8961120" y="3401568"/>
            <a:ext cx="2560320" cy="274320"/>
          </a:xfrm>
          <a:prstGeom prst="rect">
            <a:avLst/>
          </a:prstGeom>
          <a:noFill/>
          <a:ln/>
        </p:spPr>
        <p:txBody>
          <a:bodyPr wrap="square" lIns="0" tIns="0" rIns="0" bIns="0" rtlCol="0" anchor="ctr"/>
          <a:lstStyle/>
          <a:p>
            <a:pPr indent="0" marL="0">
              <a:buNone/>
            </a:pPr>
            <a:r>
              <a:rPr lang="en-US" sz="980" dirty="0">
                <a:solidFill>
                  <a:srgbClr val="5A6478"/>
                </a:solidFill>
                <a:latin typeface="Calibri" pitchFamily="34" charset="0"/>
                <a:ea typeface="Calibri" pitchFamily="34" charset="-122"/>
                <a:cs typeface="Calibri" pitchFamily="34" charset="-120"/>
              </a:rPr>
              <a:t>Needs 50-500 human-labelled triples per domain</a:t>
            </a:r>
            <a:endParaRPr lang="en-US" sz="980" dirty="0"/>
          </a:p>
        </p:txBody>
      </p:sp>
      <p:sp>
        <p:nvSpPr>
          <p:cNvPr id="35" name="Shape 33"/>
          <p:cNvSpPr/>
          <p:nvPr/>
        </p:nvSpPr>
        <p:spPr>
          <a:xfrm>
            <a:off x="640080" y="3813048"/>
            <a:ext cx="10881360" cy="493776"/>
          </a:xfrm>
          <a:prstGeom prst="roundRect">
            <a:avLst>
              <a:gd name="adj" fmla="val 12963"/>
            </a:avLst>
          </a:prstGeom>
          <a:solidFill>
            <a:srgbClr val="FFFFFF"/>
          </a:solidFill>
          <a:ln w="12700">
            <a:solidFill>
              <a:srgbClr val="FFFFFF"/>
            </a:solidFill>
            <a:prstDash val="solid"/>
          </a:ln>
        </p:spPr>
      </p:sp>
      <p:sp>
        <p:nvSpPr>
          <p:cNvPr id="36" name="Text 34"/>
          <p:cNvSpPr/>
          <p:nvPr/>
        </p:nvSpPr>
        <p:spPr>
          <a:xfrm>
            <a:off x="841248" y="3941064"/>
            <a:ext cx="1691640" cy="274320"/>
          </a:xfrm>
          <a:prstGeom prst="rect">
            <a:avLst/>
          </a:prstGeom>
          <a:noFill/>
          <a:ln/>
        </p:spPr>
        <p:txBody>
          <a:bodyPr wrap="square" lIns="0" tIns="0" rIns="0" bIns="0" rtlCol="0" anchor="ctr"/>
          <a:lstStyle/>
          <a:p>
            <a:pPr indent="0" marL="0">
              <a:buNone/>
            </a:pPr>
            <a:r>
              <a:rPr lang="en-US" sz="980" b="1" dirty="0">
                <a:solidFill>
                  <a:srgbClr val="5A6478"/>
                </a:solidFill>
                <a:latin typeface="Calibri" pitchFamily="34" charset="0"/>
                <a:ea typeface="Calibri" pitchFamily="34" charset="-122"/>
                <a:cs typeface="Calibri" pitchFamily="34" charset="-120"/>
              </a:rPr>
              <a:t>MT-Bench, 2023</a:t>
            </a:r>
            <a:endParaRPr lang="en-US" sz="980" dirty="0"/>
          </a:p>
        </p:txBody>
      </p:sp>
      <p:sp>
        <p:nvSpPr>
          <p:cNvPr id="37" name="Text 35"/>
          <p:cNvSpPr/>
          <p:nvPr/>
        </p:nvSpPr>
        <p:spPr>
          <a:xfrm>
            <a:off x="2514600" y="3941064"/>
            <a:ext cx="2423160" cy="274320"/>
          </a:xfrm>
          <a:prstGeom prst="rect">
            <a:avLst/>
          </a:prstGeom>
          <a:noFill/>
          <a:ln/>
        </p:spPr>
        <p:txBody>
          <a:bodyPr wrap="square" lIns="0" tIns="0" rIns="0" bIns="0" rtlCol="0" anchor="ctr"/>
          <a:lstStyle/>
          <a:p>
            <a:pPr indent="0" marL="0">
              <a:buNone/>
            </a:pPr>
            <a:r>
              <a:rPr lang="en-US" sz="980" dirty="0">
                <a:solidFill>
                  <a:srgbClr val="5A6478"/>
                </a:solidFill>
                <a:latin typeface="Calibri" pitchFamily="34" charset="0"/>
                <a:ea typeface="Calibri" pitchFamily="34" charset="-122"/>
                <a:cs typeface="Calibri" pitchFamily="34" charset="-120"/>
              </a:rPr>
              <a:t>LLM-as-judge, pairwise</a:t>
            </a:r>
            <a:endParaRPr lang="en-US" sz="980" dirty="0"/>
          </a:p>
        </p:txBody>
      </p:sp>
      <p:sp>
        <p:nvSpPr>
          <p:cNvPr id="38" name="Text 36"/>
          <p:cNvSpPr/>
          <p:nvPr/>
        </p:nvSpPr>
        <p:spPr>
          <a:xfrm>
            <a:off x="4937760" y="3941064"/>
            <a:ext cx="2286000" cy="274320"/>
          </a:xfrm>
          <a:prstGeom prst="rect">
            <a:avLst/>
          </a:prstGeom>
          <a:noFill/>
          <a:ln/>
        </p:spPr>
        <p:txBody>
          <a:bodyPr wrap="square" lIns="0" tIns="0" rIns="0" bIns="0" rtlCol="0" anchor="ctr"/>
          <a:lstStyle/>
          <a:p>
            <a:pPr indent="0" marL="0">
              <a:buNone/>
            </a:pPr>
            <a:r>
              <a:rPr lang="en-US" sz="980" dirty="0">
                <a:solidFill>
                  <a:srgbClr val="5A6478"/>
                </a:solidFill>
                <a:latin typeface="Calibri" pitchFamily="34" charset="0"/>
                <a:ea typeface="Calibri" pitchFamily="34" charset="-122"/>
                <a:cs typeface="Calibri" pitchFamily="34" charset="-120"/>
              </a:rPr>
              <a:t>MT-Bench, Chatbot Arena</a:t>
            </a:r>
            <a:endParaRPr lang="en-US" sz="980" dirty="0"/>
          </a:p>
        </p:txBody>
      </p:sp>
      <p:sp>
        <p:nvSpPr>
          <p:cNvPr id="39" name="Text 37"/>
          <p:cNvSpPr/>
          <p:nvPr/>
        </p:nvSpPr>
        <p:spPr>
          <a:xfrm>
            <a:off x="7223760" y="3941064"/>
            <a:ext cx="1737360" cy="274320"/>
          </a:xfrm>
          <a:prstGeom prst="rect">
            <a:avLst/>
          </a:prstGeom>
          <a:noFill/>
          <a:ln/>
        </p:spPr>
        <p:txBody>
          <a:bodyPr wrap="square" lIns="0" tIns="0" rIns="0" bIns="0" rtlCol="0" anchor="ctr"/>
          <a:lstStyle/>
          <a:p>
            <a:pPr indent="0" marL="0">
              <a:buNone/>
            </a:pPr>
            <a:r>
              <a:rPr lang="en-US" sz="980" dirty="0">
                <a:solidFill>
                  <a:srgbClr val="5A6478"/>
                </a:solidFill>
                <a:latin typeface="Calibri" pitchFamily="34" charset="0"/>
                <a:ea typeface="Calibri" pitchFamily="34" charset="-122"/>
                <a:cs typeface="Calibri" pitchFamily="34" charset="-120"/>
              </a:rPr>
              <a:t>&gt;80% human agreement</a:t>
            </a:r>
            <a:endParaRPr lang="en-US" sz="980" dirty="0"/>
          </a:p>
        </p:txBody>
      </p:sp>
      <p:sp>
        <p:nvSpPr>
          <p:cNvPr id="40" name="Text 38"/>
          <p:cNvSpPr/>
          <p:nvPr/>
        </p:nvSpPr>
        <p:spPr>
          <a:xfrm>
            <a:off x="8961120" y="3941064"/>
            <a:ext cx="2560320" cy="274320"/>
          </a:xfrm>
          <a:prstGeom prst="rect">
            <a:avLst/>
          </a:prstGeom>
          <a:noFill/>
          <a:ln/>
        </p:spPr>
        <p:txBody>
          <a:bodyPr wrap="square" lIns="0" tIns="0" rIns="0" bIns="0" rtlCol="0" anchor="ctr"/>
          <a:lstStyle/>
          <a:p>
            <a:pPr indent="0" marL="0">
              <a:buNone/>
            </a:pPr>
            <a:r>
              <a:rPr lang="en-US" sz="980" dirty="0">
                <a:solidFill>
                  <a:srgbClr val="5A6478"/>
                </a:solidFill>
                <a:latin typeface="Calibri" pitchFamily="34" charset="0"/>
                <a:ea typeface="Calibri" pitchFamily="34" charset="-122"/>
                <a:cs typeface="Calibri" pitchFamily="34" charset="-120"/>
              </a:rPr>
              <a:t>Position, verbosity, self-enhancement bias</a:t>
            </a:r>
            <a:endParaRPr lang="en-US" sz="980" dirty="0"/>
          </a:p>
        </p:txBody>
      </p:sp>
      <p:sp>
        <p:nvSpPr>
          <p:cNvPr id="41" name="Shape 39"/>
          <p:cNvSpPr/>
          <p:nvPr/>
        </p:nvSpPr>
        <p:spPr>
          <a:xfrm>
            <a:off x="640080" y="4352544"/>
            <a:ext cx="10881360" cy="493776"/>
          </a:xfrm>
          <a:prstGeom prst="roundRect">
            <a:avLst>
              <a:gd name="adj" fmla="val 12963"/>
            </a:avLst>
          </a:prstGeom>
          <a:solidFill>
            <a:srgbClr val="FAFBFD"/>
          </a:solidFill>
          <a:ln w="12700">
            <a:solidFill>
              <a:srgbClr val="FAFBFD"/>
            </a:solidFill>
            <a:prstDash val="solid"/>
          </a:ln>
        </p:spPr>
      </p:sp>
      <p:sp>
        <p:nvSpPr>
          <p:cNvPr id="42" name="Text 40"/>
          <p:cNvSpPr/>
          <p:nvPr/>
        </p:nvSpPr>
        <p:spPr>
          <a:xfrm>
            <a:off x="841248" y="4480560"/>
            <a:ext cx="1691640" cy="274320"/>
          </a:xfrm>
          <a:prstGeom prst="rect">
            <a:avLst/>
          </a:prstGeom>
          <a:noFill/>
          <a:ln/>
        </p:spPr>
        <p:txBody>
          <a:bodyPr wrap="square" lIns="0" tIns="0" rIns="0" bIns="0" rtlCol="0" anchor="ctr"/>
          <a:lstStyle/>
          <a:p>
            <a:pPr indent="0" marL="0">
              <a:buNone/>
            </a:pPr>
            <a:r>
              <a:rPr lang="en-US" sz="980" b="1" dirty="0">
                <a:solidFill>
                  <a:srgbClr val="5A6478"/>
                </a:solidFill>
                <a:latin typeface="Calibri" pitchFamily="34" charset="0"/>
                <a:ea typeface="Calibri" pitchFamily="34" charset="-122"/>
                <a:cs typeface="Calibri" pitchFamily="34" charset="-120"/>
              </a:rPr>
              <a:t>Prometheus, 2023</a:t>
            </a:r>
            <a:endParaRPr lang="en-US" sz="980" dirty="0"/>
          </a:p>
        </p:txBody>
      </p:sp>
      <p:sp>
        <p:nvSpPr>
          <p:cNvPr id="43" name="Text 41"/>
          <p:cNvSpPr/>
          <p:nvPr/>
        </p:nvSpPr>
        <p:spPr>
          <a:xfrm>
            <a:off x="2514600" y="4480560"/>
            <a:ext cx="2423160" cy="274320"/>
          </a:xfrm>
          <a:prstGeom prst="rect">
            <a:avLst/>
          </a:prstGeom>
          <a:noFill/>
          <a:ln/>
        </p:spPr>
        <p:txBody>
          <a:bodyPr wrap="square" lIns="0" tIns="0" rIns="0" bIns="0" rtlCol="0" anchor="ctr"/>
          <a:lstStyle/>
          <a:p>
            <a:pPr indent="0" marL="0">
              <a:buNone/>
            </a:pPr>
            <a:r>
              <a:rPr lang="en-US" sz="980" dirty="0">
                <a:solidFill>
                  <a:srgbClr val="5A6478"/>
                </a:solidFill>
                <a:latin typeface="Calibri" pitchFamily="34" charset="0"/>
                <a:ea typeface="Calibri" pitchFamily="34" charset="-122"/>
                <a:cs typeface="Calibri" pitchFamily="34" charset="-120"/>
              </a:rPr>
              <a:t>Fine-grained evaluator LM</a:t>
            </a:r>
            <a:endParaRPr lang="en-US" sz="980" dirty="0"/>
          </a:p>
        </p:txBody>
      </p:sp>
      <p:sp>
        <p:nvSpPr>
          <p:cNvPr id="44" name="Text 42"/>
          <p:cNvSpPr/>
          <p:nvPr/>
        </p:nvSpPr>
        <p:spPr>
          <a:xfrm>
            <a:off x="4937760" y="4480560"/>
            <a:ext cx="2286000" cy="274320"/>
          </a:xfrm>
          <a:prstGeom prst="rect">
            <a:avLst/>
          </a:prstGeom>
          <a:noFill/>
          <a:ln/>
        </p:spPr>
        <p:txBody>
          <a:bodyPr wrap="square" lIns="0" tIns="0" rIns="0" bIns="0" rtlCol="0" anchor="ctr"/>
          <a:lstStyle/>
          <a:p>
            <a:pPr indent="0" marL="0">
              <a:buNone/>
            </a:pPr>
            <a:r>
              <a:rPr lang="en-US" sz="980" dirty="0">
                <a:solidFill>
                  <a:srgbClr val="5A6478"/>
                </a:solidFill>
                <a:latin typeface="Calibri" pitchFamily="34" charset="0"/>
                <a:ea typeface="Calibri" pitchFamily="34" charset="-122"/>
                <a:cs typeface="Calibri" pitchFamily="34" charset="-120"/>
              </a:rPr>
              <a:t>Feedback Collection</a:t>
            </a:r>
            <a:endParaRPr lang="en-US" sz="980" dirty="0"/>
          </a:p>
        </p:txBody>
      </p:sp>
      <p:sp>
        <p:nvSpPr>
          <p:cNvPr id="45" name="Text 43"/>
          <p:cNvSpPr/>
          <p:nvPr/>
        </p:nvSpPr>
        <p:spPr>
          <a:xfrm>
            <a:off x="7223760" y="4480560"/>
            <a:ext cx="1737360" cy="274320"/>
          </a:xfrm>
          <a:prstGeom prst="rect">
            <a:avLst/>
          </a:prstGeom>
          <a:noFill/>
          <a:ln/>
        </p:spPr>
        <p:txBody>
          <a:bodyPr wrap="square" lIns="0" tIns="0" rIns="0" bIns="0" rtlCol="0" anchor="ctr"/>
          <a:lstStyle/>
          <a:p>
            <a:pPr indent="0" marL="0">
              <a:buNone/>
            </a:pPr>
            <a:r>
              <a:rPr lang="en-US" sz="980" dirty="0">
                <a:solidFill>
                  <a:srgbClr val="5A6478"/>
                </a:solidFill>
                <a:latin typeface="Calibri" pitchFamily="34" charset="0"/>
                <a:ea typeface="Calibri" pitchFamily="34" charset="-122"/>
                <a:cs typeface="Calibri" pitchFamily="34" charset="-120"/>
              </a:rPr>
              <a:t>Corr. with GPT-4</a:t>
            </a:r>
            <a:endParaRPr lang="en-US" sz="980" dirty="0"/>
          </a:p>
        </p:txBody>
      </p:sp>
      <p:sp>
        <p:nvSpPr>
          <p:cNvPr id="46" name="Text 44"/>
          <p:cNvSpPr/>
          <p:nvPr/>
        </p:nvSpPr>
        <p:spPr>
          <a:xfrm>
            <a:off x="8961120" y="4480560"/>
            <a:ext cx="2560320" cy="274320"/>
          </a:xfrm>
          <a:prstGeom prst="rect">
            <a:avLst/>
          </a:prstGeom>
          <a:noFill/>
          <a:ln/>
        </p:spPr>
        <p:txBody>
          <a:bodyPr wrap="square" lIns="0" tIns="0" rIns="0" bIns="0" rtlCol="0" anchor="ctr"/>
          <a:lstStyle/>
          <a:p>
            <a:pPr indent="0" marL="0">
              <a:buNone/>
            </a:pPr>
            <a:r>
              <a:rPr lang="en-US" sz="980" dirty="0">
                <a:solidFill>
                  <a:srgbClr val="5A6478"/>
                </a:solidFill>
                <a:latin typeface="Calibri" pitchFamily="34" charset="0"/>
                <a:ea typeface="Calibri" pitchFamily="34" charset="-122"/>
                <a:cs typeface="Calibri" pitchFamily="34" charset="-120"/>
              </a:rPr>
              <a:t>Absolute scoring; verbosity bias untested</a:t>
            </a:r>
            <a:endParaRPr lang="en-US" sz="980" dirty="0"/>
          </a:p>
        </p:txBody>
      </p:sp>
      <p:sp>
        <p:nvSpPr>
          <p:cNvPr id="47" name="Shape 45"/>
          <p:cNvSpPr/>
          <p:nvPr/>
        </p:nvSpPr>
        <p:spPr>
          <a:xfrm>
            <a:off x="640080" y="4892040"/>
            <a:ext cx="10881360" cy="493776"/>
          </a:xfrm>
          <a:prstGeom prst="roundRect">
            <a:avLst>
              <a:gd name="adj" fmla="val 12963"/>
            </a:avLst>
          </a:prstGeom>
          <a:solidFill>
            <a:srgbClr val="FFFFFF"/>
          </a:solidFill>
          <a:ln w="12700">
            <a:solidFill>
              <a:srgbClr val="FFFFFF"/>
            </a:solidFill>
            <a:prstDash val="solid"/>
          </a:ln>
        </p:spPr>
      </p:sp>
      <p:sp>
        <p:nvSpPr>
          <p:cNvPr id="48" name="Text 46"/>
          <p:cNvSpPr/>
          <p:nvPr/>
        </p:nvSpPr>
        <p:spPr>
          <a:xfrm>
            <a:off x="841248" y="5020056"/>
            <a:ext cx="1691640" cy="274320"/>
          </a:xfrm>
          <a:prstGeom prst="rect">
            <a:avLst/>
          </a:prstGeom>
          <a:noFill/>
          <a:ln/>
        </p:spPr>
        <p:txBody>
          <a:bodyPr wrap="square" lIns="0" tIns="0" rIns="0" bIns="0" rtlCol="0" anchor="ctr"/>
          <a:lstStyle/>
          <a:p>
            <a:pPr indent="0" marL="0">
              <a:buNone/>
            </a:pPr>
            <a:r>
              <a:rPr lang="en-US" sz="980" b="1" dirty="0">
                <a:solidFill>
                  <a:srgbClr val="5A6478"/>
                </a:solidFill>
                <a:latin typeface="Calibri" pitchFamily="34" charset="0"/>
                <a:ea typeface="Calibri" pitchFamily="34" charset="-122"/>
                <a:cs typeface="Calibri" pitchFamily="34" charset="-120"/>
              </a:rPr>
              <a:t>No Free Labels, 2025</a:t>
            </a:r>
            <a:endParaRPr lang="en-US" sz="980" dirty="0"/>
          </a:p>
        </p:txBody>
      </p:sp>
      <p:sp>
        <p:nvSpPr>
          <p:cNvPr id="49" name="Text 47"/>
          <p:cNvSpPr/>
          <p:nvPr/>
        </p:nvSpPr>
        <p:spPr>
          <a:xfrm>
            <a:off x="2514600" y="5020056"/>
            <a:ext cx="2423160" cy="274320"/>
          </a:xfrm>
          <a:prstGeom prst="rect">
            <a:avLst/>
          </a:prstGeom>
          <a:noFill/>
          <a:ln/>
        </p:spPr>
        <p:txBody>
          <a:bodyPr wrap="square" lIns="0" tIns="0" rIns="0" bIns="0" rtlCol="0" anchor="ctr"/>
          <a:lstStyle/>
          <a:p>
            <a:pPr indent="0" marL="0">
              <a:buNone/>
            </a:pPr>
            <a:r>
              <a:rPr lang="en-US" sz="980" dirty="0">
                <a:solidFill>
                  <a:srgbClr val="5A6478"/>
                </a:solidFill>
                <a:latin typeface="Calibri" pitchFamily="34" charset="0"/>
                <a:ea typeface="Calibri" pitchFamily="34" charset="-122"/>
                <a:cs typeface="Calibri" pitchFamily="34" charset="-120"/>
              </a:rPr>
              <a:t>Judging without grounding</a:t>
            </a:r>
            <a:endParaRPr lang="en-US" sz="980" dirty="0"/>
          </a:p>
        </p:txBody>
      </p:sp>
      <p:sp>
        <p:nvSpPr>
          <p:cNvPr id="50" name="Text 48"/>
          <p:cNvSpPr/>
          <p:nvPr/>
        </p:nvSpPr>
        <p:spPr>
          <a:xfrm>
            <a:off x="4937760" y="5020056"/>
            <a:ext cx="2286000" cy="274320"/>
          </a:xfrm>
          <a:prstGeom prst="rect">
            <a:avLst/>
          </a:prstGeom>
          <a:noFill/>
          <a:ln/>
        </p:spPr>
        <p:txBody>
          <a:bodyPr wrap="square" lIns="0" tIns="0" rIns="0" bIns="0" rtlCol="0" anchor="ctr"/>
          <a:lstStyle/>
          <a:p>
            <a:pPr indent="0" marL="0">
              <a:buNone/>
            </a:pPr>
            <a:r>
              <a:rPr lang="en-US" sz="980" dirty="0">
                <a:solidFill>
                  <a:srgbClr val="5A6478"/>
                </a:solidFill>
                <a:latin typeface="Calibri" pitchFamily="34" charset="0"/>
                <a:ea typeface="Calibri" pitchFamily="34" charset="-122"/>
                <a:cs typeface="Calibri" pitchFamily="34" charset="-120"/>
              </a:rPr>
              <a:t>Multiple QA sets</a:t>
            </a:r>
            <a:endParaRPr lang="en-US" sz="980" dirty="0"/>
          </a:p>
        </p:txBody>
      </p:sp>
      <p:sp>
        <p:nvSpPr>
          <p:cNvPr id="51" name="Text 49"/>
          <p:cNvSpPr/>
          <p:nvPr/>
        </p:nvSpPr>
        <p:spPr>
          <a:xfrm>
            <a:off x="7223760" y="5020056"/>
            <a:ext cx="1737360" cy="274320"/>
          </a:xfrm>
          <a:prstGeom prst="rect">
            <a:avLst/>
          </a:prstGeom>
          <a:noFill/>
          <a:ln/>
        </p:spPr>
        <p:txBody>
          <a:bodyPr wrap="square" lIns="0" tIns="0" rIns="0" bIns="0" rtlCol="0" anchor="ctr"/>
          <a:lstStyle/>
          <a:p>
            <a:pPr indent="0" marL="0">
              <a:buNone/>
            </a:pPr>
            <a:r>
              <a:rPr lang="en-US" sz="980" dirty="0">
                <a:solidFill>
                  <a:srgbClr val="5A6478"/>
                </a:solidFill>
                <a:latin typeface="Calibri" pitchFamily="34" charset="0"/>
                <a:ea typeface="Calibri" pitchFamily="34" charset="-122"/>
                <a:cs typeface="Calibri" pitchFamily="34" charset="-120"/>
              </a:rPr>
              <a:t>Judge-human gap</a:t>
            </a:r>
            <a:endParaRPr lang="en-US" sz="980" dirty="0"/>
          </a:p>
        </p:txBody>
      </p:sp>
      <p:sp>
        <p:nvSpPr>
          <p:cNvPr id="52" name="Text 50"/>
          <p:cNvSpPr/>
          <p:nvPr/>
        </p:nvSpPr>
        <p:spPr>
          <a:xfrm>
            <a:off x="8961120" y="5020056"/>
            <a:ext cx="2560320" cy="274320"/>
          </a:xfrm>
          <a:prstGeom prst="rect">
            <a:avLst/>
          </a:prstGeom>
          <a:noFill/>
          <a:ln/>
        </p:spPr>
        <p:txBody>
          <a:bodyPr wrap="square" lIns="0" tIns="0" rIns="0" bIns="0" rtlCol="0" anchor="ctr"/>
          <a:lstStyle/>
          <a:p>
            <a:pPr indent="0" marL="0">
              <a:buNone/>
            </a:pPr>
            <a:r>
              <a:rPr lang="en-US" sz="980" dirty="0">
                <a:solidFill>
                  <a:srgbClr val="5A6478"/>
                </a:solidFill>
                <a:latin typeface="Calibri" pitchFamily="34" charset="0"/>
                <a:ea typeface="Calibri" pitchFamily="34" charset="-122"/>
                <a:cs typeface="Calibri" pitchFamily="34" charset="-120"/>
              </a:rPr>
              <a:t>Shows judges unreliable without human anchors</a:t>
            </a:r>
            <a:endParaRPr lang="en-US" sz="980" dirty="0"/>
          </a:p>
        </p:txBody>
      </p:sp>
      <p:sp>
        <p:nvSpPr>
          <p:cNvPr id="53" name="Shape 51"/>
          <p:cNvSpPr/>
          <p:nvPr/>
        </p:nvSpPr>
        <p:spPr>
          <a:xfrm>
            <a:off x="640080" y="5431536"/>
            <a:ext cx="10881360" cy="493776"/>
          </a:xfrm>
          <a:prstGeom prst="roundRect">
            <a:avLst>
              <a:gd name="adj" fmla="val 12963"/>
            </a:avLst>
          </a:prstGeom>
          <a:solidFill>
            <a:srgbClr val="FAFBFD"/>
          </a:solidFill>
          <a:ln w="12700">
            <a:solidFill>
              <a:srgbClr val="FAFBFD"/>
            </a:solidFill>
            <a:prstDash val="solid"/>
          </a:ln>
        </p:spPr>
      </p:sp>
      <p:sp>
        <p:nvSpPr>
          <p:cNvPr id="54" name="Text 52"/>
          <p:cNvSpPr/>
          <p:nvPr/>
        </p:nvSpPr>
        <p:spPr>
          <a:xfrm>
            <a:off x="841248" y="5559552"/>
            <a:ext cx="1691640" cy="274320"/>
          </a:xfrm>
          <a:prstGeom prst="rect">
            <a:avLst/>
          </a:prstGeom>
          <a:noFill/>
          <a:ln/>
        </p:spPr>
        <p:txBody>
          <a:bodyPr wrap="square" lIns="0" tIns="0" rIns="0" bIns="0" rtlCol="0" anchor="ctr"/>
          <a:lstStyle/>
          <a:p>
            <a:pPr indent="0" marL="0">
              <a:buNone/>
            </a:pPr>
            <a:r>
              <a:rPr lang="en-US" sz="980" b="1" dirty="0">
                <a:solidFill>
                  <a:srgbClr val="5A6478"/>
                </a:solidFill>
                <a:latin typeface="Calibri" pitchFamily="34" charset="0"/>
                <a:ea typeface="Calibri" pitchFamily="34" charset="-122"/>
                <a:cs typeface="Calibri" pitchFamily="34" charset="-120"/>
              </a:rPr>
              <a:t>DriftLens, 2024</a:t>
            </a:r>
            <a:endParaRPr lang="en-US" sz="980" dirty="0"/>
          </a:p>
        </p:txBody>
      </p:sp>
      <p:sp>
        <p:nvSpPr>
          <p:cNvPr id="55" name="Text 53"/>
          <p:cNvSpPr/>
          <p:nvPr/>
        </p:nvSpPr>
        <p:spPr>
          <a:xfrm>
            <a:off x="2514600" y="5559552"/>
            <a:ext cx="2423160" cy="274320"/>
          </a:xfrm>
          <a:prstGeom prst="rect">
            <a:avLst/>
          </a:prstGeom>
          <a:noFill/>
          <a:ln/>
        </p:spPr>
        <p:txBody>
          <a:bodyPr wrap="square" lIns="0" tIns="0" rIns="0" bIns="0" rtlCol="0" anchor="ctr"/>
          <a:lstStyle/>
          <a:p>
            <a:pPr indent="0" marL="0">
              <a:buNone/>
            </a:pPr>
            <a:r>
              <a:rPr lang="en-US" sz="980" dirty="0">
                <a:solidFill>
                  <a:srgbClr val="5A6478"/>
                </a:solidFill>
                <a:latin typeface="Calibri" pitchFamily="34" charset="0"/>
                <a:ea typeface="Calibri" pitchFamily="34" charset="-122"/>
                <a:cs typeface="Calibri" pitchFamily="34" charset="-120"/>
              </a:rPr>
              <a:t>Unsupervised embedding drift</a:t>
            </a:r>
            <a:endParaRPr lang="en-US" sz="980" dirty="0"/>
          </a:p>
        </p:txBody>
      </p:sp>
      <p:sp>
        <p:nvSpPr>
          <p:cNvPr id="56" name="Text 54"/>
          <p:cNvSpPr/>
          <p:nvPr/>
        </p:nvSpPr>
        <p:spPr>
          <a:xfrm>
            <a:off x="4937760" y="5559552"/>
            <a:ext cx="2286000" cy="274320"/>
          </a:xfrm>
          <a:prstGeom prst="rect">
            <a:avLst/>
          </a:prstGeom>
          <a:noFill/>
          <a:ln/>
        </p:spPr>
        <p:txBody>
          <a:bodyPr wrap="square" lIns="0" tIns="0" rIns="0" bIns="0" rtlCol="0" anchor="ctr"/>
          <a:lstStyle/>
          <a:p>
            <a:pPr indent="0" marL="0">
              <a:buNone/>
            </a:pPr>
            <a:r>
              <a:rPr lang="en-US" sz="980" dirty="0">
                <a:solidFill>
                  <a:srgbClr val="5A6478"/>
                </a:solidFill>
                <a:latin typeface="Calibri" pitchFamily="34" charset="0"/>
                <a:ea typeface="Calibri" pitchFamily="34" charset="-122"/>
                <a:cs typeface="Calibri" pitchFamily="34" charset="-120"/>
              </a:rPr>
              <a:t>Text stream benchmarks</a:t>
            </a:r>
            <a:endParaRPr lang="en-US" sz="980" dirty="0"/>
          </a:p>
        </p:txBody>
      </p:sp>
      <p:sp>
        <p:nvSpPr>
          <p:cNvPr id="57" name="Text 55"/>
          <p:cNvSpPr/>
          <p:nvPr/>
        </p:nvSpPr>
        <p:spPr>
          <a:xfrm>
            <a:off x="7223760" y="5559552"/>
            <a:ext cx="1737360" cy="274320"/>
          </a:xfrm>
          <a:prstGeom prst="rect">
            <a:avLst/>
          </a:prstGeom>
          <a:noFill/>
          <a:ln/>
        </p:spPr>
        <p:txBody>
          <a:bodyPr wrap="square" lIns="0" tIns="0" rIns="0" bIns="0" rtlCol="0" anchor="ctr"/>
          <a:lstStyle/>
          <a:p>
            <a:pPr indent="0" marL="0">
              <a:buNone/>
            </a:pPr>
            <a:r>
              <a:rPr lang="en-US" sz="980" dirty="0">
                <a:solidFill>
                  <a:srgbClr val="5A6478"/>
                </a:solidFill>
                <a:latin typeface="Calibri" pitchFamily="34" charset="0"/>
                <a:ea typeface="Calibri" pitchFamily="34" charset="-122"/>
                <a:cs typeface="Calibri" pitchFamily="34" charset="-120"/>
              </a:rPr>
              <a:t>Detection delay</a:t>
            </a:r>
            <a:endParaRPr lang="en-US" sz="980" dirty="0"/>
          </a:p>
        </p:txBody>
      </p:sp>
      <p:sp>
        <p:nvSpPr>
          <p:cNvPr id="58" name="Text 56"/>
          <p:cNvSpPr/>
          <p:nvPr/>
        </p:nvSpPr>
        <p:spPr>
          <a:xfrm>
            <a:off x="8961120" y="5559552"/>
            <a:ext cx="2560320" cy="274320"/>
          </a:xfrm>
          <a:prstGeom prst="rect">
            <a:avLst/>
          </a:prstGeom>
          <a:noFill/>
          <a:ln/>
        </p:spPr>
        <p:txBody>
          <a:bodyPr wrap="square" lIns="0" tIns="0" rIns="0" bIns="0" rtlCol="0" anchor="ctr"/>
          <a:lstStyle/>
          <a:p>
            <a:pPr indent="0" marL="0">
              <a:buNone/>
            </a:pPr>
            <a:r>
              <a:rPr lang="en-US" sz="980" dirty="0">
                <a:solidFill>
                  <a:srgbClr val="5A6478"/>
                </a:solidFill>
                <a:latin typeface="Calibri" pitchFamily="34" charset="0"/>
                <a:ea typeface="Calibri" pitchFamily="34" charset="-122"/>
                <a:cs typeface="Calibri" pitchFamily="34" charset="-120"/>
              </a:rPr>
              <a:t>Drift only; not tied to output correctness</a:t>
            </a:r>
            <a:endParaRPr lang="en-US" sz="980" dirty="0"/>
          </a:p>
        </p:txBody>
      </p:sp>
      <p:sp>
        <p:nvSpPr>
          <p:cNvPr id="59" name="Shape 57"/>
          <p:cNvSpPr/>
          <p:nvPr/>
        </p:nvSpPr>
        <p:spPr>
          <a:xfrm>
            <a:off x="640080" y="5971032"/>
            <a:ext cx="10881360" cy="493776"/>
          </a:xfrm>
          <a:prstGeom prst="roundRect">
            <a:avLst>
              <a:gd name="adj" fmla="val 12963"/>
            </a:avLst>
          </a:prstGeom>
          <a:solidFill>
            <a:srgbClr val="FFFFFF"/>
          </a:solidFill>
          <a:ln w="12700">
            <a:solidFill>
              <a:srgbClr val="FFFFFF"/>
            </a:solidFill>
            <a:prstDash val="solid"/>
          </a:ln>
        </p:spPr>
      </p:sp>
      <p:sp>
        <p:nvSpPr>
          <p:cNvPr id="60" name="Text 58"/>
          <p:cNvSpPr/>
          <p:nvPr/>
        </p:nvSpPr>
        <p:spPr>
          <a:xfrm>
            <a:off x="841248" y="6099048"/>
            <a:ext cx="1691640" cy="274320"/>
          </a:xfrm>
          <a:prstGeom prst="rect">
            <a:avLst/>
          </a:prstGeom>
          <a:noFill/>
          <a:ln/>
        </p:spPr>
        <p:txBody>
          <a:bodyPr wrap="square" lIns="0" tIns="0" rIns="0" bIns="0" rtlCol="0" anchor="ctr"/>
          <a:lstStyle/>
          <a:p>
            <a:pPr indent="0" marL="0">
              <a:buNone/>
            </a:pPr>
            <a:r>
              <a:rPr lang="en-US" sz="980" b="1" dirty="0">
                <a:solidFill>
                  <a:srgbClr val="5A6478"/>
                </a:solidFill>
                <a:latin typeface="Calibri" pitchFamily="34" charset="0"/>
                <a:ea typeface="Calibri" pitchFamily="34" charset="-122"/>
                <a:cs typeface="Calibri" pitchFamily="34" charset="-120"/>
              </a:rPr>
              <a:t>MAST, 2025</a:t>
            </a:r>
            <a:endParaRPr lang="en-US" sz="980" dirty="0"/>
          </a:p>
        </p:txBody>
      </p:sp>
      <p:sp>
        <p:nvSpPr>
          <p:cNvPr id="61" name="Text 59"/>
          <p:cNvSpPr/>
          <p:nvPr/>
        </p:nvSpPr>
        <p:spPr>
          <a:xfrm>
            <a:off x="2514600" y="6099048"/>
            <a:ext cx="2423160" cy="274320"/>
          </a:xfrm>
          <a:prstGeom prst="rect">
            <a:avLst/>
          </a:prstGeom>
          <a:noFill/>
          <a:ln/>
        </p:spPr>
        <p:txBody>
          <a:bodyPr wrap="square" lIns="0" tIns="0" rIns="0" bIns="0" rtlCol="0" anchor="ctr"/>
          <a:lstStyle/>
          <a:p>
            <a:pPr indent="0" marL="0">
              <a:buNone/>
            </a:pPr>
            <a:r>
              <a:rPr lang="en-US" sz="980" dirty="0">
                <a:solidFill>
                  <a:srgbClr val="5A6478"/>
                </a:solidFill>
                <a:latin typeface="Calibri" pitchFamily="34" charset="0"/>
                <a:ea typeface="Calibri" pitchFamily="34" charset="-122"/>
                <a:cs typeface="Calibri" pitchFamily="34" charset="-120"/>
              </a:rPr>
              <a:t>MAS failure taxonomy</a:t>
            </a:r>
            <a:endParaRPr lang="en-US" sz="980" dirty="0"/>
          </a:p>
        </p:txBody>
      </p:sp>
      <p:sp>
        <p:nvSpPr>
          <p:cNvPr id="62" name="Text 60"/>
          <p:cNvSpPr/>
          <p:nvPr/>
        </p:nvSpPr>
        <p:spPr>
          <a:xfrm>
            <a:off x="4937760" y="6099048"/>
            <a:ext cx="2286000" cy="274320"/>
          </a:xfrm>
          <a:prstGeom prst="rect">
            <a:avLst/>
          </a:prstGeom>
          <a:noFill/>
          <a:ln/>
        </p:spPr>
        <p:txBody>
          <a:bodyPr wrap="square" lIns="0" tIns="0" rIns="0" bIns="0" rtlCol="0" anchor="ctr"/>
          <a:lstStyle/>
          <a:p>
            <a:pPr indent="0" marL="0">
              <a:buNone/>
            </a:pPr>
            <a:r>
              <a:rPr lang="en-US" sz="980" dirty="0">
                <a:solidFill>
                  <a:srgbClr val="5A6478"/>
                </a:solidFill>
                <a:latin typeface="Calibri" pitchFamily="34" charset="0"/>
                <a:ea typeface="Calibri" pitchFamily="34" charset="-122"/>
                <a:cs typeface="Calibri" pitchFamily="34" charset="-120"/>
              </a:rPr>
              <a:t>1600+ traces, 7 frameworks</a:t>
            </a:r>
            <a:endParaRPr lang="en-US" sz="980" dirty="0"/>
          </a:p>
        </p:txBody>
      </p:sp>
      <p:sp>
        <p:nvSpPr>
          <p:cNvPr id="63" name="Text 61"/>
          <p:cNvSpPr/>
          <p:nvPr/>
        </p:nvSpPr>
        <p:spPr>
          <a:xfrm>
            <a:off x="7223760" y="6099048"/>
            <a:ext cx="1737360" cy="274320"/>
          </a:xfrm>
          <a:prstGeom prst="rect">
            <a:avLst/>
          </a:prstGeom>
          <a:noFill/>
          <a:ln/>
        </p:spPr>
        <p:txBody>
          <a:bodyPr wrap="square" lIns="0" tIns="0" rIns="0" bIns="0" rtlCol="0" anchor="ctr"/>
          <a:lstStyle/>
          <a:p>
            <a:pPr indent="0" marL="0">
              <a:buNone/>
            </a:pPr>
            <a:r>
              <a:rPr lang="en-US" sz="980" dirty="0">
                <a:solidFill>
                  <a:srgbClr val="5A6478"/>
                </a:solidFill>
                <a:latin typeface="Calibri" pitchFamily="34" charset="0"/>
                <a:ea typeface="Calibri" pitchFamily="34" charset="-122"/>
                <a:cs typeface="Calibri" pitchFamily="34" charset="-120"/>
              </a:rPr>
              <a:t>kappa 0.88 / 0.77</a:t>
            </a:r>
            <a:endParaRPr lang="en-US" sz="980" dirty="0"/>
          </a:p>
        </p:txBody>
      </p:sp>
      <p:sp>
        <p:nvSpPr>
          <p:cNvPr id="64" name="Text 62"/>
          <p:cNvSpPr/>
          <p:nvPr/>
        </p:nvSpPr>
        <p:spPr>
          <a:xfrm>
            <a:off x="8961120" y="6099048"/>
            <a:ext cx="2560320" cy="274320"/>
          </a:xfrm>
          <a:prstGeom prst="rect">
            <a:avLst/>
          </a:prstGeom>
          <a:noFill/>
          <a:ln/>
        </p:spPr>
        <p:txBody>
          <a:bodyPr wrap="square" lIns="0" tIns="0" rIns="0" bIns="0" rtlCol="0" anchor="ctr"/>
          <a:lstStyle/>
          <a:p>
            <a:pPr indent="0" marL="0">
              <a:buNone/>
            </a:pPr>
            <a:r>
              <a:rPr lang="en-US" sz="980" dirty="0">
                <a:solidFill>
                  <a:srgbClr val="5A6478"/>
                </a:solidFill>
                <a:latin typeface="Calibri" pitchFamily="34" charset="0"/>
                <a:ea typeface="Calibri" pitchFamily="34" charset="-122"/>
                <a:cs typeface="Calibri" pitchFamily="34" charset="-120"/>
              </a:rPr>
              <a:t>Descriptive taxonomy; no runtime detector</a:t>
            </a:r>
            <a:endParaRPr lang="en-US" sz="980" dirty="0"/>
          </a:p>
        </p:txBody>
      </p:sp>
      <p:sp>
        <p:nvSpPr>
          <p:cNvPr id="65" name="Shape 63"/>
          <p:cNvSpPr/>
          <p:nvPr/>
        </p:nvSpPr>
        <p:spPr>
          <a:xfrm>
            <a:off x="640080" y="5943600"/>
            <a:ext cx="10881360" cy="566928"/>
          </a:xfrm>
          <a:prstGeom prst="roundRect">
            <a:avLst>
              <a:gd name="adj" fmla="val 11290"/>
            </a:avLst>
          </a:prstGeom>
          <a:solidFill>
            <a:srgbClr val="FFF4D6"/>
          </a:solidFill>
          <a:ln w="12700">
            <a:solidFill>
              <a:srgbClr val="FFF4D6"/>
            </a:solidFill>
            <a:prstDash val="solid"/>
          </a:ln>
        </p:spPr>
      </p:sp>
      <p:sp>
        <p:nvSpPr>
          <p:cNvPr id="66" name="Text 64"/>
          <p:cNvSpPr/>
          <p:nvPr/>
        </p:nvSpPr>
        <p:spPr>
          <a:xfrm>
            <a:off x="914400" y="6080760"/>
            <a:ext cx="10332720" cy="320040"/>
          </a:xfrm>
          <a:prstGeom prst="rect">
            <a:avLst/>
          </a:prstGeom>
          <a:noFill/>
          <a:ln/>
        </p:spPr>
        <p:txBody>
          <a:bodyPr wrap="square" lIns="0" tIns="0" rIns="0" bIns="0" rtlCol="0" anchor="ctr"/>
          <a:lstStyle/>
          <a:p>
            <a:pPr indent="0" marL="0">
              <a:buNone/>
            </a:pPr>
            <a:r>
              <a:rPr lang="en-US" sz="1100" b="1" dirty="0">
                <a:solidFill>
                  <a:srgbClr val="7A5A00"/>
                </a:solidFill>
                <a:latin typeface="Calibri" pitchFamily="34" charset="0"/>
                <a:ea typeface="Calibri" pitchFamily="34" charset="-122"/>
                <a:cs typeface="Calibri" pitchFamily="34" charset="-120"/>
              </a:rPr>
              <a:t>Ten of seventeen surveyed works shown; the full reference list is on the appendix slide. Read each one before defending this table - the panel may pick any row.</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117"/>
        </a:solidFill>
      </p:bgPr>
    </p:bg>
    <p:spTree>
      <p:nvGrpSpPr>
        <p:cNvPr id="1" name=""/>
        <p:cNvGrpSpPr/>
        <p:nvPr/>
      </p:nvGrpSpPr>
      <p:grpSpPr>
        <a:xfrm>
          <a:off x="0" y="0"/>
          <a:ext cx="0" cy="0"/>
          <a:chOff x="0" y="0"/>
          <a:chExt cx="0" cy="0"/>
        </a:xfrm>
      </p:grpSpPr>
      <p:sp>
        <p:nvSpPr>
          <p:cNvPr id="2" name="Text 0"/>
          <p:cNvSpPr/>
          <p:nvPr/>
        </p:nvSpPr>
        <p:spPr>
          <a:xfrm>
            <a:off x="640080" y="365760"/>
            <a:ext cx="9144000" cy="237744"/>
          </a:xfrm>
          <a:prstGeom prst="rect">
            <a:avLst/>
          </a:prstGeom>
          <a:noFill/>
          <a:ln/>
        </p:spPr>
        <p:txBody>
          <a:bodyPr wrap="square" lIns="0" tIns="0" rIns="0" bIns="0" rtlCol="0" anchor="ctr"/>
          <a:lstStyle/>
          <a:p>
            <a:pPr indent="0" marL="0">
              <a:buNone/>
            </a:pPr>
            <a:r>
              <a:rPr lang="en-US" sz="1050" b="1" spc="200" kern="0" dirty="0">
                <a:solidFill>
                  <a:srgbClr val="22D3EE"/>
                </a:solidFill>
                <a:latin typeface="Calibri" pitchFamily="34" charset="0"/>
                <a:ea typeface="Calibri" pitchFamily="34" charset="-122"/>
                <a:cs typeface="Calibri" pitchFamily="34" charset="-120"/>
              </a:rPr>
              <a:t>RESEARCH GAP AND OBJECTIVES</a:t>
            </a:r>
            <a:endParaRPr lang="en-US" sz="1050" dirty="0"/>
          </a:p>
        </p:txBody>
      </p:sp>
      <p:sp>
        <p:nvSpPr>
          <p:cNvPr id="3" name="Text 1"/>
          <p:cNvSpPr/>
          <p:nvPr/>
        </p:nvSpPr>
        <p:spPr>
          <a:xfrm>
            <a:off x="640080" y="621792"/>
            <a:ext cx="10881360" cy="640080"/>
          </a:xfrm>
          <a:prstGeom prst="rect">
            <a:avLst/>
          </a:prstGeom>
          <a:noFill/>
          <a:ln/>
        </p:spPr>
        <p:txBody>
          <a:bodyPr wrap="square" lIns="0" tIns="0" rIns="0" bIns="0" rtlCol="0" anchor="ctr"/>
          <a:lstStyle/>
          <a:p>
            <a:pPr indent="0" marL="0">
              <a:buNone/>
            </a:pPr>
            <a:r>
              <a:rPr lang="en-US" sz="3100" b="1" dirty="0">
                <a:solidFill>
                  <a:srgbClr val="E8ECF5"/>
                </a:solidFill>
                <a:latin typeface="Cambria" pitchFamily="34" charset="0"/>
                <a:ea typeface="Cambria" pitchFamily="34" charset="-122"/>
                <a:cs typeface="Cambria" pitchFamily="34" charset="-120"/>
              </a:rPr>
              <a:t>What is missing, and what this project set out to do</a:t>
            </a:r>
            <a:endParaRPr lang="en-US" sz="3100" dirty="0"/>
          </a:p>
        </p:txBody>
      </p:sp>
      <p:sp>
        <p:nvSpPr>
          <p:cNvPr id="4" name="Shape 2"/>
          <p:cNvSpPr/>
          <p:nvPr/>
        </p:nvSpPr>
        <p:spPr>
          <a:xfrm>
            <a:off x="640080" y="1463040"/>
            <a:ext cx="5349240" cy="2011680"/>
          </a:xfrm>
          <a:prstGeom prst="roundRect">
            <a:avLst>
              <a:gd name="adj" fmla="val 3182"/>
            </a:avLst>
          </a:prstGeom>
          <a:solidFill>
            <a:srgbClr val="222937"/>
          </a:solidFill>
          <a:ln w="12700">
            <a:solidFill>
              <a:srgbClr val="222937"/>
            </a:solidFill>
            <a:prstDash val="solid"/>
          </a:ln>
        </p:spPr>
      </p:sp>
      <p:sp>
        <p:nvSpPr>
          <p:cNvPr id="5" name="Text 3"/>
          <p:cNvSpPr/>
          <p:nvPr/>
        </p:nvSpPr>
        <p:spPr>
          <a:xfrm>
            <a:off x="960120" y="1645920"/>
            <a:ext cx="4754880" cy="292608"/>
          </a:xfrm>
          <a:prstGeom prst="rect">
            <a:avLst/>
          </a:prstGeom>
          <a:noFill/>
          <a:ln/>
        </p:spPr>
        <p:txBody>
          <a:bodyPr wrap="square" lIns="0" tIns="0" rIns="0" bIns="0" rtlCol="0" anchor="ctr"/>
          <a:lstStyle/>
          <a:p>
            <a:pPr indent="0" marL="0">
              <a:buNone/>
            </a:pPr>
            <a:r>
              <a:rPr lang="en-US" sz="1400" b="1" dirty="0">
                <a:solidFill>
                  <a:srgbClr val="22D3EE"/>
                </a:solidFill>
                <a:latin typeface="Calibri" pitchFamily="34" charset="0"/>
                <a:ea typeface="Calibri" pitchFamily="34" charset="-122"/>
                <a:cs typeface="Calibri" pitchFamily="34" charset="-120"/>
              </a:rPr>
              <a:t>The gap</a:t>
            </a:r>
            <a:endParaRPr lang="en-US" sz="1400" dirty="0"/>
          </a:p>
        </p:txBody>
      </p:sp>
      <p:sp>
        <p:nvSpPr>
          <p:cNvPr id="6" name="Text 4"/>
          <p:cNvSpPr/>
          <p:nvPr/>
        </p:nvSpPr>
        <p:spPr>
          <a:xfrm>
            <a:off x="960120" y="2011680"/>
            <a:ext cx="4754880" cy="1325880"/>
          </a:xfrm>
          <a:prstGeom prst="rect">
            <a:avLst/>
          </a:prstGeom>
          <a:noFill/>
          <a:ln/>
        </p:spPr>
        <p:txBody>
          <a:bodyPr wrap="square" lIns="0" tIns="0" rIns="0" bIns="0" rtlCol="0" anchor="ctr"/>
          <a:lstStyle/>
          <a:p>
            <a:pPr indent="0" marL="0">
              <a:buNone/>
            </a:pPr>
            <a:r>
              <a:rPr lang="en-US" sz="1200" dirty="0">
                <a:solidFill>
                  <a:srgbClr val="9AA4BD"/>
                </a:solidFill>
                <a:latin typeface="Calibri" pitchFamily="34" charset="0"/>
                <a:ea typeface="Calibri" pitchFamily="34" charset="-122"/>
                <a:cs typeface="Calibri" pitchFamily="34" charset="-120"/>
              </a:rPr>
              <a:t>Existing agent-observability platforms record what happened and leave quality to sampled, LLM-judged evaluation. None combines full per-span evaluation with a dedicated behavioural drift signal at a cost that makes full coverage affordable on commodity CPU.</a:t>
            </a:r>
            <a:endParaRPr lang="en-US" sz="1200" dirty="0"/>
          </a:p>
        </p:txBody>
      </p:sp>
      <p:sp>
        <p:nvSpPr>
          <p:cNvPr id="7" name="Shape 5"/>
          <p:cNvSpPr/>
          <p:nvPr/>
        </p:nvSpPr>
        <p:spPr>
          <a:xfrm>
            <a:off x="6309360" y="1463040"/>
            <a:ext cx="5212080" cy="2011680"/>
          </a:xfrm>
          <a:prstGeom prst="roundRect">
            <a:avLst>
              <a:gd name="adj" fmla="val 3182"/>
            </a:avLst>
          </a:prstGeom>
          <a:solidFill>
            <a:srgbClr val="222937"/>
          </a:solidFill>
          <a:ln w="12700">
            <a:solidFill>
              <a:srgbClr val="222937"/>
            </a:solidFill>
            <a:prstDash val="solid"/>
          </a:ln>
        </p:spPr>
      </p:sp>
      <p:sp>
        <p:nvSpPr>
          <p:cNvPr id="8" name="Text 6"/>
          <p:cNvSpPr/>
          <p:nvPr/>
        </p:nvSpPr>
        <p:spPr>
          <a:xfrm>
            <a:off x="6629400" y="1645920"/>
            <a:ext cx="4617720" cy="292608"/>
          </a:xfrm>
          <a:prstGeom prst="rect">
            <a:avLst/>
          </a:prstGeom>
          <a:noFill/>
          <a:ln/>
        </p:spPr>
        <p:txBody>
          <a:bodyPr wrap="square" lIns="0" tIns="0" rIns="0" bIns="0" rtlCol="0" anchor="ctr"/>
          <a:lstStyle/>
          <a:p>
            <a:pPr indent="0" marL="0">
              <a:buNone/>
            </a:pPr>
            <a:r>
              <a:rPr lang="en-US" sz="1400" b="1" dirty="0">
                <a:solidFill>
                  <a:srgbClr val="22D3EE"/>
                </a:solidFill>
                <a:latin typeface="Calibri" pitchFamily="34" charset="0"/>
                <a:ea typeface="Calibri" pitchFamily="34" charset="-122"/>
                <a:cs typeface="Calibri" pitchFamily="34" charset="-120"/>
              </a:rPr>
              <a:t>Why it matters</a:t>
            </a:r>
            <a:endParaRPr lang="en-US" sz="1400" dirty="0"/>
          </a:p>
        </p:txBody>
      </p:sp>
      <p:sp>
        <p:nvSpPr>
          <p:cNvPr id="9" name="Text 7"/>
          <p:cNvSpPr/>
          <p:nvPr/>
        </p:nvSpPr>
        <p:spPr>
          <a:xfrm>
            <a:off x="6629400" y="2011680"/>
            <a:ext cx="4617720" cy="1325880"/>
          </a:xfrm>
          <a:prstGeom prst="rect">
            <a:avLst/>
          </a:prstGeom>
          <a:noFill/>
          <a:ln/>
        </p:spPr>
        <p:txBody>
          <a:bodyPr wrap="square" lIns="0" tIns="0" rIns="0" bIns="0" rtlCol="0" anchor="ctr"/>
          <a:lstStyle/>
          <a:p>
            <a:pPr indent="0" marL="0">
              <a:buNone/>
            </a:pPr>
            <a:r>
              <a:rPr lang="en-US" sz="1200" dirty="0">
                <a:solidFill>
                  <a:srgbClr val="9AA4BD"/>
                </a:solidFill>
                <a:latin typeface="Calibri" pitchFamily="34" charset="0"/>
                <a:ea typeface="Calibri" pitchFamily="34" charset="-122"/>
                <a:cs typeface="Calibri" pitchFamily="34" charset="-120"/>
              </a:rPr>
              <a:t>Sampling is not a tuning choice here, it is a structural mismatch: the faults are rare, so the sample is biased against finding them. Cost is what forces sampling, so reducing evaluation cost is the enabling problem.</a:t>
            </a:r>
            <a:endParaRPr lang="en-US" sz="1200" dirty="0"/>
          </a:p>
        </p:txBody>
      </p:sp>
      <p:sp>
        <p:nvSpPr>
          <p:cNvPr id="10" name="Text 8"/>
          <p:cNvSpPr/>
          <p:nvPr/>
        </p:nvSpPr>
        <p:spPr>
          <a:xfrm>
            <a:off x="640080" y="3657600"/>
            <a:ext cx="5486400" cy="310896"/>
          </a:xfrm>
          <a:prstGeom prst="rect">
            <a:avLst/>
          </a:prstGeom>
          <a:noFill/>
          <a:ln/>
        </p:spPr>
        <p:txBody>
          <a:bodyPr wrap="square" lIns="0" tIns="0" rIns="0" bIns="0" rtlCol="0" anchor="ctr"/>
          <a:lstStyle/>
          <a:p>
            <a:pPr indent="0" marL="0">
              <a:buNone/>
            </a:pPr>
            <a:r>
              <a:rPr lang="en-US" sz="1500" b="1" dirty="0">
                <a:solidFill>
                  <a:srgbClr val="E8ECF5"/>
                </a:solidFill>
                <a:latin typeface="Calibri" pitchFamily="34" charset="0"/>
                <a:ea typeface="Calibri" pitchFamily="34" charset="-122"/>
                <a:cs typeface="Calibri" pitchFamily="34" charset="-120"/>
              </a:rPr>
              <a:t>Objectives</a:t>
            </a:r>
            <a:endParaRPr lang="en-US" sz="1500" dirty="0"/>
          </a:p>
        </p:txBody>
      </p:sp>
      <p:sp>
        <p:nvSpPr>
          <p:cNvPr id="11" name="Text 9"/>
          <p:cNvSpPr/>
          <p:nvPr/>
        </p:nvSpPr>
        <p:spPr>
          <a:xfrm>
            <a:off x="640080" y="4041648"/>
            <a:ext cx="502920" cy="274320"/>
          </a:xfrm>
          <a:prstGeom prst="rect">
            <a:avLst/>
          </a:prstGeom>
          <a:noFill/>
          <a:ln/>
        </p:spPr>
        <p:txBody>
          <a:bodyPr wrap="square" lIns="0" tIns="0" rIns="0" bIns="0" rtlCol="0" anchor="ctr"/>
          <a:lstStyle/>
          <a:p>
            <a:pPr indent="0" marL="0">
              <a:buNone/>
            </a:pPr>
            <a:r>
              <a:rPr lang="en-US" sz="1400" b="1" dirty="0">
                <a:solidFill>
                  <a:srgbClr val="22D3EE"/>
                </a:solidFill>
                <a:latin typeface="Cambria" pitchFamily="34" charset="0"/>
                <a:ea typeface="Cambria" pitchFamily="34" charset="-122"/>
                <a:cs typeface="Cambria" pitchFamily="34" charset="-120"/>
              </a:rPr>
              <a:t>O1</a:t>
            </a:r>
            <a:endParaRPr lang="en-US" sz="1400" dirty="0"/>
          </a:p>
        </p:txBody>
      </p:sp>
      <p:sp>
        <p:nvSpPr>
          <p:cNvPr id="12" name="Text 10"/>
          <p:cNvSpPr/>
          <p:nvPr/>
        </p:nvSpPr>
        <p:spPr>
          <a:xfrm>
            <a:off x="1188720" y="4041648"/>
            <a:ext cx="4572000" cy="274320"/>
          </a:xfrm>
          <a:prstGeom prst="rect">
            <a:avLst/>
          </a:prstGeom>
          <a:noFill/>
          <a:ln/>
        </p:spPr>
        <p:txBody>
          <a:bodyPr wrap="square" lIns="0" tIns="0" rIns="0" bIns="0" rtlCol="0" anchor="ctr"/>
          <a:lstStyle/>
          <a:p>
            <a:pPr indent="0" marL="0">
              <a:buNone/>
            </a:pPr>
            <a:r>
              <a:rPr lang="en-US" sz="1250" b="1" dirty="0">
                <a:solidFill>
                  <a:srgbClr val="E8ECF5"/>
                </a:solidFill>
                <a:latin typeface="Calibri" pitchFamily="34" charset="0"/>
                <a:ea typeface="Calibri" pitchFamily="34" charset="-122"/>
                <a:cs typeface="Calibri" pitchFamily="34" charset="-120"/>
              </a:rPr>
              <a:t>Evaluate 100% of spans on CPU</a:t>
            </a:r>
            <a:endParaRPr lang="en-US" sz="1250" dirty="0"/>
          </a:p>
        </p:txBody>
      </p:sp>
      <p:sp>
        <p:nvSpPr>
          <p:cNvPr id="13" name="Text 11"/>
          <p:cNvSpPr/>
          <p:nvPr/>
        </p:nvSpPr>
        <p:spPr>
          <a:xfrm>
            <a:off x="5852160" y="4041648"/>
            <a:ext cx="5669280" cy="274320"/>
          </a:xfrm>
          <a:prstGeom prst="rect">
            <a:avLst/>
          </a:prstGeom>
          <a:noFill/>
          <a:ln/>
        </p:spPr>
        <p:txBody>
          <a:bodyPr wrap="square" lIns="0" tIns="0" rIns="0" bIns="0" rtlCol="0" anchor="ctr"/>
          <a:lstStyle/>
          <a:p>
            <a:pPr indent="0" marL="0">
              <a:buNone/>
            </a:pPr>
            <a:r>
              <a:rPr lang="en-US" sz="1200" dirty="0">
                <a:solidFill>
                  <a:srgbClr val="34D399"/>
                </a:solidFill>
                <a:latin typeface="Calibri" pitchFamily="34" charset="0"/>
                <a:ea typeface="Calibri" pitchFamily="34" charset="-122"/>
                <a:cs typeface="Calibri" pitchFamily="34" charset="-120"/>
              </a:rPr>
              <a:t>Achieved - measured 12 spans/sec at 4 workers</a:t>
            </a:r>
            <a:endParaRPr lang="en-US" sz="1200" dirty="0"/>
          </a:p>
        </p:txBody>
      </p:sp>
      <p:sp>
        <p:nvSpPr>
          <p:cNvPr id="14" name="Text 12"/>
          <p:cNvSpPr/>
          <p:nvPr/>
        </p:nvSpPr>
        <p:spPr>
          <a:xfrm>
            <a:off x="640080" y="4462272"/>
            <a:ext cx="502920" cy="274320"/>
          </a:xfrm>
          <a:prstGeom prst="rect">
            <a:avLst/>
          </a:prstGeom>
          <a:noFill/>
          <a:ln/>
        </p:spPr>
        <p:txBody>
          <a:bodyPr wrap="square" lIns="0" tIns="0" rIns="0" bIns="0" rtlCol="0" anchor="ctr"/>
          <a:lstStyle/>
          <a:p>
            <a:pPr indent="0" marL="0">
              <a:buNone/>
            </a:pPr>
            <a:r>
              <a:rPr lang="en-US" sz="1400" b="1" dirty="0">
                <a:solidFill>
                  <a:srgbClr val="22D3EE"/>
                </a:solidFill>
                <a:latin typeface="Cambria" pitchFamily="34" charset="0"/>
                <a:ea typeface="Cambria" pitchFamily="34" charset="-122"/>
                <a:cs typeface="Cambria" pitchFamily="34" charset="-120"/>
              </a:rPr>
              <a:t>O2</a:t>
            </a:r>
            <a:endParaRPr lang="en-US" sz="1400" dirty="0"/>
          </a:p>
        </p:txBody>
      </p:sp>
      <p:sp>
        <p:nvSpPr>
          <p:cNvPr id="15" name="Text 13"/>
          <p:cNvSpPr/>
          <p:nvPr/>
        </p:nvSpPr>
        <p:spPr>
          <a:xfrm>
            <a:off x="1188720" y="4462272"/>
            <a:ext cx="4572000" cy="274320"/>
          </a:xfrm>
          <a:prstGeom prst="rect">
            <a:avLst/>
          </a:prstGeom>
          <a:noFill/>
          <a:ln/>
        </p:spPr>
        <p:txBody>
          <a:bodyPr wrap="square" lIns="0" tIns="0" rIns="0" bIns="0" rtlCol="0" anchor="ctr"/>
          <a:lstStyle/>
          <a:p>
            <a:pPr indent="0" marL="0">
              <a:buNone/>
            </a:pPr>
            <a:r>
              <a:rPr lang="en-US" sz="1250" b="1" dirty="0">
                <a:solidFill>
                  <a:srgbClr val="E8ECF5"/>
                </a:solidFill>
                <a:latin typeface="Calibri" pitchFamily="34" charset="0"/>
                <a:ea typeface="Calibri" pitchFamily="34" charset="-122"/>
                <a:cs typeface="Calibri" pitchFamily="34" charset="-120"/>
              </a:rPr>
              <a:t>Match a strong NLI baseline on grounding</a:t>
            </a:r>
            <a:endParaRPr lang="en-US" sz="1250" dirty="0"/>
          </a:p>
        </p:txBody>
      </p:sp>
      <p:sp>
        <p:nvSpPr>
          <p:cNvPr id="16" name="Text 14"/>
          <p:cNvSpPr/>
          <p:nvPr/>
        </p:nvSpPr>
        <p:spPr>
          <a:xfrm>
            <a:off x="5852160" y="4462272"/>
            <a:ext cx="5669280" cy="274320"/>
          </a:xfrm>
          <a:prstGeom prst="rect">
            <a:avLst/>
          </a:prstGeom>
          <a:noFill/>
          <a:ln/>
        </p:spPr>
        <p:txBody>
          <a:bodyPr wrap="square" lIns="0" tIns="0" rIns="0" bIns="0" rtlCol="0" anchor="ctr"/>
          <a:lstStyle/>
          <a:p>
            <a:pPr indent="0" marL="0">
              <a:buNone/>
            </a:pPr>
            <a:r>
              <a:rPr lang="en-US" sz="1200" dirty="0">
                <a:solidFill>
                  <a:srgbClr val="34D399"/>
                </a:solidFill>
                <a:latin typeface="Calibri" pitchFamily="34" charset="0"/>
                <a:ea typeface="Calibri" pitchFamily="34" charset="-122"/>
                <a:cs typeface="Calibri" pitchFamily="34" charset="-120"/>
              </a:rPr>
              <a:t>Achieved - F1 0.963 on held-out v1.0_test</a:t>
            </a:r>
            <a:endParaRPr lang="en-US" sz="1200" dirty="0"/>
          </a:p>
        </p:txBody>
      </p:sp>
      <p:sp>
        <p:nvSpPr>
          <p:cNvPr id="17" name="Text 15"/>
          <p:cNvSpPr/>
          <p:nvPr/>
        </p:nvSpPr>
        <p:spPr>
          <a:xfrm>
            <a:off x="640080" y="4882896"/>
            <a:ext cx="502920" cy="274320"/>
          </a:xfrm>
          <a:prstGeom prst="rect">
            <a:avLst/>
          </a:prstGeom>
          <a:noFill/>
          <a:ln/>
        </p:spPr>
        <p:txBody>
          <a:bodyPr wrap="square" lIns="0" tIns="0" rIns="0" bIns="0" rtlCol="0" anchor="ctr"/>
          <a:lstStyle/>
          <a:p>
            <a:pPr indent="0" marL="0">
              <a:buNone/>
            </a:pPr>
            <a:r>
              <a:rPr lang="en-US" sz="1400" b="1" dirty="0">
                <a:solidFill>
                  <a:srgbClr val="22D3EE"/>
                </a:solidFill>
                <a:latin typeface="Cambria" pitchFamily="34" charset="0"/>
                <a:ea typeface="Cambria" pitchFamily="34" charset="-122"/>
                <a:cs typeface="Cambria" pitchFamily="34" charset="-120"/>
              </a:rPr>
              <a:t>O3</a:t>
            </a:r>
            <a:endParaRPr lang="en-US" sz="1400" dirty="0"/>
          </a:p>
        </p:txBody>
      </p:sp>
      <p:sp>
        <p:nvSpPr>
          <p:cNvPr id="18" name="Text 16"/>
          <p:cNvSpPr/>
          <p:nvPr/>
        </p:nvSpPr>
        <p:spPr>
          <a:xfrm>
            <a:off x="1188720" y="4882896"/>
            <a:ext cx="4572000" cy="274320"/>
          </a:xfrm>
          <a:prstGeom prst="rect">
            <a:avLst/>
          </a:prstGeom>
          <a:noFill/>
          <a:ln/>
        </p:spPr>
        <p:txBody>
          <a:bodyPr wrap="square" lIns="0" tIns="0" rIns="0" bIns="0" rtlCol="0" anchor="ctr"/>
          <a:lstStyle/>
          <a:p>
            <a:pPr indent="0" marL="0">
              <a:buNone/>
            </a:pPr>
            <a:r>
              <a:rPr lang="en-US" sz="1250" b="1" dirty="0">
                <a:solidFill>
                  <a:srgbClr val="E8ECF5"/>
                </a:solidFill>
                <a:latin typeface="Calibri" pitchFamily="34" charset="0"/>
                <a:ea typeface="Calibri" pitchFamily="34" charset="-122"/>
                <a:cs typeface="Calibri" pitchFamily="34" charset="-120"/>
              </a:rPr>
              <a:t>Detect sustained behavioural drift on real text</a:t>
            </a:r>
            <a:endParaRPr lang="en-US" sz="1250" dirty="0"/>
          </a:p>
        </p:txBody>
      </p:sp>
      <p:sp>
        <p:nvSpPr>
          <p:cNvPr id="19" name="Text 17"/>
          <p:cNvSpPr/>
          <p:nvPr/>
        </p:nvSpPr>
        <p:spPr>
          <a:xfrm>
            <a:off x="5852160" y="4882896"/>
            <a:ext cx="5669280" cy="274320"/>
          </a:xfrm>
          <a:prstGeom prst="rect">
            <a:avLst/>
          </a:prstGeom>
          <a:noFill/>
          <a:ln/>
        </p:spPr>
        <p:txBody>
          <a:bodyPr wrap="square" lIns="0" tIns="0" rIns="0" bIns="0" rtlCol="0" anchor="ctr"/>
          <a:lstStyle/>
          <a:p>
            <a:pPr indent="0" marL="0">
              <a:buNone/>
            </a:pPr>
            <a:r>
              <a:rPr lang="en-US" sz="1200" dirty="0">
                <a:solidFill>
                  <a:srgbClr val="34D399"/>
                </a:solidFill>
                <a:latin typeface="Calibri" pitchFamily="34" charset="0"/>
                <a:ea typeface="Calibri" pitchFamily="34" charset="-122"/>
                <a:cs typeface="Calibri" pitchFamily="34" charset="-120"/>
              </a:rPr>
              <a:t>Achieved after rebuild - AUC 0.991, coverage 24.5%</a:t>
            </a:r>
            <a:endParaRPr lang="en-US" sz="1200" dirty="0"/>
          </a:p>
        </p:txBody>
      </p:sp>
      <p:sp>
        <p:nvSpPr>
          <p:cNvPr id="20" name="Text 18"/>
          <p:cNvSpPr/>
          <p:nvPr/>
        </p:nvSpPr>
        <p:spPr>
          <a:xfrm>
            <a:off x="640080" y="5303520"/>
            <a:ext cx="502920" cy="274320"/>
          </a:xfrm>
          <a:prstGeom prst="rect">
            <a:avLst/>
          </a:prstGeom>
          <a:noFill/>
          <a:ln/>
        </p:spPr>
        <p:txBody>
          <a:bodyPr wrap="square" lIns="0" tIns="0" rIns="0" bIns="0" rtlCol="0" anchor="ctr"/>
          <a:lstStyle/>
          <a:p>
            <a:pPr indent="0" marL="0">
              <a:buNone/>
            </a:pPr>
            <a:r>
              <a:rPr lang="en-US" sz="1400" b="1" dirty="0">
                <a:solidFill>
                  <a:srgbClr val="22D3EE"/>
                </a:solidFill>
                <a:latin typeface="Cambria" pitchFamily="34" charset="0"/>
                <a:ea typeface="Cambria" pitchFamily="34" charset="-122"/>
                <a:cs typeface="Cambria" pitchFamily="34" charset="-120"/>
              </a:rPr>
              <a:t>O4</a:t>
            </a:r>
            <a:endParaRPr lang="en-US" sz="1400" dirty="0"/>
          </a:p>
        </p:txBody>
      </p:sp>
      <p:sp>
        <p:nvSpPr>
          <p:cNvPr id="21" name="Text 19"/>
          <p:cNvSpPr/>
          <p:nvPr/>
        </p:nvSpPr>
        <p:spPr>
          <a:xfrm>
            <a:off x="1188720" y="5303520"/>
            <a:ext cx="4572000" cy="274320"/>
          </a:xfrm>
          <a:prstGeom prst="rect">
            <a:avLst/>
          </a:prstGeom>
          <a:noFill/>
          <a:ln/>
        </p:spPr>
        <p:txBody>
          <a:bodyPr wrap="square" lIns="0" tIns="0" rIns="0" bIns="0" rtlCol="0" anchor="ctr"/>
          <a:lstStyle/>
          <a:p>
            <a:pPr indent="0" marL="0">
              <a:buNone/>
            </a:pPr>
            <a:r>
              <a:rPr lang="en-US" sz="1250" b="1" dirty="0">
                <a:solidFill>
                  <a:srgbClr val="E8ECF5"/>
                </a:solidFill>
                <a:latin typeface="Calibri" pitchFamily="34" charset="0"/>
                <a:ea typeface="Calibri" pitchFamily="34" charset="-122"/>
                <a:cs typeface="Calibri" pitchFamily="34" charset="-120"/>
              </a:rPr>
              <a:t>Survive process failure without losing work</a:t>
            </a:r>
            <a:endParaRPr lang="en-US" sz="1250" dirty="0"/>
          </a:p>
        </p:txBody>
      </p:sp>
      <p:sp>
        <p:nvSpPr>
          <p:cNvPr id="22" name="Text 20"/>
          <p:cNvSpPr/>
          <p:nvPr/>
        </p:nvSpPr>
        <p:spPr>
          <a:xfrm>
            <a:off x="5852160" y="5303520"/>
            <a:ext cx="5669280" cy="274320"/>
          </a:xfrm>
          <a:prstGeom prst="rect">
            <a:avLst/>
          </a:prstGeom>
          <a:noFill/>
          <a:ln/>
        </p:spPr>
        <p:txBody>
          <a:bodyPr wrap="square" lIns="0" tIns="0" rIns="0" bIns="0" rtlCol="0" anchor="ctr"/>
          <a:lstStyle/>
          <a:p>
            <a:pPr indent="0" marL="0">
              <a:buNone/>
            </a:pPr>
            <a:r>
              <a:rPr lang="en-US" sz="1200" dirty="0">
                <a:solidFill>
                  <a:srgbClr val="34D399"/>
                </a:solidFill>
                <a:latin typeface="Calibri" pitchFamily="34" charset="0"/>
                <a:ea typeface="Calibri" pitchFamily="34" charset="-122"/>
                <a:cs typeface="Calibri" pitchFamily="34" charset="-120"/>
              </a:rPr>
              <a:t>Achieved - exactly-once across 8,000 spans</a:t>
            </a:r>
            <a:endParaRPr lang="en-US" sz="1200" dirty="0"/>
          </a:p>
        </p:txBody>
      </p:sp>
      <p:sp>
        <p:nvSpPr>
          <p:cNvPr id="23" name="Text 21"/>
          <p:cNvSpPr/>
          <p:nvPr/>
        </p:nvSpPr>
        <p:spPr>
          <a:xfrm>
            <a:off x="640080" y="5724144"/>
            <a:ext cx="502920" cy="274320"/>
          </a:xfrm>
          <a:prstGeom prst="rect">
            <a:avLst/>
          </a:prstGeom>
          <a:noFill/>
          <a:ln/>
        </p:spPr>
        <p:txBody>
          <a:bodyPr wrap="square" lIns="0" tIns="0" rIns="0" bIns="0" rtlCol="0" anchor="ctr"/>
          <a:lstStyle/>
          <a:p>
            <a:pPr indent="0" marL="0">
              <a:buNone/>
            </a:pPr>
            <a:r>
              <a:rPr lang="en-US" sz="1400" b="1" dirty="0">
                <a:solidFill>
                  <a:srgbClr val="22D3EE"/>
                </a:solidFill>
                <a:latin typeface="Cambria" pitchFamily="34" charset="0"/>
                <a:ea typeface="Cambria" pitchFamily="34" charset="-122"/>
                <a:cs typeface="Cambria" pitchFamily="34" charset="-120"/>
              </a:rPr>
              <a:t>O5</a:t>
            </a:r>
            <a:endParaRPr lang="en-US" sz="1400" dirty="0"/>
          </a:p>
        </p:txBody>
      </p:sp>
      <p:sp>
        <p:nvSpPr>
          <p:cNvPr id="24" name="Text 22"/>
          <p:cNvSpPr/>
          <p:nvPr/>
        </p:nvSpPr>
        <p:spPr>
          <a:xfrm>
            <a:off x="1188720" y="5724144"/>
            <a:ext cx="4572000" cy="274320"/>
          </a:xfrm>
          <a:prstGeom prst="rect">
            <a:avLst/>
          </a:prstGeom>
          <a:noFill/>
          <a:ln/>
        </p:spPr>
        <p:txBody>
          <a:bodyPr wrap="square" lIns="0" tIns="0" rIns="0" bIns="0" rtlCol="0" anchor="ctr"/>
          <a:lstStyle/>
          <a:p>
            <a:pPr indent="0" marL="0">
              <a:buNone/>
            </a:pPr>
            <a:r>
              <a:rPr lang="en-US" sz="1250" b="1" dirty="0">
                <a:solidFill>
                  <a:srgbClr val="E8ECF5"/>
                </a:solidFill>
                <a:latin typeface="Calibri" pitchFamily="34" charset="0"/>
                <a:ea typeface="Calibri" pitchFamily="34" charset="-122"/>
                <a:cs typeface="Calibri" pitchFamily="34" charset="-120"/>
              </a:rPr>
              <a:t>Validate every signal against external data</a:t>
            </a:r>
            <a:endParaRPr lang="en-US" sz="1250" dirty="0"/>
          </a:p>
        </p:txBody>
      </p:sp>
      <p:sp>
        <p:nvSpPr>
          <p:cNvPr id="25" name="Text 23"/>
          <p:cNvSpPr/>
          <p:nvPr/>
        </p:nvSpPr>
        <p:spPr>
          <a:xfrm>
            <a:off x="5852160" y="5724144"/>
            <a:ext cx="5669280" cy="274320"/>
          </a:xfrm>
          <a:prstGeom prst="rect">
            <a:avLst/>
          </a:prstGeom>
          <a:noFill/>
          <a:ln/>
        </p:spPr>
        <p:txBody>
          <a:bodyPr wrap="square" lIns="0" tIns="0" rIns="0" bIns="0" rtlCol="0" anchor="ctr"/>
          <a:lstStyle/>
          <a:p>
            <a:pPr indent="0" marL="0">
              <a:buNone/>
            </a:pPr>
            <a:r>
              <a:rPr lang="en-US" sz="1200" dirty="0">
                <a:solidFill>
                  <a:srgbClr val="FBBF24"/>
                </a:solidFill>
                <a:latin typeface="Calibri" pitchFamily="34" charset="0"/>
                <a:ea typeface="Calibri" pitchFamily="34" charset="-122"/>
                <a:cs typeface="Calibri" pitchFamily="34" charset="-120"/>
              </a:rPr>
              <a:t>Partly - 3 of 4 signals failed and are reported as such</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640080" y="365760"/>
            <a:ext cx="9144000" cy="237744"/>
          </a:xfrm>
          <a:prstGeom prst="rect">
            <a:avLst/>
          </a:prstGeom>
          <a:noFill/>
          <a:ln/>
        </p:spPr>
        <p:txBody>
          <a:bodyPr wrap="square" lIns="0" tIns="0" rIns="0" bIns="0" rtlCol="0" anchor="ctr"/>
          <a:lstStyle/>
          <a:p>
            <a:pPr indent="0" marL="0">
              <a:buNone/>
            </a:pPr>
            <a:r>
              <a:rPr lang="en-US" sz="1050" b="1" spc="200" kern="0" dirty="0">
                <a:solidFill>
                  <a:srgbClr val="22D3EE"/>
                </a:solidFill>
                <a:latin typeface="Calibri" pitchFamily="34" charset="0"/>
                <a:ea typeface="Calibri" pitchFamily="34" charset="-122"/>
                <a:cs typeface="Calibri" pitchFamily="34" charset="-120"/>
              </a:rPr>
              <a:t>METHODOLOGY</a:t>
            </a:r>
            <a:endParaRPr lang="en-US" sz="1050" dirty="0"/>
          </a:p>
        </p:txBody>
      </p:sp>
      <p:sp>
        <p:nvSpPr>
          <p:cNvPr id="3" name="Text 1"/>
          <p:cNvSpPr/>
          <p:nvPr/>
        </p:nvSpPr>
        <p:spPr>
          <a:xfrm>
            <a:off x="640080" y="621792"/>
            <a:ext cx="10881360" cy="640080"/>
          </a:xfrm>
          <a:prstGeom prst="rect">
            <a:avLst/>
          </a:prstGeom>
          <a:noFill/>
          <a:ln/>
        </p:spPr>
        <p:txBody>
          <a:bodyPr wrap="square" lIns="0" tIns="0" rIns="0" bIns="0" rtlCol="0" anchor="ctr"/>
          <a:lstStyle/>
          <a:p>
            <a:pPr indent="0" marL="0">
              <a:buNone/>
            </a:pPr>
            <a:r>
              <a:rPr lang="en-US" sz="3100" b="1" dirty="0">
                <a:solidFill>
                  <a:srgbClr val="141922"/>
                </a:solidFill>
                <a:latin typeface="Cambria" pitchFamily="34" charset="0"/>
                <a:ea typeface="Cambria" pitchFamily="34" charset="-122"/>
                <a:cs typeface="Cambria" pitchFamily="34" charset="-120"/>
              </a:rPr>
              <a:t>System architecture</a:t>
            </a:r>
            <a:endParaRPr lang="en-US" sz="3100" dirty="0"/>
          </a:p>
        </p:txBody>
      </p:sp>
      <p:sp>
        <p:nvSpPr>
          <p:cNvPr id="4" name="Shape 2"/>
          <p:cNvSpPr/>
          <p:nvPr/>
        </p:nvSpPr>
        <p:spPr>
          <a:xfrm>
            <a:off x="8321040" y="384048"/>
            <a:ext cx="3200400" cy="256032"/>
          </a:xfrm>
          <a:prstGeom prst="roundRect">
            <a:avLst>
              <a:gd name="adj" fmla="val 42857"/>
            </a:avLst>
          </a:prstGeom>
          <a:solidFill>
            <a:srgbClr val="22D3EE">
              <a:alpha val="12000"/>
            </a:srgbClr>
          </a:solidFill>
          <a:ln w="7620">
            <a:solidFill>
              <a:srgbClr val="22D3EE"/>
            </a:solidFill>
            <a:prstDash val="solid"/>
          </a:ln>
        </p:spPr>
      </p:sp>
      <p:sp>
        <p:nvSpPr>
          <p:cNvPr id="5" name="Text 3"/>
          <p:cNvSpPr/>
          <p:nvPr/>
        </p:nvSpPr>
        <p:spPr>
          <a:xfrm>
            <a:off x="8321040" y="384048"/>
            <a:ext cx="3200400" cy="256032"/>
          </a:xfrm>
          <a:prstGeom prst="rect">
            <a:avLst/>
          </a:prstGeom>
          <a:noFill/>
          <a:ln/>
        </p:spPr>
        <p:txBody>
          <a:bodyPr wrap="square" lIns="0" tIns="0" rIns="0" bIns="0" rtlCol="0" anchor="ctr"/>
          <a:lstStyle/>
          <a:p>
            <a:pPr algn="ctr" indent="0" marL="0">
              <a:buNone/>
            </a:pPr>
            <a:r>
              <a:rPr lang="en-US" sz="900" b="1" dirty="0">
                <a:solidFill>
                  <a:srgbClr val="22D3EE"/>
                </a:solidFill>
                <a:latin typeface="Calibri" pitchFamily="34" charset="0"/>
                <a:ea typeface="Calibri" pitchFamily="34" charset="-122"/>
                <a:cs typeface="Calibri" pitchFamily="34" charset="-120"/>
              </a:rPr>
              <a:t>End-to-end system</a:t>
            </a:r>
            <a:endParaRPr lang="en-US" sz="900" dirty="0"/>
          </a:p>
        </p:txBody>
      </p:sp>
      <p:sp>
        <p:nvSpPr>
          <p:cNvPr id="6" name="Shape 4"/>
          <p:cNvSpPr/>
          <p:nvPr/>
        </p:nvSpPr>
        <p:spPr>
          <a:xfrm>
            <a:off x="640080" y="1508760"/>
            <a:ext cx="1965960" cy="1600200"/>
          </a:xfrm>
          <a:prstGeom prst="roundRect">
            <a:avLst>
              <a:gd name="adj" fmla="val 4000"/>
            </a:avLst>
          </a:prstGeom>
          <a:solidFill>
            <a:srgbClr val="FFFFFF"/>
          </a:solidFill>
          <a:ln w="12700">
            <a:solidFill>
              <a:srgbClr val="FFFFFF"/>
            </a:solidFill>
            <a:prstDash val="solid"/>
          </a:ln>
        </p:spPr>
      </p:sp>
      <p:sp>
        <p:nvSpPr>
          <p:cNvPr id="7" name="Text 5"/>
          <p:cNvSpPr/>
          <p:nvPr/>
        </p:nvSpPr>
        <p:spPr>
          <a:xfrm>
            <a:off x="822960" y="1691640"/>
            <a:ext cx="1645920" cy="292608"/>
          </a:xfrm>
          <a:prstGeom prst="rect">
            <a:avLst/>
          </a:prstGeom>
          <a:noFill/>
          <a:ln/>
        </p:spPr>
        <p:txBody>
          <a:bodyPr wrap="square" lIns="0" tIns="0" rIns="0" bIns="0" rtlCol="0" anchor="ctr"/>
          <a:lstStyle/>
          <a:p>
            <a:pPr indent="0" marL="0">
              <a:buNone/>
            </a:pPr>
            <a:r>
              <a:rPr lang="en-US" sz="1350" b="1" dirty="0">
                <a:solidFill>
                  <a:srgbClr val="141922"/>
                </a:solidFill>
                <a:latin typeface="Calibri" pitchFamily="34" charset="0"/>
                <a:ea typeface="Calibri" pitchFamily="34" charset="-122"/>
                <a:cs typeface="Calibri" pitchFamily="34" charset="-120"/>
              </a:rPr>
              <a:t>SDK</a:t>
            </a:r>
            <a:endParaRPr lang="en-US" sz="1350" dirty="0"/>
          </a:p>
        </p:txBody>
      </p:sp>
      <p:sp>
        <p:nvSpPr>
          <p:cNvPr id="8" name="Text 6"/>
          <p:cNvSpPr/>
          <p:nvPr/>
        </p:nvSpPr>
        <p:spPr>
          <a:xfrm>
            <a:off x="822960" y="2029968"/>
            <a:ext cx="1691640" cy="914400"/>
          </a:xfrm>
          <a:prstGeom prst="rect">
            <a:avLst/>
          </a:prstGeom>
          <a:noFill/>
          <a:ln/>
        </p:spPr>
        <p:txBody>
          <a:bodyPr wrap="square" lIns="0" tIns="0" rIns="0" bIns="0" rtlCol="0" anchor="ctr"/>
          <a:lstStyle/>
          <a:p>
            <a:pPr indent="0" marL="0">
              <a:buNone/>
            </a:pPr>
            <a:r>
              <a:rPr lang="en-US" sz="1050" dirty="0">
                <a:solidFill>
                  <a:srgbClr val="5A6478"/>
                </a:solidFill>
                <a:latin typeface="Calibri" pitchFamily="34" charset="0"/>
                <a:ea typeface="Calibri" pitchFamily="34" charset="-122"/>
                <a:cs typeface="Calibri" pitchFamily="34" charset="-120"/>
              </a:rPr>
              <a:t>Decorator wraps agent steps.</a:t>
            </a:r>
            <a:endParaRPr lang="en-US" sz="1050" dirty="0"/>
          </a:p>
          <a:p>
            <a:pPr indent="0" marL="0">
              <a:buNone/>
            </a:pPr>
            <a:r>
              <a:rPr lang="en-US" sz="1050" dirty="0">
                <a:solidFill>
                  <a:srgbClr val="5A6478"/>
                </a:solidFill>
                <a:latin typeface="Calibri" pitchFamily="34" charset="0"/>
                <a:ea typeface="Calibri" pitchFamily="34" charset="-122"/>
                <a:cs typeface="Calibri" pitchFamily="34" charset="-120"/>
              </a:rPr>
              <a:t>Non-blocking buffer.</a:t>
            </a:r>
            <a:endParaRPr lang="en-US" sz="1050" dirty="0"/>
          </a:p>
        </p:txBody>
      </p:sp>
      <p:sp>
        <p:nvSpPr>
          <p:cNvPr id="9" name="Text 7"/>
          <p:cNvSpPr/>
          <p:nvPr/>
        </p:nvSpPr>
        <p:spPr>
          <a:xfrm>
            <a:off x="2615184" y="2103120"/>
            <a:ext cx="320040" cy="320040"/>
          </a:xfrm>
          <a:prstGeom prst="rect">
            <a:avLst/>
          </a:prstGeom>
          <a:noFill/>
          <a:ln/>
        </p:spPr>
        <p:txBody>
          <a:bodyPr wrap="square" lIns="0" tIns="0" rIns="0" bIns="0" rtlCol="0" anchor="ctr"/>
          <a:lstStyle/>
          <a:p>
            <a:pPr algn="ctr" indent="0" marL="0">
              <a:buNone/>
            </a:pPr>
            <a:r>
              <a:rPr lang="en-US" sz="1500" b="1" dirty="0">
                <a:solidFill>
                  <a:srgbClr val="B3BBC8"/>
                </a:solidFill>
                <a:latin typeface="Calibri" pitchFamily="34" charset="0"/>
                <a:ea typeface="Calibri" pitchFamily="34" charset="-122"/>
                <a:cs typeface="Calibri" pitchFamily="34" charset="-120"/>
              </a:rPr>
              <a:t>&gt;</a:t>
            </a:r>
            <a:endParaRPr lang="en-US" sz="1500" dirty="0"/>
          </a:p>
        </p:txBody>
      </p:sp>
      <p:sp>
        <p:nvSpPr>
          <p:cNvPr id="10" name="Shape 8"/>
          <p:cNvSpPr/>
          <p:nvPr/>
        </p:nvSpPr>
        <p:spPr>
          <a:xfrm>
            <a:off x="2926080" y="1508760"/>
            <a:ext cx="1965960" cy="1600200"/>
          </a:xfrm>
          <a:prstGeom prst="roundRect">
            <a:avLst>
              <a:gd name="adj" fmla="val 4000"/>
            </a:avLst>
          </a:prstGeom>
          <a:solidFill>
            <a:srgbClr val="FFFFFF"/>
          </a:solidFill>
          <a:ln w="12700">
            <a:solidFill>
              <a:srgbClr val="FFFFFF"/>
            </a:solidFill>
            <a:prstDash val="solid"/>
          </a:ln>
        </p:spPr>
      </p:sp>
      <p:sp>
        <p:nvSpPr>
          <p:cNvPr id="11" name="Text 9"/>
          <p:cNvSpPr/>
          <p:nvPr/>
        </p:nvSpPr>
        <p:spPr>
          <a:xfrm>
            <a:off x="3108960" y="1691640"/>
            <a:ext cx="1645920" cy="292608"/>
          </a:xfrm>
          <a:prstGeom prst="rect">
            <a:avLst/>
          </a:prstGeom>
          <a:noFill/>
          <a:ln/>
        </p:spPr>
        <p:txBody>
          <a:bodyPr wrap="square" lIns="0" tIns="0" rIns="0" bIns="0" rtlCol="0" anchor="ctr"/>
          <a:lstStyle/>
          <a:p>
            <a:pPr indent="0" marL="0">
              <a:buNone/>
            </a:pPr>
            <a:r>
              <a:rPr lang="en-US" sz="1350" b="1" dirty="0">
                <a:solidFill>
                  <a:srgbClr val="141922"/>
                </a:solidFill>
                <a:latin typeface="Calibri" pitchFamily="34" charset="0"/>
                <a:ea typeface="Calibri" pitchFamily="34" charset="-122"/>
                <a:cs typeface="Calibri" pitchFamily="34" charset="-120"/>
              </a:rPr>
              <a:t>Ingest API</a:t>
            </a:r>
            <a:endParaRPr lang="en-US" sz="1350" dirty="0"/>
          </a:p>
        </p:txBody>
      </p:sp>
      <p:sp>
        <p:nvSpPr>
          <p:cNvPr id="12" name="Text 10"/>
          <p:cNvSpPr/>
          <p:nvPr/>
        </p:nvSpPr>
        <p:spPr>
          <a:xfrm>
            <a:off x="3108960" y="2029968"/>
            <a:ext cx="1691640" cy="914400"/>
          </a:xfrm>
          <a:prstGeom prst="rect">
            <a:avLst/>
          </a:prstGeom>
          <a:noFill/>
          <a:ln/>
        </p:spPr>
        <p:txBody>
          <a:bodyPr wrap="square" lIns="0" tIns="0" rIns="0" bIns="0" rtlCol="0" anchor="ctr"/>
          <a:lstStyle/>
          <a:p>
            <a:pPr indent="0" marL="0">
              <a:buNone/>
            </a:pPr>
            <a:r>
              <a:rPr lang="en-US" sz="1050" dirty="0">
                <a:solidFill>
                  <a:srgbClr val="5A6478"/>
                </a:solidFill>
                <a:latin typeface="Calibri" pitchFamily="34" charset="0"/>
                <a:ea typeface="Calibri" pitchFamily="34" charset="-122"/>
                <a:cs typeface="Calibri" pitchFamily="34" charset="-120"/>
              </a:rPr>
              <a:t>FastAPI. Accepts spans.</a:t>
            </a:r>
            <a:endParaRPr lang="en-US" sz="1050" dirty="0"/>
          </a:p>
          <a:p>
            <a:pPr indent="0" marL="0">
              <a:buNone/>
            </a:pPr>
            <a:r>
              <a:rPr lang="en-US" sz="1050" dirty="0">
                <a:solidFill>
                  <a:srgbClr val="5A6478"/>
                </a:solidFill>
                <a:latin typeface="Calibri" pitchFamily="34" charset="0"/>
                <a:ea typeface="Calibri" pitchFamily="34" charset="-122"/>
                <a:cs typeface="Calibri" pitchFamily="34" charset="-120"/>
              </a:rPr>
              <a:t>Loads no models at all.</a:t>
            </a:r>
            <a:endParaRPr lang="en-US" sz="1050" dirty="0"/>
          </a:p>
        </p:txBody>
      </p:sp>
      <p:sp>
        <p:nvSpPr>
          <p:cNvPr id="13" name="Text 11"/>
          <p:cNvSpPr/>
          <p:nvPr/>
        </p:nvSpPr>
        <p:spPr>
          <a:xfrm>
            <a:off x="4901184" y="2103120"/>
            <a:ext cx="320040" cy="320040"/>
          </a:xfrm>
          <a:prstGeom prst="rect">
            <a:avLst/>
          </a:prstGeom>
          <a:noFill/>
          <a:ln/>
        </p:spPr>
        <p:txBody>
          <a:bodyPr wrap="square" lIns="0" tIns="0" rIns="0" bIns="0" rtlCol="0" anchor="ctr"/>
          <a:lstStyle/>
          <a:p>
            <a:pPr algn="ctr" indent="0" marL="0">
              <a:buNone/>
            </a:pPr>
            <a:r>
              <a:rPr lang="en-US" sz="1500" b="1" dirty="0">
                <a:solidFill>
                  <a:srgbClr val="B3BBC8"/>
                </a:solidFill>
                <a:latin typeface="Calibri" pitchFamily="34" charset="0"/>
                <a:ea typeface="Calibri" pitchFamily="34" charset="-122"/>
                <a:cs typeface="Calibri" pitchFamily="34" charset="-120"/>
              </a:rPr>
              <a:t>&gt;</a:t>
            </a:r>
            <a:endParaRPr lang="en-US" sz="1500" dirty="0"/>
          </a:p>
        </p:txBody>
      </p:sp>
      <p:sp>
        <p:nvSpPr>
          <p:cNvPr id="14" name="Shape 12"/>
          <p:cNvSpPr/>
          <p:nvPr/>
        </p:nvSpPr>
        <p:spPr>
          <a:xfrm>
            <a:off x="5212080" y="1508760"/>
            <a:ext cx="1965960" cy="1600200"/>
          </a:xfrm>
          <a:prstGeom prst="roundRect">
            <a:avLst>
              <a:gd name="adj" fmla="val 4000"/>
            </a:avLst>
          </a:prstGeom>
          <a:solidFill>
            <a:srgbClr val="FFFFFF"/>
          </a:solidFill>
          <a:ln w="12700">
            <a:solidFill>
              <a:srgbClr val="FFFFFF"/>
            </a:solidFill>
            <a:prstDash val="solid"/>
          </a:ln>
        </p:spPr>
      </p:sp>
      <p:sp>
        <p:nvSpPr>
          <p:cNvPr id="15" name="Text 13"/>
          <p:cNvSpPr/>
          <p:nvPr/>
        </p:nvSpPr>
        <p:spPr>
          <a:xfrm>
            <a:off x="5394960" y="1691640"/>
            <a:ext cx="1645920" cy="292608"/>
          </a:xfrm>
          <a:prstGeom prst="rect">
            <a:avLst/>
          </a:prstGeom>
          <a:noFill/>
          <a:ln/>
        </p:spPr>
        <p:txBody>
          <a:bodyPr wrap="square" lIns="0" tIns="0" rIns="0" bIns="0" rtlCol="0" anchor="ctr"/>
          <a:lstStyle/>
          <a:p>
            <a:pPr indent="0" marL="0">
              <a:buNone/>
            </a:pPr>
            <a:r>
              <a:rPr lang="en-US" sz="1350" b="1" dirty="0">
                <a:solidFill>
                  <a:srgbClr val="141922"/>
                </a:solidFill>
                <a:latin typeface="Calibri" pitchFamily="34" charset="0"/>
                <a:ea typeface="Calibri" pitchFamily="34" charset="-122"/>
                <a:cs typeface="Calibri" pitchFamily="34" charset="-120"/>
              </a:rPr>
              <a:t>Durable queue</a:t>
            </a:r>
            <a:endParaRPr lang="en-US" sz="1350" dirty="0"/>
          </a:p>
        </p:txBody>
      </p:sp>
      <p:sp>
        <p:nvSpPr>
          <p:cNvPr id="16" name="Text 14"/>
          <p:cNvSpPr/>
          <p:nvPr/>
        </p:nvSpPr>
        <p:spPr>
          <a:xfrm>
            <a:off x="5394960" y="2029968"/>
            <a:ext cx="1691640" cy="914400"/>
          </a:xfrm>
          <a:prstGeom prst="rect">
            <a:avLst/>
          </a:prstGeom>
          <a:noFill/>
          <a:ln/>
        </p:spPr>
        <p:txBody>
          <a:bodyPr wrap="square" lIns="0" tIns="0" rIns="0" bIns="0" rtlCol="0" anchor="ctr"/>
          <a:lstStyle/>
          <a:p>
            <a:pPr indent="0" marL="0">
              <a:buNone/>
            </a:pPr>
            <a:r>
              <a:rPr lang="en-US" sz="1050" dirty="0">
                <a:solidFill>
                  <a:srgbClr val="5A6478"/>
                </a:solidFill>
                <a:latin typeface="Calibri" pitchFamily="34" charset="0"/>
                <a:ea typeface="Calibri" pitchFamily="34" charset="-122"/>
                <a:cs typeface="Calibri" pitchFamily="34" charset="-120"/>
              </a:rPr>
              <a:t>SQLite WAL.</a:t>
            </a:r>
            <a:endParaRPr lang="en-US" sz="1050" dirty="0"/>
          </a:p>
          <a:p>
            <a:pPr indent="0" marL="0">
              <a:buNone/>
            </a:pPr>
            <a:r>
              <a:rPr lang="en-US" sz="1050" dirty="0">
                <a:solidFill>
                  <a:srgbClr val="5A6478"/>
                </a:solidFill>
                <a:latin typeface="Calibri" pitchFamily="34" charset="0"/>
                <a:ea typeface="Calibri" pitchFamily="34" charset="-122"/>
                <a:cs typeface="Calibri" pitchFamily="34" charset="-120"/>
              </a:rPr>
              <a:t>Leased jobs, at-least-once.</a:t>
            </a:r>
            <a:endParaRPr lang="en-US" sz="1050" dirty="0"/>
          </a:p>
        </p:txBody>
      </p:sp>
      <p:sp>
        <p:nvSpPr>
          <p:cNvPr id="17" name="Text 15"/>
          <p:cNvSpPr/>
          <p:nvPr/>
        </p:nvSpPr>
        <p:spPr>
          <a:xfrm>
            <a:off x="7187184" y="2103120"/>
            <a:ext cx="320040" cy="320040"/>
          </a:xfrm>
          <a:prstGeom prst="rect">
            <a:avLst/>
          </a:prstGeom>
          <a:noFill/>
          <a:ln/>
        </p:spPr>
        <p:txBody>
          <a:bodyPr wrap="square" lIns="0" tIns="0" rIns="0" bIns="0" rtlCol="0" anchor="ctr"/>
          <a:lstStyle/>
          <a:p>
            <a:pPr algn="ctr" indent="0" marL="0">
              <a:buNone/>
            </a:pPr>
            <a:r>
              <a:rPr lang="en-US" sz="1500" b="1" dirty="0">
                <a:solidFill>
                  <a:srgbClr val="B3BBC8"/>
                </a:solidFill>
                <a:latin typeface="Calibri" pitchFamily="34" charset="0"/>
                <a:ea typeface="Calibri" pitchFamily="34" charset="-122"/>
                <a:cs typeface="Calibri" pitchFamily="34" charset="-120"/>
              </a:rPr>
              <a:t>&gt;</a:t>
            </a:r>
            <a:endParaRPr lang="en-US" sz="1500" dirty="0"/>
          </a:p>
        </p:txBody>
      </p:sp>
      <p:sp>
        <p:nvSpPr>
          <p:cNvPr id="18" name="Shape 16"/>
          <p:cNvSpPr/>
          <p:nvPr/>
        </p:nvSpPr>
        <p:spPr>
          <a:xfrm>
            <a:off x="7498080" y="1508760"/>
            <a:ext cx="1965960" cy="1600200"/>
          </a:xfrm>
          <a:prstGeom prst="roundRect">
            <a:avLst>
              <a:gd name="adj" fmla="val 4000"/>
            </a:avLst>
          </a:prstGeom>
          <a:solidFill>
            <a:srgbClr val="FFFFFF"/>
          </a:solidFill>
          <a:ln w="12700">
            <a:solidFill>
              <a:srgbClr val="FFFFFF"/>
            </a:solidFill>
            <a:prstDash val="solid"/>
          </a:ln>
        </p:spPr>
      </p:sp>
      <p:sp>
        <p:nvSpPr>
          <p:cNvPr id="19" name="Text 17"/>
          <p:cNvSpPr/>
          <p:nvPr/>
        </p:nvSpPr>
        <p:spPr>
          <a:xfrm>
            <a:off x="7680960" y="1691640"/>
            <a:ext cx="1645920" cy="292608"/>
          </a:xfrm>
          <a:prstGeom prst="rect">
            <a:avLst/>
          </a:prstGeom>
          <a:noFill/>
          <a:ln/>
        </p:spPr>
        <p:txBody>
          <a:bodyPr wrap="square" lIns="0" tIns="0" rIns="0" bIns="0" rtlCol="0" anchor="ctr"/>
          <a:lstStyle/>
          <a:p>
            <a:pPr indent="0" marL="0">
              <a:buNone/>
            </a:pPr>
            <a:r>
              <a:rPr lang="en-US" sz="1350" b="1" dirty="0">
                <a:solidFill>
                  <a:srgbClr val="141922"/>
                </a:solidFill>
                <a:latin typeface="Calibri" pitchFamily="34" charset="0"/>
                <a:ea typeface="Calibri" pitchFamily="34" charset="-122"/>
                <a:cs typeface="Calibri" pitchFamily="34" charset="-120"/>
              </a:rPr>
              <a:t>Worker fleet</a:t>
            </a:r>
            <a:endParaRPr lang="en-US" sz="1350" dirty="0"/>
          </a:p>
        </p:txBody>
      </p:sp>
      <p:sp>
        <p:nvSpPr>
          <p:cNvPr id="20" name="Text 18"/>
          <p:cNvSpPr/>
          <p:nvPr/>
        </p:nvSpPr>
        <p:spPr>
          <a:xfrm>
            <a:off x="7680960" y="2029968"/>
            <a:ext cx="1691640" cy="914400"/>
          </a:xfrm>
          <a:prstGeom prst="rect">
            <a:avLst/>
          </a:prstGeom>
          <a:noFill/>
          <a:ln/>
        </p:spPr>
        <p:txBody>
          <a:bodyPr wrap="square" lIns="0" tIns="0" rIns="0" bIns="0" rtlCol="0" anchor="ctr"/>
          <a:lstStyle/>
          <a:p>
            <a:pPr indent="0" marL="0">
              <a:buNone/>
            </a:pPr>
            <a:r>
              <a:rPr lang="en-US" sz="1050" dirty="0">
                <a:solidFill>
                  <a:srgbClr val="5A6478"/>
                </a:solidFill>
                <a:latin typeface="Calibri" pitchFamily="34" charset="0"/>
                <a:ea typeface="Calibri" pitchFamily="34" charset="-122"/>
                <a:cs typeface="Calibri" pitchFamily="34" charset="-120"/>
              </a:rPr>
              <a:t>Runs the evaluator cascade</a:t>
            </a:r>
            <a:endParaRPr lang="en-US" sz="1050" dirty="0"/>
          </a:p>
          <a:p>
            <a:pPr indent="0" marL="0">
              <a:buNone/>
            </a:pPr>
            <a:r>
              <a:rPr lang="en-US" sz="1050" dirty="0">
                <a:solidFill>
                  <a:srgbClr val="5A6478"/>
                </a:solidFill>
                <a:latin typeface="Calibri" pitchFamily="34" charset="0"/>
                <a:ea typeface="Calibri" pitchFamily="34" charset="-122"/>
                <a:cs typeface="Calibri" pitchFamily="34" charset="-120"/>
              </a:rPr>
              <a:t>off the request path.</a:t>
            </a:r>
            <a:endParaRPr lang="en-US" sz="1050" dirty="0"/>
          </a:p>
        </p:txBody>
      </p:sp>
      <p:sp>
        <p:nvSpPr>
          <p:cNvPr id="21" name="Text 19"/>
          <p:cNvSpPr/>
          <p:nvPr/>
        </p:nvSpPr>
        <p:spPr>
          <a:xfrm>
            <a:off x="9473184" y="2103120"/>
            <a:ext cx="320040" cy="320040"/>
          </a:xfrm>
          <a:prstGeom prst="rect">
            <a:avLst/>
          </a:prstGeom>
          <a:noFill/>
          <a:ln/>
        </p:spPr>
        <p:txBody>
          <a:bodyPr wrap="square" lIns="0" tIns="0" rIns="0" bIns="0" rtlCol="0" anchor="ctr"/>
          <a:lstStyle/>
          <a:p>
            <a:pPr algn="ctr" indent="0" marL="0">
              <a:buNone/>
            </a:pPr>
            <a:r>
              <a:rPr lang="en-US" sz="1500" b="1" dirty="0">
                <a:solidFill>
                  <a:srgbClr val="B3BBC8"/>
                </a:solidFill>
                <a:latin typeface="Calibri" pitchFamily="34" charset="0"/>
                <a:ea typeface="Calibri" pitchFamily="34" charset="-122"/>
                <a:cs typeface="Calibri" pitchFamily="34" charset="-120"/>
              </a:rPr>
              <a:t>&gt;</a:t>
            </a:r>
            <a:endParaRPr lang="en-US" sz="1500" dirty="0"/>
          </a:p>
        </p:txBody>
      </p:sp>
      <p:sp>
        <p:nvSpPr>
          <p:cNvPr id="22" name="Shape 20"/>
          <p:cNvSpPr/>
          <p:nvPr/>
        </p:nvSpPr>
        <p:spPr>
          <a:xfrm>
            <a:off x="9784080" y="1508760"/>
            <a:ext cx="1965960" cy="1600200"/>
          </a:xfrm>
          <a:prstGeom prst="roundRect">
            <a:avLst>
              <a:gd name="adj" fmla="val 4000"/>
            </a:avLst>
          </a:prstGeom>
          <a:solidFill>
            <a:srgbClr val="FFFFFF"/>
          </a:solidFill>
          <a:ln w="12700">
            <a:solidFill>
              <a:srgbClr val="FFFFFF"/>
            </a:solidFill>
            <a:prstDash val="solid"/>
          </a:ln>
        </p:spPr>
      </p:sp>
      <p:sp>
        <p:nvSpPr>
          <p:cNvPr id="23" name="Text 21"/>
          <p:cNvSpPr/>
          <p:nvPr/>
        </p:nvSpPr>
        <p:spPr>
          <a:xfrm>
            <a:off x="9966960" y="1691640"/>
            <a:ext cx="1645920" cy="292608"/>
          </a:xfrm>
          <a:prstGeom prst="rect">
            <a:avLst/>
          </a:prstGeom>
          <a:noFill/>
          <a:ln/>
        </p:spPr>
        <p:txBody>
          <a:bodyPr wrap="square" lIns="0" tIns="0" rIns="0" bIns="0" rtlCol="0" anchor="ctr"/>
          <a:lstStyle/>
          <a:p>
            <a:pPr indent="0" marL="0">
              <a:buNone/>
            </a:pPr>
            <a:r>
              <a:rPr lang="en-US" sz="1350" b="1" dirty="0">
                <a:solidFill>
                  <a:srgbClr val="141922"/>
                </a:solidFill>
                <a:latin typeface="Calibri" pitchFamily="34" charset="0"/>
                <a:ea typeface="Calibri" pitchFamily="34" charset="-122"/>
                <a:cs typeface="Calibri" pitchFamily="34" charset="-120"/>
              </a:rPr>
              <a:t>Alerts + console</a:t>
            </a:r>
            <a:endParaRPr lang="en-US" sz="1350" dirty="0"/>
          </a:p>
        </p:txBody>
      </p:sp>
      <p:sp>
        <p:nvSpPr>
          <p:cNvPr id="24" name="Text 22"/>
          <p:cNvSpPr/>
          <p:nvPr/>
        </p:nvSpPr>
        <p:spPr>
          <a:xfrm>
            <a:off x="9966960" y="2029968"/>
            <a:ext cx="1691640" cy="914400"/>
          </a:xfrm>
          <a:prstGeom prst="rect">
            <a:avLst/>
          </a:prstGeom>
          <a:noFill/>
          <a:ln/>
        </p:spPr>
        <p:txBody>
          <a:bodyPr wrap="square" lIns="0" tIns="0" rIns="0" bIns="0" rtlCol="0" anchor="ctr"/>
          <a:lstStyle/>
          <a:p>
            <a:pPr indent="0" marL="0">
              <a:buNone/>
            </a:pPr>
            <a:r>
              <a:rPr lang="en-US" sz="1050" dirty="0">
                <a:solidFill>
                  <a:srgbClr val="5A6478"/>
                </a:solidFill>
                <a:latin typeface="Calibri" pitchFamily="34" charset="0"/>
                <a:ea typeface="Calibri" pitchFamily="34" charset="-122"/>
                <a:cs typeface="Calibri" pitchFamily="34" charset="-120"/>
              </a:rPr>
              <a:t>Rule engine, drift records,</a:t>
            </a:r>
            <a:endParaRPr lang="en-US" sz="1050" dirty="0"/>
          </a:p>
          <a:p>
            <a:pPr indent="0" marL="0">
              <a:buNone/>
            </a:pPr>
            <a:r>
              <a:rPr lang="en-US" sz="1050" dirty="0">
                <a:solidFill>
                  <a:srgbClr val="5A6478"/>
                </a:solidFill>
                <a:latin typeface="Calibri" pitchFamily="34" charset="0"/>
                <a:ea typeface="Calibri" pitchFamily="34" charset="-122"/>
                <a:cs typeface="Calibri" pitchFamily="34" charset="-120"/>
              </a:rPr>
              <a:t>operator dashboard.</a:t>
            </a:r>
            <a:endParaRPr lang="en-US" sz="1050" dirty="0"/>
          </a:p>
        </p:txBody>
      </p:sp>
      <p:sp>
        <p:nvSpPr>
          <p:cNvPr id="25" name="Shape 23"/>
          <p:cNvSpPr/>
          <p:nvPr/>
        </p:nvSpPr>
        <p:spPr>
          <a:xfrm>
            <a:off x="640080" y="3337560"/>
            <a:ext cx="5349240" cy="2651760"/>
          </a:xfrm>
          <a:prstGeom prst="roundRect">
            <a:avLst>
              <a:gd name="adj" fmla="val 2414"/>
            </a:avLst>
          </a:prstGeom>
          <a:solidFill>
            <a:srgbClr val="FFFFFF"/>
          </a:solidFill>
          <a:ln w="12700">
            <a:solidFill>
              <a:srgbClr val="FFFFFF"/>
            </a:solidFill>
            <a:prstDash val="solid"/>
          </a:ln>
        </p:spPr>
      </p:sp>
      <p:sp>
        <p:nvSpPr>
          <p:cNvPr id="26" name="Text 24"/>
          <p:cNvSpPr/>
          <p:nvPr/>
        </p:nvSpPr>
        <p:spPr>
          <a:xfrm>
            <a:off x="960120" y="3520440"/>
            <a:ext cx="4754880" cy="292608"/>
          </a:xfrm>
          <a:prstGeom prst="rect">
            <a:avLst/>
          </a:prstGeom>
          <a:noFill/>
          <a:ln/>
        </p:spPr>
        <p:txBody>
          <a:bodyPr wrap="square" lIns="0" tIns="0" rIns="0" bIns="0" rtlCol="0" anchor="ctr"/>
          <a:lstStyle/>
          <a:p>
            <a:pPr indent="0" marL="0">
              <a:buNone/>
            </a:pPr>
            <a:r>
              <a:rPr lang="en-US" sz="1400" b="1" dirty="0">
                <a:solidFill>
                  <a:srgbClr val="141922"/>
                </a:solidFill>
                <a:latin typeface="Calibri" pitchFamily="34" charset="0"/>
                <a:ea typeface="Calibri" pitchFamily="34" charset="-122"/>
                <a:cs typeface="Calibri" pitchFamily="34" charset="-120"/>
              </a:rPr>
              <a:t>The evaluator cascade</a:t>
            </a:r>
            <a:endParaRPr lang="en-US" sz="1400" dirty="0"/>
          </a:p>
        </p:txBody>
      </p:sp>
      <p:sp>
        <p:nvSpPr>
          <p:cNvPr id="27" name="Text 25"/>
          <p:cNvSpPr/>
          <p:nvPr/>
        </p:nvSpPr>
        <p:spPr>
          <a:xfrm>
            <a:off x="960120" y="3886200"/>
            <a:ext cx="4754880" cy="1920240"/>
          </a:xfrm>
          <a:prstGeom prst="rect">
            <a:avLst/>
          </a:prstGeom>
          <a:noFill/>
          <a:ln/>
        </p:spPr>
        <p:txBody>
          <a:bodyPr wrap="square" lIns="0" tIns="0" rIns="0" bIns="0" rtlCol="0" anchor="ctr"/>
          <a:lstStyle/>
          <a:p>
            <a:pPr marL="342900" indent="-342900">
              <a:spcAft>
                <a:spcPts val="600"/>
              </a:spcAft>
              <a:buSzPct val="100000"/>
              <a:buChar char="•"/>
            </a:pPr>
            <a:r>
              <a:rPr lang="en-US" sz="1150" dirty="0">
                <a:solidFill>
                  <a:srgbClr val="5A6478"/>
                </a:solidFill>
                <a:latin typeface="Calibri" pitchFamily="34" charset="0"/>
                <a:ea typeface="Calibri" pitchFamily="34" charset="-122"/>
                <a:cs typeface="Calibri" pitchFamily="34" charset="-120"/>
              </a:rPr>
              <a:t>Stage 1 - MiniLM-L6-v2 cosine gate, 19.1 ms.</a:t>
            </a:r>
            <a:endParaRPr lang="en-US" sz="1150" dirty="0"/>
          </a:p>
          <a:p>
            <a:pPr marL="342900" indent="-342900">
              <a:spcAft>
                <a:spcPts val="600"/>
              </a:spcAft>
              <a:buSzPct val="100000"/>
              <a:buChar char="•"/>
            </a:pPr>
            <a:r>
              <a:rPr lang="en-US" sz="1150" dirty="0">
                <a:solidFill>
                  <a:srgbClr val="5A6478"/>
                </a:solidFill>
                <a:latin typeface="Calibri" pitchFamily="34" charset="0"/>
                <a:ea typeface="Calibri" pitchFamily="34" charset="-122"/>
                <a:cs typeface="Calibri" pitchFamily="34" charset="-120"/>
              </a:rPr>
              <a:t>Stage 2 - DeBERTa-v3 cross-encoder NLI, run only when the gate is uncertain.</a:t>
            </a:r>
            <a:endParaRPr lang="en-US" sz="1150" dirty="0"/>
          </a:p>
          <a:p>
            <a:pPr marL="342900" indent="-342900">
              <a:spcAft>
                <a:spcPts val="600"/>
              </a:spcAft>
              <a:buSzPct val="100000"/>
              <a:buChar char="•"/>
            </a:pPr>
            <a:r>
              <a:rPr lang="en-US" sz="1150" dirty="0">
                <a:solidFill>
                  <a:srgbClr val="5A6478"/>
                </a:solidFill>
                <a:latin typeface="Calibri" pitchFamily="34" charset="0"/>
                <a:ea typeface="Calibri" pitchFamily="34" charset="-122"/>
                <a:cs typeface="Calibri" pitchFamily="34" charset="-120"/>
              </a:rPr>
              <a:t>Deterministic tool-claim regex and per-agent drift run alongside.</a:t>
            </a:r>
            <a:endParaRPr lang="en-US" sz="1150" dirty="0"/>
          </a:p>
          <a:p>
            <a:pPr marL="342900" indent="-342900">
              <a:spcAft>
                <a:spcPts val="600"/>
              </a:spcAft>
              <a:buSzPct val="100000"/>
              <a:buChar char="•"/>
            </a:pPr>
            <a:r>
              <a:rPr lang="en-US" sz="1150" dirty="0">
                <a:solidFill>
                  <a:srgbClr val="5A6478"/>
                </a:solidFill>
                <a:latin typeface="Calibri" pitchFamily="34" charset="0"/>
                <a:ea typeface="Calibri" pitchFamily="34" charset="-122"/>
                <a:cs typeface="Calibri" pitchFamily="34" charset="-120"/>
              </a:rPr>
              <a:t>End-to-end cascade: 151.19 ms mean per case (ablation, PyTorch path, 2026-09-18).</a:t>
            </a:r>
            <a:endParaRPr lang="en-US" sz="1150" dirty="0"/>
          </a:p>
        </p:txBody>
      </p:sp>
      <p:sp>
        <p:nvSpPr>
          <p:cNvPr id="28" name="Shape 26"/>
          <p:cNvSpPr/>
          <p:nvPr/>
        </p:nvSpPr>
        <p:spPr>
          <a:xfrm>
            <a:off x="6309360" y="3337560"/>
            <a:ext cx="5212080" cy="2651760"/>
          </a:xfrm>
          <a:prstGeom prst="roundRect">
            <a:avLst>
              <a:gd name="adj" fmla="val 2414"/>
            </a:avLst>
          </a:prstGeom>
          <a:solidFill>
            <a:srgbClr val="FFFFFF"/>
          </a:solidFill>
          <a:ln w="12700">
            <a:solidFill>
              <a:srgbClr val="FFFFFF"/>
            </a:solidFill>
            <a:prstDash val="solid"/>
          </a:ln>
        </p:spPr>
      </p:sp>
      <p:sp>
        <p:nvSpPr>
          <p:cNvPr id="29" name="Text 27"/>
          <p:cNvSpPr/>
          <p:nvPr/>
        </p:nvSpPr>
        <p:spPr>
          <a:xfrm>
            <a:off x="6629400" y="3520440"/>
            <a:ext cx="4617720" cy="292608"/>
          </a:xfrm>
          <a:prstGeom prst="rect">
            <a:avLst/>
          </a:prstGeom>
          <a:noFill/>
          <a:ln/>
        </p:spPr>
        <p:txBody>
          <a:bodyPr wrap="square" lIns="0" tIns="0" rIns="0" bIns="0" rtlCol="0" anchor="ctr"/>
          <a:lstStyle/>
          <a:p>
            <a:pPr indent="0" marL="0">
              <a:buNone/>
            </a:pPr>
            <a:r>
              <a:rPr lang="en-US" sz="1400" b="1" dirty="0">
                <a:solidFill>
                  <a:srgbClr val="141922"/>
                </a:solidFill>
                <a:latin typeface="Calibri" pitchFamily="34" charset="0"/>
                <a:ea typeface="Calibri" pitchFamily="34" charset="-122"/>
                <a:cs typeface="Calibri" pitchFamily="34" charset="-120"/>
              </a:rPr>
              <a:t>Design justification</a:t>
            </a:r>
            <a:endParaRPr lang="en-US" sz="1400" dirty="0"/>
          </a:p>
        </p:txBody>
      </p:sp>
      <p:sp>
        <p:nvSpPr>
          <p:cNvPr id="30" name="Text 28"/>
          <p:cNvSpPr/>
          <p:nvPr/>
        </p:nvSpPr>
        <p:spPr>
          <a:xfrm>
            <a:off x="6629400" y="3886200"/>
            <a:ext cx="4617720" cy="1920240"/>
          </a:xfrm>
          <a:prstGeom prst="rect">
            <a:avLst/>
          </a:prstGeom>
          <a:noFill/>
          <a:ln/>
        </p:spPr>
        <p:txBody>
          <a:bodyPr wrap="square" lIns="0" tIns="0" rIns="0" bIns="0" rtlCol="0" anchor="ctr"/>
          <a:lstStyle/>
          <a:p>
            <a:pPr marL="342900" indent="-342900">
              <a:spcAft>
                <a:spcPts val="600"/>
              </a:spcAft>
              <a:buSzPct val="100000"/>
              <a:buChar char="•"/>
            </a:pPr>
            <a:r>
              <a:rPr lang="en-US" sz="1150" dirty="0">
                <a:solidFill>
                  <a:srgbClr val="5A6478"/>
                </a:solidFill>
                <a:latin typeface="Calibri" pitchFamily="34" charset="0"/>
                <a:ea typeface="Calibri" pitchFamily="34" charset="-122"/>
                <a:cs typeface="Calibri" pitchFamily="34" charset="-120"/>
              </a:rPr>
              <a:t>Why both models: the ablation shows MiniLM alone loses F1 (0.786 against 0.963), and adding it to DeBERTa costs about 19 ms per case and gains no F1.</a:t>
            </a:r>
            <a:endParaRPr lang="en-US" sz="1150" dirty="0"/>
          </a:p>
          <a:p>
            <a:pPr marL="342900" indent="-342900">
              <a:spcAft>
                <a:spcPts val="600"/>
              </a:spcAft>
              <a:buSzPct val="100000"/>
              <a:buChar char="•"/>
            </a:pPr>
            <a:r>
              <a:rPr lang="en-US" sz="1150" dirty="0">
                <a:solidFill>
                  <a:srgbClr val="5A6478"/>
                </a:solidFill>
                <a:latin typeface="Calibri" pitchFamily="34" charset="0"/>
                <a:ea typeface="Calibri" pitchFamily="34" charset="-122"/>
                <a:cs typeface="Calibri" pitchFamily="34" charset="-120"/>
              </a:rPr>
              <a:t>Why CPU and not GPU: removes the cost argument for sampling, and keeps deployment self-hosted with no data egress.</a:t>
            </a:r>
            <a:endParaRPr lang="en-US" sz="1150" dirty="0"/>
          </a:p>
          <a:p>
            <a:pPr marL="342900" indent="-342900">
              <a:spcAft>
                <a:spcPts val="600"/>
              </a:spcAft>
              <a:buSzPct val="100000"/>
              <a:buChar char="•"/>
            </a:pPr>
            <a:r>
              <a:rPr lang="en-US" sz="1150" dirty="0">
                <a:solidFill>
                  <a:srgbClr val="5A6478"/>
                </a:solidFill>
                <a:latin typeface="Calibri" pitchFamily="34" charset="0"/>
                <a:ea typeface="Calibri" pitchFamily="34" charset="-122"/>
                <a:cs typeface="Calibri" pitchFamily="34" charset="-120"/>
              </a:rPr>
              <a:t>Why a queue and not inline evaluation: inline evaluation forces sampling at scale, which defeats the objective.</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117"/>
        </a:solidFill>
      </p:bgPr>
    </p:bg>
    <p:spTree>
      <p:nvGrpSpPr>
        <p:cNvPr id="1" name=""/>
        <p:cNvGrpSpPr/>
        <p:nvPr/>
      </p:nvGrpSpPr>
      <p:grpSpPr>
        <a:xfrm>
          <a:off x="0" y="0"/>
          <a:ext cx="0" cy="0"/>
          <a:chOff x="0" y="0"/>
          <a:chExt cx="0" cy="0"/>
        </a:xfrm>
      </p:grpSpPr>
      <p:sp>
        <p:nvSpPr>
          <p:cNvPr id="2" name="Text 0"/>
          <p:cNvSpPr/>
          <p:nvPr/>
        </p:nvSpPr>
        <p:spPr>
          <a:xfrm>
            <a:off x="640080" y="365760"/>
            <a:ext cx="9144000" cy="237744"/>
          </a:xfrm>
          <a:prstGeom prst="rect">
            <a:avLst/>
          </a:prstGeom>
          <a:noFill/>
          <a:ln/>
        </p:spPr>
        <p:txBody>
          <a:bodyPr wrap="square" lIns="0" tIns="0" rIns="0" bIns="0" rtlCol="0" anchor="ctr"/>
          <a:lstStyle/>
          <a:p>
            <a:pPr indent="0" marL="0">
              <a:buNone/>
            </a:pPr>
            <a:r>
              <a:rPr lang="en-US" sz="1050" b="1" spc="200" kern="0" dirty="0">
                <a:solidFill>
                  <a:srgbClr val="22D3EE"/>
                </a:solidFill>
                <a:latin typeface="Calibri" pitchFamily="34" charset="0"/>
                <a:ea typeface="Calibri" pitchFamily="34" charset="-122"/>
                <a:cs typeface="Calibri" pitchFamily="34" charset="-120"/>
              </a:rPr>
              <a:t>EVALUATION METHODOLOGY</a:t>
            </a:r>
            <a:endParaRPr lang="en-US" sz="1050" dirty="0"/>
          </a:p>
        </p:txBody>
      </p:sp>
      <p:sp>
        <p:nvSpPr>
          <p:cNvPr id="3" name="Text 1"/>
          <p:cNvSpPr/>
          <p:nvPr/>
        </p:nvSpPr>
        <p:spPr>
          <a:xfrm>
            <a:off x="640080" y="621792"/>
            <a:ext cx="10881360" cy="640080"/>
          </a:xfrm>
          <a:prstGeom prst="rect">
            <a:avLst/>
          </a:prstGeom>
          <a:noFill/>
          <a:ln/>
        </p:spPr>
        <p:txBody>
          <a:bodyPr wrap="square" lIns="0" tIns="0" rIns="0" bIns="0" rtlCol="0" anchor="ctr"/>
          <a:lstStyle/>
          <a:p>
            <a:pPr indent="0" marL="0">
              <a:buNone/>
            </a:pPr>
            <a:r>
              <a:rPr lang="en-US" sz="3100" b="1" dirty="0">
                <a:solidFill>
                  <a:srgbClr val="E8ECF5"/>
                </a:solidFill>
                <a:latin typeface="Cambria" pitchFamily="34" charset="0"/>
                <a:ea typeface="Cambria" pitchFamily="34" charset="-122"/>
                <a:cs typeface="Cambria" pitchFamily="34" charset="-120"/>
              </a:rPr>
              <a:t>Datasets, splits and metrics fixed before measuring</a:t>
            </a:r>
            <a:endParaRPr lang="en-US" sz="3100" dirty="0"/>
          </a:p>
        </p:txBody>
      </p:sp>
      <p:sp>
        <p:nvSpPr>
          <p:cNvPr id="4" name="Text 2"/>
          <p:cNvSpPr/>
          <p:nvPr/>
        </p:nvSpPr>
        <p:spPr>
          <a:xfrm>
            <a:off x="640080" y="1417320"/>
            <a:ext cx="5029200" cy="292608"/>
          </a:xfrm>
          <a:prstGeom prst="rect">
            <a:avLst/>
          </a:prstGeom>
          <a:noFill/>
          <a:ln/>
        </p:spPr>
        <p:txBody>
          <a:bodyPr wrap="square" lIns="0" tIns="0" rIns="0" bIns="0" rtlCol="0" anchor="ctr"/>
          <a:lstStyle/>
          <a:p>
            <a:pPr indent="0" marL="0">
              <a:buNone/>
            </a:pPr>
            <a:r>
              <a:rPr lang="en-US" sz="1400" b="1" dirty="0">
                <a:solidFill>
                  <a:srgbClr val="22D3EE"/>
                </a:solidFill>
                <a:latin typeface="Calibri" pitchFamily="34" charset="0"/>
                <a:ea typeface="Calibri" pitchFamily="34" charset="-122"/>
                <a:cs typeface="Calibri" pitchFamily="34" charset="-120"/>
              </a:rPr>
              <a:t>Versioned datasets</a:t>
            </a:r>
            <a:endParaRPr lang="en-US" sz="1400" dirty="0"/>
          </a:p>
        </p:txBody>
      </p:sp>
      <p:sp>
        <p:nvSpPr>
          <p:cNvPr id="5" name="Shape 3"/>
          <p:cNvSpPr/>
          <p:nvPr/>
        </p:nvSpPr>
        <p:spPr>
          <a:xfrm>
            <a:off x="640080" y="1810512"/>
            <a:ext cx="5349240" cy="548640"/>
          </a:xfrm>
          <a:prstGeom prst="roundRect">
            <a:avLst>
              <a:gd name="adj" fmla="val 11667"/>
            </a:avLst>
          </a:prstGeom>
          <a:solidFill>
            <a:srgbClr val="222937"/>
          </a:solidFill>
          <a:ln w="12700">
            <a:solidFill>
              <a:srgbClr val="222937"/>
            </a:solidFill>
            <a:prstDash val="solid"/>
          </a:ln>
        </p:spPr>
      </p:sp>
      <p:sp>
        <p:nvSpPr>
          <p:cNvPr id="6" name="Text 4"/>
          <p:cNvSpPr/>
          <p:nvPr/>
        </p:nvSpPr>
        <p:spPr>
          <a:xfrm>
            <a:off x="914400" y="1947672"/>
            <a:ext cx="1828800" cy="274320"/>
          </a:xfrm>
          <a:prstGeom prst="rect">
            <a:avLst/>
          </a:prstGeom>
          <a:noFill/>
          <a:ln/>
        </p:spPr>
        <p:txBody>
          <a:bodyPr wrap="square" lIns="0" tIns="0" rIns="0" bIns="0" rtlCol="0" anchor="ctr"/>
          <a:lstStyle/>
          <a:p>
            <a:pPr indent="0" marL="0">
              <a:buNone/>
            </a:pPr>
            <a:r>
              <a:rPr lang="en-US" sz="1200" b="1" dirty="0">
                <a:solidFill>
                  <a:srgbClr val="E8ECF5"/>
                </a:solidFill>
                <a:latin typeface="Calibri" pitchFamily="34" charset="0"/>
                <a:ea typeface="Calibri" pitchFamily="34" charset="-122"/>
                <a:cs typeface="Calibri" pitchFamily="34" charset="-120"/>
              </a:rPr>
              <a:t>v1.0_dev</a:t>
            </a:r>
            <a:endParaRPr lang="en-US" sz="1200" dirty="0"/>
          </a:p>
        </p:txBody>
      </p:sp>
      <p:sp>
        <p:nvSpPr>
          <p:cNvPr id="7" name="Text 5"/>
          <p:cNvSpPr/>
          <p:nvPr/>
        </p:nvSpPr>
        <p:spPr>
          <a:xfrm>
            <a:off x="2743200" y="1947672"/>
            <a:ext cx="548640" cy="274320"/>
          </a:xfrm>
          <a:prstGeom prst="rect">
            <a:avLst/>
          </a:prstGeom>
          <a:noFill/>
          <a:ln/>
        </p:spPr>
        <p:txBody>
          <a:bodyPr wrap="square" lIns="0" tIns="0" rIns="0" bIns="0" rtlCol="0" anchor="ctr"/>
          <a:lstStyle/>
          <a:p>
            <a:pPr indent="0" marL="0">
              <a:buNone/>
            </a:pPr>
            <a:r>
              <a:rPr lang="en-US" sz="1300" b="1" dirty="0">
                <a:solidFill>
                  <a:srgbClr val="22D3EE"/>
                </a:solidFill>
                <a:latin typeface="Cambria" pitchFamily="34" charset="0"/>
                <a:ea typeface="Cambria" pitchFamily="34" charset="-122"/>
                <a:cs typeface="Cambria" pitchFamily="34" charset="-120"/>
              </a:rPr>
              <a:t>21</a:t>
            </a:r>
            <a:endParaRPr lang="en-US" sz="1300" dirty="0"/>
          </a:p>
        </p:txBody>
      </p:sp>
      <p:sp>
        <p:nvSpPr>
          <p:cNvPr id="8" name="Text 6"/>
          <p:cNvSpPr/>
          <p:nvPr/>
        </p:nvSpPr>
        <p:spPr>
          <a:xfrm>
            <a:off x="3383280" y="1965960"/>
            <a:ext cx="2468880" cy="274320"/>
          </a:xfrm>
          <a:prstGeom prst="rect">
            <a:avLst/>
          </a:prstGeom>
          <a:noFill/>
          <a:ln/>
        </p:spPr>
        <p:txBody>
          <a:bodyPr wrap="square" lIns="0" tIns="0" rIns="0" bIns="0" rtlCol="0" anchor="ctr"/>
          <a:lstStyle/>
          <a:p>
            <a:pPr indent="0" marL="0">
              <a:buNone/>
            </a:pPr>
            <a:r>
              <a:rPr lang="en-US" sz="1050" dirty="0">
                <a:solidFill>
                  <a:srgbClr val="9AA4BD"/>
                </a:solidFill>
                <a:latin typeface="Calibri" pitchFamily="34" charset="0"/>
                <a:ea typeface="Calibri" pitchFamily="34" charset="-122"/>
                <a:cs typeface="Calibri" pitchFamily="34" charset="-120"/>
              </a:rPr>
              <a:t>Threshold selection only</a:t>
            </a:r>
            <a:endParaRPr lang="en-US" sz="1050" dirty="0"/>
          </a:p>
        </p:txBody>
      </p:sp>
      <p:sp>
        <p:nvSpPr>
          <p:cNvPr id="9" name="Shape 7"/>
          <p:cNvSpPr/>
          <p:nvPr/>
        </p:nvSpPr>
        <p:spPr>
          <a:xfrm>
            <a:off x="640080" y="2450592"/>
            <a:ext cx="5349240" cy="548640"/>
          </a:xfrm>
          <a:prstGeom prst="roundRect">
            <a:avLst>
              <a:gd name="adj" fmla="val 11667"/>
            </a:avLst>
          </a:prstGeom>
          <a:solidFill>
            <a:srgbClr val="222937"/>
          </a:solidFill>
          <a:ln w="12700">
            <a:solidFill>
              <a:srgbClr val="222937"/>
            </a:solidFill>
            <a:prstDash val="solid"/>
          </a:ln>
        </p:spPr>
      </p:sp>
      <p:sp>
        <p:nvSpPr>
          <p:cNvPr id="10" name="Text 8"/>
          <p:cNvSpPr/>
          <p:nvPr/>
        </p:nvSpPr>
        <p:spPr>
          <a:xfrm>
            <a:off x="914400" y="2587752"/>
            <a:ext cx="1828800" cy="274320"/>
          </a:xfrm>
          <a:prstGeom prst="rect">
            <a:avLst/>
          </a:prstGeom>
          <a:noFill/>
          <a:ln/>
        </p:spPr>
        <p:txBody>
          <a:bodyPr wrap="square" lIns="0" tIns="0" rIns="0" bIns="0" rtlCol="0" anchor="ctr"/>
          <a:lstStyle/>
          <a:p>
            <a:pPr indent="0" marL="0">
              <a:buNone/>
            </a:pPr>
            <a:r>
              <a:rPr lang="en-US" sz="1200" b="1" dirty="0">
                <a:solidFill>
                  <a:srgbClr val="E8ECF5"/>
                </a:solidFill>
                <a:latin typeface="Calibri" pitchFamily="34" charset="0"/>
                <a:ea typeface="Calibri" pitchFamily="34" charset="-122"/>
                <a:cs typeface="Calibri" pitchFamily="34" charset="-120"/>
              </a:rPr>
              <a:t>v1.0_val</a:t>
            </a:r>
            <a:endParaRPr lang="en-US" sz="1200" dirty="0"/>
          </a:p>
        </p:txBody>
      </p:sp>
      <p:sp>
        <p:nvSpPr>
          <p:cNvPr id="11" name="Text 9"/>
          <p:cNvSpPr/>
          <p:nvPr/>
        </p:nvSpPr>
        <p:spPr>
          <a:xfrm>
            <a:off x="2743200" y="2587752"/>
            <a:ext cx="548640" cy="274320"/>
          </a:xfrm>
          <a:prstGeom prst="rect">
            <a:avLst/>
          </a:prstGeom>
          <a:noFill/>
          <a:ln/>
        </p:spPr>
        <p:txBody>
          <a:bodyPr wrap="square" lIns="0" tIns="0" rIns="0" bIns="0" rtlCol="0" anchor="ctr"/>
          <a:lstStyle/>
          <a:p>
            <a:pPr indent="0" marL="0">
              <a:buNone/>
            </a:pPr>
            <a:r>
              <a:rPr lang="en-US" sz="1300" b="1" dirty="0">
                <a:solidFill>
                  <a:srgbClr val="22D3EE"/>
                </a:solidFill>
                <a:latin typeface="Cambria" pitchFamily="34" charset="0"/>
                <a:ea typeface="Cambria" pitchFamily="34" charset="-122"/>
                <a:cs typeface="Cambria" pitchFamily="34" charset="-120"/>
              </a:rPr>
              <a:t>22</a:t>
            </a:r>
            <a:endParaRPr lang="en-US" sz="1300" dirty="0"/>
          </a:p>
        </p:txBody>
      </p:sp>
      <p:sp>
        <p:nvSpPr>
          <p:cNvPr id="12" name="Text 10"/>
          <p:cNvSpPr/>
          <p:nvPr/>
        </p:nvSpPr>
        <p:spPr>
          <a:xfrm>
            <a:off x="3383280" y="2606040"/>
            <a:ext cx="2468880" cy="274320"/>
          </a:xfrm>
          <a:prstGeom prst="rect">
            <a:avLst/>
          </a:prstGeom>
          <a:noFill/>
          <a:ln/>
        </p:spPr>
        <p:txBody>
          <a:bodyPr wrap="square" lIns="0" tIns="0" rIns="0" bIns="0" rtlCol="0" anchor="ctr"/>
          <a:lstStyle/>
          <a:p>
            <a:pPr indent="0" marL="0">
              <a:buNone/>
            </a:pPr>
            <a:r>
              <a:rPr lang="en-US" sz="1050" dirty="0">
                <a:solidFill>
                  <a:srgbClr val="9AA4BD"/>
                </a:solidFill>
                <a:latin typeface="Calibri" pitchFamily="34" charset="0"/>
                <a:ea typeface="Calibri" pitchFamily="34" charset="-122"/>
                <a:cs typeface="Calibri" pitchFamily="34" charset="-120"/>
              </a:rPr>
              <a:t>Parameter selection, regression</a:t>
            </a:r>
            <a:endParaRPr lang="en-US" sz="1050" dirty="0"/>
          </a:p>
        </p:txBody>
      </p:sp>
      <p:sp>
        <p:nvSpPr>
          <p:cNvPr id="13" name="Shape 11"/>
          <p:cNvSpPr/>
          <p:nvPr/>
        </p:nvSpPr>
        <p:spPr>
          <a:xfrm>
            <a:off x="640080" y="3090672"/>
            <a:ext cx="5349240" cy="548640"/>
          </a:xfrm>
          <a:prstGeom prst="roundRect">
            <a:avLst>
              <a:gd name="adj" fmla="val 11667"/>
            </a:avLst>
          </a:prstGeom>
          <a:solidFill>
            <a:srgbClr val="222937"/>
          </a:solidFill>
          <a:ln w="12700">
            <a:solidFill>
              <a:srgbClr val="222937"/>
            </a:solidFill>
            <a:prstDash val="solid"/>
          </a:ln>
        </p:spPr>
      </p:sp>
      <p:sp>
        <p:nvSpPr>
          <p:cNvPr id="14" name="Text 12"/>
          <p:cNvSpPr/>
          <p:nvPr/>
        </p:nvSpPr>
        <p:spPr>
          <a:xfrm>
            <a:off x="914400" y="3227832"/>
            <a:ext cx="1828800" cy="274320"/>
          </a:xfrm>
          <a:prstGeom prst="rect">
            <a:avLst/>
          </a:prstGeom>
          <a:noFill/>
          <a:ln/>
        </p:spPr>
        <p:txBody>
          <a:bodyPr wrap="square" lIns="0" tIns="0" rIns="0" bIns="0" rtlCol="0" anchor="ctr"/>
          <a:lstStyle/>
          <a:p>
            <a:pPr indent="0" marL="0">
              <a:buNone/>
            </a:pPr>
            <a:r>
              <a:rPr lang="en-US" sz="1200" b="1" dirty="0">
                <a:solidFill>
                  <a:srgbClr val="E8ECF5"/>
                </a:solidFill>
                <a:latin typeface="Calibri" pitchFamily="34" charset="0"/>
                <a:ea typeface="Calibri" pitchFamily="34" charset="-122"/>
                <a:cs typeface="Calibri" pitchFamily="34" charset="-120"/>
              </a:rPr>
              <a:t>v1.0_test</a:t>
            </a:r>
            <a:endParaRPr lang="en-US" sz="1200" dirty="0"/>
          </a:p>
        </p:txBody>
      </p:sp>
      <p:sp>
        <p:nvSpPr>
          <p:cNvPr id="15" name="Text 13"/>
          <p:cNvSpPr/>
          <p:nvPr/>
        </p:nvSpPr>
        <p:spPr>
          <a:xfrm>
            <a:off x="2743200" y="3227832"/>
            <a:ext cx="548640" cy="274320"/>
          </a:xfrm>
          <a:prstGeom prst="rect">
            <a:avLst/>
          </a:prstGeom>
          <a:noFill/>
          <a:ln/>
        </p:spPr>
        <p:txBody>
          <a:bodyPr wrap="square" lIns="0" tIns="0" rIns="0" bIns="0" rtlCol="0" anchor="ctr"/>
          <a:lstStyle/>
          <a:p>
            <a:pPr indent="0" marL="0">
              <a:buNone/>
            </a:pPr>
            <a:r>
              <a:rPr lang="en-US" sz="1300" b="1" dirty="0">
                <a:solidFill>
                  <a:srgbClr val="22D3EE"/>
                </a:solidFill>
                <a:latin typeface="Cambria" pitchFamily="34" charset="0"/>
                <a:ea typeface="Cambria" pitchFamily="34" charset="-122"/>
                <a:cs typeface="Cambria" pitchFamily="34" charset="-120"/>
              </a:rPr>
              <a:t>30</a:t>
            </a:r>
            <a:endParaRPr lang="en-US" sz="1300" dirty="0"/>
          </a:p>
        </p:txBody>
      </p:sp>
      <p:sp>
        <p:nvSpPr>
          <p:cNvPr id="16" name="Text 14"/>
          <p:cNvSpPr/>
          <p:nvPr/>
        </p:nvSpPr>
        <p:spPr>
          <a:xfrm>
            <a:off x="3383280" y="3246120"/>
            <a:ext cx="2468880" cy="274320"/>
          </a:xfrm>
          <a:prstGeom prst="rect">
            <a:avLst/>
          </a:prstGeom>
          <a:noFill/>
          <a:ln/>
        </p:spPr>
        <p:txBody>
          <a:bodyPr wrap="square" lIns="0" tIns="0" rIns="0" bIns="0" rtlCol="0" anchor="ctr"/>
          <a:lstStyle/>
          <a:p>
            <a:pPr indent="0" marL="0">
              <a:buNone/>
            </a:pPr>
            <a:r>
              <a:rPr lang="en-US" sz="1050" dirty="0">
                <a:solidFill>
                  <a:srgbClr val="9AA4BD"/>
                </a:solidFill>
                <a:latin typeface="Calibri" pitchFamily="34" charset="0"/>
                <a:ea typeface="Calibri" pitchFamily="34" charset="-122"/>
                <a:cs typeface="Calibri" pitchFamily="34" charset="-120"/>
              </a:rPr>
              <a:t>Held out for reporting</a:t>
            </a:r>
            <a:endParaRPr lang="en-US" sz="1050" dirty="0"/>
          </a:p>
        </p:txBody>
      </p:sp>
      <p:sp>
        <p:nvSpPr>
          <p:cNvPr id="17" name="Shape 15"/>
          <p:cNvSpPr/>
          <p:nvPr/>
        </p:nvSpPr>
        <p:spPr>
          <a:xfrm>
            <a:off x="640080" y="3730752"/>
            <a:ext cx="5349240" cy="548640"/>
          </a:xfrm>
          <a:prstGeom prst="roundRect">
            <a:avLst>
              <a:gd name="adj" fmla="val 11667"/>
            </a:avLst>
          </a:prstGeom>
          <a:solidFill>
            <a:srgbClr val="222937"/>
          </a:solidFill>
          <a:ln w="12700">
            <a:solidFill>
              <a:srgbClr val="222937"/>
            </a:solidFill>
            <a:prstDash val="solid"/>
          </a:ln>
        </p:spPr>
      </p:sp>
      <p:sp>
        <p:nvSpPr>
          <p:cNvPr id="18" name="Text 16"/>
          <p:cNvSpPr/>
          <p:nvPr/>
        </p:nvSpPr>
        <p:spPr>
          <a:xfrm>
            <a:off x="914400" y="3867912"/>
            <a:ext cx="1828800" cy="274320"/>
          </a:xfrm>
          <a:prstGeom prst="rect">
            <a:avLst/>
          </a:prstGeom>
          <a:noFill/>
          <a:ln/>
        </p:spPr>
        <p:txBody>
          <a:bodyPr wrap="square" lIns="0" tIns="0" rIns="0" bIns="0" rtlCol="0" anchor="ctr"/>
          <a:lstStyle/>
          <a:p>
            <a:pPr indent="0" marL="0">
              <a:buNone/>
            </a:pPr>
            <a:r>
              <a:rPr lang="en-US" sz="1200" b="1" dirty="0">
                <a:solidFill>
                  <a:srgbClr val="E8ECF5"/>
                </a:solidFill>
                <a:latin typeface="Calibri" pitchFamily="34" charset="0"/>
                <a:ea typeface="Calibri" pitchFamily="34" charset="-122"/>
                <a:cs typeface="Calibri" pitchFamily="34" charset="-120"/>
              </a:rPr>
              <a:t>v1.0_multiagent</a:t>
            </a:r>
            <a:endParaRPr lang="en-US" sz="1200" dirty="0"/>
          </a:p>
        </p:txBody>
      </p:sp>
      <p:sp>
        <p:nvSpPr>
          <p:cNvPr id="19" name="Text 17"/>
          <p:cNvSpPr/>
          <p:nvPr/>
        </p:nvSpPr>
        <p:spPr>
          <a:xfrm>
            <a:off x="2743200" y="3867912"/>
            <a:ext cx="548640" cy="274320"/>
          </a:xfrm>
          <a:prstGeom prst="rect">
            <a:avLst/>
          </a:prstGeom>
          <a:noFill/>
          <a:ln/>
        </p:spPr>
        <p:txBody>
          <a:bodyPr wrap="square" lIns="0" tIns="0" rIns="0" bIns="0" rtlCol="0" anchor="ctr"/>
          <a:lstStyle/>
          <a:p>
            <a:pPr indent="0" marL="0">
              <a:buNone/>
            </a:pPr>
            <a:r>
              <a:rPr lang="en-US" sz="1300" b="1" dirty="0">
                <a:solidFill>
                  <a:srgbClr val="22D3EE"/>
                </a:solidFill>
                <a:latin typeface="Cambria" pitchFamily="34" charset="0"/>
                <a:ea typeface="Cambria" pitchFamily="34" charset="-122"/>
                <a:cs typeface="Cambria" pitchFamily="34" charset="-120"/>
              </a:rPr>
              <a:t>22</a:t>
            </a:r>
            <a:endParaRPr lang="en-US" sz="1300" dirty="0"/>
          </a:p>
        </p:txBody>
      </p:sp>
      <p:sp>
        <p:nvSpPr>
          <p:cNvPr id="20" name="Text 18"/>
          <p:cNvSpPr/>
          <p:nvPr/>
        </p:nvSpPr>
        <p:spPr>
          <a:xfrm>
            <a:off x="3383280" y="3886200"/>
            <a:ext cx="2468880" cy="274320"/>
          </a:xfrm>
          <a:prstGeom prst="rect">
            <a:avLst/>
          </a:prstGeom>
          <a:noFill/>
          <a:ln/>
        </p:spPr>
        <p:txBody>
          <a:bodyPr wrap="square" lIns="0" tIns="0" rIns="0" bIns="0" rtlCol="0" anchor="ctr"/>
          <a:lstStyle/>
          <a:p>
            <a:pPr indent="0" marL="0">
              <a:buNone/>
            </a:pPr>
            <a:r>
              <a:rPr lang="en-US" sz="1050" dirty="0">
                <a:solidFill>
                  <a:srgbClr val="9AA4BD"/>
                </a:solidFill>
                <a:latin typeface="Calibri" pitchFamily="34" charset="0"/>
                <a:ea typeface="Calibri" pitchFamily="34" charset="-122"/>
                <a:cs typeface="Calibri" pitchFamily="34" charset="-120"/>
              </a:rPr>
              <a:t>Inter-agent disagreement cases</a:t>
            </a:r>
            <a:endParaRPr lang="en-US" sz="1050" dirty="0"/>
          </a:p>
        </p:txBody>
      </p:sp>
      <p:sp>
        <p:nvSpPr>
          <p:cNvPr id="21" name="Shape 19"/>
          <p:cNvSpPr/>
          <p:nvPr/>
        </p:nvSpPr>
        <p:spPr>
          <a:xfrm>
            <a:off x="640080" y="4370832"/>
            <a:ext cx="5349240" cy="548640"/>
          </a:xfrm>
          <a:prstGeom prst="roundRect">
            <a:avLst>
              <a:gd name="adj" fmla="val 11667"/>
            </a:avLst>
          </a:prstGeom>
          <a:solidFill>
            <a:srgbClr val="222937"/>
          </a:solidFill>
          <a:ln w="12700">
            <a:solidFill>
              <a:srgbClr val="222937"/>
            </a:solidFill>
            <a:prstDash val="solid"/>
          </a:ln>
        </p:spPr>
      </p:sp>
      <p:sp>
        <p:nvSpPr>
          <p:cNvPr id="22" name="Text 20"/>
          <p:cNvSpPr/>
          <p:nvPr/>
        </p:nvSpPr>
        <p:spPr>
          <a:xfrm>
            <a:off x="914400" y="4507992"/>
            <a:ext cx="1828800" cy="274320"/>
          </a:xfrm>
          <a:prstGeom prst="rect">
            <a:avLst/>
          </a:prstGeom>
          <a:noFill/>
          <a:ln/>
        </p:spPr>
        <p:txBody>
          <a:bodyPr wrap="square" lIns="0" tIns="0" rIns="0" bIns="0" rtlCol="0" anchor="ctr"/>
          <a:lstStyle/>
          <a:p>
            <a:pPr indent="0" marL="0">
              <a:buNone/>
            </a:pPr>
            <a:r>
              <a:rPr lang="en-US" sz="1200" b="1" dirty="0">
                <a:solidFill>
                  <a:srgbClr val="E8ECF5"/>
                </a:solidFill>
                <a:latin typeface="Calibri" pitchFamily="34" charset="0"/>
                <a:ea typeface="Calibri" pitchFamily="34" charset="-122"/>
                <a:cs typeface="Calibri" pitchFamily="34" charset="-120"/>
              </a:rPr>
              <a:t>v1.0_curated</a:t>
            </a:r>
            <a:endParaRPr lang="en-US" sz="1200" dirty="0"/>
          </a:p>
        </p:txBody>
      </p:sp>
      <p:sp>
        <p:nvSpPr>
          <p:cNvPr id="23" name="Text 21"/>
          <p:cNvSpPr/>
          <p:nvPr/>
        </p:nvSpPr>
        <p:spPr>
          <a:xfrm>
            <a:off x="2743200" y="4507992"/>
            <a:ext cx="548640" cy="274320"/>
          </a:xfrm>
          <a:prstGeom prst="rect">
            <a:avLst/>
          </a:prstGeom>
          <a:noFill/>
          <a:ln/>
        </p:spPr>
        <p:txBody>
          <a:bodyPr wrap="square" lIns="0" tIns="0" rIns="0" bIns="0" rtlCol="0" anchor="ctr"/>
          <a:lstStyle/>
          <a:p>
            <a:pPr indent="0" marL="0">
              <a:buNone/>
            </a:pPr>
            <a:r>
              <a:rPr lang="en-US" sz="1300" b="1" dirty="0">
                <a:solidFill>
                  <a:srgbClr val="22D3EE"/>
                </a:solidFill>
                <a:latin typeface="Cambria" pitchFamily="34" charset="0"/>
                <a:ea typeface="Cambria" pitchFamily="34" charset="-122"/>
                <a:cs typeface="Cambria" pitchFamily="34" charset="-120"/>
              </a:rPr>
              <a:t>76</a:t>
            </a:r>
            <a:endParaRPr lang="en-US" sz="1300" dirty="0"/>
          </a:p>
        </p:txBody>
      </p:sp>
      <p:sp>
        <p:nvSpPr>
          <p:cNvPr id="24" name="Text 22"/>
          <p:cNvSpPr/>
          <p:nvPr/>
        </p:nvSpPr>
        <p:spPr>
          <a:xfrm>
            <a:off x="3383280" y="4526280"/>
            <a:ext cx="2468880" cy="274320"/>
          </a:xfrm>
          <a:prstGeom prst="rect">
            <a:avLst/>
          </a:prstGeom>
          <a:noFill/>
          <a:ln/>
        </p:spPr>
        <p:txBody>
          <a:bodyPr wrap="square" lIns="0" tIns="0" rIns="0" bIns="0" rtlCol="0" anchor="ctr"/>
          <a:lstStyle/>
          <a:p>
            <a:pPr indent="0" marL="0">
              <a:buNone/>
            </a:pPr>
            <a:r>
              <a:rPr lang="en-US" sz="1050" dirty="0">
                <a:solidFill>
                  <a:srgbClr val="9AA4BD"/>
                </a:solidFill>
                <a:latin typeface="Calibri" pitchFamily="34" charset="0"/>
                <a:ea typeface="Calibri" pitchFamily="34" charset="-122"/>
                <a:cs typeface="Calibri" pitchFamily="34" charset="-120"/>
              </a:rPr>
              <a:t>Curated from live incidents</a:t>
            </a:r>
            <a:endParaRPr lang="en-US" sz="1050" dirty="0"/>
          </a:p>
        </p:txBody>
      </p:sp>
      <p:sp>
        <p:nvSpPr>
          <p:cNvPr id="25" name="Shape 23"/>
          <p:cNvSpPr/>
          <p:nvPr/>
        </p:nvSpPr>
        <p:spPr>
          <a:xfrm>
            <a:off x="6309360" y="1810512"/>
            <a:ext cx="5212080" cy="3200400"/>
          </a:xfrm>
          <a:prstGeom prst="roundRect">
            <a:avLst>
              <a:gd name="adj" fmla="val 2000"/>
            </a:avLst>
          </a:prstGeom>
          <a:solidFill>
            <a:srgbClr val="222937"/>
          </a:solidFill>
          <a:ln w="12700">
            <a:solidFill>
              <a:srgbClr val="222937"/>
            </a:solidFill>
            <a:prstDash val="solid"/>
          </a:ln>
        </p:spPr>
      </p:sp>
      <p:sp>
        <p:nvSpPr>
          <p:cNvPr id="26" name="Text 24"/>
          <p:cNvSpPr/>
          <p:nvPr/>
        </p:nvSpPr>
        <p:spPr>
          <a:xfrm>
            <a:off x="6629400" y="1993392"/>
            <a:ext cx="4617720" cy="292608"/>
          </a:xfrm>
          <a:prstGeom prst="rect">
            <a:avLst/>
          </a:prstGeom>
          <a:noFill/>
          <a:ln/>
        </p:spPr>
        <p:txBody>
          <a:bodyPr wrap="square" lIns="0" tIns="0" rIns="0" bIns="0" rtlCol="0" anchor="ctr"/>
          <a:lstStyle/>
          <a:p>
            <a:pPr indent="0" marL="0">
              <a:buNone/>
            </a:pPr>
            <a:r>
              <a:rPr lang="en-US" sz="1400" b="1" dirty="0">
                <a:solidFill>
                  <a:srgbClr val="22D3EE"/>
                </a:solidFill>
                <a:latin typeface="Calibri" pitchFamily="34" charset="0"/>
                <a:ea typeface="Calibri" pitchFamily="34" charset="-122"/>
                <a:cs typeface="Calibri" pitchFamily="34" charset="-120"/>
              </a:rPr>
              <a:t>Protocol</a:t>
            </a:r>
            <a:endParaRPr lang="en-US" sz="1400" dirty="0"/>
          </a:p>
        </p:txBody>
      </p:sp>
      <p:sp>
        <p:nvSpPr>
          <p:cNvPr id="27" name="Text 25"/>
          <p:cNvSpPr/>
          <p:nvPr/>
        </p:nvSpPr>
        <p:spPr>
          <a:xfrm>
            <a:off x="6629400" y="2377440"/>
            <a:ext cx="4617720" cy="2468880"/>
          </a:xfrm>
          <a:prstGeom prst="rect">
            <a:avLst/>
          </a:prstGeom>
          <a:noFill/>
          <a:ln/>
        </p:spPr>
        <p:txBody>
          <a:bodyPr wrap="square" lIns="0" tIns="0" rIns="0" bIns="0" rtlCol="0" anchor="ctr"/>
          <a:lstStyle/>
          <a:p>
            <a:pPr marL="342900" indent="-342900">
              <a:spcAft>
                <a:spcPts val="700"/>
              </a:spcAft>
              <a:buSzPct val="100000"/>
              <a:buChar char="•"/>
            </a:pPr>
            <a:r>
              <a:rPr lang="en-US" sz="1150" dirty="0">
                <a:solidFill>
                  <a:srgbClr val="9AA4BD"/>
                </a:solidFill>
                <a:latin typeface="Calibri" pitchFamily="34" charset="0"/>
                <a:ea typeface="Calibri" pitchFamily="34" charset="-122"/>
                <a:cs typeface="Calibri" pitchFamily="34" charset="-120"/>
              </a:rPr>
              <a:t>Metrics fixed upfront: precision, recall, F1, FPR, AUC, latency.</a:t>
            </a:r>
            <a:endParaRPr lang="en-US" sz="1150" dirty="0"/>
          </a:p>
          <a:p>
            <a:pPr marL="342900" indent="-342900">
              <a:spcAft>
                <a:spcPts val="700"/>
              </a:spcAft>
              <a:buSzPct val="100000"/>
              <a:buChar char="•"/>
            </a:pPr>
            <a:r>
              <a:rPr lang="en-US" sz="1150" dirty="0">
                <a:solidFill>
                  <a:srgbClr val="9AA4BD"/>
                </a:solidFill>
                <a:latin typeface="Calibri" pitchFamily="34" charset="0"/>
                <a:ea typeface="Calibri" pitchFamily="34" charset="-122"/>
                <a:cs typeface="Calibri" pitchFamily="34" charset="-120"/>
              </a:rPr>
              <a:t>Thresholds selected on dev, applied unchanged to the held-out test split.</a:t>
            </a:r>
            <a:endParaRPr lang="en-US" sz="1150" dirty="0"/>
          </a:p>
          <a:p>
            <a:pPr marL="342900" indent="-342900">
              <a:spcAft>
                <a:spcPts val="700"/>
              </a:spcAft>
              <a:buSzPct val="100000"/>
              <a:buChar char="•"/>
            </a:pPr>
            <a:r>
              <a:rPr lang="en-US" sz="1150" dirty="0">
                <a:solidFill>
                  <a:srgbClr val="9AA4BD"/>
                </a:solidFill>
                <a:latin typeface="Calibri" pitchFamily="34" charset="0"/>
                <a:ea typeface="Calibri" pitchFamily="34" charset="-122"/>
                <a:cs typeface="Calibri" pitchFamily="34" charset="-120"/>
              </a:rPr>
              <a:t>Drift calibration used a criterion fixed in advance, then measured once on 111 held-out tasks.</a:t>
            </a:r>
            <a:endParaRPr lang="en-US" sz="1150" dirty="0"/>
          </a:p>
          <a:p>
            <a:pPr marL="342900" indent="-342900">
              <a:spcAft>
                <a:spcPts val="700"/>
              </a:spcAft>
              <a:buSzPct val="100000"/>
              <a:buChar char="•"/>
            </a:pPr>
            <a:r>
              <a:rPr lang="en-US" sz="1150" dirty="0">
                <a:solidFill>
                  <a:srgbClr val="9AA4BD"/>
                </a:solidFill>
                <a:latin typeface="Calibri" pitchFamily="34" charset="0"/>
                <a:ea typeface="Calibri" pitchFamily="34" charset="-122"/>
                <a:cs typeface="Calibri" pitchFamily="34" charset="-120"/>
              </a:rPr>
              <a:t>Labels: two independent LLM-as-judge passes, Cohen kappa 0.922 on the original 50 cases.</a:t>
            </a:r>
            <a:endParaRPr lang="en-US" sz="1150" dirty="0"/>
          </a:p>
          <a:p>
            <a:pPr marL="342900" indent="-342900">
              <a:spcAft>
                <a:spcPts val="700"/>
              </a:spcAft>
              <a:buSzPct val="100000"/>
              <a:buChar char="•"/>
            </a:pPr>
            <a:r>
              <a:rPr lang="en-US" sz="1150" dirty="0">
                <a:solidFill>
                  <a:srgbClr val="9AA4BD"/>
                </a:solidFill>
                <a:latin typeface="Calibri" pitchFamily="34" charset="0"/>
                <a:ea typeface="Calibri" pitchFamily="34" charset="-122"/>
                <a:cs typeface="Calibri" pitchFamily="34" charset="-120"/>
              </a:rPr>
              <a:t>LLM-judge results split by label provenance, because scoring a judge against judge-made labels is circular.</a:t>
            </a:r>
            <a:endParaRPr lang="en-US" sz="1150" dirty="0"/>
          </a:p>
        </p:txBody>
      </p:sp>
      <p:sp>
        <p:nvSpPr>
          <p:cNvPr id="28" name="Text 26"/>
          <p:cNvSpPr/>
          <p:nvPr/>
        </p:nvSpPr>
        <p:spPr>
          <a:xfrm>
            <a:off x="640080" y="5257800"/>
            <a:ext cx="10881360" cy="457200"/>
          </a:xfrm>
          <a:prstGeom prst="rect">
            <a:avLst/>
          </a:prstGeom>
          <a:noFill/>
          <a:ln/>
        </p:spPr>
        <p:txBody>
          <a:bodyPr wrap="square" lIns="0" tIns="0" rIns="0" bIns="0" rtlCol="0" anchor="ctr"/>
          <a:lstStyle/>
          <a:p>
            <a:pPr indent="0" marL="0">
              <a:buNone/>
            </a:pPr>
            <a:r>
              <a:rPr lang="en-US" sz="1250" i="1" dirty="0">
                <a:solidFill>
                  <a:srgbClr val="FBBF24"/>
                </a:solidFill>
                <a:latin typeface="Calibri" pitchFamily="34" charset="0"/>
                <a:ea typeface="Calibri" pitchFamily="34" charset="-122"/>
                <a:cs typeface="Calibri" pitchFamily="34" charset="-120"/>
              </a:rPr>
              <a:t>Labels are LLM-generated, not human-annotated. That is stated wherever the numbers are, and it is the single largest threat to validity in this work.</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640080" y="365760"/>
            <a:ext cx="9144000" cy="237744"/>
          </a:xfrm>
          <a:prstGeom prst="rect">
            <a:avLst/>
          </a:prstGeom>
          <a:noFill/>
          <a:ln/>
        </p:spPr>
        <p:txBody>
          <a:bodyPr wrap="square" lIns="0" tIns="0" rIns="0" bIns="0" rtlCol="0" anchor="ctr"/>
          <a:lstStyle/>
          <a:p>
            <a:pPr indent="0" marL="0">
              <a:buNone/>
            </a:pPr>
            <a:r>
              <a:rPr lang="en-US" sz="1050" b="1" spc="200" kern="0" dirty="0">
                <a:solidFill>
                  <a:srgbClr val="22D3EE"/>
                </a:solidFill>
                <a:latin typeface="Calibri" pitchFamily="34" charset="0"/>
                <a:ea typeface="Calibri" pitchFamily="34" charset="-122"/>
                <a:cs typeface="Calibri" pitchFamily="34" charset="-120"/>
              </a:rPr>
              <a:t>RESULTS</a:t>
            </a:r>
            <a:endParaRPr lang="en-US" sz="1050" dirty="0"/>
          </a:p>
        </p:txBody>
      </p:sp>
      <p:sp>
        <p:nvSpPr>
          <p:cNvPr id="3" name="Text 1"/>
          <p:cNvSpPr/>
          <p:nvPr/>
        </p:nvSpPr>
        <p:spPr>
          <a:xfrm>
            <a:off x="640080" y="621792"/>
            <a:ext cx="10881360" cy="640080"/>
          </a:xfrm>
          <a:prstGeom prst="rect">
            <a:avLst/>
          </a:prstGeom>
          <a:noFill/>
          <a:ln/>
        </p:spPr>
        <p:txBody>
          <a:bodyPr wrap="square" lIns="0" tIns="0" rIns="0" bIns="0" rtlCol="0" anchor="ctr"/>
          <a:lstStyle/>
          <a:p>
            <a:pPr indent="0" marL="0">
              <a:buNone/>
            </a:pPr>
            <a:r>
              <a:rPr lang="en-US" sz="3100" b="1" dirty="0">
                <a:solidFill>
                  <a:srgbClr val="141922"/>
                </a:solidFill>
                <a:latin typeface="Cambria" pitchFamily="34" charset="0"/>
                <a:ea typeface="Cambria" pitchFamily="34" charset="-122"/>
                <a:cs typeface="Cambria" pitchFamily="34" charset="-120"/>
              </a:rPr>
              <a:t>Comparison against four baselines</a:t>
            </a:r>
            <a:endParaRPr lang="en-US" sz="3100" dirty="0"/>
          </a:p>
        </p:txBody>
      </p:sp>
      <p:sp>
        <p:nvSpPr>
          <p:cNvPr id="4" name="Shape 2"/>
          <p:cNvSpPr/>
          <p:nvPr/>
        </p:nvSpPr>
        <p:spPr>
          <a:xfrm>
            <a:off x="8321040" y="384048"/>
            <a:ext cx="3200400" cy="256032"/>
          </a:xfrm>
          <a:prstGeom prst="roundRect">
            <a:avLst>
              <a:gd name="adj" fmla="val 42857"/>
            </a:avLst>
          </a:prstGeom>
          <a:solidFill>
            <a:srgbClr val="22D3EE">
              <a:alpha val="12000"/>
            </a:srgbClr>
          </a:solidFill>
          <a:ln w="7620">
            <a:solidFill>
              <a:srgbClr val="22D3EE"/>
            </a:solidFill>
            <a:prstDash val="solid"/>
          </a:ln>
        </p:spPr>
      </p:sp>
      <p:sp>
        <p:nvSpPr>
          <p:cNvPr id="5" name="Text 3"/>
          <p:cNvSpPr/>
          <p:nvPr/>
        </p:nvSpPr>
        <p:spPr>
          <a:xfrm>
            <a:off x="8321040" y="384048"/>
            <a:ext cx="3200400" cy="256032"/>
          </a:xfrm>
          <a:prstGeom prst="rect">
            <a:avLst/>
          </a:prstGeom>
          <a:noFill/>
          <a:ln/>
        </p:spPr>
        <p:txBody>
          <a:bodyPr wrap="square" lIns="0" tIns="0" rIns="0" bIns="0" rtlCol="0" anchor="ctr"/>
          <a:lstStyle/>
          <a:p>
            <a:pPr algn="ctr" indent="0" marL="0">
              <a:buNone/>
            </a:pPr>
            <a:r>
              <a:rPr lang="en-US" sz="900" b="1" dirty="0">
                <a:solidFill>
                  <a:srgbClr val="22D3EE"/>
                </a:solidFill>
                <a:latin typeface="Calibri" pitchFamily="34" charset="0"/>
                <a:ea typeface="Calibri" pitchFamily="34" charset="-122"/>
                <a:cs typeface="Calibri" pitchFamily="34" charset="-120"/>
              </a:rPr>
              <a:t>Baseline comparison</a:t>
            </a:r>
            <a:endParaRPr lang="en-US" sz="900" dirty="0"/>
          </a:p>
        </p:txBody>
      </p:sp>
      <p:sp>
        <p:nvSpPr>
          <p:cNvPr id="6" name="Text 4"/>
          <p:cNvSpPr/>
          <p:nvPr/>
        </p:nvSpPr>
        <p:spPr>
          <a:xfrm>
            <a:off x="914400" y="1463040"/>
            <a:ext cx="3291840" cy="274320"/>
          </a:xfrm>
          <a:prstGeom prst="rect">
            <a:avLst/>
          </a:prstGeom>
          <a:noFill/>
          <a:ln/>
        </p:spPr>
        <p:txBody>
          <a:bodyPr wrap="square" lIns="0" tIns="0" rIns="0" bIns="0" rtlCol="0" anchor="ctr"/>
          <a:lstStyle/>
          <a:p>
            <a:pPr indent="0" marL="0">
              <a:buNone/>
            </a:pPr>
            <a:r>
              <a:rPr lang="en-US" sz="950" b="1" spc="100" kern="0" dirty="0">
                <a:solidFill>
                  <a:srgbClr val="7A8496"/>
                </a:solidFill>
                <a:latin typeface="Calibri" pitchFamily="34" charset="0"/>
                <a:ea typeface="Calibri" pitchFamily="34" charset="-122"/>
                <a:cs typeface="Calibri" pitchFamily="34" charset="-120"/>
              </a:rPr>
              <a:t>SYSTEM</a:t>
            </a:r>
            <a:endParaRPr lang="en-US" sz="950" dirty="0"/>
          </a:p>
        </p:txBody>
      </p:sp>
      <p:sp>
        <p:nvSpPr>
          <p:cNvPr id="7" name="Text 5"/>
          <p:cNvSpPr/>
          <p:nvPr/>
        </p:nvSpPr>
        <p:spPr>
          <a:xfrm>
            <a:off x="4297680" y="1463040"/>
            <a:ext cx="1371600" cy="274320"/>
          </a:xfrm>
          <a:prstGeom prst="rect">
            <a:avLst/>
          </a:prstGeom>
          <a:noFill/>
          <a:ln/>
        </p:spPr>
        <p:txBody>
          <a:bodyPr wrap="square" lIns="0" tIns="0" rIns="0" bIns="0" rtlCol="0" anchor="ctr"/>
          <a:lstStyle/>
          <a:p>
            <a:pPr indent="0" marL="0">
              <a:buNone/>
            </a:pPr>
            <a:r>
              <a:rPr lang="en-US" sz="950" b="1" spc="100" kern="0" dirty="0">
                <a:solidFill>
                  <a:srgbClr val="7A8496"/>
                </a:solidFill>
                <a:latin typeface="Calibri" pitchFamily="34" charset="0"/>
                <a:ea typeface="Calibri" pitchFamily="34" charset="-122"/>
                <a:cs typeface="Calibri" pitchFamily="34" charset="-120"/>
              </a:rPr>
              <a:t>PRECISION</a:t>
            </a:r>
            <a:endParaRPr lang="en-US" sz="950" dirty="0"/>
          </a:p>
        </p:txBody>
      </p:sp>
      <p:sp>
        <p:nvSpPr>
          <p:cNvPr id="8" name="Text 6"/>
          <p:cNvSpPr/>
          <p:nvPr/>
        </p:nvSpPr>
        <p:spPr>
          <a:xfrm>
            <a:off x="5760720" y="1463040"/>
            <a:ext cx="1280160" cy="274320"/>
          </a:xfrm>
          <a:prstGeom prst="rect">
            <a:avLst/>
          </a:prstGeom>
          <a:noFill/>
          <a:ln/>
        </p:spPr>
        <p:txBody>
          <a:bodyPr wrap="square" lIns="0" tIns="0" rIns="0" bIns="0" rtlCol="0" anchor="ctr"/>
          <a:lstStyle/>
          <a:p>
            <a:pPr indent="0" marL="0">
              <a:buNone/>
            </a:pPr>
            <a:r>
              <a:rPr lang="en-US" sz="950" b="1" spc="100" kern="0" dirty="0">
                <a:solidFill>
                  <a:srgbClr val="7A8496"/>
                </a:solidFill>
                <a:latin typeface="Calibri" pitchFamily="34" charset="0"/>
                <a:ea typeface="Calibri" pitchFamily="34" charset="-122"/>
                <a:cs typeface="Calibri" pitchFamily="34" charset="-120"/>
              </a:rPr>
              <a:t>RECALL</a:t>
            </a:r>
            <a:endParaRPr lang="en-US" sz="950" dirty="0"/>
          </a:p>
        </p:txBody>
      </p:sp>
      <p:sp>
        <p:nvSpPr>
          <p:cNvPr id="9" name="Text 7"/>
          <p:cNvSpPr/>
          <p:nvPr/>
        </p:nvSpPr>
        <p:spPr>
          <a:xfrm>
            <a:off x="7132320" y="1463040"/>
            <a:ext cx="1188720" cy="274320"/>
          </a:xfrm>
          <a:prstGeom prst="rect">
            <a:avLst/>
          </a:prstGeom>
          <a:noFill/>
          <a:ln/>
        </p:spPr>
        <p:txBody>
          <a:bodyPr wrap="square" lIns="0" tIns="0" rIns="0" bIns="0" rtlCol="0" anchor="ctr"/>
          <a:lstStyle/>
          <a:p>
            <a:pPr indent="0" marL="0">
              <a:buNone/>
            </a:pPr>
            <a:r>
              <a:rPr lang="en-US" sz="950" b="1" spc="100" kern="0" dirty="0">
                <a:solidFill>
                  <a:srgbClr val="7A8496"/>
                </a:solidFill>
                <a:latin typeface="Calibri" pitchFamily="34" charset="0"/>
                <a:ea typeface="Calibri" pitchFamily="34" charset="-122"/>
                <a:cs typeface="Calibri" pitchFamily="34" charset="-120"/>
              </a:rPr>
              <a:t>F1</a:t>
            </a:r>
            <a:endParaRPr lang="en-US" sz="950" dirty="0"/>
          </a:p>
        </p:txBody>
      </p:sp>
      <p:sp>
        <p:nvSpPr>
          <p:cNvPr id="10" name="Text 8"/>
          <p:cNvSpPr/>
          <p:nvPr/>
        </p:nvSpPr>
        <p:spPr>
          <a:xfrm>
            <a:off x="8412480" y="1463040"/>
            <a:ext cx="1371600" cy="274320"/>
          </a:xfrm>
          <a:prstGeom prst="rect">
            <a:avLst/>
          </a:prstGeom>
          <a:noFill/>
          <a:ln/>
        </p:spPr>
        <p:txBody>
          <a:bodyPr wrap="square" lIns="0" tIns="0" rIns="0" bIns="0" rtlCol="0" anchor="ctr"/>
          <a:lstStyle/>
          <a:p>
            <a:pPr indent="0" marL="0">
              <a:buNone/>
            </a:pPr>
            <a:r>
              <a:rPr lang="en-US" sz="950" b="1" spc="100" kern="0" dirty="0">
                <a:solidFill>
                  <a:srgbClr val="7A8496"/>
                </a:solidFill>
                <a:latin typeface="Calibri" pitchFamily="34" charset="0"/>
                <a:ea typeface="Calibri" pitchFamily="34" charset="-122"/>
                <a:cs typeface="Calibri" pitchFamily="34" charset="-120"/>
              </a:rPr>
              <a:t>FPR</a:t>
            </a:r>
            <a:endParaRPr lang="en-US" sz="950" dirty="0"/>
          </a:p>
        </p:txBody>
      </p:sp>
      <p:sp>
        <p:nvSpPr>
          <p:cNvPr id="11" name="Text 9"/>
          <p:cNvSpPr/>
          <p:nvPr/>
        </p:nvSpPr>
        <p:spPr>
          <a:xfrm>
            <a:off x="9875520" y="1463040"/>
            <a:ext cx="1371600" cy="274320"/>
          </a:xfrm>
          <a:prstGeom prst="rect">
            <a:avLst/>
          </a:prstGeom>
          <a:noFill/>
          <a:ln/>
        </p:spPr>
        <p:txBody>
          <a:bodyPr wrap="square" lIns="0" tIns="0" rIns="0" bIns="0" rtlCol="0" anchor="ctr"/>
          <a:lstStyle/>
          <a:p>
            <a:pPr indent="0" marL="0">
              <a:buNone/>
            </a:pPr>
            <a:r>
              <a:rPr lang="en-US" sz="950" b="1" spc="100" kern="0" dirty="0">
                <a:solidFill>
                  <a:srgbClr val="7A8496"/>
                </a:solidFill>
                <a:latin typeface="Calibri" pitchFamily="34" charset="0"/>
                <a:ea typeface="Calibri" pitchFamily="34" charset="-122"/>
                <a:cs typeface="Calibri" pitchFamily="34" charset="-120"/>
              </a:rPr>
              <a:t>LATENCY</a:t>
            </a:r>
            <a:endParaRPr lang="en-US" sz="950" dirty="0"/>
          </a:p>
        </p:txBody>
      </p:sp>
      <p:sp>
        <p:nvSpPr>
          <p:cNvPr id="12" name="Shape 10"/>
          <p:cNvSpPr/>
          <p:nvPr/>
        </p:nvSpPr>
        <p:spPr>
          <a:xfrm>
            <a:off x="640080" y="1847088"/>
            <a:ext cx="10881360" cy="603504"/>
          </a:xfrm>
          <a:prstGeom prst="roundRect">
            <a:avLst>
              <a:gd name="adj" fmla="val 10606"/>
            </a:avLst>
          </a:prstGeom>
          <a:solidFill>
            <a:srgbClr val="FFFFFF"/>
          </a:solidFill>
          <a:ln w="12700">
            <a:solidFill>
              <a:srgbClr val="FFFFFF"/>
            </a:solidFill>
            <a:prstDash val="solid"/>
          </a:ln>
        </p:spPr>
      </p:sp>
      <p:sp>
        <p:nvSpPr>
          <p:cNvPr id="13" name="Text 11"/>
          <p:cNvSpPr/>
          <p:nvPr/>
        </p:nvSpPr>
        <p:spPr>
          <a:xfrm>
            <a:off x="914400" y="2029968"/>
            <a:ext cx="3291840" cy="274320"/>
          </a:xfrm>
          <a:prstGeom prst="rect">
            <a:avLst/>
          </a:prstGeom>
          <a:noFill/>
          <a:ln/>
        </p:spPr>
        <p:txBody>
          <a:bodyPr wrap="square" lIns="0" tIns="0" rIns="0" bIns="0" rtlCol="0" anchor="ctr"/>
          <a:lstStyle/>
          <a:p>
            <a:pPr indent="0" marL="0">
              <a:buNone/>
            </a:pPr>
            <a:r>
              <a:rPr lang="en-US" sz="1250" b="1" dirty="0">
                <a:solidFill>
                  <a:srgbClr val="5A6478"/>
                </a:solidFill>
                <a:latin typeface="Calibri" pitchFamily="34" charset="0"/>
                <a:ea typeface="Calibri" pitchFamily="34" charset="-122"/>
                <a:cs typeface="Calibri" pitchFamily="34" charset="-120"/>
              </a:rPr>
              <a:t>A - No semantic check</a:t>
            </a:r>
            <a:endParaRPr lang="en-US" sz="1250" dirty="0"/>
          </a:p>
        </p:txBody>
      </p:sp>
      <p:sp>
        <p:nvSpPr>
          <p:cNvPr id="14" name="Text 12"/>
          <p:cNvSpPr/>
          <p:nvPr/>
        </p:nvSpPr>
        <p:spPr>
          <a:xfrm>
            <a:off x="4297680" y="2029968"/>
            <a:ext cx="1371600" cy="274320"/>
          </a:xfrm>
          <a:prstGeom prst="rect">
            <a:avLst/>
          </a:prstGeom>
          <a:noFill/>
          <a:ln/>
        </p:spPr>
        <p:txBody>
          <a:bodyPr wrap="square" lIns="0" tIns="0" rIns="0" bIns="0" rtlCol="0" anchor="ctr"/>
          <a:lstStyle/>
          <a:p>
            <a:pPr indent="0" marL="0">
              <a:buNone/>
            </a:pPr>
            <a:r>
              <a:rPr lang="en-US" sz="1250" dirty="0">
                <a:solidFill>
                  <a:srgbClr val="5A6478"/>
                </a:solidFill>
                <a:latin typeface="Calibri" pitchFamily="34" charset="0"/>
                <a:ea typeface="Calibri" pitchFamily="34" charset="-122"/>
                <a:cs typeface="Calibri" pitchFamily="34" charset="-120"/>
              </a:rPr>
              <a:t>1.000</a:t>
            </a:r>
            <a:endParaRPr lang="en-US" sz="1250" dirty="0"/>
          </a:p>
        </p:txBody>
      </p:sp>
      <p:sp>
        <p:nvSpPr>
          <p:cNvPr id="15" name="Text 13"/>
          <p:cNvSpPr/>
          <p:nvPr/>
        </p:nvSpPr>
        <p:spPr>
          <a:xfrm>
            <a:off x="5760720" y="2029968"/>
            <a:ext cx="1280160" cy="274320"/>
          </a:xfrm>
          <a:prstGeom prst="rect">
            <a:avLst/>
          </a:prstGeom>
          <a:noFill/>
          <a:ln/>
        </p:spPr>
        <p:txBody>
          <a:bodyPr wrap="square" lIns="0" tIns="0" rIns="0" bIns="0" rtlCol="0" anchor="ctr"/>
          <a:lstStyle/>
          <a:p>
            <a:pPr indent="0" marL="0">
              <a:buNone/>
            </a:pPr>
            <a:r>
              <a:rPr lang="en-US" sz="1250" dirty="0">
                <a:solidFill>
                  <a:srgbClr val="5A6478"/>
                </a:solidFill>
                <a:latin typeface="Calibri" pitchFamily="34" charset="0"/>
                <a:ea typeface="Calibri" pitchFamily="34" charset="-122"/>
                <a:cs typeface="Calibri" pitchFamily="34" charset="-120"/>
              </a:rPr>
              <a:t>0.125</a:t>
            </a:r>
            <a:endParaRPr lang="en-US" sz="1250" dirty="0"/>
          </a:p>
        </p:txBody>
      </p:sp>
      <p:sp>
        <p:nvSpPr>
          <p:cNvPr id="16" name="Text 14"/>
          <p:cNvSpPr/>
          <p:nvPr/>
        </p:nvSpPr>
        <p:spPr>
          <a:xfrm>
            <a:off x="7132320" y="2029968"/>
            <a:ext cx="1188720" cy="274320"/>
          </a:xfrm>
          <a:prstGeom prst="rect">
            <a:avLst/>
          </a:prstGeom>
          <a:noFill/>
          <a:ln/>
        </p:spPr>
        <p:txBody>
          <a:bodyPr wrap="square" lIns="0" tIns="0" rIns="0" bIns="0" rtlCol="0" anchor="ctr"/>
          <a:lstStyle/>
          <a:p>
            <a:pPr indent="0" marL="0">
              <a:buNone/>
            </a:pPr>
            <a:r>
              <a:rPr lang="en-US" sz="1250" dirty="0">
                <a:solidFill>
                  <a:srgbClr val="5A6478"/>
                </a:solidFill>
                <a:latin typeface="Calibri" pitchFamily="34" charset="0"/>
                <a:ea typeface="Calibri" pitchFamily="34" charset="-122"/>
                <a:cs typeface="Calibri" pitchFamily="34" charset="-120"/>
              </a:rPr>
              <a:t>0.222</a:t>
            </a:r>
            <a:endParaRPr lang="en-US" sz="1250" dirty="0"/>
          </a:p>
        </p:txBody>
      </p:sp>
      <p:sp>
        <p:nvSpPr>
          <p:cNvPr id="17" name="Text 15"/>
          <p:cNvSpPr/>
          <p:nvPr/>
        </p:nvSpPr>
        <p:spPr>
          <a:xfrm>
            <a:off x="8412480" y="2029968"/>
            <a:ext cx="1371600" cy="274320"/>
          </a:xfrm>
          <a:prstGeom prst="rect">
            <a:avLst/>
          </a:prstGeom>
          <a:noFill/>
          <a:ln/>
        </p:spPr>
        <p:txBody>
          <a:bodyPr wrap="square" lIns="0" tIns="0" rIns="0" bIns="0" rtlCol="0" anchor="ctr"/>
          <a:lstStyle/>
          <a:p>
            <a:pPr indent="0" marL="0">
              <a:buNone/>
            </a:pPr>
            <a:r>
              <a:rPr lang="en-US" sz="1250" dirty="0">
                <a:solidFill>
                  <a:srgbClr val="5A6478"/>
                </a:solidFill>
                <a:latin typeface="Calibri" pitchFamily="34" charset="0"/>
                <a:ea typeface="Calibri" pitchFamily="34" charset="-122"/>
                <a:cs typeface="Calibri" pitchFamily="34" charset="-120"/>
              </a:rPr>
              <a:t>0.000</a:t>
            </a:r>
            <a:endParaRPr lang="en-US" sz="1250" dirty="0"/>
          </a:p>
        </p:txBody>
      </p:sp>
      <p:sp>
        <p:nvSpPr>
          <p:cNvPr id="18" name="Text 16"/>
          <p:cNvSpPr/>
          <p:nvPr/>
        </p:nvSpPr>
        <p:spPr>
          <a:xfrm>
            <a:off x="9875520" y="2029968"/>
            <a:ext cx="1371600" cy="274320"/>
          </a:xfrm>
          <a:prstGeom prst="rect">
            <a:avLst/>
          </a:prstGeom>
          <a:noFill/>
          <a:ln/>
        </p:spPr>
        <p:txBody>
          <a:bodyPr wrap="square" lIns="0" tIns="0" rIns="0" bIns="0" rtlCol="0" anchor="ctr"/>
          <a:lstStyle/>
          <a:p>
            <a:pPr indent="0" marL="0">
              <a:buNone/>
            </a:pPr>
            <a:r>
              <a:rPr lang="en-US" sz="1250" dirty="0">
                <a:solidFill>
                  <a:srgbClr val="5A6478"/>
                </a:solidFill>
                <a:latin typeface="Calibri" pitchFamily="34" charset="0"/>
                <a:ea typeface="Calibri" pitchFamily="34" charset="-122"/>
                <a:cs typeface="Calibri" pitchFamily="34" charset="-120"/>
              </a:rPr>
              <a:t>0 ms</a:t>
            </a:r>
            <a:endParaRPr lang="en-US" sz="1250" dirty="0"/>
          </a:p>
        </p:txBody>
      </p:sp>
      <p:sp>
        <p:nvSpPr>
          <p:cNvPr id="19" name="Shape 17"/>
          <p:cNvSpPr/>
          <p:nvPr/>
        </p:nvSpPr>
        <p:spPr>
          <a:xfrm>
            <a:off x="640080" y="2523744"/>
            <a:ext cx="10881360" cy="603504"/>
          </a:xfrm>
          <a:prstGeom prst="roundRect">
            <a:avLst>
              <a:gd name="adj" fmla="val 10606"/>
            </a:avLst>
          </a:prstGeom>
          <a:solidFill>
            <a:srgbClr val="FFFFFF"/>
          </a:solidFill>
          <a:ln w="12700">
            <a:solidFill>
              <a:srgbClr val="FFFFFF"/>
            </a:solidFill>
            <a:prstDash val="solid"/>
          </a:ln>
        </p:spPr>
      </p:sp>
      <p:sp>
        <p:nvSpPr>
          <p:cNvPr id="20" name="Text 18"/>
          <p:cNvSpPr/>
          <p:nvPr/>
        </p:nvSpPr>
        <p:spPr>
          <a:xfrm>
            <a:off x="914400" y="2706624"/>
            <a:ext cx="3291840" cy="274320"/>
          </a:xfrm>
          <a:prstGeom prst="rect">
            <a:avLst/>
          </a:prstGeom>
          <a:noFill/>
          <a:ln/>
        </p:spPr>
        <p:txBody>
          <a:bodyPr wrap="square" lIns="0" tIns="0" rIns="0" bIns="0" rtlCol="0" anchor="ctr"/>
          <a:lstStyle/>
          <a:p>
            <a:pPr indent="0" marL="0">
              <a:buNone/>
            </a:pPr>
            <a:r>
              <a:rPr lang="en-US" sz="1250" b="1" dirty="0">
                <a:solidFill>
                  <a:srgbClr val="5A6478"/>
                </a:solidFill>
                <a:latin typeface="Calibri" pitchFamily="34" charset="0"/>
                <a:ea typeface="Calibri" pitchFamily="34" charset="-122"/>
                <a:cs typeface="Calibri" pitchFamily="34" charset="-120"/>
              </a:rPr>
              <a:t>B - Sampled evaluation</a:t>
            </a:r>
            <a:endParaRPr lang="en-US" sz="1250" dirty="0"/>
          </a:p>
        </p:txBody>
      </p:sp>
      <p:sp>
        <p:nvSpPr>
          <p:cNvPr id="21" name="Text 19"/>
          <p:cNvSpPr/>
          <p:nvPr/>
        </p:nvSpPr>
        <p:spPr>
          <a:xfrm>
            <a:off x="4297680" y="2706624"/>
            <a:ext cx="1371600" cy="274320"/>
          </a:xfrm>
          <a:prstGeom prst="rect">
            <a:avLst/>
          </a:prstGeom>
          <a:noFill/>
          <a:ln/>
        </p:spPr>
        <p:txBody>
          <a:bodyPr wrap="square" lIns="0" tIns="0" rIns="0" bIns="0" rtlCol="0" anchor="ctr"/>
          <a:lstStyle/>
          <a:p>
            <a:pPr indent="0" marL="0">
              <a:buNone/>
            </a:pPr>
            <a:r>
              <a:rPr lang="en-US" sz="1250" dirty="0">
                <a:solidFill>
                  <a:srgbClr val="5A6478"/>
                </a:solidFill>
                <a:latin typeface="Calibri" pitchFamily="34" charset="0"/>
                <a:ea typeface="Calibri" pitchFamily="34" charset="-122"/>
                <a:cs typeface="Calibri" pitchFamily="34" charset="-120"/>
              </a:rPr>
              <a:t>0.750</a:t>
            </a:r>
            <a:endParaRPr lang="en-US" sz="1250" dirty="0"/>
          </a:p>
        </p:txBody>
      </p:sp>
      <p:sp>
        <p:nvSpPr>
          <p:cNvPr id="22" name="Text 20"/>
          <p:cNvSpPr/>
          <p:nvPr/>
        </p:nvSpPr>
        <p:spPr>
          <a:xfrm>
            <a:off x="5760720" y="2706624"/>
            <a:ext cx="1280160" cy="274320"/>
          </a:xfrm>
          <a:prstGeom prst="rect">
            <a:avLst/>
          </a:prstGeom>
          <a:noFill/>
          <a:ln/>
        </p:spPr>
        <p:txBody>
          <a:bodyPr wrap="square" lIns="0" tIns="0" rIns="0" bIns="0" rtlCol="0" anchor="ctr"/>
          <a:lstStyle/>
          <a:p>
            <a:pPr indent="0" marL="0">
              <a:buNone/>
            </a:pPr>
            <a:r>
              <a:rPr lang="en-US" sz="1250" dirty="0">
                <a:solidFill>
                  <a:srgbClr val="5A6478"/>
                </a:solidFill>
                <a:latin typeface="Calibri" pitchFamily="34" charset="0"/>
                <a:ea typeface="Calibri" pitchFamily="34" charset="-122"/>
                <a:cs typeface="Calibri" pitchFamily="34" charset="-120"/>
              </a:rPr>
              <a:t>0.750</a:t>
            </a:r>
            <a:endParaRPr lang="en-US" sz="1250" dirty="0"/>
          </a:p>
        </p:txBody>
      </p:sp>
      <p:sp>
        <p:nvSpPr>
          <p:cNvPr id="23" name="Text 21"/>
          <p:cNvSpPr/>
          <p:nvPr/>
        </p:nvSpPr>
        <p:spPr>
          <a:xfrm>
            <a:off x="7132320" y="2706624"/>
            <a:ext cx="1188720" cy="274320"/>
          </a:xfrm>
          <a:prstGeom prst="rect">
            <a:avLst/>
          </a:prstGeom>
          <a:noFill/>
          <a:ln/>
        </p:spPr>
        <p:txBody>
          <a:bodyPr wrap="square" lIns="0" tIns="0" rIns="0" bIns="0" rtlCol="0" anchor="ctr"/>
          <a:lstStyle/>
          <a:p>
            <a:pPr indent="0" marL="0">
              <a:buNone/>
            </a:pPr>
            <a:r>
              <a:rPr lang="en-US" sz="1250" dirty="0">
                <a:solidFill>
                  <a:srgbClr val="5A6478"/>
                </a:solidFill>
                <a:latin typeface="Calibri" pitchFamily="34" charset="0"/>
                <a:ea typeface="Calibri" pitchFamily="34" charset="-122"/>
                <a:cs typeface="Calibri" pitchFamily="34" charset="-120"/>
              </a:rPr>
              <a:t>0.750</a:t>
            </a:r>
            <a:endParaRPr lang="en-US" sz="1250" dirty="0"/>
          </a:p>
        </p:txBody>
      </p:sp>
      <p:sp>
        <p:nvSpPr>
          <p:cNvPr id="24" name="Text 22"/>
          <p:cNvSpPr/>
          <p:nvPr/>
        </p:nvSpPr>
        <p:spPr>
          <a:xfrm>
            <a:off x="8412480" y="2706624"/>
            <a:ext cx="1371600" cy="274320"/>
          </a:xfrm>
          <a:prstGeom prst="rect">
            <a:avLst/>
          </a:prstGeom>
          <a:noFill/>
          <a:ln/>
        </p:spPr>
        <p:txBody>
          <a:bodyPr wrap="square" lIns="0" tIns="0" rIns="0" bIns="0" rtlCol="0" anchor="ctr"/>
          <a:lstStyle/>
          <a:p>
            <a:pPr indent="0" marL="0">
              <a:buNone/>
            </a:pPr>
            <a:r>
              <a:rPr lang="en-US" sz="1250" dirty="0">
                <a:solidFill>
                  <a:srgbClr val="5A6478"/>
                </a:solidFill>
                <a:latin typeface="Calibri" pitchFamily="34" charset="0"/>
                <a:ea typeface="Calibri" pitchFamily="34" charset="-122"/>
                <a:cs typeface="Calibri" pitchFamily="34" charset="-120"/>
              </a:rPr>
              <a:t>0.167</a:t>
            </a:r>
            <a:endParaRPr lang="en-US" sz="1250" dirty="0"/>
          </a:p>
        </p:txBody>
      </p:sp>
      <p:sp>
        <p:nvSpPr>
          <p:cNvPr id="25" name="Text 23"/>
          <p:cNvSpPr/>
          <p:nvPr/>
        </p:nvSpPr>
        <p:spPr>
          <a:xfrm>
            <a:off x="9875520" y="2706624"/>
            <a:ext cx="1371600" cy="274320"/>
          </a:xfrm>
          <a:prstGeom prst="rect">
            <a:avLst/>
          </a:prstGeom>
          <a:noFill/>
          <a:ln/>
        </p:spPr>
        <p:txBody>
          <a:bodyPr wrap="square" lIns="0" tIns="0" rIns="0" bIns="0" rtlCol="0" anchor="ctr"/>
          <a:lstStyle/>
          <a:p>
            <a:pPr indent="0" marL="0">
              <a:buNone/>
            </a:pPr>
            <a:r>
              <a:rPr lang="en-US" sz="1250" dirty="0">
                <a:solidFill>
                  <a:srgbClr val="5A6478"/>
                </a:solidFill>
                <a:latin typeface="Calibri" pitchFamily="34" charset="0"/>
                <a:ea typeface="Calibri" pitchFamily="34" charset="-122"/>
                <a:cs typeface="Calibri" pitchFamily="34" charset="-120"/>
              </a:rPr>
              <a:t>53.2 ms</a:t>
            </a:r>
            <a:endParaRPr lang="en-US" sz="1250" dirty="0"/>
          </a:p>
        </p:txBody>
      </p:sp>
      <p:sp>
        <p:nvSpPr>
          <p:cNvPr id="26" name="Shape 24"/>
          <p:cNvSpPr/>
          <p:nvPr/>
        </p:nvSpPr>
        <p:spPr>
          <a:xfrm>
            <a:off x="640080" y="3200400"/>
            <a:ext cx="10881360" cy="603504"/>
          </a:xfrm>
          <a:prstGeom prst="roundRect">
            <a:avLst>
              <a:gd name="adj" fmla="val 10606"/>
            </a:avLst>
          </a:prstGeom>
          <a:solidFill>
            <a:srgbClr val="FFFFFF"/>
          </a:solidFill>
          <a:ln w="12700">
            <a:solidFill>
              <a:srgbClr val="FFFFFF"/>
            </a:solidFill>
            <a:prstDash val="solid"/>
          </a:ln>
        </p:spPr>
      </p:sp>
      <p:sp>
        <p:nvSpPr>
          <p:cNvPr id="27" name="Text 25"/>
          <p:cNvSpPr/>
          <p:nvPr/>
        </p:nvSpPr>
        <p:spPr>
          <a:xfrm>
            <a:off x="914400" y="3383280"/>
            <a:ext cx="3291840" cy="274320"/>
          </a:xfrm>
          <a:prstGeom prst="rect">
            <a:avLst/>
          </a:prstGeom>
          <a:noFill/>
          <a:ln/>
        </p:spPr>
        <p:txBody>
          <a:bodyPr wrap="square" lIns="0" tIns="0" rIns="0" bIns="0" rtlCol="0" anchor="ctr"/>
          <a:lstStyle/>
          <a:p>
            <a:pPr indent="0" marL="0">
              <a:buNone/>
            </a:pPr>
            <a:r>
              <a:rPr lang="en-US" sz="1250" b="1" dirty="0">
                <a:solidFill>
                  <a:srgbClr val="5A6478"/>
                </a:solidFill>
                <a:latin typeface="Calibri" pitchFamily="34" charset="0"/>
                <a:ea typeface="Calibri" pitchFamily="34" charset="-122"/>
                <a:cs typeface="Calibri" pitchFamily="34" charset="-120"/>
              </a:rPr>
              <a:t>C - Embedding only</a:t>
            </a:r>
            <a:endParaRPr lang="en-US" sz="1250" dirty="0"/>
          </a:p>
        </p:txBody>
      </p:sp>
      <p:sp>
        <p:nvSpPr>
          <p:cNvPr id="28" name="Text 26"/>
          <p:cNvSpPr/>
          <p:nvPr/>
        </p:nvSpPr>
        <p:spPr>
          <a:xfrm>
            <a:off x="4297680" y="3383280"/>
            <a:ext cx="1371600" cy="274320"/>
          </a:xfrm>
          <a:prstGeom prst="rect">
            <a:avLst/>
          </a:prstGeom>
          <a:noFill/>
          <a:ln/>
        </p:spPr>
        <p:txBody>
          <a:bodyPr wrap="square" lIns="0" tIns="0" rIns="0" bIns="0" rtlCol="0" anchor="ctr"/>
          <a:lstStyle/>
          <a:p>
            <a:pPr indent="0" marL="0">
              <a:buNone/>
            </a:pPr>
            <a:r>
              <a:rPr lang="en-US" sz="1250" dirty="0">
                <a:solidFill>
                  <a:srgbClr val="5A6478"/>
                </a:solidFill>
                <a:latin typeface="Calibri" pitchFamily="34" charset="0"/>
                <a:ea typeface="Calibri" pitchFamily="34" charset="-122"/>
                <a:cs typeface="Calibri" pitchFamily="34" charset="-120"/>
              </a:rPr>
              <a:t>0.833</a:t>
            </a:r>
            <a:endParaRPr lang="en-US" sz="1250" dirty="0"/>
          </a:p>
        </p:txBody>
      </p:sp>
      <p:sp>
        <p:nvSpPr>
          <p:cNvPr id="29" name="Text 27"/>
          <p:cNvSpPr/>
          <p:nvPr/>
        </p:nvSpPr>
        <p:spPr>
          <a:xfrm>
            <a:off x="5760720" y="3383280"/>
            <a:ext cx="1280160" cy="274320"/>
          </a:xfrm>
          <a:prstGeom prst="rect">
            <a:avLst/>
          </a:prstGeom>
          <a:noFill/>
          <a:ln/>
        </p:spPr>
        <p:txBody>
          <a:bodyPr wrap="square" lIns="0" tIns="0" rIns="0" bIns="0" rtlCol="0" anchor="ctr"/>
          <a:lstStyle/>
          <a:p>
            <a:pPr indent="0" marL="0">
              <a:buNone/>
            </a:pPr>
            <a:r>
              <a:rPr lang="en-US" sz="1250" dirty="0">
                <a:solidFill>
                  <a:srgbClr val="5A6478"/>
                </a:solidFill>
                <a:latin typeface="Calibri" pitchFamily="34" charset="0"/>
                <a:ea typeface="Calibri" pitchFamily="34" charset="-122"/>
                <a:cs typeface="Calibri" pitchFamily="34" charset="-120"/>
              </a:rPr>
              <a:t>0.625</a:t>
            </a:r>
            <a:endParaRPr lang="en-US" sz="1250" dirty="0"/>
          </a:p>
        </p:txBody>
      </p:sp>
      <p:sp>
        <p:nvSpPr>
          <p:cNvPr id="30" name="Text 28"/>
          <p:cNvSpPr/>
          <p:nvPr/>
        </p:nvSpPr>
        <p:spPr>
          <a:xfrm>
            <a:off x="7132320" y="3383280"/>
            <a:ext cx="1188720" cy="274320"/>
          </a:xfrm>
          <a:prstGeom prst="rect">
            <a:avLst/>
          </a:prstGeom>
          <a:noFill/>
          <a:ln/>
        </p:spPr>
        <p:txBody>
          <a:bodyPr wrap="square" lIns="0" tIns="0" rIns="0" bIns="0" rtlCol="0" anchor="ctr"/>
          <a:lstStyle/>
          <a:p>
            <a:pPr indent="0" marL="0">
              <a:buNone/>
            </a:pPr>
            <a:r>
              <a:rPr lang="en-US" sz="1250" dirty="0">
                <a:solidFill>
                  <a:srgbClr val="5A6478"/>
                </a:solidFill>
                <a:latin typeface="Calibri" pitchFamily="34" charset="0"/>
                <a:ea typeface="Calibri" pitchFamily="34" charset="-122"/>
                <a:cs typeface="Calibri" pitchFamily="34" charset="-120"/>
              </a:rPr>
              <a:t>0.714</a:t>
            </a:r>
            <a:endParaRPr lang="en-US" sz="1250" dirty="0"/>
          </a:p>
        </p:txBody>
      </p:sp>
      <p:sp>
        <p:nvSpPr>
          <p:cNvPr id="31" name="Text 29"/>
          <p:cNvSpPr/>
          <p:nvPr/>
        </p:nvSpPr>
        <p:spPr>
          <a:xfrm>
            <a:off x="8412480" y="3383280"/>
            <a:ext cx="1371600" cy="274320"/>
          </a:xfrm>
          <a:prstGeom prst="rect">
            <a:avLst/>
          </a:prstGeom>
          <a:noFill/>
          <a:ln/>
        </p:spPr>
        <p:txBody>
          <a:bodyPr wrap="square" lIns="0" tIns="0" rIns="0" bIns="0" rtlCol="0" anchor="ctr"/>
          <a:lstStyle/>
          <a:p>
            <a:pPr indent="0" marL="0">
              <a:buNone/>
            </a:pPr>
            <a:r>
              <a:rPr lang="en-US" sz="1250" dirty="0">
                <a:solidFill>
                  <a:srgbClr val="5A6478"/>
                </a:solidFill>
                <a:latin typeface="Calibri" pitchFamily="34" charset="0"/>
                <a:ea typeface="Calibri" pitchFamily="34" charset="-122"/>
                <a:cs typeface="Calibri" pitchFamily="34" charset="-120"/>
              </a:rPr>
              <a:t>0.083</a:t>
            </a:r>
            <a:endParaRPr lang="en-US" sz="1250" dirty="0"/>
          </a:p>
        </p:txBody>
      </p:sp>
      <p:sp>
        <p:nvSpPr>
          <p:cNvPr id="32" name="Text 30"/>
          <p:cNvSpPr/>
          <p:nvPr/>
        </p:nvSpPr>
        <p:spPr>
          <a:xfrm>
            <a:off x="9875520" y="3383280"/>
            <a:ext cx="1371600" cy="274320"/>
          </a:xfrm>
          <a:prstGeom prst="rect">
            <a:avLst/>
          </a:prstGeom>
          <a:noFill/>
          <a:ln/>
        </p:spPr>
        <p:txBody>
          <a:bodyPr wrap="square" lIns="0" tIns="0" rIns="0" bIns="0" rtlCol="0" anchor="ctr"/>
          <a:lstStyle/>
          <a:p>
            <a:pPr indent="0" marL="0">
              <a:buNone/>
            </a:pPr>
            <a:r>
              <a:rPr lang="en-US" sz="1250" dirty="0">
                <a:solidFill>
                  <a:srgbClr val="5A6478"/>
                </a:solidFill>
                <a:latin typeface="Calibri" pitchFamily="34" charset="0"/>
                <a:ea typeface="Calibri" pitchFamily="34" charset="-122"/>
                <a:cs typeface="Calibri" pitchFamily="34" charset="-120"/>
              </a:rPr>
              <a:t>15.1 ms</a:t>
            </a:r>
            <a:endParaRPr lang="en-US" sz="1250" dirty="0"/>
          </a:p>
        </p:txBody>
      </p:sp>
      <p:sp>
        <p:nvSpPr>
          <p:cNvPr id="33" name="Shape 31"/>
          <p:cNvSpPr/>
          <p:nvPr/>
        </p:nvSpPr>
        <p:spPr>
          <a:xfrm>
            <a:off x="640080" y="3877056"/>
            <a:ext cx="10881360" cy="603504"/>
          </a:xfrm>
          <a:prstGeom prst="roundRect">
            <a:avLst>
              <a:gd name="adj" fmla="val 10606"/>
            </a:avLst>
          </a:prstGeom>
          <a:solidFill>
            <a:srgbClr val="EAF7F1"/>
          </a:solidFill>
          <a:ln w="12700">
            <a:solidFill>
              <a:srgbClr val="EAF7F1"/>
            </a:solidFill>
            <a:prstDash val="solid"/>
          </a:ln>
        </p:spPr>
      </p:sp>
      <p:sp>
        <p:nvSpPr>
          <p:cNvPr id="34" name="Text 32"/>
          <p:cNvSpPr/>
          <p:nvPr/>
        </p:nvSpPr>
        <p:spPr>
          <a:xfrm>
            <a:off x="914400" y="4059936"/>
            <a:ext cx="3291840" cy="274320"/>
          </a:xfrm>
          <a:prstGeom prst="rect">
            <a:avLst/>
          </a:prstGeom>
          <a:noFill/>
          <a:ln/>
        </p:spPr>
        <p:txBody>
          <a:bodyPr wrap="square" lIns="0" tIns="0" rIns="0" bIns="0" rtlCol="0" anchor="ctr"/>
          <a:lstStyle/>
          <a:p>
            <a:pPr indent="0" marL="0">
              <a:buNone/>
            </a:pPr>
            <a:r>
              <a:rPr lang="en-US" sz="1250" b="1" dirty="0">
                <a:solidFill>
                  <a:srgbClr val="15704F"/>
                </a:solidFill>
                <a:latin typeface="Calibri" pitchFamily="34" charset="0"/>
                <a:ea typeface="Calibri" pitchFamily="34" charset="-122"/>
                <a:cs typeface="Calibri" pitchFamily="34" charset="-120"/>
              </a:rPr>
              <a:t>D - NLI without drift</a:t>
            </a:r>
            <a:endParaRPr lang="en-US" sz="1250" dirty="0"/>
          </a:p>
        </p:txBody>
      </p:sp>
      <p:sp>
        <p:nvSpPr>
          <p:cNvPr id="35" name="Text 33"/>
          <p:cNvSpPr/>
          <p:nvPr/>
        </p:nvSpPr>
        <p:spPr>
          <a:xfrm>
            <a:off x="4297680" y="4059936"/>
            <a:ext cx="1371600" cy="274320"/>
          </a:xfrm>
          <a:prstGeom prst="rect">
            <a:avLst/>
          </a:prstGeom>
          <a:noFill/>
          <a:ln/>
        </p:spPr>
        <p:txBody>
          <a:bodyPr wrap="square" lIns="0" tIns="0" rIns="0" bIns="0" rtlCol="0" anchor="ctr"/>
          <a:lstStyle/>
          <a:p>
            <a:pPr indent="0" marL="0">
              <a:buNone/>
            </a:pPr>
            <a:r>
              <a:rPr lang="en-US" sz="1250" b="1" dirty="0">
                <a:solidFill>
                  <a:srgbClr val="15704F"/>
                </a:solidFill>
                <a:latin typeface="Calibri" pitchFamily="34" charset="0"/>
                <a:ea typeface="Calibri" pitchFamily="34" charset="-122"/>
                <a:cs typeface="Calibri" pitchFamily="34" charset="-120"/>
              </a:rPr>
              <a:t>0.889</a:t>
            </a:r>
            <a:endParaRPr lang="en-US" sz="1250" dirty="0"/>
          </a:p>
        </p:txBody>
      </p:sp>
      <p:sp>
        <p:nvSpPr>
          <p:cNvPr id="36" name="Text 34"/>
          <p:cNvSpPr/>
          <p:nvPr/>
        </p:nvSpPr>
        <p:spPr>
          <a:xfrm>
            <a:off x="5760720" y="4059936"/>
            <a:ext cx="1280160" cy="274320"/>
          </a:xfrm>
          <a:prstGeom prst="rect">
            <a:avLst/>
          </a:prstGeom>
          <a:noFill/>
          <a:ln/>
        </p:spPr>
        <p:txBody>
          <a:bodyPr wrap="square" lIns="0" tIns="0" rIns="0" bIns="0" rtlCol="0" anchor="ctr"/>
          <a:lstStyle/>
          <a:p>
            <a:pPr indent="0" marL="0">
              <a:buNone/>
            </a:pPr>
            <a:r>
              <a:rPr lang="en-US" sz="1250" b="1" dirty="0">
                <a:solidFill>
                  <a:srgbClr val="15704F"/>
                </a:solidFill>
                <a:latin typeface="Calibri" pitchFamily="34" charset="0"/>
                <a:ea typeface="Calibri" pitchFamily="34" charset="-122"/>
                <a:cs typeface="Calibri" pitchFamily="34" charset="-120"/>
              </a:rPr>
              <a:t>1.000</a:t>
            </a:r>
            <a:endParaRPr lang="en-US" sz="1250" dirty="0"/>
          </a:p>
        </p:txBody>
      </p:sp>
      <p:sp>
        <p:nvSpPr>
          <p:cNvPr id="37" name="Text 35"/>
          <p:cNvSpPr/>
          <p:nvPr/>
        </p:nvSpPr>
        <p:spPr>
          <a:xfrm>
            <a:off x="7132320" y="4059936"/>
            <a:ext cx="1188720" cy="274320"/>
          </a:xfrm>
          <a:prstGeom prst="rect">
            <a:avLst/>
          </a:prstGeom>
          <a:noFill/>
          <a:ln/>
        </p:spPr>
        <p:txBody>
          <a:bodyPr wrap="square" lIns="0" tIns="0" rIns="0" bIns="0" rtlCol="0" anchor="ctr"/>
          <a:lstStyle/>
          <a:p>
            <a:pPr indent="0" marL="0">
              <a:buNone/>
            </a:pPr>
            <a:r>
              <a:rPr lang="en-US" sz="1250" b="1" dirty="0">
                <a:solidFill>
                  <a:srgbClr val="15704F"/>
                </a:solidFill>
                <a:latin typeface="Calibri" pitchFamily="34" charset="0"/>
                <a:ea typeface="Calibri" pitchFamily="34" charset="-122"/>
                <a:cs typeface="Calibri" pitchFamily="34" charset="-120"/>
              </a:rPr>
              <a:t>0.941</a:t>
            </a:r>
            <a:endParaRPr lang="en-US" sz="1250" dirty="0"/>
          </a:p>
        </p:txBody>
      </p:sp>
      <p:sp>
        <p:nvSpPr>
          <p:cNvPr id="38" name="Text 36"/>
          <p:cNvSpPr/>
          <p:nvPr/>
        </p:nvSpPr>
        <p:spPr>
          <a:xfrm>
            <a:off x="8412480" y="4059936"/>
            <a:ext cx="1371600" cy="274320"/>
          </a:xfrm>
          <a:prstGeom prst="rect">
            <a:avLst/>
          </a:prstGeom>
          <a:noFill/>
          <a:ln/>
        </p:spPr>
        <p:txBody>
          <a:bodyPr wrap="square" lIns="0" tIns="0" rIns="0" bIns="0" rtlCol="0" anchor="ctr"/>
          <a:lstStyle/>
          <a:p>
            <a:pPr indent="0" marL="0">
              <a:buNone/>
            </a:pPr>
            <a:r>
              <a:rPr lang="en-US" sz="1250" b="1" dirty="0">
                <a:solidFill>
                  <a:srgbClr val="15704F"/>
                </a:solidFill>
                <a:latin typeface="Calibri" pitchFamily="34" charset="0"/>
                <a:ea typeface="Calibri" pitchFamily="34" charset="-122"/>
                <a:cs typeface="Calibri" pitchFamily="34" charset="-120"/>
              </a:rPr>
              <a:t>0.083</a:t>
            </a:r>
            <a:endParaRPr lang="en-US" sz="1250" dirty="0"/>
          </a:p>
        </p:txBody>
      </p:sp>
      <p:sp>
        <p:nvSpPr>
          <p:cNvPr id="39" name="Text 37"/>
          <p:cNvSpPr/>
          <p:nvPr/>
        </p:nvSpPr>
        <p:spPr>
          <a:xfrm>
            <a:off x="9875520" y="4059936"/>
            <a:ext cx="1371600" cy="274320"/>
          </a:xfrm>
          <a:prstGeom prst="rect">
            <a:avLst/>
          </a:prstGeom>
          <a:noFill/>
          <a:ln/>
        </p:spPr>
        <p:txBody>
          <a:bodyPr wrap="square" lIns="0" tIns="0" rIns="0" bIns="0" rtlCol="0" anchor="ctr"/>
          <a:lstStyle/>
          <a:p>
            <a:pPr indent="0" marL="0">
              <a:buNone/>
            </a:pPr>
            <a:r>
              <a:rPr lang="en-US" sz="1250" b="1" dirty="0">
                <a:solidFill>
                  <a:srgbClr val="15704F"/>
                </a:solidFill>
                <a:latin typeface="Calibri" pitchFamily="34" charset="0"/>
                <a:ea typeface="Calibri" pitchFamily="34" charset="-122"/>
                <a:cs typeface="Calibri" pitchFamily="34" charset="-120"/>
              </a:rPr>
              <a:t>72.6 ms</a:t>
            </a:r>
            <a:endParaRPr lang="en-US" sz="1250" dirty="0"/>
          </a:p>
        </p:txBody>
      </p:sp>
      <p:sp>
        <p:nvSpPr>
          <p:cNvPr id="40" name="Shape 38"/>
          <p:cNvSpPr/>
          <p:nvPr/>
        </p:nvSpPr>
        <p:spPr>
          <a:xfrm>
            <a:off x="640080" y="4553712"/>
            <a:ext cx="10881360" cy="603504"/>
          </a:xfrm>
          <a:prstGeom prst="roundRect">
            <a:avLst>
              <a:gd name="adj" fmla="val 10606"/>
            </a:avLst>
          </a:prstGeom>
          <a:solidFill>
            <a:srgbClr val="FFF0F2"/>
          </a:solidFill>
          <a:ln w="12700">
            <a:solidFill>
              <a:srgbClr val="FFF0F2"/>
            </a:solidFill>
            <a:prstDash val="solid"/>
          </a:ln>
        </p:spPr>
      </p:sp>
      <p:sp>
        <p:nvSpPr>
          <p:cNvPr id="41" name="Text 39"/>
          <p:cNvSpPr/>
          <p:nvPr/>
        </p:nvSpPr>
        <p:spPr>
          <a:xfrm>
            <a:off x="914400" y="4736592"/>
            <a:ext cx="3291840" cy="274320"/>
          </a:xfrm>
          <a:prstGeom prst="rect">
            <a:avLst/>
          </a:prstGeom>
          <a:noFill/>
          <a:ln/>
        </p:spPr>
        <p:txBody>
          <a:bodyPr wrap="square" lIns="0" tIns="0" rIns="0" bIns="0" rtlCol="0" anchor="ctr"/>
          <a:lstStyle/>
          <a:p>
            <a:pPr indent="0" marL="0">
              <a:buNone/>
            </a:pPr>
            <a:r>
              <a:rPr lang="en-US" sz="1250" b="1" dirty="0">
                <a:solidFill>
                  <a:srgbClr val="9B2C3A"/>
                </a:solidFill>
                <a:latin typeface="Calibri" pitchFamily="34" charset="0"/>
                <a:ea typeface="Calibri" pitchFamily="34" charset="-122"/>
                <a:cs typeface="Calibri" pitchFamily="34" charset="-120"/>
              </a:rPr>
              <a:t>AgentPulse full system</a:t>
            </a:r>
            <a:endParaRPr lang="en-US" sz="1250" dirty="0"/>
          </a:p>
        </p:txBody>
      </p:sp>
      <p:sp>
        <p:nvSpPr>
          <p:cNvPr id="42" name="Text 40"/>
          <p:cNvSpPr/>
          <p:nvPr/>
        </p:nvSpPr>
        <p:spPr>
          <a:xfrm>
            <a:off x="4297680" y="4736592"/>
            <a:ext cx="1371600" cy="274320"/>
          </a:xfrm>
          <a:prstGeom prst="rect">
            <a:avLst/>
          </a:prstGeom>
          <a:noFill/>
          <a:ln/>
        </p:spPr>
        <p:txBody>
          <a:bodyPr wrap="square" lIns="0" tIns="0" rIns="0" bIns="0" rtlCol="0" anchor="ctr"/>
          <a:lstStyle/>
          <a:p>
            <a:pPr indent="0" marL="0">
              <a:buNone/>
            </a:pPr>
            <a:r>
              <a:rPr lang="en-US" sz="1250" dirty="0">
                <a:solidFill>
                  <a:srgbClr val="9B2C3A"/>
                </a:solidFill>
                <a:latin typeface="Calibri" pitchFamily="34" charset="0"/>
                <a:ea typeface="Calibri" pitchFamily="34" charset="-122"/>
                <a:cs typeface="Calibri" pitchFamily="34" charset="-120"/>
              </a:rPr>
              <a:t>0.727</a:t>
            </a:r>
            <a:endParaRPr lang="en-US" sz="1250" dirty="0"/>
          </a:p>
        </p:txBody>
      </p:sp>
      <p:sp>
        <p:nvSpPr>
          <p:cNvPr id="43" name="Text 41"/>
          <p:cNvSpPr/>
          <p:nvPr/>
        </p:nvSpPr>
        <p:spPr>
          <a:xfrm>
            <a:off x="5760720" y="4736592"/>
            <a:ext cx="1280160" cy="274320"/>
          </a:xfrm>
          <a:prstGeom prst="rect">
            <a:avLst/>
          </a:prstGeom>
          <a:noFill/>
          <a:ln/>
        </p:spPr>
        <p:txBody>
          <a:bodyPr wrap="square" lIns="0" tIns="0" rIns="0" bIns="0" rtlCol="0" anchor="ctr"/>
          <a:lstStyle/>
          <a:p>
            <a:pPr indent="0" marL="0">
              <a:buNone/>
            </a:pPr>
            <a:r>
              <a:rPr lang="en-US" sz="1250" dirty="0">
                <a:solidFill>
                  <a:srgbClr val="9B2C3A"/>
                </a:solidFill>
                <a:latin typeface="Calibri" pitchFamily="34" charset="0"/>
                <a:ea typeface="Calibri" pitchFamily="34" charset="-122"/>
                <a:cs typeface="Calibri" pitchFamily="34" charset="-120"/>
              </a:rPr>
              <a:t>1.000</a:t>
            </a:r>
            <a:endParaRPr lang="en-US" sz="1250" dirty="0"/>
          </a:p>
        </p:txBody>
      </p:sp>
      <p:sp>
        <p:nvSpPr>
          <p:cNvPr id="44" name="Text 42"/>
          <p:cNvSpPr/>
          <p:nvPr/>
        </p:nvSpPr>
        <p:spPr>
          <a:xfrm>
            <a:off x="7132320" y="4736592"/>
            <a:ext cx="1188720" cy="274320"/>
          </a:xfrm>
          <a:prstGeom prst="rect">
            <a:avLst/>
          </a:prstGeom>
          <a:noFill/>
          <a:ln/>
        </p:spPr>
        <p:txBody>
          <a:bodyPr wrap="square" lIns="0" tIns="0" rIns="0" bIns="0" rtlCol="0" anchor="ctr"/>
          <a:lstStyle/>
          <a:p>
            <a:pPr indent="0" marL="0">
              <a:buNone/>
            </a:pPr>
            <a:r>
              <a:rPr lang="en-US" sz="1250" dirty="0">
                <a:solidFill>
                  <a:srgbClr val="9B2C3A"/>
                </a:solidFill>
                <a:latin typeface="Calibri" pitchFamily="34" charset="0"/>
                <a:ea typeface="Calibri" pitchFamily="34" charset="-122"/>
                <a:cs typeface="Calibri" pitchFamily="34" charset="-120"/>
              </a:rPr>
              <a:t>0.842</a:t>
            </a:r>
            <a:endParaRPr lang="en-US" sz="1250" dirty="0"/>
          </a:p>
        </p:txBody>
      </p:sp>
      <p:sp>
        <p:nvSpPr>
          <p:cNvPr id="45" name="Text 43"/>
          <p:cNvSpPr/>
          <p:nvPr/>
        </p:nvSpPr>
        <p:spPr>
          <a:xfrm>
            <a:off x="8412480" y="4736592"/>
            <a:ext cx="1371600" cy="274320"/>
          </a:xfrm>
          <a:prstGeom prst="rect">
            <a:avLst/>
          </a:prstGeom>
          <a:noFill/>
          <a:ln/>
        </p:spPr>
        <p:txBody>
          <a:bodyPr wrap="square" lIns="0" tIns="0" rIns="0" bIns="0" rtlCol="0" anchor="ctr"/>
          <a:lstStyle/>
          <a:p>
            <a:pPr indent="0" marL="0">
              <a:buNone/>
            </a:pPr>
            <a:r>
              <a:rPr lang="en-US" sz="1250" dirty="0">
                <a:solidFill>
                  <a:srgbClr val="9B2C3A"/>
                </a:solidFill>
                <a:latin typeface="Calibri" pitchFamily="34" charset="0"/>
                <a:ea typeface="Calibri" pitchFamily="34" charset="-122"/>
                <a:cs typeface="Calibri" pitchFamily="34" charset="-120"/>
              </a:rPr>
              <a:t>0.250</a:t>
            </a:r>
            <a:endParaRPr lang="en-US" sz="1250" dirty="0"/>
          </a:p>
        </p:txBody>
      </p:sp>
      <p:sp>
        <p:nvSpPr>
          <p:cNvPr id="46" name="Text 44"/>
          <p:cNvSpPr/>
          <p:nvPr/>
        </p:nvSpPr>
        <p:spPr>
          <a:xfrm>
            <a:off x="9875520" y="4736592"/>
            <a:ext cx="1371600" cy="274320"/>
          </a:xfrm>
          <a:prstGeom prst="rect">
            <a:avLst/>
          </a:prstGeom>
          <a:noFill/>
          <a:ln/>
        </p:spPr>
        <p:txBody>
          <a:bodyPr wrap="square" lIns="0" tIns="0" rIns="0" bIns="0" rtlCol="0" anchor="ctr"/>
          <a:lstStyle/>
          <a:p>
            <a:pPr indent="0" marL="0">
              <a:buNone/>
            </a:pPr>
            <a:r>
              <a:rPr lang="en-US" sz="1250" dirty="0">
                <a:solidFill>
                  <a:srgbClr val="9B2C3A"/>
                </a:solidFill>
                <a:latin typeface="Calibri" pitchFamily="34" charset="0"/>
                <a:ea typeface="Calibri" pitchFamily="34" charset="-122"/>
                <a:cs typeface="Calibri" pitchFamily="34" charset="-120"/>
              </a:rPr>
              <a:t>101.5 ms</a:t>
            </a:r>
            <a:endParaRPr lang="en-US" sz="1250" dirty="0"/>
          </a:p>
        </p:txBody>
      </p:sp>
      <p:sp>
        <p:nvSpPr>
          <p:cNvPr id="47" name="Shape 45"/>
          <p:cNvSpPr/>
          <p:nvPr/>
        </p:nvSpPr>
        <p:spPr>
          <a:xfrm>
            <a:off x="640080" y="5029200"/>
            <a:ext cx="10881360" cy="1325880"/>
          </a:xfrm>
          <a:prstGeom prst="roundRect">
            <a:avLst>
              <a:gd name="adj" fmla="val 4828"/>
            </a:avLst>
          </a:prstGeom>
          <a:solidFill>
            <a:srgbClr val="FFFFFF"/>
          </a:solidFill>
          <a:ln w="12700">
            <a:solidFill>
              <a:srgbClr val="FFFFFF"/>
            </a:solidFill>
            <a:prstDash val="solid"/>
          </a:ln>
        </p:spPr>
      </p:sp>
      <p:sp>
        <p:nvSpPr>
          <p:cNvPr id="48" name="Text 46"/>
          <p:cNvSpPr/>
          <p:nvPr/>
        </p:nvSpPr>
        <p:spPr>
          <a:xfrm>
            <a:off x="960120" y="5193792"/>
            <a:ext cx="10241280" cy="274320"/>
          </a:xfrm>
          <a:prstGeom prst="rect">
            <a:avLst/>
          </a:prstGeom>
          <a:noFill/>
          <a:ln/>
        </p:spPr>
        <p:txBody>
          <a:bodyPr wrap="square" lIns="0" tIns="0" rIns="0" bIns="0" rtlCol="0" anchor="ctr"/>
          <a:lstStyle/>
          <a:p>
            <a:pPr indent="0" marL="0">
              <a:buNone/>
            </a:pPr>
            <a:r>
              <a:rPr lang="en-US" sz="1300" b="1" dirty="0">
                <a:solidFill>
                  <a:srgbClr val="141922"/>
                </a:solidFill>
                <a:latin typeface="Calibri" pitchFamily="34" charset="0"/>
                <a:ea typeface="Calibri" pitchFamily="34" charset="-122"/>
                <a:cs typeface="Calibri" pitchFamily="34" charset="-120"/>
              </a:rPr>
              <a:t>The full system is not the best row, and that is reported rather than hidden</a:t>
            </a:r>
            <a:endParaRPr lang="en-US" sz="1300" dirty="0"/>
          </a:p>
        </p:txBody>
      </p:sp>
      <p:sp>
        <p:nvSpPr>
          <p:cNvPr id="49" name="Text 47"/>
          <p:cNvSpPr/>
          <p:nvPr/>
        </p:nvSpPr>
        <p:spPr>
          <a:xfrm>
            <a:off x="960120" y="5504688"/>
            <a:ext cx="10241280" cy="731520"/>
          </a:xfrm>
          <a:prstGeom prst="rect">
            <a:avLst/>
          </a:prstGeom>
          <a:noFill/>
          <a:ln/>
        </p:spPr>
        <p:txBody>
          <a:bodyPr wrap="square" lIns="0" tIns="0" rIns="0" bIns="0" rtlCol="0" anchor="ctr"/>
          <a:lstStyle/>
          <a:p>
            <a:pPr indent="0" marL="0">
              <a:buNone/>
            </a:pPr>
            <a:r>
              <a:rPr lang="en-US" sz="1150" dirty="0">
                <a:solidFill>
                  <a:srgbClr val="5A6478"/>
                </a:solidFill>
                <a:latin typeface="Calibri" pitchFamily="34" charset="0"/>
                <a:ea typeface="Calibri" pitchFamily="34" charset="-122"/>
                <a:cs typeface="Calibri" pitchFamily="34" charset="-120"/>
              </a:rPr>
              <a:t>Folding the drift score into a per-claim composite risk adds noise to a claim-level classification task - drift is a per-agent behavioural signal, not evidence about a single statement. The ablation shows the same effect independently: configuration F, NLI plus drift, drops to F1 0.619. Note also that this comparison is dated 18 August, nine days before the drift detector was rebuilt, so it measures the superseded signal. Re-running it is listed in future work.</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1117"/>
        </a:solidFill>
      </p:bgPr>
    </p:bg>
    <p:spTree>
      <p:nvGrpSpPr>
        <p:cNvPr id="1" name=""/>
        <p:cNvGrpSpPr/>
        <p:nvPr/>
      </p:nvGrpSpPr>
      <p:grpSpPr>
        <a:xfrm>
          <a:off x="0" y="0"/>
          <a:ext cx="0" cy="0"/>
          <a:chOff x="0" y="0"/>
          <a:chExt cx="0" cy="0"/>
        </a:xfrm>
      </p:grpSpPr>
      <p:sp>
        <p:nvSpPr>
          <p:cNvPr id="2" name="Text 0"/>
          <p:cNvSpPr/>
          <p:nvPr/>
        </p:nvSpPr>
        <p:spPr>
          <a:xfrm>
            <a:off x="640080" y="365760"/>
            <a:ext cx="9144000" cy="237744"/>
          </a:xfrm>
          <a:prstGeom prst="rect">
            <a:avLst/>
          </a:prstGeom>
          <a:noFill/>
          <a:ln/>
        </p:spPr>
        <p:txBody>
          <a:bodyPr wrap="square" lIns="0" tIns="0" rIns="0" bIns="0" rtlCol="0" anchor="ctr"/>
          <a:lstStyle/>
          <a:p>
            <a:pPr indent="0" marL="0">
              <a:buNone/>
            </a:pPr>
            <a:r>
              <a:rPr lang="en-US" sz="1050" b="1" spc="200" kern="0" dirty="0">
                <a:solidFill>
                  <a:srgbClr val="22D3EE"/>
                </a:solidFill>
                <a:latin typeface="Calibri" pitchFamily="34" charset="0"/>
                <a:ea typeface="Calibri" pitchFamily="34" charset="-122"/>
                <a:cs typeface="Calibri" pitchFamily="34" charset="-120"/>
              </a:rPr>
              <a:t>RESULTS</a:t>
            </a:r>
            <a:endParaRPr lang="en-US" sz="1050" dirty="0"/>
          </a:p>
        </p:txBody>
      </p:sp>
      <p:sp>
        <p:nvSpPr>
          <p:cNvPr id="3" name="Text 1"/>
          <p:cNvSpPr/>
          <p:nvPr/>
        </p:nvSpPr>
        <p:spPr>
          <a:xfrm>
            <a:off x="640080" y="621792"/>
            <a:ext cx="10881360" cy="640080"/>
          </a:xfrm>
          <a:prstGeom prst="rect">
            <a:avLst/>
          </a:prstGeom>
          <a:noFill/>
          <a:ln/>
        </p:spPr>
        <p:txBody>
          <a:bodyPr wrap="square" lIns="0" tIns="0" rIns="0" bIns="0" rtlCol="0" anchor="ctr"/>
          <a:lstStyle/>
          <a:p>
            <a:pPr indent="0" marL="0">
              <a:buNone/>
            </a:pPr>
            <a:r>
              <a:rPr lang="en-US" sz="3100" b="1" dirty="0">
                <a:solidFill>
                  <a:srgbClr val="E8ECF5"/>
                </a:solidFill>
                <a:latin typeface="Cambria" pitchFamily="34" charset="0"/>
                <a:ea typeface="Cambria" pitchFamily="34" charset="-122"/>
                <a:cs typeface="Cambria" pitchFamily="34" charset="-120"/>
              </a:rPr>
              <a:t>Ablation study - seven configurations</a:t>
            </a:r>
            <a:endParaRPr lang="en-US" sz="3100" dirty="0"/>
          </a:p>
        </p:txBody>
      </p:sp>
      <p:sp>
        <p:nvSpPr>
          <p:cNvPr id="4" name="Shape 2"/>
          <p:cNvSpPr/>
          <p:nvPr/>
        </p:nvSpPr>
        <p:spPr>
          <a:xfrm>
            <a:off x="8321040" y="384048"/>
            <a:ext cx="3200400" cy="256032"/>
          </a:xfrm>
          <a:prstGeom prst="roundRect">
            <a:avLst>
              <a:gd name="adj" fmla="val 42857"/>
            </a:avLst>
          </a:prstGeom>
          <a:solidFill>
            <a:srgbClr val="22D3EE">
              <a:alpha val="12000"/>
            </a:srgbClr>
          </a:solidFill>
          <a:ln w="7620">
            <a:solidFill>
              <a:srgbClr val="22D3EE"/>
            </a:solidFill>
            <a:prstDash val="solid"/>
          </a:ln>
        </p:spPr>
      </p:sp>
      <p:sp>
        <p:nvSpPr>
          <p:cNvPr id="5" name="Text 3"/>
          <p:cNvSpPr/>
          <p:nvPr/>
        </p:nvSpPr>
        <p:spPr>
          <a:xfrm>
            <a:off x="8321040" y="384048"/>
            <a:ext cx="3200400" cy="256032"/>
          </a:xfrm>
          <a:prstGeom prst="rect">
            <a:avLst/>
          </a:prstGeom>
          <a:noFill/>
          <a:ln/>
        </p:spPr>
        <p:txBody>
          <a:bodyPr wrap="square" lIns="0" tIns="0" rIns="0" bIns="0" rtlCol="0" anchor="ctr"/>
          <a:lstStyle/>
          <a:p>
            <a:pPr algn="ctr" indent="0" marL="0">
              <a:buNone/>
            </a:pPr>
            <a:r>
              <a:rPr lang="en-US" sz="900" b="1" dirty="0">
                <a:solidFill>
                  <a:srgbClr val="22D3EE"/>
                </a:solidFill>
                <a:latin typeface="Calibri" pitchFamily="34" charset="0"/>
                <a:ea typeface="Calibri" pitchFamily="34" charset="-122"/>
                <a:cs typeface="Calibri" pitchFamily="34" charset="-120"/>
              </a:rPr>
              <a:t>Ablation completed</a:t>
            </a:r>
            <a:endParaRPr lang="en-US" sz="900" dirty="0"/>
          </a:p>
        </p:txBody>
      </p:sp>
      <p:graphicFrame>
        <p:nvGraphicFramePr>
          <p:cNvPr id="6" name="Chart 0" descr=""/>
          <p:cNvGraphicFramePr/>
          <p:nvPr/>
        </p:nvGraphicFramePr>
        <p:xfrm>
          <a:off x="640080" y="1371600"/>
          <a:ext cx="6766560" cy="301752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7635240" y="1371600"/>
            <a:ext cx="3886200" cy="3017520"/>
          </a:xfrm>
          <a:prstGeom prst="roundRect">
            <a:avLst>
              <a:gd name="adj" fmla="val 2121"/>
            </a:avLst>
          </a:prstGeom>
          <a:solidFill>
            <a:srgbClr val="222937"/>
          </a:solidFill>
          <a:ln w="12700">
            <a:solidFill>
              <a:srgbClr val="222937"/>
            </a:solidFill>
            <a:prstDash val="solid"/>
          </a:ln>
        </p:spPr>
      </p:sp>
      <p:sp>
        <p:nvSpPr>
          <p:cNvPr id="8" name="Text 5"/>
          <p:cNvSpPr/>
          <p:nvPr/>
        </p:nvSpPr>
        <p:spPr>
          <a:xfrm>
            <a:off x="7955280" y="1572768"/>
            <a:ext cx="3291840" cy="292608"/>
          </a:xfrm>
          <a:prstGeom prst="rect">
            <a:avLst/>
          </a:prstGeom>
          <a:noFill/>
          <a:ln/>
        </p:spPr>
        <p:txBody>
          <a:bodyPr wrap="square" lIns="0" tIns="0" rIns="0" bIns="0" rtlCol="0" anchor="ctr"/>
          <a:lstStyle/>
          <a:p>
            <a:pPr indent="0" marL="0">
              <a:buNone/>
            </a:pPr>
            <a:r>
              <a:rPr lang="en-US" sz="1350" b="1" dirty="0">
                <a:solidFill>
                  <a:srgbClr val="22D3EE"/>
                </a:solidFill>
                <a:latin typeface="Calibri" pitchFamily="34" charset="0"/>
                <a:ea typeface="Calibri" pitchFamily="34" charset="-122"/>
                <a:cs typeface="Calibri" pitchFamily="34" charset="-120"/>
              </a:rPr>
              <a:t>What the ablation shows</a:t>
            </a:r>
            <a:endParaRPr lang="en-US" sz="1350" dirty="0"/>
          </a:p>
        </p:txBody>
      </p:sp>
      <p:sp>
        <p:nvSpPr>
          <p:cNvPr id="9" name="Text 6"/>
          <p:cNvSpPr/>
          <p:nvPr/>
        </p:nvSpPr>
        <p:spPr>
          <a:xfrm>
            <a:off x="7955280" y="1965960"/>
            <a:ext cx="3291840" cy="2286000"/>
          </a:xfrm>
          <a:prstGeom prst="rect">
            <a:avLst/>
          </a:prstGeom>
          <a:noFill/>
          <a:ln/>
        </p:spPr>
        <p:txBody>
          <a:bodyPr wrap="square" lIns="0" tIns="0" rIns="0" bIns="0" rtlCol="0" anchor="ctr"/>
          <a:lstStyle/>
          <a:p>
            <a:pPr marL="342900" indent="-342900">
              <a:spcAft>
                <a:spcPts val="700"/>
              </a:spcAft>
              <a:buSzPct val="100000"/>
              <a:buChar char="•"/>
            </a:pPr>
            <a:r>
              <a:rPr lang="en-US" sz="1100" dirty="0">
                <a:solidFill>
                  <a:srgbClr val="9AA4BD"/>
                </a:solidFill>
                <a:latin typeface="Calibri" pitchFamily="34" charset="0"/>
                <a:ea typeface="Calibri" pitchFamily="34" charset="-122"/>
                <a:cs typeface="Calibri" pitchFamily="34" charset="-120"/>
              </a:rPr>
              <a:t>The cascade (C) matches NLI alone (B) at 0.963 while handling the common case at a fraction of the cost. That is the justification for the gate.</a:t>
            </a:r>
            <a:endParaRPr lang="en-US" sz="1100" dirty="0"/>
          </a:p>
          <a:p>
            <a:pPr marL="342900" indent="-342900">
              <a:spcAft>
                <a:spcPts val="700"/>
              </a:spcAft>
              <a:buSzPct val="100000"/>
              <a:buChar char="•"/>
            </a:pPr>
            <a:r>
              <a:rPr lang="en-US" sz="1100" dirty="0">
                <a:solidFill>
                  <a:srgbClr val="9AA4BD"/>
                </a:solidFill>
                <a:latin typeface="Calibri" pitchFamily="34" charset="0"/>
                <a:ea typeface="Calibri" pitchFamily="34" charset="-122"/>
                <a:cs typeface="Calibri" pitchFamily="34" charset="-120"/>
              </a:rPr>
              <a:t>Tool-claim (D) and disagreement (E) change nothing - the single-agent test split cannot exercise either.</a:t>
            </a:r>
            <a:endParaRPr lang="en-US" sz="1100" dirty="0"/>
          </a:p>
          <a:p>
            <a:pPr marL="342900" indent="-342900">
              <a:spcAft>
                <a:spcPts val="700"/>
              </a:spcAft>
              <a:buSzPct val="100000"/>
              <a:buChar char="•"/>
            </a:pPr>
            <a:r>
              <a:rPr lang="en-US" sz="1100" dirty="0">
                <a:solidFill>
                  <a:srgbClr val="9AA4BD"/>
                </a:solidFill>
                <a:latin typeface="Calibri" pitchFamily="34" charset="0"/>
                <a:ea typeface="Calibri" pitchFamily="34" charset="-122"/>
                <a:cs typeface="Calibri" pitchFamily="34" charset="-120"/>
              </a:rPr>
              <a:t>Drift (F) actively harms classification, 0.619.</a:t>
            </a:r>
            <a:endParaRPr lang="en-US" sz="1100" dirty="0"/>
          </a:p>
        </p:txBody>
      </p:sp>
      <p:sp>
        <p:nvSpPr>
          <p:cNvPr id="10" name="Shape 7"/>
          <p:cNvSpPr/>
          <p:nvPr/>
        </p:nvSpPr>
        <p:spPr>
          <a:xfrm>
            <a:off x="640080" y="4617720"/>
            <a:ext cx="10881360" cy="1371600"/>
          </a:xfrm>
          <a:prstGeom prst="roundRect">
            <a:avLst>
              <a:gd name="adj" fmla="val 4667"/>
            </a:avLst>
          </a:prstGeom>
          <a:solidFill>
            <a:srgbClr val="1B2230"/>
          </a:solidFill>
          <a:ln w="12700">
            <a:solidFill>
              <a:srgbClr val="1B2230"/>
            </a:solidFill>
            <a:prstDash val="solid"/>
          </a:ln>
        </p:spPr>
      </p:sp>
      <p:sp>
        <p:nvSpPr>
          <p:cNvPr id="11" name="Text 8"/>
          <p:cNvSpPr/>
          <p:nvPr/>
        </p:nvSpPr>
        <p:spPr>
          <a:xfrm>
            <a:off x="960120" y="4800600"/>
            <a:ext cx="10241280" cy="274320"/>
          </a:xfrm>
          <a:prstGeom prst="rect">
            <a:avLst/>
          </a:prstGeom>
          <a:noFill/>
          <a:ln/>
        </p:spPr>
        <p:txBody>
          <a:bodyPr wrap="square" lIns="0" tIns="0" rIns="0" bIns="0" rtlCol="0" anchor="ctr"/>
          <a:lstStyle/>
          <a:p>
            <a:pPr indent="0" marL="0">
              <a:buNone/>
            </a:pPr>
            <a:r>
              <a:rPr lang="en-US" sz="1300" b="1" dirty="0">
                <a:solidFill>
                  <a:srgbClr val="FBBF24"/>
                </a:solidFill>
                <a:latin typeface="Calibri" pitchFamily="34" charset="0"/>
                <a:ea typeface="Calibri" pitchFamily="34" charset="-122"/>
                <a:cs typeface="Calibri" pitchFamily="34" charset="-120"/>
              </a:rPr>
              <a:t>Error analysis</a:t>
            </a:r>
            <a:endParaRPr lang="en-US" sz="1300" dirty="0"/>
          </a:p>
        </p:txBody>
      </p:sp>
      <p:sp>
        <p:nvSpPr>
          <p:cNvPr id="12" name="Text 9"/>
          <p:cNvSpPr/>
          <p:nvPr/>
        </p:nvSpPr>
        <p:spPr>
          <a:xfrm>
            <a:off x="960120" y="5120640"/>
            <a:ext cx="10241280" cy="731520"/>
          </a:xfrm>
          <a:prstGeom prst="rect">
            <a:avLst/>
          </a:prstGeom>
          <a:noFill/>
          <a:ln/>
        </p:spPr>
        <p:txBody>
          <a:bodyPr wrap="square" lIns="0" tIns="0" rIns="0" bIns="0" rtlCol="0" anchor="ctr"/>
          <a:lstStyle/>
          <a:p>
            <a:pPr indent="0" marL="0">
              <a:buNone/>
            </a:pPr>
            <a:r>
              <a:rPr lang="en-US" sz="1150" dirty="0">
                <a:solidFill>
                  <a:srgbClr val="9AA4BD"/>
                </a:solidFill>
                <a:latin typeface="Calibri" pitchFamily="34" charset="0"/>
                <a:ea typeface="Calibri" pitchFamily="34" charset="-122"/>
                <a:cs typeface="Calibri" pitchFamily="34" charset="-120"/>
              </a:rPr>
              <a:t>Configurations D and E producing identical numbers is itself the finding: the ablation could not test them, because a single-agent dataset structurally cannot exercise a cross-agent or tool-narration signal. That observation is what triggered the external validation on the next slide, and it is the reason those two signals ship as Experimental.</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640080" y="365760"/>
            <a:ext cx="9144000" cy="237744"/>
          </a:xfrm>
          <a:prstGeom prst="rect">
            <a:avLst/>
          </a:prstGeom>
          <a:noFill/>
          <a:ln/>
        </p:spPr>
        <p:txBody>
          <a:bodyPr wrap="square" lIns="0" tIns="0" rIns="0" bIns="0" rtlCol="0" anchor="ctr"/>
          <a:lstStyle/>
          <a:p>
            <a:pPr indent="0" marL="0">
              <a:buNone/>
            </a:pPr>
            <a:r>
              <a:rPr lang="en-US" sz="1050" b="1" spc="200" kern="0" dirty="0">
                <a:solidFill>
                  <a:srgbClr val="22D3EE"/>
                </a:solidFill>
                <a:latin typeface="Calibri" pitchFamily="34" charset="0"/>
                <a:ea typeface="Calibri" pitchFamily="34" charset="-122"/>
                <a:cs typeface="Calibri" pitchFamily="34" charset="-120"/>
              </a:rPr>
              <a:t>RESULTS</a:t>
            </a:r>
            <a:endParaRPr lang="en-US" sz="1050" dirty="0"/>
          </a:p>
        </p:txBody>
      </p:sp>
      <p:sp>
        <p:nvSpPr>
          <p:cNvPr id="3" name="Text 1"/>
          <p:cNvSpPr/>
          <p:nvPr/>
        </p:nvSpPr>
        <p:spPr>
          <a:xfrm>
            <a:off x="640080" y="621792"/>
            <a:ext cx="10881360" cy="640080"/>
          </a:xfrm>
          <a:prstGeom prst="rect">
            <a:avLst/>
          </a:prstGeom>
          <a:noFill/>
          <a:ln/>
        </p:spPr>
        <p:txBody>
          <a:bodyPr wrap="square" lIns="0" tIns="0" rIns="0" bIns="0" rtlCol="0" anchor="ctr"/>
          <a:lstStyle/>
          <a:p>
            <a:pPr indent="0" marL="0">
              <a:buNone/>
            </a:pPr>
            <a:r>
              <a:rPr lang="en-US" sz="3100" b="1" dirty="0">
                <a:solidFill>
                  <a:srgbClr val="141922"/>
                </a:solidFill>
                <a:latin typeface="Cambria" pitchFamily="34" charset="0"/>
                <a:ea typeface="Cambria" pitchFamily="34" charset="-122"/>
                <a:cs typeface="Cambria" pitchFamily="34" charset="-120"/>
              </a:rPr>
              <a:t>Grounding and drift</a:t>
            </a:r>
            <a:endParaRPr lang="en-US" sz="3100" dirty="0"/>
          </a:p>
        </p:txBody>
      </p:sp>
      <p:sp>
        <p:nvSpPr>
          <p:cNvPr id="4" name="Shape 2"/>
          <p:cNvSpPr/>
          <p:nvPr/>
        </p:nvSpPr>
        <p:spPr>
          <a:xfrm>
            <a:off x="640080" y="1417320"/>
            <a:ext cx="5349240" cy="2148840"/>
          </a:xfrm>
          <a:prstGeom prst="roundRect">
            <a:avLst>
              <a:gd name="adj" fmla="val 2979"/>
            </a:avLst>
          </a:prstGeom>
          <a:solidFill>
            <a:srgbClr val="FFFFFF"/>
          </a:solidFill>
          <a:ln w="12700">
            <a:solidFill>
              <a:srgbClr val="FFFFFF"/>
            </a:solidFill>
            <a:prstDash val="solid"/>
          </a:ln>
        </p:spPr>
      </p:sp>
      <p:sp>
        <p:nvSpPr>
          <p:cNvPr id="5" name="Text 3"/>
          <p:cNvSpPr/>
          <p:nvPr/>
        </p:nvSpPr>
        <p:spPr>
          <a:xfrm>
            <a:off x="960120" y="1600200"/>
            <a:ext cx="4754880" cy="274320"/>
          </a:xfrm>
          <a:prstGeom prst="rect">
            <a:avLst/>
          </a:prstGeom>
          <a:noFill/>
          <a:ln/>
        </p:spPr>
        <p:txBody>
          <a:bodyPr wrap="square" lIns="0" tIns="0" rIns="0" bIns="0" rtlCol="0" anchor="ctr"/>
          <a:lstStyle/>
          <a:p>
            <a:pPr indent="0" marL="0">
              <a:buNone/>
            </a:pPr>
            <a:r>
              <a:rPr lang="en-US" sz="1350" b="1" dirty="0">
                <a:solidFill>
                  <a:srgbClr val="141922"/>
                </a:solidFill>
                <a:latin typeface="Calibri" pitchFamily="34" charset="0"/>
                <a:ea typeface="Calibri" pitchFamily="34" charset="-122"/>
                <a:cs typeface="Calibri" pitchFamily="34" charset="-120"/>
              </a:rPr>
              <a:t>Grounding</a:t>
            </a:r>
            <a:endParaRPr lang="en-US" sz="1350" dirty="0"/>
          </a:p>
        </p:txBody>
      </p:sp>
      <p:sp>
        <p:nvSpPr>
          <p:cNvPr id="6" name="Text 4"/>
          <p:cNvSpPr/>
          <p:nvPr/>
        </p:nvSpPr>
        <p:spPr>
          <a:xfrm>
            <a:off x="960120" y="1920240"/>
            <a:ext cx="2194560" cy="594360"/>
          </a:xfrm>
          <a:prstGeom prst="rect">
            <a:avLst/>
          </a:prstGeom>
          <a:noFill/>
          <a:ln/>
        </p:spPr>
        <p:txBody>
          <a:bodyPr wrap="square" lIns="0" tIns="0" rIns="0" bIns="0" rtlCol="0" anchor="ctr"/>
          <a:lstStyle/>
          <a:p>
            <a:pPr indent="0" marL="0">
              <a:buNone/>
            </a:pPr>
            <a:r>
              <a:rPr lang="en-US" sz="3600" b="1" dirty="0">
                <a:solidFill>
                  <a:srgbClr val="15704F"/>
                </a:solidFill>
                <a:latin typeface="Cambria" pitchFamily="34" charset="0"/>
                <a:ea typeface="Cambria" pitchFamily="34" charset="-122"/>
                <a:cs typeface="Cambria" pitchFamily="34" charset="-120"/>
              </a:rPr>
              <a:t>0.963</a:t>
            </a:r>
            <a:endParaRPr lang="en-US" sz="3600" dirty="0"/>
          </a:p>
        </p:txBody>
      </p:sp>
      <p:sp>
        <p:nvSpPr>
          <p:cNvPr id="7" name="Text 5"/>
          <p:cNvSpPr/>
          <p:nvPr/>
        </p:nvSpPr>
        <p:spPr>
          <a:xfrm>
            <a:off x="960120" y="2542032"/>
            <a:ext cx="2743200" cy="274320"/>
          </a:xfrm>
          <a:prstGeom prst="rect">
            <a:avLst/>
          </a:prstGeom>
          <a:noFill/>
          <a:ln/>
        </p:spPr>
        <p:txBody>
          <a:bodyPr wrap="square" lIns="0" tIns="0" rIns="0" bIns="0" rtlCol="0" anchor="ctr"/>
          <a:lstStyle/>
          <a:p>
            <a:pPr indent="0" marL="0">
              <a:buNone/>
            </a:pPr>
            <a:r>
              <a:rPr lang="en-US" sz="1150" dirty="0">
                <a:solidFill>
                  <a:srgbClr val="5A6478"/>
                </a:solidFill>
                <a:latin typeface="Calibri" pitchFamily="34" charset="0"/>
                <a:ea typeface="Calibri" pitchFamily="34" charset="-122"/>
                <a:cs typeface="Calibri" pitchFamily="34" charset="-120"/>
              </a:rPr>
              <a:t>F1 on held-out v1.0_test</a:t>
            </a:r>
            <a:endParaRPr lang="en-US" sz="1150" dirty="0"/>
          </a:p>
        </p:txBody>
      </p:sp>
      <p:sp>
        <p:nvSpPr>
          <p:cNvPr id="8" name="Text 6"/>
          <p:cNvSpPr/>
          <p:nvPr/>
        </p:nvSpPr>
        <p:spPr>
          <a:xfrm>
            <a:off x="960120" y="2834640"/>
            <a:ext cx="4754880" cy="594360"/>
          </a:xfrm>
          <a:prstGeom prst="rect">
            <a:avLst/>
          </a:prstGeom>
          <a:noFill/>
          <a:ln/>
        </p:spPr>
        <p:txBody>
          <a:bodyPr wrap="square" lIns="0" tIns="0" rIns="0" bIns="0" rtlCol="0" anchor="ctr"/>
          <a:lstStyle/>
          <a:p>
            <a:pPr indent="0" marL="0">
              <a:buNone/>
            </a:pPr>
            <a:r>
              <a:rPr lang="en-US" sz="1150" dirty="0">
                <a:solidFill>
                  <a:srgbClr val="5A6478"/>
                </a:solidFill>
                <a:latin typeface="Calibri" pitchFamily="34" charset="0"/>
                <a:ea typeface="Calibri" pitchFamily="34" charset="-122"/>
                <a:cs typeface="Calibri" pitchFamily="34" charset="-120"/>
              </a:rPr>
              <a:t>Precision 0.929, recall 1.000, FPR 0.059. Thresholds were selected on the dev split and applied unchanged.</a:t>
            </a:r>
            <a:endParaRPr lang="en-US" sz="1150" dirty="0"/>
          </a:p>
        </p:txBody>
      </p:sp>
      <p:sp>
        <p:nvSpPr>
          <p:cNvPr id="9" name="Shape 7"/>
          <p:cNvSpPr/>
          <p:nvPr/>
        </p:nvSpPr>
        <p:spPr>
          <a:xfrm>
            <a:off x="6309360" y="1417320"/>
            <a:ext cx="5212080" cy="2148840"/>
          </a:xfrm>
          <a:prstGeom prst="roundRect">
            <a:avLst>
              <a:gd name="adj" fmla="val 2979"/>
            </a:avLst>
          </a:prstGeom>
          <a:solidFill>
            <a:srgbClr val="FFFFFF"/>
          </a:solidFill>
          <a:ln w="12700">
            <a:solidFill>
              <a:srgbClr val="FFFFFF"/>
            </a:solidFill>
            <a:prstDash val="solid"/>
          </a:ln>
        </p:spPr>
      </p:sp>
      <p:sp>
        <p:nvSpPr>
          <p:cNvPr id="10" name="Text 8"/>
          <p:cNvSpPr/>
          <p:nvPr/>
        </p:nvSpPr>
        <p:spPr>
          <a:xfrm>
            <a:off x="6629400" y="1600200"/>
            <a:ext cx="4617720" cy="274320"/>
          </a:xfrm>
          <a:prstGeom prst="rect">
            <a:avLst/>
          </a:prstGeom>
          <a:noFill/>
          <a:ln/>
        </p:spPr>
        <p:txBody>
          <a:bodyPr wrap="square" lIns="0" tIns="0" rIns="0" bIns="0" rtlCol="0" anchor="ctr"/>
          <a:lstStyle/>
          <a:p>
            <a:pPr indent="0" marL="0">
              <a:buNone/>
            </a:pPr>
            <a:r>
              <a:rPr lang="en-US" sz="1350" b="1" dirty="0">
                <a:solidFill>
                  <a:srgbClr val="141922"/>
                </a:solidFill>
                <a:latin typeface="Calibri" pitchFamily="34" charset="0"/>
                <a:ea typeface="Calibri" pitchFamily="34" charset="-122"/>
                <a:cs typeface="Calibri" pitchFamily="34" charset="-120"/>
              </a:rPr>
              <a:t>Drift, after the rebuild</a:t>
            </a:r>
            <a:endParaRPr lang="en-US" sz="1350" dirty="0"/>
          </a:p>
        </p:txBody>
      </p:sp>
      <p:sp>
        <p:nvSpPr>
          <p:cNvPr id="11" name="Text 9"/>
          <p:cNvSpPr/>
          <p:nvPr/>
        </p:nvSpPr>
        <p:spPr>
          <a:xfrm>
            <a:off x="6629400" y="1920240"/>
            <a:ext cx="2194560" cy="594360"/>
          </a:xfrm>
          <a:prstGeom prst="rect">
            <a:avLst/>
          </a:prstGeom>
          <a:noFill/>
          <a:ln/>
        </p:spPr>
        <p:txBody>
          <a:bodyPr wrap="square" lIns="0" tIns="0" rIns="0" bIns="0" rtlCol="0" anchor="ctr"/>
          <a:lstStyle/>
          <a:p>
            <a:pPr indent="0" marL="0">
              <a:buNone/>
            </a:pPr>
            <a:r>
              <a:rPr lang="en-US" sz="3600" b="1" dirty="0">
                <a:solidFill>
                  <a:srgbClr val="15704F"/>
                </a:solidFill>
                <a:latin typeface="Cambria" pitchFamily="34" charset="0"/>
                <a:ea typeface="Cambria" pitchFamily="34" charset="-122"/>
                <a:cs typeface="Cambria" pitchFamily="34" charset="-120"/>
              </a:rPr>
              <a:t>0.991</a:t>
            </a:r>
            <a:endParaRPr lang="en-US" sz="3600" dirty="0"/>
          </a:p>
        </p:txBody>
      </p:sp>
      <p:sp>
        <p:nvSpPr>
          <p:cNvPr id="12" name="Text 10"/>
          <p:cNvSpPr/>
          <p:nvPr/>
        </p:nvSpPr>
        <p:spPr>
          <a:xfrm>
            <a:off x="6629400" y="2542032"/>
            <a:ext cx="2926080" cy="274320"/>
          </a:xfrm>
          <a:prstGeom prst="rect">
            <a:avLst/>
          </a:prstGeom>
          <a:noFill/>
          <a:ln/>
        </p:spPr>
        <p:txBody>
          <a:bodyPr wrap="square" lIns="0" tIns="0" rIns="0" bIns="0" rtlCol="0" anchor="ctr"/>
          <a:lstStyle/>
          <a:p>
            <a:pPr indent="0" marL="0">
              <a:buNone/>
            </a:pPr>
            <a:r>
              <a:rPr lang="en-US" sz="1150" dirty="0">
                <a:solidFill>
                  <a:srgbClr val="5A6478"/>
                </a:solidFill>
                <a:latin typeface="Calibri" pitchFamily="34" charset="0"/>
                <a:ea typeface="Calibri" pitchFamily="34" charset="-122"/>
                <a:cs typeface="Calibri" pitchFamily="34" charset="-120"/>
              </a:rPr>
              <a:t>AUC on 111 held-out tasks</a:t>
            </a:r>
            <a:endParaRPr lang="en-US" sz="1150" dirty="0"/>
          </a:p>
        </p:txBody>
      </p:sp>
      <p:sp>
        <p:nvSpPr>
          <p:cNvPr id="13" name="Text 11"/>
          <p:cNvSpPr/>
          <p:nvPr/>
        </p:nvSpPr>
        <p:spPr>
          <a:xfrm>
            <a:off x="6629400" y="2834640"/>
            <a:ext cx="4617720" cy="594360"/>
          </a:xfrm>
          <a:prstGeom prst="rect">
            <a:avLst/>
          </a:prstGeom>
          <a:noFill/>
          <a:ln/>
        </p:spPr>
        <p:txBody>
          <a:bodyPr wrap="square" lIns="0" tIns="0" rIns="0" bIns="0" rtlCol="0" anchor="ctr"/>
          <a:lstStyle/>
          <a:p>
            <a:pPr indent="0" marL="0">
              <a:buNone/>
            </a:pPr>
            <a:r>
              <a:rPr lang="en-US" sz="1150" dirty="0">
                <a:solidFill>
                  <a:srgbClr val="5A6478"/>
                </a:solidFill>
                <a:latin typeface="Calibri" pitchFamily="34" charset="0"/>
                <a:ea typeface="Calibri" pitchFamily="34" charset="-122"/>
                <a:cs typeface="Calibri" pitchFamily="34" charset="-120"/>
              </a:rPr>
              <a:t>False alarms 1.5%, detection 92%. Calibrated on 89 dev tasks with the criterion fixed beforehand.</a:t>
            </a:r>
            <a:endParaRPr lang="en-US" sz="1150" dirty="0"/>
          </a:p>
        </p:txBody>
      </p:sp>
      <p:sp>
        <p:nvSpPr>
          <p:cNvPr id="14" name="Text 12"/>
          <p:cNvSpPr/>
          <p:nvPr/>
        </p:nvSpPr>
        <p:spPr>
          <a:xfrm>
            <a:off x="640080" y="3794760"/>
            <a:ext cx="10881360" cy="292608"/>
          </a:xfrm>
          <a:prstGeom prst="rect">
            <a:avLst/>
          </a:prstGeom>
          <a:noFill/>
          <a:ln/>
        </p:spPr>
        <p:txBody>
          <a:bodyPr wrap="square" lIns="0" tIns="0" rIns="0" bIns="0" rtlCol="0" anchor="ctr"/>
          <a:lstStyle/>
          <a:p>
            <a:pPr indent="0" marL="0">
              <a:buNone/>
            </a:pPr>
            <a:r>
              <a:rPr lang="en-US" sz="1400" b="1" dirty="0">
                <a:solidFill>
                  <a:srgbClr val="141922"/>
                </a:solidFill>
                <a:latin typeface="Calibri" pitchFamily="34" charset="0"/>
                <a:ea typeface="Calibri" pitchFamily="34" charset="-122"/>
                <a:cs typeface="Calibri" pitchFamily="34" charset="-120"/>
              </a:rPr>
              <a:t>The drift detector had to be rebuilt first</a:t>
            </a:r>
            <a:endParaRPr lang="en-US" sz="1400" dirty="0"/>
          </a:p>
        </p:txBody>
      </p:sp>
      <p:sp>
        <p:nvSpPr>
          <p:cNvPr id="15" name="Shape 13"/>
          <p:cNvSpPr/>
          <p:nvPr/>
        </p:nvSpPr>
        <p:spPr>
          <a:xfrm>
            <a:off x="640080" y="4160520"/>
            <a:ext cx="3520440" cy="1417320"/>
          </a:xfrm>
          <a:prstGeom prst="roundRect">
            <a:avLst>
              <a:gd name="adj" fmla="val 4516"/>
            </a:avLst>
          </a:prstGeom>
          <a:solidFill>
            <a:srgbClr val="FFFFFF"/>
          </a:solidFill>
          <a:ln w="12700">
            <a:solidFill>
              <a:srgbClr val="FFFFFF"/>
            </a:solidFill>
            <a:prstDash val="solid"/>
          </a:ln>
        </p:spPr>
      </p:sp>
      <p:sp>
        <p:nvSpPr>
          <p:cNvPr id="16" name="Text 14"/>
          <p:cNvSpPr/>
          <p:nvPr/>
        </p:nvSpPr>
        <p:spPr>
          <a:xfrm>
            <a:off x="896112" y="4315968"/>
            <a:ext cx="548640" cy="320040"/>
          </a:xfrm>
          <a:prstGeom prst="rect">
            <a:avLst/>
          </a:prstGeom>
          <a:noFill/>
          <a:ln/>
        </p:spPr>
        <p:txBody>
          <a:bodyPr wrap="square" lIns="0" tIns="0" rIns="0" bIns="0" rtlCol="0" anchor="ctr"/>
          <a:lstStyle/>
          <a:p>
            <a:pPr indent="0" marL="0">
              <a:buNone/>
            </a:pPr>
            <a:r>
              <a:rPr lang="en-US" sz="1600" b="1" dirty="0">
                <a:solidFill>
                  <a:srgbClr val="22D3EE"/>
                </a:solidFill>
                <a:latin typeface="Cambria" pitchFamily="34" charset="0"/>
                <a:ea typeface="Cambria" pitchFamily="34" charset="-122"/>
                <a:cs typeface="Cambria" pitchFamily="34" charset="-120"/>
              </a:rPr>
              <a:t>01</a:t>
            </a:r>
            <a:endParaRPr lang="en-US" sz="1600" dirty="0"/>
          </a:p>
        </p:txBody>
      </p:sp>
      <p:sp>
        <p:nvSpPr>
          <p:cNvPr id="17" name="Text 15"/>
          <p:cNvSpPr/>
          <p:nvPr/>
        </p:nvSpPr>
        <p:spPr>
          <a:xfrm>
            <a:off x="1417320" y="4343400"/>
            <a:ext cx="2560320" cy="274320"/>
          </a:xfrm>
          <a:prstGeom prst="rect">
            <a:avLst/>
          </a:prstGeom>
          <a:noFill/>
          <a:ln/>
        </p:spPr>
        <p:txBody>
          <a:bodyPr wrap="square" lIns="0" tIns="0" rIns="0" bIns="0" rtlCol="0" anchor="ctr"/>
          <a:lstStyle/>
          <a:p>
            <a:pPr indent="0" marL="0">
              <a:buNone/>
            </a:pPr>
            <a:r>
              <a:rPr lang="en-US" sz="1250" b="1" dirty="0">
                <a:solidFill>
                  <a:srgbClr val="141922"/>
                </a:solidFill>
                <a:latin typeface="Calibri" pitchFamily="34" charset="0"/>
                <a:ea typeface="Calibri" pitchFamily="34" charset="-122"/>
                <a:cs typeface="Calibri" pitchFamily="34" charset="-120"/>
              </a:rPr>
              <a:t>Synthetic benchmark</a:t>
            </a:r>
            <a:endParaRPr lang="en-US" sz="1250" dirty="0"/>
          </a:p>
        </p:txBody>
      </p:sp>
      <p:sp>
        <p:nvSpPr>
          <p:cNvPr id="18" name="Text 16"/>
          <p:cNvSpPr/>
          <p:nvPr/>
        </p:nvSpPr>
        <p:spPr>
          <a:xfrm>
            <a:off x="896112" y="4709160"/>
            <a:ext cx="3017520" cy="777240"/>
          </a:xfrm>
          <a:prstGeom prst="rect">
            <a:avLst/>
          </a:prstGeom>
          <a:noFill/>
          <a:ln/>
        </p:spPr>
        <p:txBody>
          <a:bodyPr wrap="square" lIns="0" tIns="0" rIns="0" bIns="0" rtlCol="0" anchor="ctr"/>
          <a:lstStyle/>
          <a:p>
            <a:pPr indent="0" marL="0">
              <a:buNone/>
            </a:pPr>
            <a:r>
              <a:rPr lang="en-US" sz="1050" dirty="0">
                <a:solidFill>
                  <a:srgbClr val="5A6478"/>
                </a:solidFill>
                <a:latin typeface="Calibri" pitchFamily="34" charset="0"/>
                <a:ea typeface="Calibri" pitchFamily="34" charset="-122"/>
                <a:cs typeface="Calibri" pitchFamily="34" charset="-120"/>
              </a:rPr>
              <a:t>Looked adequate. Measured centroid distance never exceeded 0.099 against a 0.30 threshold, so the signal had in fact never fired.</a:t>
            </a:r>
            <a:endParaRPr lang="en-US" sz="1050" dirty="0"/>
          </a:p>
        </p:txBody>
      </p:sp>
      <p:sp>
        <p:nvSpPr>
          <p:cNvPr id="19" name="Shape 17"/>
          <p:cNvSpPr/>
          <p:nvPr/>
        </p:nvSpPr>
        <p:spPr>
          <a:xfrm>
            <a:off x="4325112" y="4160520"/>
            <a:ext cx="3520440" cy="1417320"/>
          </a:xfrm>
          <a:prstGeom prst="roundRect">
            <a:avLst>
              <a:gd name="adj" fmla="val 4516"/>
            </a:avLst>
          </a:prstGeom>
          <a:solidFill>
            <a:srgbClr val="FFFFFF"/>
          </a:solidFill>
          <a:ln w="12700">
            <a:solidFill>
              <a:srgbClr val="FFFFFF"/>
            </a:solidFill>
            <a:prstDash val="solid"/>
          </a:ln>
        </p:spPr>
      </p:sp>
      <p:sp>
        <p:nvSpPr>
          <p:cNvPr id="20" name="Text 18"/>
          <p:cNvSpPr/>
          <p:nvPr/>
        </p:nvSpPr>
        <p:spPr>
          <a:xfrm>
            <a:off x="4581144" y="4315968"/>
            <a:ext cx="548640" cy="320040"/>
          </a:xfrm>
          <a:prstGeom prst="rect">
            <a:avLst/>
          </a:prstGeom>
          <a:noFill/>
          <a:ln/>
        </p:spPr>
        <p:txBody>
          <a:bodyPr wrap="square" lIns="0" tIns="0" rIns="0" bIns="0" rtlCol="0" anchor="ctr"/>
          <a:lstStyle/>
          <a:p>
            <a:pPr indent="0" marL="0">
              <a:buNone/>
            </a:pPr>
            <a:r>
              <a:rPr lang="en-US" sz="1600" b="1" dirty="0">
                <a:solidFill>
                  <a:srgbClr val="22D3EE"/>
                </a:solidFill>
                <a:latin typeface="Cambria" pitchFamily="34" charset="0"/>
                <a:ea typeface="Cambria" pitchFamily="34" charset="-122"/>
                <a:cs typeface="Cambria" pitchFamily="34" charset="-120"/>
              </a:rPr>
              <a:t>02</a:t>
            </a:r>
            <a:endParaRPr lang="en-US" sz="1600" dirty="0"/>
          </a:p>
        </p:txBody>
      </p:sp>
      <p:sp>
        <p:nvSpPr>
          <p:cNvPr id="21" name="Text 19"/>
          <p:cNvSpPr/>
          <p:nvPr/>
        </p:nvSpPr>
        <p:spPr>
          <a:xfrm>
            <a:off x="5102352" y="4343400"/>
            <a:ext cx="2560320" cy="274320"/>
          </a:xfrm>
          <a:prstGeom prst="rect">
            <a:avLst/>
          </a:prstGeom>
          <a:noFill/>
          <a:ln/>
        </p:spPr>
        <p:txBody>
          <a:bodyPr wrap="square" lIns="0" tIns="0" rIns="0" bIns="0" rtlCol="0" anchor="ctr"/>
          <a:lstStyle/>
          <a:p>
            <a:pPr indent="0" marL="0">
              <a:buNone/>
            </a:pPr>
            <a:r>
              <a:rPr lang="en-US" sz="1250" b="1" dirty="0">
                <a:solidFill>
                  <a:srgbClr val="141922"/>
                </a:solidFill>
                <a:latin typeface="Calibri" pitchFamily="34" charset="0"/>
                <a:ea typeface="Calibri" pitchFamily="34" charset="-122"/>
                <a:cs typeface="Calibri" pitchFamily="34" charset="-120"/>
              </a:rPr>
              <a:t>Real agent text</a:t>
            </a:r>
            <a:endParaRPr lang="en-US" sz="1250" dirty="0"/>
          </a:p>
        </p:txBody>
      </p:sp>
      <p:sp>
        <p:nvSpPr>
          <p:cNvPr id="22" name="Text 20"/>
          <p:cNvSpPr/>
          <p:nvPr/>
        </p:nvSpPr>
        <p:spPr>
          <a:xfrm>
            <a:off x="4581144" y="4709160"/>
            <a:ext cx="3017520" cy="777240"/>
          </a:xfrm>
          <a:prstGeom prst="rect">
            <a:avLst/>
          </a:prstGeom>
          <a:noFill/>
          <a:ln/>
        </p:spPr>
        <p:txBody>
          <a:bodyPr wrap="square" lIns="0" tIns="0" rIns="0" bIns="0" rtlCol="0" anchor="ctr"/>
          <a:lstStyle/>
          <a:p>
            <a:pPr indent="0" marL="0">
              <a:buNone/>
            </a:pPr>
            <a:r>
              <a:rPr lang="en-US" sz="1050" dirty="0">
                <a:solidFill>
                  <a:srgbClr val="5A6478"/>
                </a:solidFill>
                <a:latin typeface="Calibri" pitchFamily="34" charset="0"/>
                <a:ea typeface="Calibri" pitchFamily="34" charset="-122"/>
                <a:cs typeface="Calibri" pitchFamily="34" charset="-120"/>
              </a:rPr>
              <a:t>The shipped metric fired on 91.7% of unchanged operation. A multi-step agent legitimately says something different at every step.</a:t>
            </a:r>
            <a:endParaRPr lang="en-US" sz="1050" dirty="0"/>
          </a:p>
        </p:txBody>
      </p:sp>
      <p:sp>
        <p:nvSpPr>
          <p:cNvPr id="23" name="Shape 21"/>
          <p:cNvSpPr/>
          <p:nvPr/>
        </p:nvSpPr>
        <p:spPr>
          <a:xfrm>
            <a:off x="8010144" y="4160520"/>
            <a:ext cx="3520440" cy="1417320"/>
          </a:xfrm>
          <a:prstGeom prst="roundRect">
            <a:avLst>
              <a:gd name="adj" fmla="val 4516"/>
            </a:avLst>
          </a:prstGeom>
          <a:solidFill>
            <a:srgbClr val="FFFFFF"/>
          </a:solidFill>
          <a:ln w="12700">
            <a:solidFill>
              <a:srgbClr val="FFFFFF"/>
            </a:solidFill>
            <a:prstDash val="solid"/>
          </a:ln>
        </p:spPr>
      </p:sp>
      <p:sp>
        <p:nvSpPr>
          <p:cNvPr id="24" name="Text 22"/>
          <p:cNvSpPr/>
          <p:nvPr/>
        </p:nvSpPr>
        <p:spPr>
          <a:xfrm>
            <a:off x="8266176" y="4315968"/>
            <a:ext cx="548640" cy="320040"/>
          </a:xfrm>
          <a:prstGeom prst="rect">
            <a:avLst/>
          </a:prstGeom>
          <a:noFill/>
          <a:ln/>
        </p:spPr>
        <p:txBody>
          <a:bodyPr wrap="square" lIns="0" tIns="0" rIns="0" bIns="0" rtlCol="0" anchor="ctr"/>
          <a:lstStyle/>
          <a:p>
            <a:pPr indent="0" marL="0">
              <a:buNone/>
            </a:pPr>
            <a:r>
              <a:rPr lang="en-US" sz="1600" b="1" dirty="0">
                <a:solidFill>
                  <a:srgbClr val="22D3EE"/>
                </a:solidFill>
                <a:latin typeface="Cambria" pitchFamily="34" charset="0"/>
                <a:ea typeface="Cambria" pitchFamily="34" charset="-122"/>
                <a:cs typeface="Cambria" pitchFamily="34" charset="-120"/>
              </a:rPr>
              <a:t>03</a:t>
            </a:r>
            <a:endParaRPr lang="en-US" sz="1600" dirty="0"/>
          </a:p>
        </p:txBody>
      </p:sp>
      <p:sp>
        <p:nvSpPr>
          <p:cNvPr id="25" name="Text 23"/>
          <p:cNvSpPr/>
          <p:nvPr/>
        </p:nvSpPr>
        <p:spPr>
          <a:xfrm>
            <a:off x="8787384" y="4343400"/>
            <a:ext cx="2560320" cy="274320"/>
          </a:xfrm>
          <a:prstGeom prst="rect">
            <a:avLst/>
          </a:prstGeom>
          <a:noFill/>
          <a:ln/>
        </p:spPr>
        <p:txBody>
          <a:bodyPr wrap="square" lIns="0" tIns="0" rIns="0" bIns="0" rtlCol="0" anchor="ctr"/>
          <a:lstStyle/>
          <a:p>
            <a:pPr indent="0" marL="0">
              <a:buNone/>
            </a:pPr>
            <a:r>
              <a:rPr lang="en-US" sz="1250" b="1" dirty="0">
                <a:solidFill>
                  <a:srgbClr val="141922"/>
                </a:solidFill>
                <a:latin typeface="Calibri" pitchFamily="34" charset="0"/>
                <a:ea typeface="Calibri" pitchFamily="34" charset="-122"/>
                <a:cs typeface="Calibri" pitchFamily="34" charset="-120"/>
              </a:rPr>
              <a:t>Diagnosis and fix</a:t>
            </a:r>
            <a:endParaRPr lang="en-US" sz="1250" dirty="0"/>
          </a:p>
        </p:txBody>
      </p:sp>
      <p:sp>
        <p:nvSpPr>
          <p:cNvPr id="26" name="Text 24"/>
          <p:cNvSpPr/>
          <p:nvPr/>
        </p:nvSpPr>
        <p:spPr>
          <a:xfrm>
            <a:off x="8266176" y="4709160"/>
            <a:ext cx="3017520" cy="777240"/>
          </a:xfrm>
          <a:prstGeom prst="rect">
            <a:avLst/>
          </a:prstGeom>
          <a:noFill/>
          <a:ln/>
        </p:spPr>
        <p:txBody>
          <a:bodyPr wrap="square" lIns="0" tIns="0" rIns="0" bIns="0" rtlCol="0" anchor="ctr"/>
          <a:lstStyle/>
          <a:p>
            <a:pPr indent="0" marL="0">
              <a:buNone/>
            </a:pPr>
            <a:r>
              <a:rPr lang="en-US" sz="1050" dirty="0">
                <a:solidFill>
                  <a:srgbClr val="5A6478"/>
                </a:solidFill>
                <a:latin typeface="Calibri" pitchFamily="34" charset="0"/>
                <a:ea typeface="Calibri" pitchFamily="34" charset="-122"/>
                <a:cs typeface="Calibri" pitchFamily="34" charset="-120"/>
              </a:rPr>
              <a:t>The threshold was never the problem; the representation was. A baseline window mean against a current window mean, pooled and disjoint.</a:t>
            </a:r>
            <a:endParaRPr lang="en-US" sz="1050" dirty="0"/>
          </a:p>
        </p:txBody>
      </p:sp>
      <p:sp>
        <p:nvSpPr>
          <p:cNvPr id="27" name="Text 25"/>
          <p:cNvSpPr/>
          <p:nvPr/>
        </p:nvSpPr>
        <p:spPr>
          <a:xfrm>
            <a:off x="640080" y="5715000"/>
            <a:ext cx="10881360" cy="457200"/>
          </a:xfrm>
          <a:prstGeom prst="rect">
            <a:avLst/>
          </a:prstGeom>
          <a:noFill/>
          <a:ln/>
        </p:spPr>
        <p:txBody>
          <a:bodyPr wrap="square" lIns="0" tIns="0" rIns="0" bIns="0" rtlCol="0" anchor="ctr"/>
          <a:lstStyle/>
          <a:p>
            <a:pPr indent="0" marL="0">
              <a:buNone/>
            </a:pPr>
            <a:r>
              <a:rPr lang="en-US" sz="1200" i="1" dirty="0">
                <a:solidFill>
                  <a:srgbClr val="9B6B00"/>
                </a:solidFill>
                <a:latin typeface="Calibri" pitchFamily="34" charset="0"/>
                <a:ea typeface="Calibri" pitchFamily="34" charset="-122"/>
                <a:cs typeface="Calibri" pitchFamily="34" charset="-120"/>
              </a:rPr>
              <a:t>Cost, stated with the accuracy every time: coverage is 24.5%. The metric is undefined until both windows fill, so roughly three quarters of sessions produce no drift verdict at all.</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1117"/>
        </a:solidFill>
      </p:bgPr>
    </p:bg>
    <p:spTree>
      <p:nvGrpSpPr>
        <p:cNvPr id="1" name=""/>
        <p:cNvGrpSpPr/>
        <p:nvPr/>
      </p:nvGrpSpPr>
      <p:grpSpPr>
        <a:xfrm>
          <a:off x="0" y="0"/>
          <a:ext cx="0" cy="0"/>
          <a:chOff x="0" y="0"/>
          <a:chExt cx="0" cy="0"/>
        </a:xfrm>
      </p:grpSpPr>
      <p:sp>
        <p:nvSpPr>
          <p:cNvPr id="2" name="Text 0"/>
          <p:cNvSpPr/>
          <p:nvPr/>
        </p:nvSpPr>
        <p:spPr>
          <a:xfrm>
            <a:off x="640080" y="365760"/>
            <a:ext cx="9144000" cy="237744"/>
          </a:xfrm>
          <a:prstGeom prst="rect">
            <a:avLst/>
          </a:prstGeom>
          <a:noFill/>
          <a:ln/>
        </p:spPr>
        <p:txBody>
          <a:bodyPr wrap="square" lIns="0" tIns="0" rIns="0" bIns="0" rtlCol="0" anchor="ctr"/>
          <a:lstStyle/>
          <a:p>
            <a:pPr indent="0" marL="0">
              <a:buNone/>
            </a:pPr>
            <a:r>
              <a:rPr lang="en-US" sz="1050" b="1" spc="200" kern="0" dirty="0">
                <a:solidFill>
                  <a:srgbClr val="22D3EE"/>
                </a:solidFill>
                <a:latin typeface="Calibri" pitchFamily="34" charset="0"/>
                <a:ea typeface="Calibri" pitchFamily="34" charset="-122"/>
                <a:cs typeface="Calibri" pitchFamily="34" charset="-120"/>
              </a:rPr>
              <a:t>RESULTS</a:t>
            </a:r>
            <a:endParaRPr lang="en-US" sz="1050" dirty="0"/>
          </a:p>
        </p:txBody>
      </p:sp>
      <p:sp>
        <p:nvSpPr>
          <p:cNvPr id="3" name="Text 1"/>
          <p:cNvSpPr/>
          <p:nvPr/>
        </p:nvSpPr>
        <p:spPr>
          <a:xfrm>
            <a:off x="640080" y="621792"/>
            <a:ext cx="10881360" cy="640080"/>
          </a:xfrm>
          <a:prstGeom prst="rect">
            <a:avLst/>
          </a:prstGeom>
          <a:noFill/>
          <a:ln/>
        </p:spPr>
        <p:txBody>
          <a:bodyPr wrap="square" lIns="0" tIns="0" rIns="0" bIns="0" rtlCol="0" anchor="ctr"/>
          <a:lstStyle/>
          <a:p>
            <a:pPr indent="0" marL="0">
              <a:buNone/>
            </a:pPr>
            <a:r>
              <a:rPr lang="en-US" sz="3100" b="1" dirty="0">
                <a:solidFill>
                  <a:srgbClr val="E8ECF5"/>
                </a:solidFill>
                <a:latin typeface="Cambria" pitchFamily="34" charset="0"/>
                <a:ea typeface="Cambria" pitchFamily="34" charset="-122"/>
                <a:cs typeface="Cambria" pitchFamily="34" charset="-120"/>
              </a:rPr>
              <a:t>Production behaviour, measured</a:t>
            </a:r>
            <a:endParaRPr lang="en-US" sz="3100" dirty="0"/>
          </a:p>
        </p:txBody>
      </p:sp>
      <p:sp>
        <p:nvSpPr>
          <p:cNvPr id="4" name="Shape 2"/>
          <p:cNvSpPr/>
          <p:nvPr/>
        </p:nvSpPr>
        <p:spPr>
          <a:xfrm>
            <a:off x="8321040" y="384048"/>
            <a:ext cx="3200400" cy="256032"/>
          </a:xfrm>
          <a:prstGeom prst="roundRect">
            <a:avLst>
              <a:gd name="adj" fmla="val 42857"/>
            </a:avLst>
          </a:prstGeom>
          <a:solidFill>
            <a:srgbClr val="22D3EE">
              <a:alpha val="12000"/>
            </a:srgbClr>
          </a:solidFill>
          <a:ln w="7620">
            <a:solidFill>
              <a:srgbClr val="22D3EE"/>
            </a:solidFill>
            <a:prstDash val="solid"/>
          </a:ln>
        </p:spPr>
      </p:sp>
      <p:sp>
        <p:nvSpPr>
          <p:cNvPr id="5" name="Text 3"/>
          <p:cNvSpPr/>
          <p:nvPr/>
        </p:nvSpPr>
        <p:spPr>
          <a:xfrm>
            <a:off x="8321040" y="384048"/>
            <a:ext cx="3200400" cy="256032"/>
          </a:xfrm>
          <a:prstGeom prst="rect">
            <a:avLst/>
          </a:prstGeom>
          <a:noFill/>
          <a:ln/>
        </p:spPr>
        <p:txBody>
          <a:bodyPr wrap="square" lIns="0" tIns="0" rIns="0" bIns="0" rtlCol="0" anchor="ctr"/>
          <a:lstStyle/>
          <a:p>
            <a:pPr algn="ctr" indent="0" marL="0">
              <a:buNone/>
            </a:pPr>
            <a:r>
              <a:rPr lang="en-US" sz="900" b="1" dirty="0">
                <a:solidFill>
                  <a:srgbClr val="22D3EE"/>
                </a:solidFill>
                <a:latin typeface="Calibri" pitchFamily="34" charset="0"/>
                <a:ea typeface="Calibri" pitchFamily="34" charset="-122"/>
                <a:cs typeface="Calibri" pitchFamily="34" charset="-120"/>
              </a:rPr>
              <a:t>End-to-end demonstrated</a:t>
            </a:r>
            <a:endParaRPr lang="en-US" sz="900" dirty="0"/>
          </a:p>
        </p:txBody>
      </p:sp>
      <p:sp>
        <p:nvSpPr>
          <p:cNvPr id="6" name="Shape 4"/>
          <p:cNvSpPr/>
          <p:nvPr/>
        </p:nvSpPr>
        <p:spPr>
          <a:xfrm>
            <a:off x="640080" y="1417320"/>
            <a:ext cx="5349240" cy="2057400"/>
          </a:xfrm>
          <a:prstGeom prst="roundRect">
            <a:avLst>
              <a:gd name="adj" fmla="val 3111"/>
            </a:avLst>
          </a:prstGeom>
          <a:solidFill>
            <a:srgbClr val="222937"/>
          </a:solidFill>
          <a:ln w="12700">
            <a:solidFill>
              <a:srgbClr val="222937"/>
            </a:solidFill>
            <a:prstDash val="solid"/>
          </a:ln>
        </p:spPr>
      </p:sp>
      <p:sp>
        <p:nvSpPr>
          <p:cNvPr id="7" name="Text 5"/>
          <p:cNvSpPr/>
          <p:nvPr/>
        </p:nvSpPr>
        <p:spPr>
          <a:xfrm>
            <a:off x="960120" y="1618488"/>
            <a:ext cx="4754880" cy="548640"/>
          </a:xfrm>
          <a:prstGeom prst="rect">
            <a:avLst/>
          </a:prstGeom>
          <a:noFill/>
          <a:ln/>
        </p:spPr>
        <p:txBody>
          <a:bodyPr wrap="square" lIns="0" tIns="0" rIns="0" bIns="0" rtlCol="0" anchor="ctr"/>
          <a:lstStyle/>
          <a:p>
            <a:pPr indent="0" marL="0">
              <a:buNone/>
            </a:pPr>
            <a:r>
              <a:rPr lang="en-US" sz="2600" b="1" dirty="0">
                <a:solidFill>
                  <a:srgbClr val="34D399"/>
                </a:solidFill>
                <a:latin typeface="Cambria" pitchFamily="34" charset="0"/>
                <a:ea typeface="Cambria" pitchFamily="34" charset="-122"/>
                <a:cs typeface="Cambria" pitchFamily="34" charset="-120"/>
              </a:rPr>
              <a:t>exactly once</a:t>
            </a:r>
            <a:endParaRPr lang="en-US" sz="2600" dirty="0"/>
          </a:p>
        </p:txBody>
      </p:sp>
      <p:sp>
        <p:nvSpPr>
          <p:cNvPr id="8" name="Text 6"/>
          <p:cNvSpPr/>
          <p:nvPr/>
        </p:nvSpPr>
        <p:spPr>
          <a:xfrm>
            <a:off x="960120" y="2194560"/>
            <a:ext cx="4754880" cy="274320"/>
          </a:xfrm>
          <a:prstGeom prst="rect">
            <a:avLst/>
          </a:prstGeom>
          <a:noFill/>
          <a:ln/>
        </p:spPr>
        <p:txBody>
          <a:bodyPr wrap="square" lIns="0" tIns="0" rIns="0" bIns="0" rtlCol="0" anchor="ctr"/>
          <a:lstStyle/>
          <a:p>
            <a:pPr indent="0" marL="0">
              <a:buNone/>
            </a:pPr>
            <a:r>
              <a:rPr lang="en-US" sz="1250" b="1" dirty="0">
                <a:solidFill>
                  <a:srgbClr val="E8ECF5"/>
                </a:solidFill>
                <a:latin typeface="Calibri" pitchFamily="34" charset="0"/>
                <a:ea typeface="Calibri" pitchFamily="34" charset="-122"/>
                <a:cs typeface="Calibri" pitchFamily="34" charset="-120"/>
              </a:rPr>
              <a:t>Crash recovery</a:t>
            </a:r>
            <a:endParaRPr lang="en-US" sz="1250" dirty="0"/>
          </a:p>
        </p:txBody>
      </p:sp>
      <p:sp>
        <p:nvSpPr>
          <p:cNvPr id="9" name="Text 7"/>
          <p:cNvSpPr/>
          <p:nvPr/>
        </p:nvSpPr>
        <p:spPr>
          <a:xfrm>
            <a:off x="960120" y="2514600"/>
            <a:ext cx="4754880" cy="822960"/>
          </a:xfrm>
          <a:prstGeom prst="rect">
            <a:avLst/>
          </a:prstGeom>
          <a:noFill/>
          <a:ln/>
        </p:spPr>
        <p:txBody>
          <a:bodyPr wrap="square" lIns="0" tIns="0" rIns="0" bIns="0" rtlCol="0" anchor="ctr"/>
          <a:lstStyle/>
          <a:p>
            <a:pPr indent="0" marL="0">
              <a:buNone/>
            </a:pPr>
            <a:r>
              <a:rPr lang="en-US" sz="1100" dirty="0">
                <a:solidFill>
                  <a:srgbClr val="9AA4BD"/>
                </a:solidFill>
                <a:latin typeface="Calibri" pitchFamily="34" charset="0"/>
                <a:ea typeface="Calibri" pitchFamily="34" charset="-122"/>
                <a:cs typeface="Calibri" pitchFamily="34" charset="-120"/>
              </a:rPr>
              <a:t>SIGKILL mid-evaluation, 8,000 spans across 8 runs:</a:t>
            </a:r>
            <a:endParaRPr lang="en-US" sz="1100" dirty="0"/>
          </a:p>
          <a:p>
            <a:pPr indent="0" marL="0">
              <a:buNone/>
            </a:pPr>
            <a:r>
              <a:rPr lang="en-US" sz="1100" dirty="0">
                <a:solidFill>
                  <a:srgbClr val="9AA4BD"/>
                </a:solidFill>
                <a:latin typeface="Calibri" pitchFamily="34" charset="0"/>
                <a:ea typeface="Calibri" pitchFamily="34" charset="-122"/>
                <a:cs typeface="Calibri" pitchFamily="34" charset="-120"/>
              </a:rPr>
              <a:t>0 lost, 0 retried, 0 duplicated, at every concurrency level</a:t>
            </a:r>
            <a:endParaRPr lang="en-US" sz="1100" dirty="0"/>
          </a:p>
        </p:txBody>
      </p:sp>
      <p:sp>
        <p:nvSpPr>
          <p:cNvPr id="10" name="Shape 8"/>
          <p:cNvSpPr/>
          <p:nvPr/>
        </p:nvSpPr>
        <p:spPr>
          <a:xfrm>
            <a:off x="6172200" y="1417320"/>
            <a:ext cx="5349240" cy="2057400"/>
          </a:xfrm>
          <a:prstGeom prst="roundRect">
            <a:avLst>
              <a:gd name="adj" fmla="val 3111"/>
            </a:avLst>
          </a:prstGeom>
          <a:solidFill>
            <a:srgbClr val="222937"/>
          </a:solidFill>
          <a:ln w="12700">
            <a:solidFill>
              <a:srgbClr val="222937"/>
            </a:solidFill>
            <a:prstDash val="solid"/>
          </a:ln>
        </p:spPr>
      </p:sp>
      <p:sp>
        <p:nvSpPr>
          <p:cNvPr id="11" name="Text 9"/>
          <p:cNvSpPr/>
          <p:nvPr/>
        </p:nvSpPr>
        <p:spPr>
          <a:xfrm>
            <a:off x="6492240" y="1618488"/>
            <a:ext cx="4754880" cy="548640"/>
          </a:xfrm>
          <a:prstGeom prst="rect">
            <a:avLst/>
          </a:prstGeom>
          <a:noFill/>
          <a:ln/>
        </p:spPr>
        <p:txBody>
          <a:bodyPr wrap="square" lIns="0" tIns="0" rIns="0" bIns="0" rtlCol="0" anchor="ctr"/>
          <a:lstStyle/>
          <a:p>
            <a:pPr indent="0" marL="0">
              <a:buNone/>
            </a:pPr>
            <a:r>
              <a:rPr lang="en-US" sz="2600" b="1" dirty="0">
                <a:solidFill>
                  <a:srgbClr val="22D3EE"/>
                </a:solidFill>
                <a:latin typeface="Cambria" pitchFamily="34" charset="0"/>
                <a:ea typeface="Cambria" pitchFamily="34" charset="-122"/>
                <a:cs typeface="Cambria" pitchFamily="34" charset="-120"/>
              </a:rPr>
              <a:t>12 spans/sec</a:t>
            </a:r>
            <a:endParaRPr lang="en-US" sz="2600" dirty="0"/>
          </a:p>
        </p:txBody>
      </p:sp>
      <p:sp>
        <p:nvSpPr>
          <p:cNvPr id="12" name="Text 10"/>
          <p:cNvSpPr/>
          <p:nvPr/>
        </p:nvSpPr>
        <p:spPr>
          <a:xfrm>
            <a:off x="6492240" y="2194560"/>
            <a:ext cx="4754880" cy="274320"/>
          </a:xfrm>
          <a:prstGeom prst="rect">
            <a:avLst/>
          </a:prstGeom>
          <a:noFill/>
          <a:ln/>
        </p:spPr>
        <p:txBody>
          <a:bodyPr wrap="square" lIns="0" tIns="0" rIns="0" bIns="0" rtlCol="0" anchor="ctr"/>
          <a:lstStyle/>
          <a:p>
            <a:pPr indent="0" marL="0">
              <a:buNone/>
            </a:pPr>
            <a:r>
              <a:rPr lang="en-US" sz="1250" b="1" dirty="0">
                <a:solidFill>
                  <a:srgbClr val="E8ECF5"/>
                </a:solidFill>
                <a:latin typeface="Calibri" pitchFamily="34" charset="0"/>
                <a:ea typeface="Calibri" pitchFamily="34" charset="-122"/>
                <a:cs typeface="Calibri" pitchFamily="34" charset="-120"/>
              </a:rPr>
              <a:t>Throughput, 4 workers</a:t>
            </a:r>
            <a:endParaRPr lang="en-US" sz="1250" dirty="0"/>
          </a:p>
        </p:txBody>
      </p:sp>
      <p:sp>
        <p:nvSpPr>
          <p:cNvPr id="13" name="Text 11"/>
          <p:cNvSpPr/>
          <p:nvPr/>
        </p:nvSpPr>
        <p:spPr>
          <a:xfrm>
            <a:off x="6492240" y="2514600"/>
            <a:ext cx="4754880" cy="822960"/>
          </a:xfrm>
          <a:prstGeom prst="rect">
            <a:avLst/>
          </a:prstGeom>
          <a:noFill/>
          <a:ln/>
        </p:spPr>
        <p:txBody>
          <a:bodyPr wrap="square" lIns="0" tIns="0" rIns="0" bIns="0" rtlCol="0" anchor="ctr"/>
          <a:lstStyle/>
          <a:p>
            <a:pPr indent="0" marL="0">
              <a:buNone/>
            </a:pPr>
            <a:r>
              <a:rPr lang="en-US" sz="1100" dirty="0">
                <a:solidFill>
                  <a:srgbClr val="9AA4BD"/>
                </a:solidFill>
                <a:latin typeface="Calibri" pitchFamily="34" charset="0"/>
                <a:ea typeface="Calibri" pitchFamily="34" charset="-122"/>
                <a:cs typeface="Calibri" pitchFamily="34" charset="-120"/>
              </a:rPr>
              <a:t>8 workers buys 8% more throughput for 86% more memory.</a:t>
            </a:r>
            <a:endParaRPr lang="en-US" sz="1100" dirty="0"/>
          </a:p>
          <a:p>
            <a:pPr indent="0" marL="0">
              <a:buNone/>
            </a:pPr>
            <a:r>
              <a:rPr lang="en-US" sz="1100" dirty="0">
                <a:solidFill>
                  <a:srgbClr val="9AA4BD"/>
                </a:solidFill>
                <a:latin typeface="Calibri" pitchFamily="34" charset="0"/>
                <a:ea typeface="Calibri" pitchFamily="34" charset="-122"/>
                <a:cs typeface="Calibri" pitchFamily="34" charset="-120"/>
              </a:rPr>
              <a:t>Per-worker CPU falls monotonically - core saturation</a:t>
            </a:r>
            <a:endParaRPr lang="en-US" sz="1100" dirty="0"/>
          </a:p>
        </p:txBody>
      </p:sp>
      <p:sp>
        <p:nvSpPr>
          <p:cNvPr id="14" name="Shape 12"/>
          <p:cNvSpPr/>
          <p:nvPr/>
        </p:nvSpPr>
        <p:spPr>
          <a:xfrm>
            <a:off x="640080" y="3794760"/>
            <a:ext cx="5349240" cy="2057400"/>
          </a:xfrm>
          <a:prstGeom prst="roundRect">
            <a:avLst>
              <a:gd name="adj" fmla="val 3111"/>
            </a:avLst>
          </a:prstGeom>
          <a:solidFill>
            <a:srgbClr val="222937"/>
          </a:solidFill>
          <a:ln w="12700">
            <a:solidFill>
              <a:srgbClr val="222937"/>
            </a:solidFill>
            <a:prstDash val="solid"/>
          </a:ln>
        </p:spPr>
      </p:sp>
      <p:sp>
        <p:nvSpPr>
          <p:cNvPr id="15" name="Text 13"/>
          <p:cNvSpPr/>
          <p:nvPr/>
        </p:nvSpPr>
        <p:spPr>
          <a:xfrm>
            <a:off x="960120" y="3995928"/>
            <a:ext cx="4754880" cy="548640"/>
          </a:xfrm>
          <a:prstGeom prst="rect">
            <a:avLst/>
          </a:prstGeom>
          <a:noFill/>
          <a:ln/>
        </p:spPr>
        <p:txBody>
          <a:bodyPr wrap="square" lIns="0" tIns="0" rIns="0" bIns="0" rtlCol="0" anchor="ctr"/>
          <a:lstStyle/>
          <a:p>
            <a:pPr indent="0" marL="0">
              <a:buNone/>
            </a:pPr>
            <a:r>
              <a:rPr lang="en-US" sz="2600" b="1" dirty="0">
                <a:solidFill>
                  <a:srgbClr val="22D3EE"/>
                </a:solidFill>
                <a:latin typeface="Cambria" pitchFamily="34" charset="0"/>
                <a:ea typeface="Cambria" pitchFamily="34" charset="-122"/>
                <a:cs typeface="Cambria" pitchFamily="34" charset="-120"/>
              </a:rPr>
              <a:t>1.97x</a:t>
            </a:r>
            <a:endParaRPr lang="en-US" sz="2600" dirty="0"/>
          </a:p>
        </p:txBody>
      </p:sp>
      <p:sp>
        <p:nvSpPr>
          <p:cNvPr id="16" name="Text 14"/>
          <p:cNvSpPr/>
          <p:nvPr/>
        </p:nvSpPr>
        <p:spPr>
          <a:xfrm>
            <a:off x="960120" y="4572000"/>
            <a:ext cx="4754880" cy="274320"/>
          </a:xfrm>
          <a:prstGeom prst="rect">
            <a:avLst/>
          </a:prstGeom>
          <a:noFill/>
          <a:ln/>
        </p:spPr>
        <p:txBody>
          <a:bodyPr wrap="square" lIns="0" tIns="0" rIns="0" bIns="0" rtlCol="0" anchor="ctr"/>
          <a:lstStyle/>
          <a:p>
            <a:pPr indent="0" marL="0">
              <a:buNone/>
            </a:pPr>
            <a:r>
              <a:rPr lang="en-US" sz="1250" b="1" dirty="0">
                <a:solidFill>
                  <a:srgbClr val="E8ECF5"/>
                </a:solidFill>
                <a:latin typeface="Calibri" pitchFamily="34" charset="0"/>
                <a:ea typeface="Calibri" pitchFamily="34" charset="-122"/>
                <a:cs typeface="Calibri" pitchFamily="34" charset="-120"/>
              </a:rPr>
              <a:t>ONNX over PyTorch</a:t>
            </a:r>
            <a:endParaRPr lang="en-US" sz="1250" dirty="0"/>
          </a:p>
        </p:txBody>
      </p:sp>
      <p:sp>
        <p:nvSpPr>
          <p:cNvPr id="17" name="Text 15"/>
          <p:cNvSpPr/>
          <p:nvPr/>
        </p:nvSpPr>
        <p:spPr>
          <a:xfrm>
            <a:off x="960120" y="4892040"/>
            <a:ext cx="4754880" cy="822960"/>
          </a:xfrm>
          <a:prstGeom prst="rect">
            <a:avLst/>
          </a:prstGeom>
          <a:noFill/>
          <a:ln/>
        </p:spPr>
        <p:txBody>
          <a:bodyPr wrap="square" lIns="0" tIns="0" rIns="0" bIns="0" rtlCol="0" anchor="ctr"/>
          <a:lstStyle/>
          <a:p>
            <a:pPr indent="0" marL="0">
              <a:buNone/>
            </a:pPr>
            <a:r>
              <a:rPr lang="en-US" sz="1100" dirty="0">
                <a:solidFill>
                  <a:srgbClr val="9AA4BD"/>
                </a:solidFill>
                <a:latin typeface="Calibri" pitchFamily="34" charset="0"/>
                <a:ea typeface="Calibri" pitchFamily="34" charset="-122"/>
                <a:cs typeface="Calibri" pitchFamily="34" charset="-120"/>
              </a:rPr>
              <a:t>Worst probability difference between backends 1.2e-08.</a:t>
            </a:r>
            <a:endParaRPr lang="en-US" sz="1100" dirty="0"/>
          </a:p>
          <a:p>
            <a:pPr indent="0" marL="0">
              <a:buNone/>
            </a:pPr>
            <a:r>
              <a:rPr lang="en-US" sz="1100" dirty="0">
                <a:solidFill>
                  <a:srgbClr val="9AA4BD"/>
                </a:solidFill>
                <a:latin typeface="Calibri" pitchFamily="34" charset="0"/>
                <a:ea typeface="Calibri" pitchFamily="34" charset="-122"/>
                <a:cs typeface="Calibri" pitchFamily="34" charset="-120"/>
              </a:rPr>
              <a:t>Identical output, roughly twice the speed</a:t>
            </a:r>
            <a:endParaRPr lang="en-US" sz="1100" dirty="0"/>
          </a:p>
        </p:txBody>
      </p:sp>
      <p:sp>
        <p:nvSpPr>
          <p:cNvPr id="18" name="Shape 16"/>
          <p:cNvSpPr/>
          <p:nvPr/>
        </p:nvSpPr>
        <p:spPr>
          <a:xfrm>
            <a:off x="6172200" y="3794760"/>
            <a:ext cx="5349240" cy="2057400"/>
          </a:xfrm>
          <a:prstGeom prst="roundRect">
            <a:avLst>
              <a:gd name="adj" fmla="val 3111"/>
            </a:avLst>
          </a:prstGeom>
          <a:solidFill>
            <a:srgbClr val="222937"/>
          </a:solidFill>
          <a:ln w="12700">
            <a:solidFill>
              <a:srgbClr val="222937"/>
            </a:solidFill>
            <a:prstDash val="solid"/>
          </a:ln>
        </p:spPr>
      </p:sp>
      <p:sp>
        <p:nvSpPr>
          <p:cNvPr id="19" name="Text 17"/>
          <p:cNvSpPr/>
          <p:nvPr/>
        </p:nvSpPr>
        <p:spPr>
          <a:xfrm>
            <a:off x="6492240" y="3995928"/>
            <a:ext cx="4754880" cy="548640"/>
          </a:xfrm>
          <a:prstGeom prst="rect">
            <a:avLst/>
          </a:prstGeom>
          <a:noFill/>
          <a:ln/>
        </p:spPr>
        <p:txBody>
          <a:bodyPr wrap="square" lIns="0" tIns="0" rIns="0" bIns="0" rtlCol="0" anchor="ctr"/>
          <a:lstStyle/>
          <a:p>
            <a:pPr indent="0" marL="0">
              <a:buNone/>
            </a:pPr>
            <a:r>
              <a:rPr lang="en-US" sz="2600" b="1" dirty="0">
                <a:solidFill>
                  <a:srgbClr val="34D399"/>
                </a:solidFill>
                <a:latin typeface="Cambria" pitchFamily="34" charset="0"/>
                <a:ea typeface="Cambria" pitchFamily="34" charset="-122"/>
                <a:cs typeface="Cambria" pitchFamily="34" charset="-120"/>
              </a:rPr>
              <a:t>1.24 to 0.10 GB</a:t>
            </a:r>
            <a:endParaRPr lang="en-US" sz="2600" dirty="0"/>
          </a:p>
        </p:txBody>
      </p:sp>
      <p:sp>
        <p:nvSpPr>
          <p:cNvPr id="20" name="Text 18"/>
          <p:cNvSpPr/>
          <p:nvPr/>
        </p:nvSpPr>
        <p:spPr>
          <a:xfrm>
            <a:off x="6492240" y="4572000"/>
            <a:ext cx="4754880" cy="274320"/>
          </a:xfrm>
          <a:prstGeom prst="rect">
            <a:avLst/>
          </a:prstGeom>
          <a:noFill/>
          <a:ln/>
        </p:spPr>
        <p:txBody>
          <a:bodyPr wrap="square" lIns="0" tIns="0" rIns="0" bIns="0" rtlCol="0" anchor="ctr"/>
          <a:lstStyle/>
          <a:p>
            <a:pPr indent="0" marL="0">
              <a:buNone/>
            </a:pPr>
            <a:r>
              <a:rPr lang="en-US" sz="1250" b="1" dirty="0">
                <a:solidFill>
                  <a:srgbClr val="E8ECF5"/>
                </a:solidFill>
                <a:latin typeface="Calibri" pitchFamily="34" charset="0"/>
                <a:ea typeface="Calibri" pitchFamily="34" charset="-122"/>
                <a:cs typeface="Calibri" pitchFamily="34" charset="-120"/>
              </a:rPr>
              <a:t>API memory footprint</a:t>
            </a:r>
            <a:endParaRPr lang="en-US" sz="1250" dirty="0"/>
          </a:p>
        </p:txBody>
      </p:sp>
      <p:sp>
        <p:nvSpPr>
          <p:cNvPr id="21" name="Text 19"/>
          <p:cNvSpPr/>
          <p:nvPr/>
        </p:nvSpPr>
        <p:spPr>
          <a:xfrm>
            <a:off x="6492240" y="4892040"/>
            <a:ext cx="4754880" cy="822960"/>
          </a:xfrm>
          <a:prstGeom prst="rect">
            <a:avLst/>
          </a:prstGeom>
          <a:noFill/>
          <a:ln/>
        </p:spPr>
        <p:txBody>
          <a:bodyPr wrap="square" lIns="0" tIns="0" rIns="0" bIns="0" rtlCol="0" anchor="ctr"/>
          <a:lstStyle/>
          <a:p>
            <a:pPr indent="0" marL="0">
              <a:buNone/>
            </a:pPr>
            <a:r>
              <a:rPr lang="en-US" sz="1100" dirty="0">
                <a:solidFill>
                  <a:srgbClr val="9AA4BD"/>
                </a:solidFill>
                <a:latin typeface="Calibri" pitchFamily="34" charset="0"/>
                <a:ea typeface="Calibri" pitchFamily="34" charset="-122"/>
                <a:cs typeface="Calibri" pitchFamily="34" charset="-120"/>
              </a:rPr>
              <a:t>Models moved off the ingest process.</a:t>
            </a:r>
            <a:endParaRPr lang="en-US" sz="1100" dirty="0"/>
          </a:p>
          <a:p>
            <a:pPr indent="0" marL="0">
              <a:buNone/>
            </a:pPr>
            <a:r>
              <a:rPr lang="en-US" sz="1100" dirty="0">
                <a:solidFill>
                  <a:srgbClr val="9AA4BD"/>
                </a:solidFill>
                <a:latin typeface="Calibri" pitchFamily="34" charset="0"/>
                <a:ea typeface="Calibri" pitchFamily="34" charset="-122"/>
                <a:cs typeface="Calibri" pitchFamily="34" charset="-120"/>
              </a:rPr>
              <a:t>Time-to-ready unchanged at about 1.5 s</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640080" y="365760"/>
            <a:ext cx="9144000" cy="237744"/>
          </a:xfrm>
          <a:prstGeom prst="rect">
            <a:avLst/>
          </a:prstGeom>
          <a:noFill/>
          <a:ln/>
        </p:spPr>
        <p:txBody>
          <a:bodyPr wrap="square" lIns="0" tIns="0" rIns="0" bIns="0" rtlCol="0" anchor="ctr"/>
          <a:lstStyle/>
          <a:p>
            <a:pPr indent="0" marL="0">
              <a:buNone/>
            </a:pPr>
            <a:r>
              <a:rPr lang="en-US" sz="1050" b="1" spc="200" kern="0" dirty="0">
                <a:solidFill>
                  <a:srgbClr val="22D3EE"/>
                </a:solidFill>
                <a:latin typeface="Calibri" pitchFamily="34" charset="0"/>
                <a:ea typeface="Calibri" pitchFamily="34" charset="-122"/>
                <a:cs typeface="Calibri" pitchFamily="34" charset="-120"/>
              </a:rPr>
              <a:t>STATISTICAL RIGOR</a:t>
            </a:r>
            <a:endParaRPr lang="en-US" sz="1050" dirty="0"/>
          </a:p>
        </p:txBody>
      </p:sp>
      <p:sp>
        <p:nvSpPr>
          <p:cNvPr id="3" name="Text 1"/>
          <p:cNvSpPr/>
          <p:nvPr/>
        </p:nvSpPr>
        <p:spPr>
          <a:xfrm>
            <a:off x="640080" y="621792"/>
            <a:ext cx="10881360" cy="640080"/>
          </a:xfrm>
          <a:prstGeom prst="rect">
            <a:avLst/>
          </a:prstGeom>
          <a:noFill/>
          <a:ln/>
        </p:spPr>
        <p:txBody>
          <a:bodyPr wrap="square" lIns="0" tIns="0" rIns="0" bIns="0" rtlCol="0" anchor="ctr"/>
          <a:lstStyle/>
          <a:p>
            <a:pPr indent="0" marL="0">
              <a:buNone/>
            </a:pPr>
            <a:r>
              <a:rPr lang="en-US" sz="3100" b="1" dirty="0">
                <a:solidFill>
                  <a:srgbClr val="141922"/>
                </a:solidFill>
                <a:latin typeface="Cambria" pitchFamily="34" charset="0"/>
                <a:ea typeface="Cambria" pitchFamily="34" charset="-122"/>
                <a:cs typeface="Cambria" pitchFamily="34" charset="-120"/>
              </a:rPr>
              <a:t>What the methodology does and does not establish</a:t>
            </a:r>
            <a:endParaRPr lang="en-US" sz="3100" dirty="0"/>
          </a:p>
        </p:txBody>
      </p:sp>
      <p:sp>
        <p:nvSpPr>
          <p:cNvPr id="4" name="Shape 2"/>
          <p:cNvSpPr/>
          <p:nvPr/>
        </p:nvSpPr>
        <p:spPr>
          <a:xfrm>
            <a:off x="8321040" y="384048"/>
            <a:ext cx="3200400" cy="256032"/>
          </a:xfrm>
          <a:prstGeom prst="roundRect">
            <a:avLst>
              <a:gd name="adj" fmla="val 42857"/>
            </a:avLst>
          </a:prstGeom>
          <a:solidFill>
            <a:srgbClr val="22D3EE">
              <a:alpha val="12000"/>
            </a:srgbClr>
          </a:solidFill>
          <a:ln w="7620">
            <a:solidFill>
              <a:srgbClr val="22D3EE"/>
            </a:solidFill>
            <a:prstDash val="solid"/>
          </a:ln>
        </p:spPr>
      </p:sp>
      <p:sp>
        <p:nvSpPr>
          <p:cNvPr id="5" name="Text 3"/>
          <p:cNvSpPr/>
          <p:nvPr/>
        </p:nvSpPr>
        <p:spPr>
          <a:xfrm>
            <a:off x="8321040" y="384048"/>
            <a:ext cx="3200400" cy="256032"/>
          </a:xfrm>
          <a:prstGeom prst="rect">
            <a:avLst/>
          </a:prstGeom>
          <a:noFill/>
          <a:ln/>
        </p:spPr>
        <p:txBody>
          <a:bodyPr wrap="square" lIns="0" tIns="0" rIns="0" bIns="0" rtlCol="0" anchor="ctr"/>
          <a:lstStyle/>
          <a:p>
            <a:pPr algn="ctr" indent="0" marL="0">
              <a:buNone/>
            </a:pPr>
            <a:r>
              <a:rPr lang="en-US" sz="900" b="1" dirty="0">
                <a:solidFill>
                  <a:srgbClr val="22D3EE"/>
                </a:solidFill>
                <a:latin typeface="Calibri" pitchFamily="34" charset="0"/>
                <a:ea typeface="Calibri" pitchFamily="34" charset="-122"/>
                <a:cs typeface="Calibri" pitchFamily="34" charset="-120"/>
              </a:rPr>
              <a:t>Rigor - stated honestly</a:t>
            </a:r>
            <a:endParaRPr lang="en-US" sz="900" dirty="0"/>
          </a:p>
        </p:txBody>
      </p:sp>
      <p:sp>
        <p:nvSpPr>
          <p:cNvPr id="6" name="Shape 4"/>
          <p:cNvSpPr/>
          <p:nvPr/>
        </p:nvSpPr>
        <p:spPr>
          <a:xfrm>
            <a:off x="640080" y="1417320"/>
            <a:ext cx="5349240" cy="3931920"/>
          </a:xfrm>
          <a:prstGeom prst="roundRect">
            <a:avLst>
              <a:gd name="adj" fmla="val 1628"/>
            </a:avLst>
          </a:prstGeom>
          <a:solidFill>
            <a:srgbClr val="FFFFFF"/>
          </a:solidFill>
          <a:ln w="12700">
            <a:solidFill>
              <a:srgbClr val="FFFFFF"/>
            </a:solidFill>
            <a:prstDash val="solid"/>
          </a:ln>
        </p:spPr>
      </p:sp>
      <p:sp>
        <p:nvSpPr>
          <p:cNvPr id="7" name="Text 5"/>
          <p:cNvSpPr/>
          <p:nvPr/>
        </p:nvSpPr>
        <p:spPr>
          <a:xfrm>
            <a:off x="960120" y="1627632"/>
            <a:ext cx="4754880" cy="274320"/>
          </a:xfrm>
          <a:prstGeom prst="rect">
            <a:avLst/>
          </a:prstGeom>
          <a:noFill/>
          <a:ln/>
        </p:spPr>
        <p:txBody>
          <a:bodyPr wrap="square" lIns="0" tIns="0" rIns="0" bIns="0" rtlCol="0" anchor="ctr"/>
          <a:lstStyle/>
          <a:p>
            <a:pPr indent="0" marL="0">
              <a:buNone/>
            </a:pPr>
            <a:r>
              <a:rPr lang="en-US" sz="1350" b="1" dirty="0">
                <a:solidFill>
                  <a:srgbClr val="15704F"/>
                </a:solidFill>
                <a:latin typeface="Calibri" pitchFamily="34" charset="0"/>
                <a:ea typeface="Calibri" pitchFamily="34" charset="-122"/>
                <a:cs typeface="Calibri" pitchFamily="34" charset="-120"/>
              </a:rPr>
              <a:t>What is in place</a:t>
            </a:r>
            <a:endParaRPr lang="en-US" sz="1350" dirty="0"/>
          </a:p>
        </p:txBody>
      </p:sp>
      <p:sp>
        <p:nvSpPr>
          <p:cNvPr id="8" name="Text 6"/>
          <p:cNvSpPr/>
          <p:nvPr/>
        </p:nvSpPr>
        <p:spPr>
          <a:xfrm>
            <a:off x="960120" y="2011680"/>
            <a:ext cx="4754880" cy="3200400"/>
          </a:xfrm>
          <a:prstGeom prst="rect">
            <a:avLst/>
          </a:prstGeom>
          <a:noFill/>
          <a:ln/>
        </p:spPr>
        <p:txBody>
          <a:bodyPr wrap="square" lIns="0" tIns="0" rIns="0" bIns="0" rtlCol="0" anchor="ctr"/>
          <a:lstStyle/>
          <a:p>
            <a:pPr marL="342900" indent="-342900">
              <a:spcAft>
                <a:spcPts val="600"/>
              </a:spcAft>
              <a:buSzPct val="100000"/>
              <a:buChar char="•"/>
            </a:pPr>
            <a:r>
              <a:rPr lang="en-US" sz="1100" dirty="0">
                <a:solidFill>
                  <a:srgbClr val="5A6478"/>
                </a:solidFill>
                <a:latin typeface="Calibri" pitchFamily="34" charset="0"/>
                <a:ea typeface="Calibri" pitchFamily="34" charset="-122"/>
                <a:cs typeface="Calibri" pitchFamily="34" charset="-120"/>
              </a:rPr>
              <a:t>Held-out reporting: thresholds selected on dev, applied unchanged to test. Drift measured once on 111 unseen tasks.</a:t>
            </a:r>
            <a:endParaRPr lang="en-US" sz="1100" dirty="0"/>
          </a:p>
          <a:p>
            <a:pPr marL="342900" indent="-342900">
              <a:spcAft>
                <a:spcPts val="600"/>
              </a:spcAft>
              <a:buSzPct val="100000"/>
              <a:buChar char="•"/>
            </a:pPr>
            <a:r>
              <a:rPr lang="en-US" sz="1100" dirty="0">
                <a:solidFill>
                  <a:srgbClr val="5A6478"/>
                </a:solidFill>
                <a:latin typeface="Calibri" pitchFamily="34" charset="0"/>
                <a:ea typeface="Calibri" pitchFamily="34" charset="-122"/>
                <a:cs typeface="Calibri" pitchFamily="34" charset="-120"/>
              </a:rPr>
              <a:t>Pre-registered criterion: the drift acceptance rule (FA &lt;= 0.10, coverage &gt;= 0.25) was fixed before the held-out measurement.</a:t>
            </a:r>
            <a:endParaRPr lang="en-US" sz="1100" dirty="0"/>
          </a:p>
          <a:p>
            <a:pPr marL="342900" indent="-342900">
              <a:spcAft>
                <a:spcPts val="600"/>
              </a:spcAft>
              <a:buSzPct val="100000"/>
              <a:buChar char="•"/>
            </a:pPr>
            <a:r>
              <a:rPr lang="en-US" sz="1100" dirty="0">
                <a:solidFill>
                  <a:srgbClr val="5A6478"/>
                </a:solidFill>
                <a:latin typeface="Calibri" pitchFamily="34" charset="0"/>
                <a:ea typeface="Calibri" pitchFamily="34" charset="-122"/>
                <a:cs typeface="Calibri" pitchFamily="34" charset="-120"/>
              </a:rPr>
              <a:t>Inter-annotator agreement: Cohen kappa 0.922 on the original 50 labels, and 0.225 on a later attempt, which was reported as disqualifying.</a:t>
            </a:r>
            <a:endParaRPr lang="en-US" sz="1100" dirty="0"/>
          </a:p>
          <a:p>
            <a:pPr marL="342900" indent="-342900">
              <a:spcAft>
                <a:spcPts val="600"/>
              </a:spcAft>
              <a:buSzPct val="100000"/>
              <a:buChar char="•"/>
            </a:pPr>
            <a:r>
              <a:rPr lang="en-US" sz="1100" dirty="0">
                <a:solidFill>
                  <a:srgbClr val="5A6478"/>
                </a:solidFill>
                <a:latin typeface="Calibri" pitchFamily="34" charset="0"/>
                <a:ea typeface="Calibri" pitchFamily="34" charset="-122"/>
                <a:cs typeface="Calibri" pitchFamily="34" charset="-120"/>
              </a:rPr>
              <a:t>Power analysis: the 370-row external benchmark was sized before running.</a:t>
            </a:r>
            <a:endParaRPr lang="en-US" sz="1100" dirty="0"/>
          </a:p>
          <a:p>
            <a:pPr marL="342900" indent="-342900">
              <a:spcAft>
                <a:spcPts val="600"/>
              </a:spcAft>
              <a:buSzPct val="100000"/>
              <a:buChar char="•"/>
            </a:pPr>
            <a:r>
              <a:rPr lang="en-US" sz="1100" dirty="0">
                <a:solidFill>
                  <a:srgbClr val="5A6478"/>
                </a:solidFill>
                <a:latin typeface="Calibri" pitchFamily="34" charset="0"/>
                <a:ea typeface="Calibri" pitchFamily="34" charset="-122"/>
                <a:cs typeface="Calibri" pitchFamily="34" charset="-120"/>
              </a:rPr>
              <a:t>Seeds recorded for every sampling step, so selection is reproducible.</a:t>
            </a:r>
            <a:endParaRPr lang="en-US" sz="1100" dirty="0"/>
          </a:p>
          <a:p>
            <a:pPr marL="342900" indent="-342900">
              <a:spcAft>
                <a:spcPts val="600"/>
              </a:spcAft>
              <a:buSzPct val="100000"/>
              <a:buChar char="•"/>
            </a:pPr>
            <a:r>
              <a:rPr lang="en-US" sz="1100" dirty="0">
                <a:solidFill>
                  <a:srgbClr val="5A6478"/>
                </a:solidFill>
                <a:latin typeface="Calibri" pitchFamily="34" charset="0"/>
                <a:ea typeface="Calibri" pitchFamily="34" charset="-122"/>
                <a:cs typeface="Calibri" pitchFamily="34" charset="-120"/>
              </a:rPr>
              <a:t>Confidence intervals reported where they change the conclusion - the extraction generalization result is reported as overlapping intervals, not as an improvement.</a:t>
            </a:r>
            <a:endParaRPr lang="en-US" sz="1100" dirty="0"/>
          </a:p>
        </p:txBody>
      </p:sp>
      <p:sp>
        <p:nvSpPr>
          <p:cNvPr id="9" name="Shape 7"/>
          <p:cNvSpPr/>
          <p:nvPr/>
        </p:nvSpPr>
        <p:spPr>
          <a:xfrm>
            <a:off x="6309360" y="1417320"/>
            <a:ext cx="5212080" cy="3931920"/>
          </a:xfrm>
          <a:prstGeom prst="roundRect">
            <a:avLst>
              <a:gd name="adj" fmla="val 1628"/>
            </a:avLst>
          </a:prstGeom>
          <a:solidFill>
            <a:srgbClr val="FFFFFF"/>
          </a:solidFill>
          <a:ln w="12700">
            <a:solidFill>
              <a:srgbClr val="FFFFFF"/>
            </a:solidFill>
            <a:prstDash val="solid"/>
          </a:ln>
        </p:spPr>
      </p:sp>
      <p:sp>
        <p:nvSpPr>
          <p:cNvPr id="10" name="Text 8"/>
          <p:cNvSpPr/>
          <p:nvPr/>
        </p:nvSpPr>
        <p:spPr>
          <a:xfrm>
            <a:off x="6629400" y="1627632"/>
            <a:ext cx="4617720" cy="274320"/>
          </a:xfrm>
          <a:prstGeom prst="rect">
            <a:avLst/>
          </a:prstGeom>
          <a:noFill/>
          <a:ln/>
        </p:spPr>
        <p:txBody>
          <a:bodyPr wrap="square" lIns="0" tIns="0" rIns="0" bIns="0" rtlCol="0" anchor="ctr"/>
          <a:lstStyle/>
          <a:p>
            <a:pPr indent="0" marL="0">
              <a:buNone/>
            </a:pPr>
            <a:r>
              <a:rPr lang="en-US" sz="1350" b="1" dirty="0">
                <a:solidFill>
                  <a:srgbClr val="9B2C3A"/>
                </a:solidFill>
                <a:latin typeface="Calibri" pitchFamily="34" charset="0"/>
                <a:ea typeface="Calibri" pitchFamily="34" charset="-122"/>
                <a:cs typeface="Calibri" pitchFamily="34" charset="-120"/>
              </a:rPr>
              <a:t>What is not</a:t>
            </a:r>
            <a:endParaRPr lang="en-US" sz="1350" dirty="0"/>
          </a:p>
        </p:txBody>
      </p:sp>
      <p:sp>
        <p:nvSpPr>
          <p:cNvPr id="11" name="Text 9"/>
          <p:cNvSpPr/>
          <p:nvPr/>
        </p:nvSpPr>
        <p:spPr>
          <a:xfrm>
            <a:off x="6629400" y="2011680"/>
            <a:ext cx="4617720" cy="3200400"/>
          </a:xfrm>
          <a:prstGeom prst="rect">
            <a:avLst/>
          </a:prstGeom>
          <a:noFill/>
          <a:ln/>
        </p:spPr>
        <p:txBody>
          <a:bodyPr wrap="square" lIns="0" tIns="0" rIns="0" bIns="0" rtlCol="0" anchor="ctr"/>
          <a:lstStyle/>
          <a:p>
            <a:pPr marL="342900" indent="-342900">
              <a:spcAft>
                <a:spcPts val="700"/>
              </a:spcAft>
              <a:buSzPct val="100000"/>
              <a:buChar char="•"/>
            </a:pPr>
            <a:r>
              <a:rPr lang="en-US" sz="1100" dirty="0">
                <a:solidFill>
                  <a:srgbClr val="5A6478"/>
                </a:solidFill>
                <a:latin typeface="Calibri" pitchFamily="34" charset="0"/>
                <a:ea typeface="Calibri" pitchFamily="34" charset="-122"/>
                <a:cs typeface="Calibri" pitchFamily="34" charset="-120"/>
              </a:rPr>
              <a:t>No multi-seed repetition of the grounding benchmark. The 0.963 figure is a single run on a 30-case split, so it carries no variance estimate.</a:t>
            </a:r>
            <a:endParaRPr lang="en-US" sz="1100" dirty="0"/>
          </a:p>
          <a:p>
            <a:pPr marL="342900" indent="-342900">
              <a:spcAft>
                <a:spcPts val="700"/>
              </a:spcAft>
              <a:buSzPct val="100000"/>
              <a:buChar char="•"/>
            </a:pPr>
            <a:r>
              <a:rPr lang="en-US" sz="1100" dirty="0">
                <a:solidFill>
                  <a:srgbClr val="5A6478"/>
                </a:solidFill>
                <a:latin typeface="Calibri" pitchFamily="34" charset="0"/>
                <a:ea typeface="Calibri" pitchFamily="34" charset="-122"/>
                <a:cs typeface="Calibri" pitchFamily="34" charset="-120"/>
              </a:rPr>
              <a:t>No significance testing between the cascade and baseline D. Their difference is reported as observed, not as established.</a:t>
            </a:r>
            <a:endParaRPr lang="en-US" sz="1100" dirty="0"/>
          </a:p>
          <a:p>
            <a:pPr marL="342900" indent="-342900">
              <a:spcAft>
                <a:spcPts val="700"/>
              </a:spcAft>
              <a:buSzPct val="100000"/>
              <a:buChar char="•"/>
            </a:pPr>
            <a:r>
              <a:rPr lang="en-US" sz="1100" dirty="0">
                <a:solidFill>
                  <a:srgbClr val="5A6478"/>
                </a:solidFill>
                <a:latin typeface="Calibri" pitchFamily="34" charset="0"/>
                <a:ea typeface="Calibri" pitchFamily="34" charset="-122"/>
                <a:cs typeface="Calibri" pitchFamily="34" charset="-120"/>
              </a:rPr>
              <a:t>Test splits are small - 20 to 30 cases. Adequate for direction, not for tight intervals.</a:t>
            </a:r>
            <a:endParaRPr lang="en-US" sz="1100" dirty="0"/>
          </a:p>
          <a:p>
            <a:pPr marL="342900" indent="-342900">
              <a:spcAft>
                <a:spcPts val="700"/>
              </a:spcAft>
              <a:buSzPct val="100000"/>
              <a:buChar char="•"/>
            </a:pPr>
            <a:r>
              <a:rPr lang="en-US" sz="1100" dirty="0">
                <a:solidFill>
                  <a:srgbClr val="5A6478"/>
                </a:solidFill>
                <a:latin typeface="Calibri" pitchFamily="34" charset="0"/>
                <a:ea typeface="Calibri" pitchFamily="34" charset="-122"/>
                <a:cs typeface="Calibri" pitchFamily="34" charset="-120"/>
              </a:rPr>
              <a:t>Labels are LLM-generated. The kappa is between two model passes, not between human annotators.</a:t>
            </a:r>
            <a:endParaRPr lang="en-US" sz="1100" dirty="0"/>
          </a:p>
        </p:txBody>
      </p:sp>
      <p:sp>
        <p:nvSpPr>
          <p:cNvPr id="12" name="Text 10"/>
          <p:cNvSpPr/>
          <p:nvPr/>
        </p:nvSpPr>
        <p:spPr>
          <a:xfrm>
            <a:off x="640080" y="5532120"/>
            <a:ext cx="10881360" cy="457200"/>
          </a:xfrm>
          <a:prstGeom prst="rect">
            <a:avLst/>
          </a:prstGeom>
          <a:noFill/>
          <a:ln/>
        </p:spPr>
        <p:txBody>
          <a:bodyPr wrap="square" lIns="0" tIns="0" rIns="0" bIns="0" rtlCol="0" anchor="ctr"/>
          <a:lstStyle/>
          <a:p>
            <a:pPr indent="0" marL="0">
              <a:buNone/>
            </a:pPr>
            <a:r>
              <a:rPr lang="en-US" sz="1250" i="1" dirty="0">
                <a:solidFill>
                  <a:srgbClr val="5A6478"/>
                </a:solidFill>
                <a:latin typeface="Calibri" pitchFamily="34" charset="0"/>
                <a:ea typeface="Calibri" pitchFamily="34" charset="-122"/>
                <a:cs typeface="Calibri" pitchFamily="34" charset="-120"/>
              </a:rPr>
              <a:t>The honest summary: the methodology is strong on held-out discipline and weak on repetition. Where a number lacks an interval, this deck says so rather than implying one.</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1117"/>
        </a:solidFill>
      </p:bgPr>
    </p:bg>
    <p:spTree>
      <p:nvGrpSpPr>
        <p:cNvPr id="1" name=""/>
        <p:cNvGrpSpPr/>
        <p:nvPr/>
      </p:nvGrpSpPr>
      <p:grpSpPr>
        <a:xfrm>
          <a:off x="0" y="0"/>
          <a:ext cx="0" cy="0"/>
          <a:chOff x="0" y="0"/>
          <a:chExt cx="0" cy="0"/>
        </a:xfrm>
      </p:grpSpPr>
      <p:sp>
        <p:nvSpPr>
          <p:cNvPr id="2" name="Text 0"/>
          <p:cNvSpPr/>
          <p:nvPr/>
        </p:nvSpPr>
        <p:spPr>
          <a:xfrm>
            <a:off x="640080" y="365760"/>
            <a:ext cx="9144000" cy="237744"/>
          </a:xfrm>
          <a:prstGeom prst="rect">
            <a:avLst/>
          </a:prstGeom>
          <a:noFill/>
          <a:ln/>
        </p:spPr>
        <p:txBody>
          <a:bodyPr wrap="square" lIns="0" tIns="0" rIns="0" bIns="0" rtlCol="0" anchor="ctr"/>
          <a:lstStyle/>
          <a:p>
            <a:pPr indent="0" marL="0">
              <a:buNone/>
            </a:pPr>
            <a:r>
              <a:rPr lang="en-US" sz="1050" b="1" spc="200" kern="0" dirty="0">
                <a:solidFill>
                  <a:srgbClr val="22D3EE"/>
                </a:solidFill>
                <a:latin typeface="Calibri" pitchFamily="34" charset="0"/>
                <a:ea typeface="Calibri" pitchFamily="34" charset="-122"/>
                <a:cs typeface="Calibri" pitchFamily="34" charset="-120"/>
              </a:rPr>
              <a:t>ERROR ANALYSIS</a:t>
            </a:r>
            <a:endParaRPr lang="en-US" sz="1050" dirty="0"/>
          </a:p>
        </p:txBody>
      </p:sp>
      <p:sp>
        <p:nvSpPr>
          <p:cNvPr id="3" name="Text 1"/>
          <p:cNvSpPr/>
          <p:nvPr/>
        </p:nvSpPr>
        <p:spPr>
          <a:xfrm>
            <a:off x="640080" y="621792"/>
            <a:ext cx="10881360" cy="640080"/>
          </a:xfrm>
          <a:prstGeom prst="rect">
            <a:avLst/>
          </a:prstGeom>
          <a:noFill/>
          <a:ln/>
        </p:spPr>
        <p:txBody>
          <a:bodyPr wrap="square" lIns="0" tIns="0" rIns="0" bIns="0" rtlCol="0" anchor="ctr"/>
          <a:lstStyle/>
          <a:p>
            <a:pPr indent="0" marL="0">
              <a:buNone/>
            </a:pPr>
            <a:r>
              <a:rPr lang="en-US" sz="3100" b="1" dirty="0">
                <a:solidFill>
                  <a:srgbClr val="E8ECF5"/>
                </a:solidFill>
                <a:latin typeface="Cambria" pitchFamily="34" charset="0"/>
                <a:ea typeface="Cambria" pitchFamily="34" charset="-122"/>
                <a:cs typeface="Cambria" pitchFamily="34" charset="-120"/>
              </a:rPr>
              <a:t>Three signals met external data. Three broke.</a:t>
            </a:r>
            <a:endParaRPr lang="en-US" sz="3100" dirty="0"/>
          </a:p>
        </p:txBody>
      </p:sp>
      <p:sp>
        <p:nvSpPr>
          <p:cNvPr id="4" name="Shape 2"/>
          <p:cNvSpPr/>
          <p:nvPr/>
        </p:nvSpPr>
        <p:spPr>
          <a:xfrm>
            <a:off x="8321040" y="384048"/>
            <a:ext cx="3200400" cy="256032"/>
          </a:xfrm>
          <a:prstGeom prst="roundRect">
            <a:avLst>
              <a:gd name="adj" fmla="val 42857"/>
            </a:avLst>
          </a:prstGeom>
          <a:solidFill>
            <a:srgbClr val="22D3EE">
              <a:alpha val="12000"/>
            </a:srgbClr>
          </a:solidFill>
          <a:ln w="7620">
            <a:solidFill>
              <a:srgbClr val="22D3EE"/>
            </a:solidFill>
            <a:prstDash val="solid"/>
          </a:ln>
        </p:spPr>
      </p:sp>
      <p:sp>
        <p:nvSpPr>
          <p:cNvPr id="5" name="Text 3"/>
          <p:cNvSpPr/>
          <p:nvPr/>
        </p:nvSpPr>
        <p:spPr>
          <a:xfrm>
            <a:off x="8321040" y="384048"/>
            <a:ext cx="3200400" cy="256032"/>
          </a:xfrm>
          <a:prstGeom prst="rect">
            <a:avLst/>
          </a:prstGeom>
          <a:noFill/>
          <a:ln/>
        </p:spPr>
        <p:txBody>
          <a:bodyPr wrap="square" lIns="0" tIns="0" rIns="0" bIns="0" rtlCol="0" anchor="ctr"/>
          <a:lstStyle/>
          <a:p>
            <a:pPr algn="ctr" indent="0" marL="0">
              <a:buNone/>
            </a:pPr>
            <a:r>
              <a:rPr lang="en-US" sz="900" b="1" dirty="0">
                <a:solidFill>
                  <a:srgbClr val="22D3EE"/>
                </a:solidFill>
                <a:latin typeface="Calibri" pitchFamily="34" charset="0"/>
                <a:ea typeface="Calibri" pitchFamily="34" charset="-122"/>
                <a:cs typeface="Calibri" pitchFamily="34" charset="-120"/>
              </a:rPr>
              <a:t>Failure cases discussed</a:t>
            </a:r>
            <a:endParaRPr lang="en-US" sz="900" dirty="0"/>
          </a:p>
        </p:txBody>
      </p:sp>
      <p:sp>
        <p:nvSpPr>
          <p:cNvPr id="6" name="Text 4"/>
          <p:cNvSpPr/>
          <p:nvPr/>
        </p:nvSpPr>
        <p:spPr>
          <a:xfrm>
            <a:off x="914400" y="1417320"/>
            <a:ext cx="1463040" cy="256032"/>
          </a:xfrm>
          <a:prstGeom prst="rect">
            <a:avLst/>
          </a:prstGeom>
          <a:noFill/>
          <a:ln/>
        </p:spPr>
        <p:txBody>
          <a:bodyPr wrap="square" lIns="0" tIns="0" rIns="0" bIns="0" rtlCol="0" anchor="ctr"/>
          <a:lstStyle/>
          <a:p>
            <a:pPr indent="0" marL="0">
              <a:buNone/>
            </a:pPr>
            <a:r>
              <a:rPr lang="en-US" sz="950" b="1" spc="100" kern="0" dirty="0">
                <a:solidFill>
                  <a:srgbClr val="6B7690"/>
                </a:solidFill>
                <a:latin typeface="Calibri" pitchFamily="34" charset="0"/>
                <a:ea typeface="Calibri" pitchFamily="34" charset="-122"/>
                <a:cs typeface="Calibri" pitchFamily="34" charset="-120"/>
              </a:rPr>
              <a:t>SIGNAL</a:t>
            </a:r>
            <a:endParaRPr lang="en-US" sz="950" dirty="0"/>
          </a:p>
        </p:txBody>
      </p:sp>
      <p:sp>
        <p:nvSpPr>
          <p:cNvPr id="7" name="Text 5"/>
          <p:cNvSpPr/>
          <p:nvPr/>
        </p:nvSpPr>
        <p:spPr>
          <a:xfrm>
            <a:off x="2468880" y="1417320"/>
            <a:ext cx="3108960" cy="256032"/>
          </a:xfrm>
          <a:prstGeom prst="rect">
            <a:avLst/>
          </a:prstGeom>
          <a:noFill/>
          <a:ln/>
        </p:spPr>
        <p:txBody>
          <a:bodyPr wrap="square" lIns="0" tIns="0" rIns="0" bIns="0" rtlCol="0" anchor="ctr"/>
          <a:lstStyle/>
          <a:p>
            <a:pPr indent="0" marL="0">
              <a:buNone/>
            </a:pPr>
            <a:r>
              <a:rPr lang="en-US" sz="950" b="1" spc="100" kern="0" dirty="0">
                <a:solidFill>
                  <a:srgbClr val="6B7690"/>
                </a:solidFill>
                <a:latin typeface="Calibri" pitchFamily="34" charset="0"/>
                <a:ea typeface="Calibri" pitchFamily="34" charset="-122"/>
                <a:cs typeface="Calibri" pitchFamily="34" charset="-120"/>
              </a:rPr>
              <a:t>INTERNAL BENCHMARK</a:t>
            </a:r>
            <a:endParaRPr lang="en-US" sz="950" dirty="0"/>
          </a:p>
        </p:txBody>
      </p:sp>
      <p:sp>
        <p:nvSpPr>
          <p:cNvPr id="8" name="Text 6"/>
          <p:cNvSpPr/>
          <p:nvPr/>
        </p:nvSpPr>
        <p:spPr>
          <a:xfrm>
            <a:off x="5669280" y="1417320"/>
            <a:ext cx="3383280" cy="256032"/>
          </a:xfrm>
          <a:prstGeom prst="rect">
            <a:avLst/>
          </a:prstGeom>
          <a:noFill/>
          <a:ln/>
        </p:spPr>
        <p:txBody>
          <a:bodyPr wrap="square" lIns="0" tIns="0" rIns="0" bIns="0" rtlCol="0" anchor="ctr"/>
          <a:lstStyle/>
          <a:p>
            <a:pPr indent="0" marL="0">
              <a:buNone/>
            </a:pPr>
            <a:r>
              <a:rPr lang="en-US" sz="950" b="1" spc="100" kern="0" dirty="0">
                <a:solidFill>
                  <a:srgbClr val="6B7690"/>
                </a:solidFill>
                <a:latin typeface="Calibri" pitchFamily="34" charset="0"/>
                <a:ea typeface="Calibri" pitchFamily="34" charset="-122"/>
                <a:cs typeface="Calibri" pitchFamily="34" charset="-120"/>
              </a:rPr>
              <a:t>ON EXTERNAL DATA</a:t>
            </a:r>
            <a:endParaRPr lang="en-US" sz="950" dirty="0"/>
          </a:p>
        </p:txBody>
      </p:sp>
      <p:sp>
        <p:nvSpPr>
          <p:cNvPr id="9" name="Text 7"/>
          <p:cNvSpPr/>
          <p:nvPr/>
        </p:nvSpPr>
        <p:spPr>
          <a:xfrm>
            <a:off x="9189720" y="1417320"/>
            <a:ext cx="2194560" cy="256032"/>
          </a:xfrm>
          <a:prstGeom prst="rect">
            <a:avLst/>
          </a:prstGeom>
          <a:noFill/>
          <a:ln/>
        </p:spPr>
        <p:txBody>
          <a:bodyPr wrap="square" lIns="0" tIns="0" rIns="0" bIns="0" rtlCol="0" anchor="ctr"/>
          <a:lstStyle/>
          <a:p>
            <a:pPr indent="0" marL="0">
              <a:buNone/>
            </a:pPr>
            <a:r>
              <a:rPr lang="en-US" sz="950" b="1" spc="100" kern="0" dirty="0">
                <a:solidFill>
                  <a:srgbClr val="6B7690"/>
                </a:solidFill>
                <a:latin typeface="Calibri" pitchFamily="34" charset="0"/>
                <a:ea typeface="Calibri" pitchFamily="34" charset="-122"/>
                <a:cs typeface="Calibri" pitchFamily="34" charset="-120"/>
              </a:rPr>
              <a:t>STATUS</a:t>
            </a:r>
            <a:endParaRPr lang="en-US" sz="950" dirty="0"/>
          </a:p>
        </p:txBody>
      </p:sp>
      <p:sp>
        <p:nvSpPr>
          <p:cNvPr id="10" name="Shape 8"/>
          <p:cNvSpPr/>
          <p:nvPr/>
        </p:nvSpPr>
        <p:spPr>
          <a:xfrm>
            <a:off x="640080" y="1755648"/>
            <a:ext cx="10881360" cy="868680"/>
          </a:xfrm>
          <a:prstGeom prst="roundRect">
            <a:avLst>
              <a:gd name="adj" fmla="val 7368"/>
            </a:avLst>
          </a:prstGeom>
          <a:solidFill>
            <a:srgbClr val="222937"/>
          </a:solidFill>
          <a:ln w="12700">
            <a:solidFill>
              <a:srgbClr val="222937"/>
            </a:solidFill>
            <a:prstDash val="solid"/>
          </a:ln>
        </p:spPr>
      </p:sp>
      <p:sp>
        <p:nvSpPr>
          <p:cNvPr id="11" name="Text 9"/>
          <p:cNvSpPr/>
          <p:nvPr/>
        </p:nvSpPr>
        <p:spPr>
          <a:xfrm>
            <a:off x="914400" y="2029968"/>
            <a:ext cx="1463040" cy="292608"/>
          </a:xfrm>
          <a:prstGeom prst="rect">
            <a:avLst/>
          </a:prstGeom>
          <a:noFill/>
          <a:ln/>
        </p:spPr>
        <p:txBody>
          <a:bodyPr wrap="square" lIns="0" tIns="0" rIns="0" bIns="0" rtlCol="0" anchor="ctr"/>
          <a:lstStyle/>
          <a:p>
            <a:pPr indent="0" marL="0">
              <a:buNone/>
            </a:pPr>
            <a:r>
              <a:rPr lang="en-US" sz="1400" b="1" dirty="0">
                <a:solidFill>
                  <a:srgbClr val="E8ECF5"/>
                </a:solidFill>
                <a:latin typeface="Calibri" pitchFamily="34" charset="0"/>
                <a:ea typeface="Calibri" pitchFamily="34" charset="-122"/>
                <a:cs typeface="Calibri" pitchFamily="34" charset="-120"/>
              </a:rPr>
              <a:t>Drift</a:t>
            </a:r>
            <a:endParaRPr lang="en-US" sz="1400" dirty="0"/>
          </a:p>
        </p:txBody>
      </p:sp>
      <p:sp>
        <p:nvSpPr>
          <p:cNvPr id="12" name="Text 10"/>
          <p:cNvSpPr/>
          <p:nvPr/>
        </p:nvSpPr>
        <p:spPr>
          <a:xfrm>
            <a:off x="2468880" y="2048256"/>
            <a:ext cx="3108960" cy="292608"/>
          </a:xfrm>
          <a:prstGeom prst="rect">
            <a:avLst/>
          </a:prstGeom>
          <a:noFill/>
          <a:ln/>
        </p:spPr>
        <p:txBody>
          <a:bodyPr wrap="square" lIns="0" tIns="0" rIns="0" bIns="0" rtlCol="0" anchor="ctr"/>
          <a:lstStyle/>
          <a:p>
            <a:pPr indent="0" marL="0">
              <a:buNone/>
            </a:pPr>
            <a:r>
              <a:rPr lang="en-US" sz="1150" dirty="0">
                <a:solidFill>
                  <a:srgbClr val="9AA4BD"/>
                </a:solidFill>
                <a:latin typeface="Calibri" pitchFamily="34" charset="0"/>
                <a:ea typeface="Calibri" pitchFamily="34" charset="-122"/>
                <a:cs typeface="Calibri" pitchFamily="34" charset="-120"/>
              </a:rPr>
              <a:t>Threshold 0.30 appeared calibrated</a:t>
            </a:r>
            <a:endParaRPr lang="en-US" sz="1150" dirty="0"/>
          </a:p>
        </p:txBody>
      </p:sp>
      <p:sp>
        <p:nvSpPr>
          <p:cNvPr id="13" name="Text 11"/>
          <p:cNvSpPr/>
          <p:nvPr/>
        </p:nvSpPr>
        <p:spPr>
          <a:xfrm>
            <a:off x="5669280" y="2048256"/>
            <a:ext cx="3383280" cy="292608"/>
          </a:xfrm>
          <a:prstGeom prst="rect">
            <a:avLst/>
          </a:prstGeom>
          <a:noFill/>
          <a:ln/>
        </p:spPr>
        <p:txBody>
          <a:bodyPr wrap="square" lIns="0" tIns="0" rIns="0" bIns="0" rtlCol="0" anchor="ctr"/>
          <a:lstStyle/>
          <a:p>
            <a:pPr indent="0" marL="0">
              <a:buNone/>
            </a:pPr>
            <a:r>
              <a:rPr lang="en-US" sz="1150" b="1" dirty="0">
                <a:solidFill>
                  <a:srgbClr val="34D399"/>
                </a:solidFill>
                <a:latin typeface="Calibri" pitchFamily="34" charset="0"/>
                <a:ea typeface="Calibri" pitchFamily="34" charset="-122"/>
                <a:cs typeface="Calibri" pitchFamily="34" charset="-120"/>
              </a:rPr>
              <a:t>91.7% false alarms on real text</a:t>
            </a:r>
            <a:endParaRPr lang="en-US" sz="1150" dirty="0"/>
          </a:p>
        </p:txBody>
      </p:sp>
      <p:sp>
        <p:nvSpPr>
          <p:cNvPr id="14" name="Text 12"/>
          <p:cNvSpPr/>
          <p:nvPr/>
        </p:nvSpPr>
        <p:spPr>
          <a:xfrm>
            <a:off x="9189720" y="2048256"/>
            <a:ext cx="2194560" cy="292608"/>
          </a:xfrm>
          <a:prstGeom prst="rect">
            <a:avLst/>
          </a:prstGeom>
          <a:noFill/>
          <a:ln/>
        </p:spPr>
        <p:txBody>
          <a:bodyPr wrap="square" lIns="0" tIns="0" rIns="0" bIns="0" rtlCol="0" anchor="ctr"/>
          <a:lstStyle/>
          <a:p>
            <a:pPr indent="0" marL="0">
              <a:buNone/>
            </a:pPr>
            <a:r>
              <a:rPr lang="en-US" sz="1100" dirty="0">
                <a:solidFill>
                  <a:srgbClr val="9AA4BD"/>
                </a:solidFill>
                <a:latin typeface="Calibri" pitchFamily="34" charset="0"/>
                <a:ea typeface="Calibri" pitchFamily="34" charset="-122"/>
                <a:cs typeface="Calibri" pitchFamily="34" charset="-120"/>
              </a:rPr>
              <a:t>Diagnosed and rebuilt</a:t>
            </a:r>
            <a:endParaRPr lang="en-US" sz="1100" dirty="0"/>
          </a:p>
        </p:txBody>
      </p:sp>
      <p:sp>
        <p:nvSpPr>
          <p:cNvPr id="15" name="Shape 13"/>
          <p:cNvSpPr/>
          <p:nvPr/>
        </p:nvSpPr>
        <p:spPr>
          <a:xfrm>
            <a:off x="640080" y="2743200"/>
            <a:ext cx="10881360" cy="868680"/>
          </a:xfrm>
          <a:prstGeom prst="roundRect">
            <a:avLst>
              <a:gd name="adj" fmla="val 7368"/>
            </a:avLst>
          </a:prstGeom>
          <a:solidFill>
            <a:srgbClr val="222937"/>
          </a:solidFill>
          <a:ln w="12700">
            <a:solidFill>
              <a:srgbClr val="222937"/>
            </a:solidFill>
            <a:prstDash val="solid"/>
          </a:ln>
        </p:spPr>
      </p:sp>
      <p:sp>
        <p:nvSpPr>
          <p:cNvPr id="16" name="Text 14"/>
          <p:cNvSpPr/>
          <p:nvPr/>
        </p:nvSpPr>
        <p:spPr>
          <a:xfrm>
            <a:off x="914400" y="3017520"/>
            <a:ext cx="1463040" cy="292608"/>
          </a:xfrm>
          <a:prstGeom prst="rect">
            <a:avLst/>
          </a:prstGeom>
          <a:noFill/>
          <a:ln/>
        </p:spPr>
        <p:txBody>
          <a:bodyPr wrap="square" lIns="0" tIns="0" rIns="0" bIns="0" rtlCol="0" anchor="ctr"/>
          <a:lstStyle/>
          <a:p>
            <a:pPr indent="0" marL="0">
              <a:buNone/>
            </a:pPr>
            <a:r>
              <a:rPr lang="en-US" sz="1400" b="1" dirty="0">
                <a:solidFill>
                  <a:srgbClr val="E8ECF5"/>
                </a:solidFill>
                <a:latin typeface="Calibri" pitchFamily="34" charset="0"/>
                <a:ea typeface="Calibri" pitchFamily="34" charset="-122"/>
                <a:cs typeface="Calibri" pitchFamily="34" charset="-120"/>
              </a:rPr>
              <a:t>Tool-claim</a:t>
            </a:r>
            <a:endParaRPr lang="en-US" sz="1400" dirty="0"/>
          </a:p>
        </p:txBody>
      </p:sp>
      <p:sp>
        <p:nvSpPr>
          <p:cNvPr id="17" name="Text 15"/>
          <p:cNvSpPr/>
          <p:nvPr/>
        </p:nvSpPr>
        <p:spPr>
          <a:xfrm>
            <a:off x="2468880" y="3035808"/>
            <a:ext cx="3108960" cy="292608"/>
          </a:xfrm>
          <a:prstGeom prst="rect">
            <a:avLst/>
          </a:prstGeom>
          <a:noFill/>
          <a:ln/>
        </p:spPr>
        <p:txBody>
          <a:bodyPr wrap="square" lIns="0" tIns="0" rIns="0" bIns="0" rtlCol="0" anchor="ctr"/>
          <a:lstStyle/>
          <a:p>
            <a:pPr indent="0" marL="0">
              <a:buNone/>
            </a:pPr>
            <a:r>
              <a:rPr lang="en-US" sz="1150" dirty="0">
                <a:solidFill>
                  <a:srgbClr val="9AA4BD"/>
                </a:solidFill>
                <a:latin typeface="Calibri" pitchFamily="34" charset="0"/>
                <a:ea typeface="Calibri" pitchFamily="34" charset="-122"/>
                <a:cs typeface="Calibri" pitchFamily="34" charset="-120"/>
              </a:rPr>
              <a:t>F1 0.842 on 19 self-authored cases</a:t>
            </a:r>
            <a:endParaRPr lang="en-US" sz="1150" dirty="0"/>
          </a:p>
        </p:txBody>
      </p:sp>
      <p:sp>
        <p:nvSpPr>
          <p:cNvPr id="18" name="Text 16"/>
          <p:cNvSpPr/>
          <p:nvPr/>
        </p:nvSpPr>
        <p:spPr>
          <a:xfrm>
            <a:off x="5669280" y="3035808"/>
            <a:ext cx="3383280" cy="292608"/>
          </a:xfrm>
          <a:prstGeom prst="rect">
            <a:avLst/>
          </a:prstGeom>
          <a:noFill/>
          <a:ln/>
        </p:spPr>
        <p:txBody>
          <a:bodyPr wrap="square" lIns="0" tIns="0" rIns="0" bIns="0" rtlCol="0" anchor="ctr"/>
          <a:lstStyle/>
          <a:p>
            <a:pPr indent="0" marL="0">
              <a:buNone/>
            </a:pPr>
            <a:r>
              <a:rPr lang="en-US" sz="1150" b="1" dirty="0">
                <a:solidFill>
                  <a:srgbClr val="FB7185"/>
                </a:solidFill>
                <a:latin typeface="Calibri" pitchFamily="34" charset="0"/>
                <a:ea typeface="Calibri" pitchFamily="34" charset="-122"/>
                <a:cs typeface="Calibri" pitchFamily="34" charset="-120"/>
              </a:rPr>
              <a:t>0 claims from 8,353 real prose spans</a:t>
            </a:r>
            <a:endParaRPr lang="en-US" sz="1150" dirty="0"/>
          </a:p>
        </p:txBody>
      </p:sp>
      <p:sp>
        <p:nvSpPr>
          <p:cNvPr id="19" name="Text 17"/>
          <p:cNvSpPr/>
          <p:nvPr/>
        </p:nvSpPr>
        <p:spPr>
          <a:xfrm>
            <a:off x="9189720" y="3035808"/>
            <a:ext cx="2194560" cy="292608"/>
          </a:xfrm>
          <a:prstGeom prst="rect">
            <a:avLst/>
          </a:prstGeom>
          <a:noFill/>
          <a:ln/>
        </p:spPr>
        <p:txBody>
          <a:bodyPr wrap="square" lIns="0" tIns="0" rIns="0" bIns="0" rtlCol="0" anchor="ctr"/>
          <a:lstStyle/>
          <a:p>
            <a:pPr indent="0" marL="0">
              <a:buNone/>
            </a:pPr>
            <a:r>
              <a:rPr lang="en-US" sz="1100" dirty="0">
                <a:solidFill>
                  <a:srgbClr val="9AA4BD"/>
                </a:solidFill>
                <a:latin typeface="Calibri" pitchFamily="34" charset="0"/>
                <a:ea typeface="Calibri" pitchFamily="34" charset="-122"/>
                <a:cs typeface="Calibri" pitchFamily="34" charset="-120"/>
              </a:rPr>
              <a:t>Redesign blocked on labelling</a:t>
            </a:r>
            <a:endParaRPr lang="en-US" sz="1100" dirty="0"/>
          </a:p>
        </p:txBody>
      </p:sp>
      <p:sp>
        <p:nvSpPr>
          <p:cNvPr id="20" name="Shape 18"/>
          <p:cNvSpPr/>
          <p:nvPr/>
        </p:nvSpPr>
        <p:spPr>
          <a:xfrm>
            <a:off x="640080" y="3730752"/>
            <a:ext cx="10881360" cy="868680"/>
          </a:xfrm>
          <a:prstGeom prst="roundRect">
            <a:avLst>
              <a:gd name="adj" fmla="val 7368"/>
            </a:avLst>
          </a:prstGeom>
          <a:solidFill>
            <a:srgbClr val="222937"/>
          </a:solidFill>
          <a:ln w="12700">
            <a:solidFill>
              <a:srgbClr val="222937"/>
            </a:solidFill>
            <a:prstDash val="solid"/>
          </a:ln>
        </p:spPr>
      </p:sp>
      <p:sp>
        <p:nvSpPr>
          <p:cNvPr id="21" name="Text 19"/>
          <p:cNvSpPr/>
          <p:nvPr/>
        </p:nvSpPr>
        <p:spPr>
          <a:xfrm>
            <a:off x="914400" y="4005072"/>
            <a:ext cx="1463040" cy="292608"/>
          </a:xfrm>
          <a:prstGeom prst="rect">
            <a:avLst/>
          </a:prstGeom>
          <a:noFill/>
          <a:ln/>
        </p:spPr>
        <p:txBody>
          <a:bodyPr wrap="square" lIns="0" tIns="0" rIns="0" bIns="0" rtlCol="0" anchor="ctr"/>
          <a:lstStyle/>
          <a:p>
            <a:pPr indent="0" marL="0">
              <a:buNone/>
            </a:pPr>
            <a:r>
              <a:rPr lang="en-US" sz="1400" b="1" dirty="0">
                <a:solidFill>
                  <a:srgbClr val="E8ECF5"/>
                </a:solidFill>
                <a:latin typeface="Calibri" pitchFamily="34" charset="0"/>
                <a:ea typeface="Calibri" pitchFamily="34" charset="-122"/>
                <a:cs typeface="Calibri" pitchFamily="34" charset="-120"/>
              </a:rPr>
              <a:t>Disagreement</a:t>
            </a:r>
            <a:endParaRPr lang="en-US" sz="1400" dirty="0"/>
          </a:p>
        </p:txBody>
      </p:sp>
      <p:sp>
        <p:nvSpPr>
          <p:cNvPr id="22" name="Text 20"/>
          <p:cNvSpPr/>
          <p:nvPr/>
        </p:nvSpPr>
        <p:spPr>
          <a:xfrm>
            <a:off x="2468880" y="4023360"/>
            <a:ext cx="3108960" cy="292608"/>
          </a:xfrm>
          <a:prstGeom prst="rect">
            <a:avLst/>
          </a:prstGeom>
          <a:noFill/>
          <a:ln/>
        </p:spPr>
        <p:txBody>
          <a:bodyPr wrap="square" lIns="0" tIns="0" rIns="0" bIns="0" rtlCol="0" anchor="ctr"/>
          <a:lstStyle/>
          <a:p>
            <a:pPr indent="0" marL="0">
              <a:buNone/>
            </a:pPr>
            <a:r>
              <a:rPr lang="en-US" sz="1150" dirty="0">
                <a:solidFill>
                  <a:srgbClr val="9AA4BD"/>
                </a:solidFill>
                <a:latin typeface="Calibri" pitchFamily="34" charset="0"/>
                <a:ea typeface="Calibri" pitchFamily="34" charset="-122"/>
                <a:cs typeface="Calibri" pitchFamily="34" charset="-120"/>
              </a:rPr>
              <a:t>F1 0.960 on 22 self-authored cases</a:t>
            </a:r>
            <a:endParaRPr lang="en-US" sz="1150" dirty="0"/>
          </a:p>
        </p:txBody>
      </p:sp>
      <p:sp>
        <p:nvSpPr>
          <p:cNvPr id="23" name="Text 21"/>
          <p:cNvSpPr/>
          <p:nvPr/>
        </p:nvSpPr>
        <p:spPr>
          <a:xfrm>
            <a:off x="5669280" y="4023360"/>
            <a:ext cx="3383280" cy="292608"/>
          </a:xfrm>
          <a:prstGeom prst="rect">
            <a:avLst/>
          </a:prstGeom>
          <a:noFill/>
          <a:ln/>
        </p:spPr>
        <p:txBody>
          <a:bodyPr wrap="square" lIns="0" tIns="0" rIns="0" bIns="0" rtlCol="0" anchor="ctr"/>
          <a:lstStyle/>
          <a:p>
            <a:pPr indent="0" marL="0">
              <a:buNone/>
            </a:pPr>
            <a:r>
              <a:rPr lang="en-US" sz="1150" b="1" dirty="0">
                <a:solidFill>
                  <a:srgbClr val="FB7185"/>
                </a:solidFill>
                <a:latin typeface="Calibri" pitchFamily="34" charset="0"/>
                <a:ea typeface="Calibri" pitchFamily="34" charset="-122"/>
                <a:cs typeface="Calibri" pitchFamily="34" charset="-120"/>
              </a:rPr>
              <a:t>0 of 10 contradictions detected</a:t>
            </a:r>
            <a:endParaRPr lang="en-US" sz="1150" dirty="0"/>
          </a:p>
        </p:txBody>
      </p:sp>
      <p:sp>
        <p:nvSpPr>
          <p:cNvPr id="24" name="Text 22"/>
          <p:cNvSpPr/>
          <p:nvPr/>
        </p:nvSpPr>
        <p:spPr>
          <a:xfrm>
            <a:off x="9189720" y="4023360"/>
            <a:ext cx="2194560" cy="292608"/>
          </a:xfrm>
          <a:prstGeom prst="rect">
            <a:avLst/>
          </a:prstGeom>
          <a:noFill/>
          <a:ln/>
        </p:spPr>
        <p:txBody>
          <a:bodyPr wrap="square" lIns="0" tIns="0" rIns="0" bIns="0" rtlCol="0" anchor="ctr"/>
          <a:lstStyle/>
          <a:p>
            <a:pPr indent="0" marL="0">
              <a:buNone/>
            </a:pPr>
            <a:r>
              <a:rPr lang="en-US" sz="1100" dirty="0">
                <a:solidFill>
                  <a:srgbClr val="9AA4BD"/>
                </a:solidFill>
                <a:latin typeface="Calibri" pitchFamily="34" charset="0"/>
                <a:ea typeface="Calibri" pitchFamily="34" charset="-122"/>
                <a:cs typeface="Calibri" pitchFamily="34" charset="-120"/>
              </a:rPr>
              <a:t>Open research question</a:t>
            </a:r>
            <a:endParaRPr lang="en-US" sz="1100" dirty="0"/>
          </a:p>
        </p:txBody>
      </p:sp>
      <p:sp>
        <p:nvSpPr>
          <p:cNvPr id="25" name="Shape 23"/>
          <p:cNvSpPr/>
          <p:nvPr/>
        </p:nvSpPr>
        <p:spPr>
          <a:xfrm>
            <a:off x="640080" y="4846320"/>
            <a:ext cx="5349240" cy="1463040"/>
          </a:xfrm>
          <a:prstGeom prst="roundRect">
            <a:avLst>
              <a:gd name="adj" fmla="val 4375"/>
            </a:avLst>
          </a:prstGeom>
          <a:solidFill>
            <a:srgbClr val="1B2230"/>
          </a:solidFill>
          <a:ln w="12700">
            <a:solidFill>
              <a:srgbClr val="1B2230"/>
            </a:solidFill>
            <a:prstDash val="solid"/>
          </a:ln>
        </p:spPr>
      </p:sp>
      <p:sp>
        <p:nvSpPr>
          <p:cNvPr id="26" name="Text 24"/>
          <p:cNvSpPr/>
          <p:nvPr/>
        </p:nvSpPr>
        <p:spPr>
          <a:xfrm>
            <a:off x="914400" y="5010912"/>
            <a:ext cx="4754880" cy="274320"/>
          </a:xfrm>
          <a:prstGeom prst="rect">
            <a:avLst/>
          </a:prstGeom>
          <a:noFill/>
          <a:ln/>
        </p:spPr>
        <p:txBody>
          <a:bodyPr wrap="square" lIns="0" tIns="0" rIns="0" bIns="0" rtlCol="0" anchor="ctr"/>
          <a:lstStyle/>
          <a:p>
            <a:pPr indent="0" marL="0">
              <a:buNone/>
            </a:pPr>
            <a:r>
              <a:rPr lang="en-US" sz="1250" b="1" dirty="0">
                <a:solidFill>
                  <a:srgbClr val="FBBF24"/>
                </a:solidFill>
                <a:latin typeface="Calibri" pitchFamily="34" charset="0"/>
                <a:ea typeface="Calibri" pitchFamily="34" charset="-122"/>
                <a:cs typeface="Calibri" pitchFamily="34" charset="-120"/>
              </a:rPr>
              <a:t>Why the benchmarks missed it</a:t>
            </a:r>
            <a:endParaRPr lang="en-US" sz="1250" dirty="0"/>
          </a:p>
        </p:txBody>
      </p:sp>
      <p:sp>
        <p:nvSpPr>
          <p:cNvPr id="27" name="Text 25"/>
          <p:cNvSpPr/>
          <p:nvPr/>
        </p:nvSpPr>
        <p:spPr>
          <a:xfrm>
            <a:off x="914400" y="5321808"/>
            <a:ext cx="4846320" cy="868680"/>
          </a:xfrm>
          <a:prstGeom prst="rect">
            <a:avLst/>
          </a:prstGeom>
          <a:noFill/>
          <a:ln/>
        </p:spPr>
        <p:txBody>
          <a:bodyPr wrap="square" lIns="0" tIns="0" rIns="0" bIns="0" rtlCol="0" anchor="ctr"/>
          <a:lstStyle/>
          <a:p>
            <a:pPr indent="0" marL="0">
              <a:buNone/>
            </a:pPr>
            <a:r>
              <a:rPr lang="en-US" sz="1050" dirty="0">
                <a:solidFill>
                  <a:srgbClr val="9AA4BD"/>
                </a:solidFill>
                <a:latin typeface="Calibri" pitchFamily="34" charset="0"/>
                <a:ea typeface="Calibri" pitchFamily="34" charset="-122"/>
                <a:cs typeface="Calibri" pitchFamily="34" charset="-120"/>
              </a:rPr>
              <a:t>Tool-claim looks for narrated tool use; modern harnesses put the tool name in a structured field. The 22 disagreement cases averaged ten words - minimal pairs of exactly the shape the NLI model was trained on.</a:t>
            </a:r>
            <a:endParaRPr lang="en-US" sz="1050" dirty="0"/>
          </a:p>
        </p:txBody>
      </p:sp>
      <p:sp>
        <p:nvSpPr>
          <p:cNvPr id="28" name="Shape 26"/>
          <p:cNvSpPr/>
          <p:nvPr/>
        </p:nvSpPr>
        <p:spPr>
          <a:xfrm>
            <a:off x="6309360" y="4846320"/>
            <a:ext cx="5212080" cy="1463040"/>
          </a:xfrm>
          <a:prstGeom prst="roundRect">
            <a:avLst>
              <a:gd name="adj" fmla="val 4375"/>
            </a:avLst>
          </a:prstGeom>
          <a:solidFill>
            <a:srgbClr val="1B2230"/>
          </a:solidFill>
          <a:ln w="12700">
            <a:solidFill>
              <a:srgbClr val="1B2230"/>
            </a:solidFill>
            <a:prstDash val="solid"/>
          </a:ln>
        </p:spPr>
      </p:sp>
      <p:sp>
        <p:nvSpPr>
          <p:cNvPr id="29" name="Text 27"/>
          <p:cNvSpPr/>
          <p:nvPr/>
        </p:nvSpPr>
        <p:spPr>
          <a:xfrm>
            <a:off x="6583680" y="5010912"/>
            <a:ext cx="4663440" cy="274320"/>
          </a:xfrm>
          <a:prstGeom prst="rect">
            <a:avLst/>
          </a:prstGeom>
          <a:noFill/>
          <a:ln/>
        </p:spPr>
        <p:txBody>
          <a:bodyPr wrap="square" lIns="0" tIns="0" rIns="0" bIns="0" rtlCol="0" anchor="ctr"/>
          <a:lstStyle/>
          <a:p>
            <a:pPr indent="0" marL="0">
              <a:buNone/>
            </a:pPr>
            <a:r>
              <a:rPr lang="en-US" sz="1250" b="1" dirty="0">
                <a:solidFill>
                  <a:srgbClr val="22D3EE"/>
                </a:solidFill>
                <a:latin typeface="Calibri" pitchFamily="34" charset="0"/>
                <a:ea typeface="Calibri" pitchFamily="34" charset="-122"/>
                <a:cs typeface="Calibri" pitchFamily="34" charset="-120"/>
              </a:rPr>
              <a:t>The finding that outlives the failure</a:t>
            </a:r>
            <a:endParaRPr lang="en-US" sz="1250" dirty="0"/>
          </a:p>
        </p:txBody>
      </p:sp>
      <p:sp>
        <p:nvSpPr>
          <p:cNvPr id="30" name="Text 28"/>
          <p:cNvSpPr/>
          <p:nvPr/>
        </p:nvSpPr>
        <p:spPr>
          <a:xfrm>
            <a:off x="6583680" y="5321808"/>
            <a:ext cx="4709160" cy="868680"/>
          </a:xfrm>
          <a:prstGeom prst="rect">
            <a:avLst/>
          </a:prstGeom>
          <a:noFill/>
          <a:ln/>
        </p:spPr>
        <p:txBody>
          <a:bodyPr wrap="square" lIns="0" tIns="0" rIns="0" bIns="0" rtlCol="0" anchor="ctr"/>
          <a:lstStyle/>
          <a:p>
            <a:pPr indent="0" marL="0">
              <a:buNone/>
            </a:pPr>
            <a:r>
              <a:rPr lang="en-US" sz="1050" dirty="0">
                <a:solidFill>
                  <a:srgbClr val="9AA4BD"/>
                </a:solidFill>
                <a:latin typeface="Calibri" pitchFamily="34" charset="0"/>
                <a:ea typeface="Calibri" pitchFamily="34" charset="-122"/>
                <a:cs typeface="Calibri" pitchFamily="34" charset="-120"/>
              </a:rPr>
              <a:t>Agents holding different evidence can flatly contradict each other and both be correct. Six of forty labelled cases were exactly that. An entailment score over two strings cannot represent what each agent could see.</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640080" y="365760"/>
            <a:ext cx="9144000" cy="237744"/>
          </a:xfrm>
          <a:prstGeom prst="rect">
            <a:avLst/>
          </a:prstGeom>
          <a:noFill/>
          <a:ln/>
        </p:spPr>
        <p:txBody>
          <a:bodyPr wrap="square" lIns="0" tIns="0" rIns="0" bIns="0" rtlCol="0" anchor="ctr"/>
          <a:lstStyle/>
          <a:p>
            <a:pPr indent="0" marL="0">
              <a:buNone/>
            </a:pPr>
            <a:r>
              <a:rPr lang="en-US" sz="1050" b="1" spc="200" kern="0" dirty="0">
                <a:solidFill>
                  <a:srgbClr val="22D3EE"/>
                </a:solidFill>
                <a:latin typeface="Calibri" pitchFamily="34" charset="0"/>
                <a:ea typeface="Calibri" pitchFamily="34" charset="-122"/>
                <a:cs typeface="Calibri" pitchFamily="34" charset="-120"/>
              </a:rPr>
              <a:t>LIMITATIONS</a:t>
            </a:r>
            <a:endParaRPr lang="en-US" sz="1050" dirty="0"/>
          </a:p>
        </p:txBody>
      </p:sp>
      <p:sp>
        <p:nvSpPr>
          <p:cNvPr id="3" name="Text 1"/>
          <p:cNvSpPr/>
          <p:nvPr/>
        </p:nvSpPr>
        <p:spPr>
          <a:xfrm>
            <a:off x="640080" y="621792"/>
            <a:ext cx="10881360" cy="640080"/>
          </a:xfrm>
          <a:prstGeom prst="rect">
            <a:avLst/>
          </a:prstGeom>
          <a:noFill/>
          <a:ln/>
        </p:spPr>
        <p:txBody>
          <a:bodyPr wrap="square" lIns="0" tIns="0" rIns="0" bIns="0" rtlCol="0" anchor="ctr"/>
          <a:lstStyle/>
          <a:p>
            <a:pPr indent="0" marL="0">
              <a:buNone/>
            </a:pPr>
            <a:r>
              <a:rPr lang="en-US" sz="3100" b="1" dirty="0">
                <a:solidFill>
                  <a:srgbClr val="141922"/>
                </a:solidFill>
                <a:latin typeface="Cambria" pitchFamily="34" charset="0"/>
                <a:ea typeface="Cambria" pitchFamily="34" charset="-122"/>
                <a:cs typeface="Cambria" pitchFamily="34" charset="-120"/>
              </a:rPr>
              <a:t>Stated before the panel has to find them</a:t>
            </a:r>
            <a:endParaRPr lang="en-US" sz="3100" dirty="0"/>
          </a:p>
        </p:txBody>
      </p:sp>
      <p:sp>
        <p:nvSpPr>
          <p:cNvPr id="4" name="Shape 2"/>
          <p:cNvSpPr/>
          <p:nvPr/>
        </p:nvSpPr>
        <p:spPr>
          <a:xfrm>
            <a:off x="8321040" y="384048"/>
            <a:ext cx="3200400" cy="256032"/>
          </a:xfrm>
          <a:prstGeom prst="roundRect">
            <a:avLst>
              <a:gd name="adj" fmla="val 42857"/>
            </a:avLst>
          </a:prstGeom>
          <a:solidFill>
            <a:srgbClr val="22D3EE">
              <a:alpha val="12000"/>
            </a:srgbClr>
          </a:solidFill>
          <a:ln w="7620">
            <a:solidFill>
              <a:srgbClr val="22D3EE"/>
            </a:solidFill>
            <a:prstDash val="solid"/>
          </a:ln>
        </p:spPr>
      </p:sp>
      <p:sp>
        <p:nvSpPr>
          <p:cNvPr id="5" name="Text 3"/>
          <p:cNvSpPr/>
          <p:nvPr/>
        </p:nvSpPr>
        <p:spPr>
          <a:xfrm>
            <a:off x="8321040" y="384048"/>
            <a:ext cx="3200400" cy="256032"/>
          </a:xfrm>
          <a:prstGeom prst="rect">
            <a:avLst/>
          </a:prstGeom>
          <a:noFill/>
          <a:ln/>
        </p:spPr>
        <p:txBody>
          <a:bodyPr wrap="square" lIns="0" tIns="0" rIns="0" bIns="0" rtlCol="0" anchor="ctr"/>
          <a:lstStyle/>
          <a:p>
            <a:pPr algn="ctr" indent="0" marL="0">
              <a:buNone/>
            </a:pPr>
            <a:r>
              <a:rPr lang="en-US" sz="900" b="1" dirty="0">
                <a:solidFill>
                  <a:srgbClr val="22D3EE"/>
                </a:solidFill>
                <a:latin typeface="Calibri" pitchFamily="34" charset="0"/>
                <a:ea typeface="Calibri" pitchFamily="34" charset="-122"/>
                <a:cs typeface="Calibri" pitchFamily="34" charset="-120"/>
              </a:rPr>
              <a:t>Limitations - no overclaiming</a:t>
            </a:r>
            <a:endParaRPr lang="en-US" sz="900" dirty="0"/>
          </a:p>
        </p:txBody>
      </p:sp>
      <p:sp>
        <p:nvSpPr>
          <p:cNvPr id="6" name="Shape 4"/>
          <p:cNvSpPr/>
          <p:nvPr/>
        </p:nvSpPr>
        <p:spPr>
          <a:xfrm>
            <a:off x="640080" y="1371600"/>
            <a:ext cx="10881360" cy="749808"/>
          </a:xfrm>
          <a:prstGeom prst="roundRect">
            <a:avLst>
              <a:gd name="adj" fmla="val 8537"/>
            </a:avLst>
          </a:prstGeom>
          <a:solidFill>
            <a:srgbClr val="FFFFFF"/>
          </a:solidFill>
          <a:ln w="12700">
            <a:solidFill>
              <a:srgbClr val="FFFFFF"/>
            </a:solidFill>
            <a:prstDash val="solid"/>
          </a:ln>
        </p:spPr>
      </p:sp>
      <p:sp>
        <p:nvSpPr>
          <p:cNvPr id="7" name="Shape 5"/>
          <p:cNvSpPr/>
          <p:nvPr/>
        </p:nvSpPr>
        <p:spPr>
          <a:xfrm>
            <a:off x="960120" y="1673352"/>
            <a:ext cx="146304" cy="146304"/>
          </a:xfrm>
          <a:prstGeom prst="ellipse">
            <a:avLst/>
          </a:prstGeom>
          <a:solidFill>
            <a:srgbClr val="FBBF24"/>
          </a:solidFill>
          <a:ln w="12700">
            <a:solidFill>
              <a:srgbClr val="333333"/>
            </a:solidFill>
            <a:prstDash val="solid"/>
          </a:ln>
        </p:spPr>
      </p:sp>
      <p:sp>
        <p:nvSpPr>
          <p:cNvPr id="8" name="Text 6"/>
          <p:cNvSpPr/>
          <p:nvPr/>
        </p:nvSpPr>
        <p:spPr>
          <a:xfrm>
            <a:off x="1298448" y="1472184"/>
            <a:ext cx="9784080" cy="256032"/>
          </a:xfrm>
          <a:prstGeom prst="rect">
            <a:avLst/>
          </a:prstGeom>
          <a:noFill/>
          <a:ln/>
        </p:spPr>
        <p:txBody>
          <a:bodyPr wrap="square" lIns="0" tIns="0" rIns="0" bIns="0" rtlCol="0" anchor="ctr"/>
          <a:lstStyle/>
          <a:p>
            <a:pPr indent="0" marL="0">
              <a:buNone/>
            </a:pPr>
            <a:r>
              <a:rPr lang="en-US" sz="1300" b="1" dirty="0">
                <a:solidFill>
                  <a:srgbClr val="141922"/>
                </a:solidFill>
                <a:latin typeface="Calibri" pitchFamily="34" charset="0"/>
                <a:ea typeface="Calibri" pitchFamily="34" charset="-122"/>
                <a:cs typeface="Calibri" pitchFamily="34" charset="-120"/>
              </a:rPr>
              <a:t>Drift coverage is 24.5%</a:t>
            </a:r>
            <a:endParaRPr lang="en-US" sz="1300" dirty="0"/>
          </a:p>
        </p:txBody>
      </p:sp>
      <p:sp>
        <p:nvSpPr>
          <p:cNvPr id="9" name="Text 7"/>
          <p:cNvSpPr/>
          <p:nvPr/>
        </p:nvSpPr>
        <p:spPr>
          <a:xfrm>
            <a:off x="1298448" y="1755648"/>
            <a:ext cx="9784080" cy="274320"/>
          </a:xfrm>
          <a:prstGeom prst="rect">
            <a:avLst/>
          </a:prstGeom>
          <a:noFill/>
          <a:ln/>
        </p:spPr>
        <p:txBody>
          <a:bodyPr wrap="square" lIns="0" tIns="0" rIns="0" bIns="0" rtlCol="0" anchor="ctr"/>
          <a:lstStyle/>
          <a:p>
            <a:pPr indent="0" marL="0">
              <a:buNone/>
            </a:pPr>
            <a:r>
              <a:rPr lang="en-US" sz="1100" dirty="0">
                <a:solidFill>
                  <a:srgbClr val="5A6478"/>
                </a:solidFill>
                <a:latin typeface="Calibri" pitchFamily="34" charset="0"/>
                <a:ea typeface="Calibri" pitchFamily="34" charset="-122"/>
                <a:cs typeface="Calibri" pitchFamily="34" charset="-120"/>
              </a:rPr>
              <a:t>Both windows must fill before the metric is defined, so about three quarters of sessions get no drift verdict.</a:t>
            </a:r>
            <a:endParaRPr lang="en-US" sz="1100" dirty="0"/>
          </a:p>
        </p:txBody>
      </p:sp>
      <p:sp>
        <p:nvSpPr>
          <p:cNvPr id="10" name="Shape 8"/>
          <p:cNvSpPr/>
          <p:nvPr/>
        </p:nvSpPr>
        <p:spPr>
          <a:xfrm>
            <a:off x="640080" y="2221992"/>
            <a:ext cx="10881360" cy="749808"/>
          </a:xfrm>
          <a:prstGeom prst="roundRect">
            <a:avLst>
              <a:gd name="adj" fmla="val 8537"/>
            </a:avLst>
          </a:prstGeom>
          <a:solidFill>
            <a:srgbClr val="FFFFFF"/>
          </a:solidFill>
          <a:ln w="12700">
            <a:solidFill>
              <a:srgbClr val="FFFFFF"/>
            </a:solidFill>
            <a:prstDash val="solid"/>
          </a:ln>
        </p:spPr>
      </p:sp>
      <p:sp>
        <p:nvSpPr>
          <p:cNvPr id="11" name="Shape 9"/>
          <p:cNvSpPr/>
          <p:nvPr/>
        </p:nvSpPr>
        <p:spPr>
          <a:xfrm>
            <a:off x="960120" y="2523744"/>
            <a:ext cx="146304" cy="146304"/>
          </a:xfrm>
          <a:prstGeom prst="ellipse">
            <a:avLst/>
          </a:prstGeom>
          <a:solidFill>
            <a:srgbClr val="FBBF24"/>
          </a:solidFill>
          <a:ln w="12700">
            <a:solidFill>
              <a:srgbClr val="333333"/>
            </a:solidFill>
            <a:prstDash val="solid"/>
          </a:ln>
        </p:spPr>
      </p:sp>
      <p:sp>
        <p:nvSpPr>
          <p:cNvPr id="12" name="Text 10"/>
          <p:cNvSpPr/>
          <p:nvPr/>
        </p:nvSpPr>
        <p:spPr>
          <a:xfrm>
            <a:off x="1298448" y="2322576"/>
            <a:ext cx="9784080" cy="256032"/>
          </a:xfrm>
          <a:prstGeom prst="rect">
            <a:avLst/>
          </a:prstGeom>
          <a:noFill/>
          <a:ln/>
        </p:spPr>
        <p:txBody>
          <a:bodyPr wrap="square" lIns="0" tIns="0" rIns="0" bIns="0" rtlCol="0" anchor="ctr"/>
          <a:lstStyle/>
          <a:p>
            <a:pPr indent="0" marL="0">
              <a:buNone/>
            </a:pPr>
            <a:r>
              <a:rPr lang="en-US" sz="1300" b="1" dirty="0">
                <a:solidFill>
                  <a:srgbClr val="141922"/>
                </a:solidFill>
                <a:latin typeface="Calibri" pitchFamily="34" charset="0"/>
                <a:ea typeface="Calibri" pitchFamily="34" charset="-122"/>
                <a:cs typeface="Calibri" pitchFamily="34" charset="-120"/>
              </a:rPr>
              <a:t>Two of four signals are unvalidated</a:t>
            </a:r>
            <a:endParaRPr lang="en-US" sz="1300" dirty="0"/>
          </a:p>
        </p:txBody>
      </p:sp>
      <p:sp>
        <p:nvSpPr>
          <p:cNvPr id="13" name="Text 11"/>
          <p:cNvSpPr/>
          <p:nvPr/>
        </p:nvSpPr>
        <p:spPr>
          <a:xfrm>
            <a:off x="1298448" y="2606040"/>
            <a:ext cx="9784080" cy="274320"/>
          </a:xfrm>
          <a:prstGeom prst="rect">
            <a:avLst/>
          </a:prstGeom>
          <a:noFill/>
          <a:ln/>
        </p:spPr>
        <p:txBody>
          <a:bodyPr wrap="square" lIns="0" tIns="0" rIns="0" bIns="0" rtlCol="0" anchor="ctr"/>
          <a:lstStyle/>
          <a:p>
            <a:pPr indent="0" marL="0">
              <a:buNone/>
            </a:pPr>
            <a:r>
              <a:rPr lang="en-US" sz="1100" dirty="0">
                <a:solidFill>
                  <a:srgbClr val="5A6478"/>
                </a:solidFill>
                <a:latin typeface="Calibri" pitchFamily="34" charset="0"/>
                <a:ea typeface="Calibri" pitchFamily="34" charset="-122"/>
                <a:cs typeface="Calibri" pitchFamily="34" charset="-120"/>
              </a:rPr>
              <a:t>Tool-claim and disagreement are labelled Experimental in the product and must not drive decisions.</a:t>
            </a:r>
            <a:endParaRPr lang="en-US" sz="1100" dirty="0"/>
          </a:p>
        </p:txBody>
      </p:sp>
      <p:sp>
        <p:nvSpPr>
          <p:cNvPr id="14" name="Shape 12"/>
          <p:cNvSpPr/>
          <p:nvPr/>
        </p:nvSpPr>
        <p:spPr>
          <a:xfrm>
            <a:off x="640080" y="3072384"/>
            <a:ext cx="10881360" cy="749808"/>
          </a:xfrm>
          <a:prstGeom prst="roundRect">
            <a:avLst>
              <a:gd name="adj" fmla="val 8537"/>
            </a:avLst>
          </a:prstGeom>
          <a:solidFill>
            <a:srgbClr val="FFFFFF"/>
          </a:solidFill>
          <a:ln w="12700">
            <a:solidFill>
              <a:srgbClr val="FFFFFF"/>
            </a:solidFill>
            <a:prstDash val="solid"/>
          </a:ln>
        </p:spPr>
      </p:sp>
      <p:sp>
        <p:nvSpPr>
          <p:cNvPr id="15" name="Shape 13"/>
          <p:cNvSpPr/>
          <p:nvPr/>
        </p:nvSpPr>
        <p:spPr>
          <a:xfrm>
            <a:off x="960120" y="3374136"/>
            <a:ext cx="146304" cy="146304"/>
          </a:xfrm>
          <a:prstGeom prst="ellipse">
            <a:avLst/>
          </a:prstGeom>
          <a:solidFill>
            <a:srgbClr val="FBBF24"/>
          </a:solidFill>
          <a:ln w="12700">
            <a:solidFill>
              <a:srgbClr val="333333"/>
            </a:solidFill>
            <a:prstDash val="solid"/>
          </a:ln>
        </p:spPr>
      </p:sp>
      <p:sp>
        <p:nvSpPr>
          <p:cNvPr id="16" name="Text 14"/>
          <p:cNvSpPr/>
          <p:nvPr/>
        </p:nvSpPr>
        <p:spPr>
          <a:xfrm>
            <a:off x="1298448" y="3172968"/>
            <a:ext cx="9784080" cy="256032"/>
          </a:xfrm>
          <a:prstGeom prst="rect">
            <a:avLst/>
          </a:prstGeom>
          <a:noFill/>
          <a:ln/>
        </p:spPr>
        <p:txBody>
          <a:bodyPr wrap="square" lIns="0" tIns="0" rIns="0" bIns="0" rtlCol="0" anchor="ctr"/>
          <a:lstStyle/>
          <a:p>
            <a:pPr indent="0" marL="0">
              <a:buNone/>
            </a:pPr>
            <a:r>
              <a:rPr lang="en-US" sz="1300" b="1" dirty="0">
                <a:solidFill>
                  <a:srgbClr val="141922"/>
                </a:solidFill>
                <a:latin typeface="Calibri" pitchFamily="34" charset="0"/>
                <a:ea typeface="Calibri" pitchFamily="34" charset="-122"/>
                <a:cs typeface="Calibri" pitchFamily="34" charset="-120"/>
              </a:rPr>
              <a:t>Test splits are small and singly run</a:t>
            </a:r>
            <a:endParaRPr lang="en-US" sz="1300" dirty="0"/>
          </a:p>
        </p:txBody>
      </p:sp>
      <p:sp>
        <p:nvSpPr>
          <p:cNvPr id="17" name="Text 15"/>
          <p:cNvSpPr/>
          <p:nvPr/>
        </p:nvSpPr>
        <p:spPr>
          <a:xfrm>
            <a:off x="1298448" y="3456432"/>
            <a:ext cx="9784080" cy="274320"/>
          </a:xfrm>
          <a:prstGeom prst="rect">
            <a:avLst/>
          </a:prstGeom>
          <a:noFill/>
          <a:ln/>
        </p:spPr>
        <p:txBody>
          <a:bodyPr wrap="square" lIns="0" tIns="0" rIns="0" bIns="0" rtlCol="0" anchor="ctr"/>
          <a:lstStyle/>
          <a:p>
            <a:pPr indent="0" marL="0">
              <a:buNone/>
            </a:pPr>
            <a:r>
              <a:rPr lang="en-US" sz="1100" dirty="0">
                <a:solidFill>
                  <a:srgbClr val="5A6478"/>
                </a:solidFill>
                <a:latin typeface="Calibri" pitchFamily="34" charset="0"/>
                <a:ea typeface="Calibri" pitchFamily="34" charset="-122"/>
                <a:cs typeface="Calibri" pitchFamily="34" charset="-120"/>
              </a:rPr>
              <a:t>Twenty to thirty cases, one run, LLM-generated labels. Adequate for direction, not for tight intervals.</a:t>
            </a:r>
            <a:endParaRPr lang="en-US" sz="1100" dirty="0"/>
          </a:p>
        </p:txBody>
      </p:sp>
      <p:sp>
        <p:nvSpPr>
          <p:cNvPr id="18" name="Shape 16"/>
          <p:cNvSpPr/>
          <p:nvPr/>
        </p:nvSpPr>
        <p:spPr>
          <a:xfrm>
            <a:off x="640080" y="3922776"/>
            <a:ext cx="10881360" cy="749808"/>
          </a:xfrm>
          <a:prstGeom prst="roundRect">
            <a:avLst>
              <a:gd name="adj" fmla="val 8537"/>
            </a:avLst>
          </a:prstGeom>
          <a:solidFill>
            <a:srgbClr val="FFFFFF"/>
          </a:solidFill>
          <a:ln w="12700">
            <a:solidFill>
              <a:srgbClr val="FFFFFF"/>
            </a:solidFill>
            <a:prstDash val="solid"/>
          </a:ln>
        </p:spPr>
      </p:sp>
      <p:sp>
        <p:nvSpPr>
          <p:cNvPr id="19" name="Shape 17"/>
          <p:cNvSpPr/>
          <p:nvPr/>
        </p:nvSpPr>
        <p:spPr>
          <a:xfrm>
            <a:off x="960120" y="4224528"/>
            <a:ext cx="146304" cy="146304"/>
          </a:xfrm>
          <a:prstGeom prst="ellipse">
            <a:avLst/>
          </a:prstGeom>
          <a:solidFill>
            <a:srgbClr val="FBBF24"/>
          </a:solidFill>
          <a:ln w="12700">
            <a:solidFill>
              <a:srgbClr val="333333"/>
            </a:solidFill>
            <a:prstDash val="solid"/>
          </a:ln>
        </p:spPr>
      </p:sp>
      <p:sp>
        <p:nvSpPr>
          <p:cNvPr id="20" name="Text 18"/>
          <p:cNvSpPr/>
          <p:nvPr/>
        </p:nvSpPr>
        <p:spPr>
          <a:xfrm>
            <a:off x="1298448" y="4023360"/>
            <a:ext cx="9784080" cy="256032"/>
          </a:xfrm>
          <a:prstGeom prst="rect">
            <a:avLst/>
          </a:prstGeom>
          <a:noFill/>
          <a:ln/>
        </p:spPr>
        <p:txBody>
          <a:bodyPr wrap="square" lIns="0" tIns="0" rIns="0" bIns="0" rtlCol="0" anchor="ctr"/>
          <a:lstStyle/>
          <a:p>
            <a:pPr indent="0" marL="0">
              <a:buNone/>
            </a:pPr>
            <a:r>
              <a:rPr lang="en-US" sz="1300" b="1" dirty="0">
                <a:solidFill>
                  <a:srgbClr val="141922"/>
                </a:solidFill>
                <a:latin typeface="Calibri" pitchFamily="34" charset="0"/>
                <a:ea typeface="Calibri" pitchFamily="34" charset="-122"/>
                <a:cs typeface="Calibri" pitchFamily="34" charset="-120"/>
              </a:rPr>
              <a:t>The full system underperforms an ablated variant</a:t>
            </a:r>
            <a:endParaRPr lang="en-US" sz="1300" dirty="0"/>
          </a:p>
        </p:txBody>
      </p:sp>
      <p:sp>
        <p:nvSpPr>
          <p:cNvPr id="21" name="Text 19"/>
          <p:cNvSpPr/>
          <p:nvPr/>
        </p:nvSpPr>
        <p:spPr>
          <a:xfrm>
            <a:off x="1298448" y="4306824"/>
            <a:ext cx="9784080" cy="274320"/>
          </a:xfrm>
          <a:prstGeom prst="rect">
            <a:avLst/>
          </a:prstGeom>
          <a:noFill/>
          <a:ln/>
        </p:spPr>
        <p:txBody>
          <a:bodyPr wrap="square" lIns="0" tIns="0" rIns="0" bIns="0" rtlCol="0" anchor="ctr"/>
          <a:lstStyle/>
          <a:p>
            <a:pPr indent="0" marL="0">
              <a:buNone/>
            </a:pPr>
            <a:r>
              <a:rPr lang="en-US" sz="1100" dirty="0">
                <a:solidFill>
                  <a:srgbClr val="5A6478"/>
                </a:solidFill>
                <a:latin typeface="Calibri" pitchFamily="34" charset="0"/>
                <a:ea typeface="Calibri" pitchFamily="34" charset="-122"/>
                <a:cs typeface="Calibri" pitchFamily="34" charset="-120"/>
              </a:rPr>
              <a:t>F1 0.842 against 0.941 for NLI without drift, on a comparison dated before the drift rebuild.</a:t>
            </a:r>
            <a:endParaRPr lang="en-US" sz="1100" dirty="0"/>
          </a:p>
        </p:txBody>
      </p:sp>
      <p:sp>
        <p:nvSpPr>
          <p:cNvPr id="22" name="Shape 20"/>
          <p:cNvSpPr/>
          <p:nvPr/>
        </p:nvSpPr>
        <p:spPr>
          <a:xfrm>
            <a:off x="640080" y="4773168"/>
            <a:ext cx="10881360" cy="749808"/>
          </a:xfrm>
          <a:prstGeom prst="roundRect">
            <a:avLst>
              <a:gd name="adj" fmla="val 8537"/>
            </a:avLst>
          </a:prstGeom>
          <a:solidFill>
            <a:srgbClr val="FFFFFF"/>
          </a:solidFill>
          <a:ln w="12700">
            <a:solidFill>
              <a:srgbClr val="FFFFFF"/>
            </a:solidFill>
            <a:prstDash val="solid"/>
          </a:ln>
        </p:spPr>
      </p:sp>
      <p:sp>
        <p:nvSpPr>
          <p:cNvPr id="23" name="Shape 21"/>
          <p:cNvSpPr/>
          <p:nvPr/>
        </p:nvSpPr>
        <p:spPr>
          <a:xfrm>
            <a:off x="960120" y="5074920"/>
            <a:ext cx="146304" cy="146304"/>
          </a:xfrm>
          <a:prstGeom prst="ellipse">
            <a:avLst/>
          </a:prstGeom>
          <a:solidFill>
            <a:srgbClr val="FBBF24"/>
          </a:solidFill>
          <a:ln w="12700">
            <a:solidFill>
              <a:srgbClr val="333333"/>
            </a:solidFill>
            <a:prstDash val="solid"/>
          </a:ln>
        </p:spPr>
      </p:sp>
      <p:sp>
        <p:nvSpPr>
          <p:cNvPr id="24" name="Text 22"/>
          <p:cNvSpPr/>
          <p:nvPr/>
        </p:nvSpPr>
        <p:spPr>
          <a:xfrm>
            <a:off x="1298448" y="4873752"/>
            <a:ext cx="9784080" cy="256032"/>
          </a:xfrm>
          <a:prstGeom prst="rect">
            <a:avLst/>
          </a:prstGeom>
          <a:noFill/>
          <a:ln/>
        </p:spPr>
        <p:txBody>
          <a:bodyPr wrap="square" lIns="0" tIns="0" rIns="0" bIns="0" rtlCol="0" anchor="ctr"/>
          <a:lstStyle/>
          <a:p>
            <a:pPr indent="0" marL="0">
              <a:buNone/>
            </a:pPr>
            <a:r>
              <a:rPr lang="en-US" sz="1300" b="1" dirty="0">
                <a:solidFill>
                  <a:srgbClr val="141922"/>
                </a:solidFill>
                <a:latin typeface="Calibri" pitchFamily="34" charset="0"/>
                <a:ea typeface="Calibri" pitchFamily="34" charset="-122"/>
                <a:cs typeface="Calibri" pitchFamily="34" charset="-120"/>
              </a:rPr>
              <a:t>Single shared API key, single tenant</a:t>
            </a:r>
            <a:endParaRPr lang="en-US" sz="1300" dirty="0"/>
          </a:p>
        </p:txBody>
      </p:sp>
      <p:sp>
        <p:nvSpPr>
          <p:cNvPr id="25" name="Text 23"/>
          <p:cNvSpPr/>
          <p:nvPr/>
        </p:nvSpPr>
        <p:spPr>
          <a:xfrm>
            <a:off x="1298448" y="5157216"/>
            <a:ext cx="9784080" cy="274320"/>
          </a:xfrm>
          <a:prstGeom prst="rect">
            <a:avLst/>
          </a:prstGeom>
          <a:noFill/>
          <a:ln/>
        </p:spPr>
        <p:txBody>
          <a:bodyPr wrap="square" lIns="0" tIns="0" rIns="0" bIns="0" rtlCol="0" anchor="ctr"/>
          <a:lstStyle/>
          <a:p>
            <a:pPr indent="0" marL="0">
              <a:buNone/>
            </a:pPr>
            <a:r>
              <a:rPr lang="en-US" sz="1100" dirty="0">
                <a:solidFill>
                  <a:srgbClr val="5A6478"/>
                </a:solidFill>
                <a:latin typeface="Calibri" pitchFamily="34" charset="0"/>
                <a:ea typeface="Calibri" pitchFamily="34" charset="-122"/>
                <a:cs typeface="Calibri" pitchFamily="34" charset="-120"/>
              </a:rPr>
              <a:t>No rotation and no tenancy. A deliberate scope boundary for self-hosted deployment, not an oversight.</a:t>
            </a:r>
            <a:endParaRPr lang="en-US" sz="1100" dirty="0"/>
          </a:p>
        </p:txBody>
      </p:sp>
      <p:sp>
        <p:nvSpPr>
          <p:cNvPr id="26" name="Shape 24"/>
          <p:cNvSpPr/>
          <p:nvPr/>
        </p:nvSpPr>
        <p:spPr>
          <a:xfrm>
            <a:off x="640080" y="5623560"/>
            <a:ext cx="10881360" cy="749808"/>
          </a:xfrm>
          <a:prstGeom prst="roundRect">
            <a:avLst>
              <a:gd name="adj" fmla="val 8537"/>
            </a:avLst>
          </a:prstGeom>
          <a:solidFill>
            <a:srgbClr val="FFFFFF"/>
          </a:solidFill>
          <a:ln w="12700">
            <a:solidFill>
              <a:srgbClr val="FFFFFF"/>
            </a:solidFill>
            <a:prstDash val="solid"/>
          </a:ln>
        </p:spPr>
      </p:sp>
      <p:sp>
        <p:nvSpPr>
          <p:cNvPr id="27" name="Shape 25"/>
          <p:cNvSpPr/>
          <p:nvPr/>
        </p:nvSpPr>
        <p:spPr>
          <a:xfrm>
            <a:off x="960120" y="5925312"/>
            <a:ext cx="146304" cy="146304"/>
          </a:xfrm>
          <a:prstGeom prst="ellipse">
            <a:avLst/>
          </a:prstGeom>
          <a:solidFill>
            <a:srgbClr val="FBBF24"/>
          </a:solidFill>
          <a:ln w="12700">
            <a:solidFill>
              <a:srgbClr val="333333"/>
            </a:solidFill>
            <a:prstDash val="solid"/>
          </a:ln>
        </p:spPr>
      </p:sp>
      <p:sp>
        <p:nvSpPr>
          <p:cNvPr id="28" name="Text 26"/>
          <p:cNvSpPr/>
          <p:nvPr/>
        </p:nvSpPr>
        <p:spPr>
          <a:xfrm>
            <a:off x="1298448" y="5724144"/>
            <a:ext cx="9784080" cy="256032"/>
          </a:xfrm>
          <a:prstGeom prst="rect">
            <a:avLst/>
          </a:prstGeom>
          <a:noFill/>
          <a:ln/>
        </p:spPr>
        <p:txBody>
          <a:bodyPr wrap="square" lIns="0" tIns="0" rIns="0" bIns="0" rtlCol="0" anchor="ctr"/>
          <a:lstStyle/>
          <a:p>
            <a:pPr indent="0" marL="0">
              <a:buNone/>
            </a:pPr>
            <a:r>
              <a:rPr lang="en-US" sz="1300" b="1" dirty="0">
                <a:solidFill>
                  <a:srgbClr val="141922"/>
                </a:solidFill>
                <a:latin typeface="Calibri" pitchFamily="34" charset="0"/>
                <a:ea typeface="Calibri" pitchFamily="34" charset="-122"/>
                <a:cs typeface="Calibri" pitchFamily="34" charset="-120"/>
              </a:rPr>
              <a:t>Datadog was never audited</a:t>
            </a:r>
            <a:endParaRPr lang="en-US" sz="1300" dirty="0"/>
          </a:p>
        </p:txBody>
      </p:sp>
      <p:sp>
        <p:nvSpPr>
          <p:cNvPr id="29" name="Text 27"/>
          <p:cNvSpPr/>
          <p:nvPr/>
        </p:nvSpPr>
        <p:spPr>
          <a:xfrm>
            <a:off x="1298448" y="6007608"/>
            <a:ext cx="9784080" cy="274320"/>
          </a:xfrm>
          <a:prstGeom prst="rect">
            <a:avLst/>
          </a:prstGeom>
          <a:noFill/>
          <a:ln/>
        </p:spPr>
        <p:txBody>
          <a:bodyPr wrap="square" lIns="0" tIns="0" rIns="0" bIns="0" rtlCol="0" anchor="ctr"/>
          <a:lstStyle/>
          <a:p>
            <a:pPr indent="0" marL="0">
              <a:buNone/>
            </a:pPr>
            <a:r>
              <a:rPr lang="en-US" sz="1100" dirty="0">
                <a:solidFill>
                  <a:srgbClr val="5A6478"/>
                </a:solidFill>
                <a:latin typeface="Calibri" pitchFamily="34" charset="0"/>
                <a:ea typeface="Calibri" pitchFamily="34" charset="-122"/>
                <a:cs typeface="Calibri" pitchFamily="34" charset="-120"/>
              </a:rPr>
              <a:t>It cannot be installed, so its column in the competitive matrix is the least reliable and is marked so.</a:t>
            </a:r>
            <a:endParaRPr lang="en-US" sz="1100" dirty="0"/>
          </a:p>
        </p:txBody>
      </p:sp>
      <p:sp>
        <p:nvSpPr>
          <p:cNvPr id="30" name="Text 28"/>
          <p:cNvSpPr/>
          <p:nvPr/>
        </p:nvSpPr>
        <p:spPr>
          <a:xfrm>
            <a:off x="640080" y="6400800"/>
            <a:ext cx="10881360" cy="320040"/>
          </a:xfrm>
          <a:prstGeom prst="rect">
            <a:avLst/>
          </a:prstGeom>
          <a:noFill/>
          <a:ln/>
        </p:spPr>
        <p:txBody>
          <a:bodyPr wrap="square" lIns="0" tIns="0" rIns="0" bIns="0" rtlCol="0" anchor="ctr"/>
          <a:lstStyle/>
          <a:p>
            <a:pPr indent="0" marL="0">
              <a:buNone/>
            </a:pPr>
            <a:r>
              <a:rPr lang="en-US" sz="1150" i="1" dirty="0">
                <a:solidFill>
                  <a:srgbClr val="5A6478"/>
                </a:solidFill>
                <a:latin typeface="Calibri" pitchFamily="34" charset="0"/>
                <a:ea typeface="Calibri" pitchFamily="34" charset="-122"/>
                <a:cs typeface="Calibri" pitchFamily="34" charset="-120"/>
              </a:rPr>
              <a:t>The phrase "production ready" is deliberately absent from this project. It is binary and unfalsifiable; the claim made instead is specific and checkable.</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E1117"/>
        </a:solidFill>
      </p:bgPr>
    </p:bg>
    <p:spTree>
      <p:nvGrpSpPr>
        <p:cNvPr id="1" name=""/>
        <p:cNvGrpSpPr/>
        <p:nvPr/>
      </p:nvGrpSpPr>
      <p:grpSpPr>
        <a:xfrm>
          <a:off x="0" y="0"/>
          <a:ext cx="0" cy="0"/>
          <a:chOff x="0" y="0"/>
          <a:chExt cx="0" cy="0"/>
        </a:xfrm>
      </p:grpSpPr>
      <p:sp>
        <p:nvSpPr>
          <p:cNvPr id="2" name="Text 0"/>
          <p:cNvSpPr/>
          <p:nvPr/>
        </p:nvSpPr>
        <p:spPr>
          <a:xfrm>
            <a:off x="640080" y="365760"/>
            <a:ext cx="9144000" cy="237744"/>
          </a:xfrm>
          <a:prstGeom prst="rect">
            <a:avLst/>
          </a:prstGeom>
          <a:noFill/>
          <a:ln/>
        </p:spPr>
        <p:txBody>
          <a:bodyPr wrap="square" lIns="0" tIns="0" rIns="0" bIns="0" rtlCol="0" anchor="ctr"/>
          <a:lstStyle/>
          <a:p>
            <a:pPr indent="0" marL="0">
              <a:buNone/>
            </a:pPr>
            <a:r>
              <a:rPr lang="en-US" sz="1050" b="1" spc="200" kern="0" dirty="0">
                <a:solidFill>
                  <a:srgbClr val="22D3EE"/>
                </a:solidFill>
                <a:latin typeface="Calibri" pitchFamily="34" charset="0"/>
                <a:ea typeface="Calibri" pitchFamily="34" charset="-122"/>
                <a:cs typeface="Calibri" pitchFamily="34" charset="-120"/>
              </a:rPr>
              <a:t>CONTRIBUTION</a:t>
            </a:r>
            <a:endParaRPr lang="en-US" sz="1050" dirty="0"/>
          </a:p>
        </p:txBody>
      </p:sp>
      <p:sp>
        <p:nvSpPr>
          <p:cNvPr id="3" name="Text 1"/>
          <p:cNvSpPr/>
          <p:nvPr/>
        </p:nvSpPr>
        <p:spPr>
          <a:xfrm>
            <a:off x="640080" y="621792"/>
            <a:ext cx="10881360" cy="640080"/>
          </a:xfrm>
          <a:prstGeom prst="rect">
            <a:avLst/>
          </a:prstGeom>
          <a:noFill/>
          <a:ln/>
        </p:spPr>
        <p:txBody>
          <a:bodyPr wrap="square" lIns="0" tIns="0" rIns="0" bIns="0" rtlCol="0" anchor="ctr"/>
          <a:lstStyle/>
          <a:p>
            <a:pPr indent="0" marL="0">
              <a:buNone/>
            </a:pPr>
            <a:r>
              <a:rPr lang="en-US" sz="3100" b="1" dirty="0">
                <a:solidFill>
                  <a:srgbClr val="E8ECF5"/>
                </a:solidFill>
                <a:latin typeface="Cambria" pitchFamily="34" charset="0"/>
                <a:ea typeface="Cambria" pitchFamily="34" charset="-122"/>
                <a:cs typeface="Cambria" pitchFamily="34" charset="-120"/>
              </a:rPr>
              <a:t>What is new, what is better, and by how much</a:t>
            </a:r>
            <a:endParaRPr lang="en-US" sz="3100" dirty="0"/>
          </a:p>
        </p:txBody>
      </p:sp>
      <p:sp>
        <p:nvSpPr>
          <p:cNvPr id="4" name="Shape 2"/>
          <p:cNvSpPr/>
          <p:nvPr/>
        </p:nvSpPr>
        <p:spPr>
          <a:xfrm>
            <a:off x="8321040" y="384048"/>
            <a:ext cx="3200400" cy="256032"/>
          </a:xfrm>
          <a:prstGeom prst="roundRect">
            <a:avLst>
              <a:gd name="adj" fmla="val 42857"/>
            </a:avLst>
          </a:prstGeom>
          <a:solidFill>
            <a:srgbClr val="22D3EE">
              <a:alpha val="12000"/>
            </a:srgbClr>
          </a:solidFill>
          <a:ln w="7620">
            <a:solidFill>
              <a:srgbClr val="22D3EE"/>
            </a:solidFill>
            <a:prstDash val="solid"/>
          </a:ln>
        </p:spPr>
      </p:sp>
      <p:sp>
        <p:nvSpPr>
          <p:cNvPr id="5" name="Text 3"/>
          <p:cNvSpPr/>
          <p:nvPr/>
        </p:nvSpPr>
        <p:spPr>
          <a:xfrm>
            <a:off x="8321040" y="384048"/>
            <a:ext cx="3200400" cy="256032"/>
          </a:xfrm>
          <a:prstGeom prst="rect">
            <a:avLst/>
          </a:prstGeom>
          <a:noFill/>
          <a:ln/>
        </p:spPr>
        <p:txBody>
          <a:bodyPr wrap="square" lIns="0" tIns="0" rIns="0" bIns="0" rtlCol="0" anchor="ctr"/>
          <a:lstStyle/>
          <a:p>
            <a:pPr algn="ctr" indent="0" marL="0">
              <a:buNone/>
            </a:pPr>
            <a:r>
              <a:rPr lang="en-US" sz="900" b="1" dirty="0">
                <a:solidFill>
                  <a:srgbClr val="22D3EE"/>
                </a:solidFill>
                <a:latin typeface="Calibri" pitchFamily="34" charset="0"/>
                <a:ea typeface="Calibri" pitchFamily="34" charset="-122"/>
                <a:cs typeface="Calibri" pitchFamily="34" charset="-120"/>
              </a:rPr>
              <a:t>Contribution restated</a:t>
            </a:r>
            <a:endParaRPr lang="en-US" sz="900" dirty="0"/>
          </a:p>
        </p:txBody>
      </p:sp>
      <p:sp>
        <p:nvSpPr>
          <p:cNvPr id="6" name="Shape 4"/>
          <p:cNvSpPr/>
          <p:nvPr/>
        </p:nvSpPr>
        <p:spPr>
          <a:xfrm>
            <a:off x="640080" y="1371600"/>
            <a:ext cx="10881360" cy="1143000"/>
          </a:xfrm>
          <a:prstGeom prst="roundRect">
            <a:avLst>
              <a:gd name="adj" fmla="val 5600"/>
            </a:avLst>
          </a:prstGeom>
          <a:solidFill>
            <a:srgbClr val="222937"/>
          </a:solidFill>
          <a:ln w="12700">
            <a:solidFill>
              <a:srgbClr val="222937"/>
            </a:solidFill>
            <a:prstDash val="solid"/>
          </a:ln>
        </p:spPr>
      </p:sp>
      <p:sp>
        <p:nvSpPr>
          <p:cNvPr id="7" name="Text 5"/>
          <p:cNvSpPr/>
          <p:nvPr/>
        </p:nvSpPr>
        <p:spPr>
          <a:xfrm>
            <a:off x="960120" y="1682496"/>
            <a:ext cx="640080" cy="411480"/>
          </a:xfrm>
          <a:prstGeom prst="rect">
            <a:avLst/>
          </a:prstGeom>
          <a:noFill/>
          <a:ln/>
        </p:spPr>
        <p:txBody>
          <a:bodyPr wrap="square" lIns="0" tIns="0" rIns="0" bIns="0" rtlCol="0" anchor="ctr"/>
          <a:lstStyle/>
          <a:p>
            <a:pPr indent="0" marL="0">
              <a:buNone/>
            </a:pPr>
            <a:r>
              <a:rPr lang="en-US" sz="2000" b="1" dirty="0">
                <a:solidFill>
                  <a:srgbClr val="22D3EE"/>
                </a:solidFill>
                <a:latin typeface="Cambria" pitchFamily="34" charset="0"/>
                <a:ea typeface="Cambria" pitchFamily="34" charset="-122"/>
                <a:cs typeface="Cambria" pitchFamily="34" charset="-120"/>
              </a:rPr>
              <a:t>01</a:t>
            </a:r>
            <a:endParaRPr lang="en-US" sz="2000" dirty="0"/>
          </a:p>
        </p:txBody>
      </p:sp>
      <p:sp>
        <p:nvSpPr>
          <p:cNvPr id="8" name="Text 6"/>
          <p:cNvSpPr/>
          <p:nvPr/>
        </p:nvSpPr>
        <p:spPr>
          <a:xfrm>
            <a:off x="1737360" y="1572768"/>
            <a:ext cx="9326880" cy="292608"/>
          </a:xfrm>
          <a:prstGeom prst="rect">
            <a:avLst/>
          </a:prstGeom>
          <a:noFill/>
          <a:ln/>
        </p:spPr>
        <p:txBody>
          <a:bodyPr wrap="square" lIns="0" tIns="0" rIns="0" bIns="0" rtlCol="0" anchor="ctr"/>
          <a:lstStyle/>
          <a:p>
            <a:pPr indent="0" marL="0">
              <a:buNone/>
            </a:pPr>
            <a:r>
              <a:rPr lang="en-US" sz="1400" b="1" dirty="0">
                <a:solidFill>
                  <a:srgbClr val="E8ECF5"/>
                </a:solidFill>
                <a:latin typeface="Calibri" pitchFamily="34" charset="0"/>
                <a:ea typeface="Calibri" pitchFamily="34" charset="-122"/>
                <a:cs typeface="Calibri" pitchFamily="34" charset="-120"/>
              </a:rPr>
              <a:t>A working full-coverage evaluator</a:t>
            </a:r>
            <a:endParaRPr lang="en-US" sz="1400" dirty="0"/>
          </a:p>
        </p:txBody>
      </p:sp>
      <p:sp>
        <p:nvSpPr>
          <p:cNvPr id="9" name="Text 7"/>
          <p:cNvSpPr/>
          <p:nvPr/>
        </p:nvSpPr>
        <p:spPr>
          <a:xfrm>
            <a:off x="1737360" y="1892808"/>
            <a:ext cx="9418320" cy="548640"/>
          </a:xfrm>
          <a:prstGeom prst="rect">
            <a:avLst/>
          </a:prstGeom>
          <a:noFill/>
          <a:ln/>
        </p:spPr>
        <p:txBody>
          <a:bodyPr wrap="square" lIns="0" tIns="0" rIns="0" bIns="0" rtlCol="0" anchor="ctr"/>
          <a:lstStyle/>
          <a:p>
            <a:pPr indent="0" marL="0">
              <a:buNone/>
            </a:pPr>
            <a:r>
              <a:rPr lang="en-US" sz="1150" dirty="0">
                <a:solidFill>
                  <a:srgbClr val="9AA4BD"/>
                </a:solidFill>
                <a:latin typeface="Calibri" pitchFamily="34" charset="0"/>
                <a:ea typeface="Calibri" pitchFamily="34" charset="-122"/>
                <a:cs typeface="Calibri" pitchFamily="34" charset="-120"/>
              </a:rPr>
              <a:t>Every span evaluated on commodity CPU at 12 spans/sec with exactly-once durability, rather than a sampled subset. Removes the cost argument that forces sampling.</a:t>
            </a:r>
            <a:endParaRPr lang="en-US" sz="1150" dirty="0"/>
          </a:p>
        </p:txBody>
      </p:sp>
      <p:sp>
        <p:nvSpPr>
          <p:cNvPr id="10" name="Shape 8"/>
          <p:cNvSpPr/>
          <p:nvPr/>
        </p:nvSpPr>
        <p:spPr>
          <a:xfrm>
            <a:off x="640080" y="2624328"/>
            <a:ext cx="10881360" cy="1143000"/>
          </a:xfrm>
          <a:prstGeom prst="roundRect">
            <a:avLst>
              <a:gd name="adj" fmla="val 5600"/>
            </a:avLst>
          </a:prstGeom>
          <a:solidFill>
            <a:srgbClr val="222937"/>
          </a:solidFill>
          <a:ln w="12700">
            <a:solidFill>
              <a:srgbClr val="222937"/>
            </a:solidFill>
            <a:prstDash val="solid"/>
          </a:ln>
        </p:spPr>
      </p:sp>
      <p:sp>
        <p:nvSpPr>
          <p:cNvPr id="11" name="Text 9"/>
          <p:cNvSpPr/>
          <p:nvPr/>
        </p:nvSpPr>
        <p:spPr>
          <a:xfrm>
            <a:off x="960120" y="2935224"/>
            <a:ext cx="640080" cy="411480"/>
          </a:xfrm>
          <a:prstGeom prst="rect">
            <a:avLst/>
          </a:prstGeom>
          <a:noFill/>
          <a:ln/>
        </p:spPr>
        <p:txBody>
          <a:bodyPr wrap="square" lIns="0" tIns="0" rIns="0" bIns="0" rtlCol="0" anchor="ctr"/>
          <a:lstStyle/>
          <a:p>
            <a:pPr indent="0" marL="0">
              <a:buNone/>
            </a:pPr>
            <a:r>
              <a:rPr lang="en-US" sz="2000" b="1" dirty="0">
                <a:solidFill>
                  <a:srgbClr val="34D399"/>
                </a:solidFill>
                <a:latin typeface="Cambria" pitchFamily="34" charset="0"/>
                <a:ea typeface="Cambria" pitchFamily="34" charset="-122"/>
                <a:cs typeface="Cambria" pitchFamily="34" charset="-120"/>
              </a:rPr>
              <a:t>02</a:t>
            </a:r>
            <a:endParaRPr lang="en-US" sz="2000" dirty="0"/>
          </a:p>
        </p:txBody>
      </p:sp>
      <p:sp>
        <p:nvSpPr>
          <p:cNvPr id="12" name="Text 10"/>
          <p:cNvSpPr/>
          <p:nvPr/>
        </p:nvSpPr>
        <p:spPr>
          <a:xfrm>
            <a:off x="1737360" y="2825496"/>
            <a:ext cx="9326880" cy="292608"/>
          </a:xfrm>
          <a:prstGeom prst="rect">
            <a:avLst/>
          </a:prstGeom>
          <a:noFill/>
          <a:ln/>
        </p:spPr>
        <p:txBody>
          <a:bodyPr wrap="square" lIns="0" tIns="0" rIns="0" bIns="0" rtlCol="0" anchor="ctr"/>
          <a:lstStyle/>
          <a:p>
            <a:pPr indent="0" marL="0">
              <a:buNone/>
            </a:pPr>
            <a:r>
              <a:rPr lang="en-US" sz="1400" b="1" dirty="0">
                <a:solidFill>
                  <a:srgbClr val="E8ECF5"/>
                </a:solidFill>
                <a:latin typeface="Calibri" pitchFamily="34" charset="0"/>
                <a:ea typeface="Calibri" pitchFamily="34" charset="-122"/>
                <a:cs typeface="Calibri" pitchFamily="34" charset="-120"/>
              </a:rPr>
              <a:t>A drift signal that survives real text</a:t>
            </a:r>
            <a:endParaRPr lang="en-US" sz="1400" dirty="0"/>
          </a:p>
        </p:txBody>
      </p:sp>
      <p:sp>
        <p:nvSpPr>
          <p:cNvPr id="13" name="Text 11"/>
          <p:cNvSpPr/>
          <p:nvPr/>
        </p:nvSpPr>
        <p:spPr>
          <a:xfrm>
            <a:off x="1737360" y="3145536"/>
            <a:ext cx="9418320" cy="548640"/>
          </a:xfrm>
          <a:prstGeom prst="rect">
            <a:avLst/>
          </a:prstGeom>
          <a:noFill/>
          <a:ln/>
        </p:spPr>
        <p:txBody>
          <a:bodyPr wrap="square" lIns="0" tIns="0" rIns="0" bIns="0" rtlCol="0" anchor="ctr"/>
          <a:lstStyle/>
          <a:p>
            <a:pPr indent="0" marL="0">
              <a:buNone/>
            </a:pPr>
            <a:r>
              <a:rPr lang="en-US" sz="1150" dirty="0">
                <a:solidFill>
                  <a:srgbClr val="9AA4BD"/>
                </a:solidFill>
                <a:latin typeface="Calibri" pitchFamily="34" charset="0"/>
                <a:ea typeface="Calibri" pitchFamily="34" charset="-122"/>
                <a:cs typeface="Calibri" pitchFamily="34" charset="-120"/>
              </a:rPr>
              <a:t>Rebuilt after failing on external data. False alarms 91.7% to 1.5%, AUC 0.991 held out - with coverage 24.5% stated alongside.</a:t>
            </a:r>
            <a:endParaRPr lang="en-US" sz="1150" dirty="0"/>
          </a:p>
        </p:txBody>
      </p:sp>
      <p:sp>
        <p:nvSpPr>
          <p:cNvPr id="14" name="Shape 12"/>
          <p:cNvSpPr/>
          <p:nvPr/>
        </p:nvSpPr>
        <p:spPr>
          <a:xfrm>
            <a:off x="640080" y="3877056"/>
            <a:ext cx="10881360" cy="1143000"/>
          </a:xfrm>
          <a:prstGeom prst="roundRect">
            <a:avLst>
              <a:gd name="adj" fmla="val 5600"/>
            </a:avLst>
          </a:prstGeom>
          <a:solidFill>
            <a:srgbClr val="222937"/>
          </a:solidFill>
          <a:ln w="12700">
            <a:solidFill>
              <a:srgbClr val="222937"/>
            </a:solidFill>
            <a:prstDash val="solid"/>
          </a:ln>
        </p:spPr>
      </p:sp>
      <p:sp>
        <p:nvSpPr>
          <p:cNvPr id="15" name="Text 13"/>
          <p:cNvSpPr/>
          <p:nvPr/>
        </p:nvSpPr>
        <p:spPr>
          <a:xfrm>
            <a:off x="960120" y="4187952"/>
            <a:ext cx="640080" cy="411480"/>
          </a:xfrm>
          <a:prstGeom prst="rect">
            <a:avLst/>
          </a:prstGeom>
          <a:noFill/>
          <a:ln/>
        </p:spPr>
        <p:txBody>
          <a:bodyPr wrap="square" lIns="0" tIns="0" rIns="0" bIns="0" rtlCol="0" anchor="ctr"/>
          <a:lstStyle/>
          <a:p>
            <a:pPr indent="0" marL="0">
              <a:buNone/>
            </a:pPr>
            <a:r>
              <a:rPr lang="en-US" sz="2000" b="1" dirty="0">
                <a:solidFill>
                  <a:srgbClr val="FBBF24"/>
                </a:solidFill>
                <a:latin typeface="Cambria" pitchFamily="34" charset="0"/>
                <a:ea typeface="Cambria" pitchFamily="34" charset="-122"/>
                <a:cs typeface="Cambria" pitchFamily="34" charset="-120"/>
              </a:rPr>
              <a:t>03</a:t>
            </a:r>
            <a:endParaRPr lang="en-US" sz="2000" dirty="0"/>
          </a:p>
        </p:txBody>
      </p:sp>
      <p:sp>
        <p:nvSpPr>
          <p:cNvPr id="16" name="Text 14"/>
          <p:cNvSpPr/>
          <p:nvPr/>
        </p:nvSpPr>
        <p:spPr>
          <a:xfrm>
            <a:off x="1737360" y="4078224"/>
            <a:ext cx="9326880" cy="292608"/>
          </a:xfrm>
          <a:prstGeom prst="rect">
            <a:avLst/>
          </a:prstGeom>
          <a:noFill/>
          <a:ln/>
        </p:spPr>
        <p:txBody>
          <a:bodyPr wrap="square" lIns="0" tIns="0" rIns="0" bIns="0" rtlCol="0" anchor="ctr"/>
          <a:lstStyle/>
          <a:p>
            <a:pPr indent="0" marL="0">
              <a:buNone/>
            </a:pPr>
            <a:r>
              <a:rPr lang="en-US" sz="1400" b="1" dirty="0">
                <a:solidFill>
                  <a:srgbClr val="E8ECF5"/>
                </a:solidFill>
                <a:latin typeface="Calibri" pitchFamily="34" charset="0"/>
                <a:ea typeface="Calibri" pitchFamily="34" charset="-122"/>
                <a:cs typeface="Calibri" pitchFamily="34" charset="-120"/>
              </a:rPr>
              <a:t>Three reported negative results</a:t>
            </a:r>
            <a:endParaRPr lang="en-US" sz="1400" dirty="0"/>
          </a:p>
        </p:txBody>
      </p:sp>
      <p:sp>
        <p:nvSpPr>
          <p:cNvPr id="17" name="Text 15"/>
          <p:cNvSpPr/>
          <p:nvPr/>
        </p:nvSpPr>
        <p:spPr>
          <a:xfrm>
            <a:off x="1737360" y="4398264"/>
            <a:ext cx="9418320" cy="548640"/>
          </a:xfrm>
          <a:prstGeom prst="rect">
            <a:avLst/>
          </a:prstGeom>
          <a:noFill/>
          <a:ln/>
        </p:spPr>
        <p:txBody>
          <a:bodyPr wrap="square" lIns="0" tIns="0" rIns="0" bIns="0" rtlCol="0" anchor="ctr"/>
          <a:lstStyle/>
          <a:p>
            <a:pPr indent="0" marL="0">
              <a:buNone/>
            </a:pPr>
            <a:r>
              <a:rPr lang="en-US" sz="1150" dirty="0">
                <a:solidFill>
                  <a:srgbClr val="9AA4BD"/>
                </a:solidFill>
                <a:latin typeface="Calibri" pitchFamily="34" charset="0"/>
                <a:ea typeface="Calibri" pitchFamily="34" charset="-122"/>
                <a:cs typeface="Calibri" pitchFamily="34" charset="-120"/>
              </a:rPr>
              <a:t>Tool-claim F1 0.000 and disagreement 0 of 10 on external traces, each with a mechanism rather than a mystery. Two published positioning claims were retracted after installing the competitors.</a:t>
            </a:r>
            <a:endParaRPr lang="en-US" sz="1150" dirty="0"/>
          </a:p>
        </p:txBody>
      </p:sp>
      <p:sp>
        <p:nvSpPr>
          <p:cNvPr id="18" name="Shape 16"/>
          <p:cNvSpPr/>
          <p:nvPr/>
        </p:nvSpPr>
        <p:spPr>
          <a:xfrm>
            <a:off x="640080" y="5129784"/>
            <a:ext cx="10881360" cy="1143000"/>
          </a:xfrm>
          <a:prstGeom prst="roundRect">
            <a:avLst>
              <a:gd name="adj" fmla="val 5600"/>
            </a:avLst>
          </a:prstGeom>
          <a:solidFill>
            <a:srgbClr val="222937"/>
          </a:solidFill>
          <a:ln w="12700">
            <a:solidFill>
              <a:srgbClr val="222937"/>
            </a:solidFill>
            <a:prstDash val="solid"/>
          </a:ln>
        </p:spPr>
      </p:sp>
      <p:sp>
        <p:nvSpPr>
          <p:cNvPr id="19" name="Text 17"/>
          <p:cNvSpPr/>
          <p:nvPr/>
        </p:nvSpPr>
        <p:spPr>
          <a:xfrm>
            <a:off x="960120" y="5440680"/>
            <a:ext cx="640080" cy="411480"/>
          </a:xfrm>
          <a:prstGeom prst="rect">
            <a:avLst/>
          </a:prstGeom>
          <a:noFill/>
          <a:ln/>
        </p:spPr>
        <p:txBody>
          <a:bodyPr wrap="square" lIns="0" tIns="0" rIns="0" bIns="0" rtlCol="0" anchor="ctr"/>
          <a:lstStyle/>
          <a:p>
            <a:pPr indent="0" marL="0">
              <a:buNone/>
            </a:pPr>
            <a:r>
              <a:rPr lang="en-US" sz="2000" b="1" dirty="0">
                <a:solidFill>
                  <a:srgbClr val="22D3EE"/>
                </a:solidFill>
                <a:latin typeface="Cambria" pitchFamily="34" charset="0"/>
                <a:ea typeface="Cambria" pitchFamily="34" charset="-122"/>
                <a:cs typeface="Cambria" pitchFamily="34" charset="-120"/>
              </a:rPr>
              <a:t>04</a:t>
            </a:r>
            <a:endParaRPr lang="en-US" sz="2000" dirty="0"/>
          </a:p>
        </p:txBody>
      </p:sp>
      <p:sp>
        <p:nvSpPr>
          <p:cNvPr id="20" name="Text 18"/>
          <p:cNvSpPr/>
          <p:nvPr/>
        </p:nvSpPr>
        <p:spPr>
          <a:xfrm>
            <a:off x="1737360" y="5330952"/>
            <a:ext cx="9326880" cy="292608"/>
          </a:xfrm>
          <a:prstGeom prst="rect">
            <a:avLst/>
          </a:prstGeom>
          <a:noFill/>
          <a:ln/>
        </p:spPr>
        <p:txBody>
          <a:bodyPr wrap="square" lIns="0" tIns="0" rIns="0" bIns="0" rtlCol="0" anchor="ctr"/>
          <a:lstStyle/>
          <a:p>
            <a:pPr indent="0" marL="0">
              <a:buNone/>
            </a:pPr>
            <a:r>
              <a:rPr lang="en-US" sz="1400" b="1" dirty="0">
                <a:solidFill>
                  <a:srgbClr val="E8ECF5"/>
                </a:solidFill>
                <a:latin typeface="Calibri" pitchFamily="34" charset="0"/>
                <a:ea typeface="Calibri" pitchFamily="34" charset="-122"/>
                <a:cs typeface="Calibri" pitchFamily="34" charset="-120"/>
              </a:rPr>
              <a:t>An open research question</a:t>
            </a:r>
            <a:endParaRPr lang="en-US" sz="1400" dirty="0"/>
          </a:p>
        </p:txBody>
      </p:sp>
      <p:sp>
        <p:nvSpPr>
          <p:cNvPr id="21" name="Text 19"/>
          <p:cNvSpPr/>
          <p:nvPr/>
        </p:nvSpPr>
        <p:spPr>
          <a:xfrm>
            <a:off x="1737360" y="5650992"/>
            <a:ext cx="9418320" cy="548640"/>
          </a:xfrm>
          <a:prstGeom prst="rect">
            <a:avLst/>
          </a:prstGeom>
          <a:noFill/>
          <a:ln/>
        </p:spPr>
        <p:txBody>
          <a:bodyPr wrap="square" lIns="0" tIns="0" rIns="0" bIns="0" rtlCol="0" anchor="ctr"/>
          <a:lstStyle/>
          <a:p>
            <a:pPr indent="0" marL="0">
              <a:buNone/>
            </a:pPr>
            <a:r>
              <a:rPr lang="en-US" sz="1150" dirty="0">
                <a:solidFill>
                  <a:srgbClr val="9AA4BD"/>
                </a:solidFill>
                <a:latin typeface="Calibri" pitchFamily="34" charset="0"/>
                <a:ea typeface="Calibri" pitchFamily="34" charset="-122"/>
                <a:cs typeface="Calibri" pitchFamily="34" charset="-120"/>
              </a:rPr>
              <a:t>Contradiction detection cannot separate a genuine fault from legitimate disagreement under distributed evidence. Independent of NLI quality or extraction method.</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640080" y="365760"/>
            <a:ext cx="9144000" cy="237744"/>
          </a:xfrm>
          <a:prstGeom prst="rect">
            <a:avLst/>
          </a:prstGeom>
          <a:noFill/>
          <a:ln/>
        </p:spPr>
        <p:txBody>
          <a:bodyPr wrap="square" lIns="0" tIns="0" rIns="0" bIns="0" rtlCol="0" anchor="ctr"/>
          <a:lstStyle/>
          <a:p>
            <a:pPr indent="0" marL="0">
              <a:buNone/>
            </a:pPr>
            <a:r>
              <a:rPr lang="en-US" sz="1050" b="1" spc="200" kern="0" dirty="0">
                <a:solidFill>
                  <a:srgbClr val="22D3EE"/>
                </a:solidFill>
                <a:latin typeface="Calibri" pitchFamily="34" charset="0"/>
                <a:ea typeface="Calibri" pitchFamily="34" charset="-122"/>
                <a:cs typeface="Calibri" pitchFamily="34" charset="-120"/>
              </a:rPr>
              <a:t>DELIVERABLES</a:t>
            </a:r>
            <a:endParaRPr lang="en-US" sz="1050" dirty="0"/>
          </a:p>
        </p:txBody>
      </p:sp>
      <p:sp>
        <p:nvSpPr>
          <p:cNvPr id="3" name="Text 1"/>
          <p:cNvSpPr/>
          <p:nvPr/>
        </p:nvSpPr>
        <p:spPr>
          <a:xfrm>
            <a:off x="640080" y="621792"/>
            <a:ext cx="10881360" cy="640080"/>
          </a:xfrm>
          <a:prstGeom prst="rect">
            <a:avLst/>
          </a:prstGeom>
          <a:noFill/>
          <a:ln/>
        </p:spPr>
        <p:txBody>
          <a:bodyPr wrap="square" lIns="0" tIns="0" rIns="0" bIns="0" rtlCol="0" anchor="ctr"/>
          <a:lstStyle/>
          <a:p>
            <a:pPr indent="0" marL="0">
              <a:buNone/>
            </a:pPr>
            <a:r>
              <a:rPr lang="en-US" sz="3100" b="1" dirty="0">
                <a:solidFill>
                  <a:srgbClr val="141922"/>
                </a:solidFill>
                <a:latin typeface="Cambria" pitchFamily="34" charset="0"/>
                <a:ea typeface="Cambria" pitchFamily="34" charset="-122"/>
                <a:cs typeface="Cambria" pitchFamily="34" charset="-120"/>
              </a:rPr>
              <a:t>Repository, reproducibility and submission status</a:t>
            </a:r>
            <a:endParaRPr lang="en-US" sz="3100" dirty="0"/>
          </a:p>
        </p:txBody>
      </p:sp>
      <p:sp>
        <p:nvSpPr>
          <p:cNvPr id="4" name="Shape 2"/>
          <p:cNvSpPr/>
          <p:nvPr/>
        </p:nvSpPr>
        <p:spPr>
          <a:xfrm>
            <a:off x="8321040" y="384048"/>
            <a:ext cx="3200400" cy="256032"/>
          </a:xfrm>
          <a:prstGeom prst="roundRect">
            <a:avLst>
              <a:gd name="adj" fmla="val 42857"/>
            </a:avLst>
          </a:prstGeom>
          <a:solidFill>
            <a:srgbClr val="22D3EE">
              <a:alpha val="12000"/>
            </a:srgbClr>
          </a:solidFill>
          <a:ln w="7620">
            <a:solidFill>
              <a:srgbClr val="22D3EE"/>
            </a:solidFill>
            <a:prstDash val="solid"/>
          </a:ln>
        </p:spPr>
      </p:sp>
      <p:sp>
        <p:nvSpPr>
          <p:cNvPr id="5" name="Text 3"/>
          <p:cNvSpPr/>
          <p:nvPr/>
        </p:nvSpPr>
        <p:spPr>
          <a:xfrm>
            <a:off x="8321040" y="384048"/>
            <a:ext cx="3200400" cy="256032"/>
          </a:xfrm>
          <a:prstGeom prst="rect">
            <a:avLst/>
          </a:prstGeom>
          <a:noFill/>
          <a:ln/>
        </p:spPr>
        <p:txBody>
          <a:bodyPr wrap="square" lIns="0" tIns="0" rIns="0" bIns="0" rtlCol="0" anchor="ctr"/>
          <a:lstStyle/>
          <a:p>
            <a:pPr algn="ctr" indent="0" marL="0">
              <a:buNone/>
            </a:pPr>
            <a:r>
              <a:rPr lang="en-US" sz="900" b="1" dirty="0">
                <a:solidFill>
                  <a:srgbClr val="22D3EE"/>
                </a:solidFill>
                <a:latin typeface="Calibri" pitchFamily="34" charset="0"/>
                <a:ea typeface="Calibri" pitchFamily="34" charset="-122"/>
                <a:cs typeface="Calibri" pitchFamily="34" charset="-120"/>
              </a:rPr>
              <a:t>Deliverables checklist</a:t>
            </a:r>
            <a:endParaRPr lang="en-US" sz="900" dirty="0"/>
          </a:p>
        </p:txBody>
      </p:sp>
      <p:sp>
        <p:nvSpPr>
          <p:cNvPr id="6" name="Shape 4"/>
          <p:cNvSpPr/>
          <p:nvPr/>
        </p:nvSpPr>
        <p:spPr>
          <a:xfrm>
            <a:off x="640080" y="1371600"/>
            <a:ext cx="5349240" cy="2743200"/>
          </a:xfrm>
          <a:prstGeom prst="roundRect">
            <a:avLst>
              <a:gd name="adj" fmla="val 2333"/>
            </a:avLst>
          </a:prstGeom>
          <a:solidFill>
            <a:srgbClr val="FFFFFF"/>
          </a:solidFill>
          <a:ln w="12700">
            <a:solidFill>
              <a:srgbClr val="FFFFFF"/>
            </a:solidFill>
            <a:prstDash val="solid"/>
          </a:ln>
        </p:spPr>
      </p:sp>
      <p:sp>
        <p:nvSpPr>
          <p:cNvPr id="7" name="Text 5"/>
          <p:cNvSpPr/>
          <p:nvPr/>
        </p:nvSpPr>
        <p:spPr>
          <a:xfrm>
            <a:off x="960120" y="1554480"/>
            <a:ext cx="4754880" cy="274320"/>
          </a:xfrm>
          <a:prstGeom prst="rect">
            <a:avLst/>
          </a:prstGeom>
          <a:noFill/>
          <a:ln/>
        </p:spPr>
        <p:txBody>
          <a:bodyPr wrap="square" lIns="0" tIns="0" rIns="0" bIns="0" rtlCol="0" anchor="ctr"/>
          <a:lstStyle/>
          <a:p>
            <a:pPr indent="0" marL="0">
              <a:buNone/>
            </a:pPr>
            <a:r>
              <a:rPr lang="en-US" sz="1350" b="1" dirty="0">
                <a:solidFill>
                  <a:srgbClr val="141922"/>
                </a:solidFill>
                <a:latin typeface="Calibri" pitchFamily="34" charset="0"/>
                <a:ea typeface="Calibri" pitchFamily="34" charset="-122"/>
                <a:cs typeface="Calibri" pitchFamily="34" charset="-120"/>
              </a:rPr>
              <a:t>Repository and reproducibility</a:t>
            </a:r>
            <a:endParaRPr lang="en-US" sz="1350" dirty="0"/>
          </a:p>
        </p:txBody>
      </p:sp>
      <p:sp>
        <p:nvSpPr>
          <p:cNvPr id="8" name="Text 6"/>
          <p:cNvSpPr/>
          <p:nvPr/>
        </p:nvSpPr>
        <p:spPr>
          <a:xfrm>
            <a:off x="960120" y="1920240"/>
            <a:ext cx="4754880" cy="2103120"/>
          </a:xfrm>
          <a:prstGeom prst="rect">
            <a:avLst/>
          </a:prstGeom>
          <a:noFill/>
          <a:ln/>
        </p:spPr>
        <p:txBody>
          <a:bodyPr wrap="square" lIns="0" tIns="0" rIns="0" bIns="0" rtlCol="0" anchor="ctr"/>
          <a:lstStyle/>
          <a:p>
            <a:pPr marL="342900" indent="-342900">
              <a:spcAft>
                <a:spcPts val="600"/>
              </a:spcAft>
              <a:buSzPct val="100000"/>
              <a:buChar char="•"/>
            </a:pPr>
            <a:r>
              <a:rPr lang="en-US" sz="1100" dirty="0">
                <a:solidFill>
                  <a:srgbClr val="5A6478"/>
                </a:solidFill>
                <a:latin typeface="Calibri" pitchFamily="34" charset="0"/>
                <a:ea typeface="Calibri" pitchFamily="34" charset="-122"/>
                <a:cs typeface="Calibri" pitchFamily="34" charset="-120"/>
              </a:rPr>
              <a:t>Git repository with full commit history and a README.</a:t>
            </a:r>
            <a:endParaRPr lang="en-US" sz="1100" dirty="0"/>
          </a:p>
          <a:p>
            <a:pPr marL="342900" indent="-342900">
              <a:spcAft>
                <a:spcPts val="600"/>
              </a:spcAft>
              <a:buSzPct val="100000"/>
              <a:buChar char="•"/>
            </a:pPr>
            <a:r>
              <a:rPr lang="en-US" sz="1100" dirty="0">
                <a:solidFill>
                  <a:srgbClr val="5A6478"/>
                </a:solidFill>
                <a:latin typeface="Calibri" pitchFamily="34" charset="0"/>
                <a:ea typeface="Calibri" pitchFamily="34" charset="-122"/>
                <a:cs typeface="Calibri" pitchFamily="34" charset="-120"/>
              </a:rPr>
              <a:t>209 of 209 backend tests passing (pytest tests/ -q).</a:t>
            </a:r>
            <a:endParaRPr lang="en-US" sz="1100" dirty="0"/>
          </a:p>
          <a:p>
            <a:pPr marL="342900" indent="-342900">
              <a:spcAft>
                <a:spcPts val="600"/>
              </a:spcAft>
              <a:buSzPct val="100000"/>
              <a:buChar char="•"/>
            </a:pPr>
            <a:r>
              <a:rPr lang="en-US" sz="1100" dirty="0">
                <a:solidFill>
                  <a:srgbClr val="5A6478"/>
                </a:solidFill>
                <a:latin typeface="Calibri" pitchFamily="34" charset="0"/>
                <a:ea typeface="Calibri" pitchFamily="34" charset="-122"/>
                <a:cs typeface="Calibri" pitchFamily="34" charset="-120"/>
              </a:rPr>
              <a:t>Schema under Alembic, baselined and verified byte-identical across 43,941 rows.</a:t>
            </a:r>
            <a:endParaRPr lang="en-US" sz="1100" dirty="0"/>
          </a:p>
          <a:p>
            <a:pPr marL="342900" indent="-342900">
              <a:spcAft>
                <a:spcPts val="600"/>
              </a:spcAft>
              <a:buSzPct val="100000"/>
              <a:buChar char="•"/>
            </a:pPr>
            <a:r>
              <a:rPr lang="en-US" sz="1100" dirty="0">
                <a:solidFill>
                  <a:srgbClr val="5A6478"/>
                </a:solidFill>
                <a:latin typeface="Calibri" pitchFamily="34" charset="0"/>
                <a:ea typeface="Calibri" pitchFamily="34" charset="-122"/>
                <a:cs typeface="Calibri" pitchFamily="34" charset="-120"/>
              </a:rPr>
              <a:t>Every reported figure has a JSON file under experiments/results/ and a matching write-up.</a:t>
            </a:r>
            <a:endParaRPr lang="en-US" sz="1100" dirty="0"/>
          </a:p>
          <a:p>
            <a:pPr marL="342900" indent="-342900">
              <a:spcAft>
                <a:spcPts val="600"/>
              </a:spcAft>
              <a:buSzPct val="100000"/>
              <a:buChar char="•"/>
            </a:pPr>
            <a:r>
              <a:rPr lang="en-US" sz="1100" dirty="0">
                <a:solidFill>
                  <a:srgbClr val="5A6478"/>
                </a:solidFill>
                <a:latin typeface="Calibri" pitchFamily="34" charset="0"/>
                <a:ea typeface="Calibri" pitchFamily="34" charset="-122"/>
                <a:cs typeface="Calibri" pitchFamily="34" charset="-120"/>
              </a:rPr>
              <a:t>Docker compose and documented dev-server commands.</a:t>
            </a:r>
            <a:endParaRPr lang="en-US" sz="1100" dirty="0"/>
          </a:p>
        </p:txBody>
      </p:sp>
      <p:sp>
        <p:nvSpPr>
          <p:cNvPr id="9" name="Shape 7"/>
          <p:cNvSpPr/>
          <p:nvPr/>
        </p:nvSpPr>
        <p:spPr>
          <a:xfrm>
            <a:off x="6309360" y="1371600"/>
            <a:ext cx="5212080" cy="2743200"/>
          </a:xfrm>
          <a:prstGeom prst="roundRect">
            <a:avLst>
              <a:gd name="adj" fmla="val 2333"/>
            </a:avLst>
          </a:prstGeom>
          <a:solidFill>
            <a:srgbClr val="FFFFFF"/>
          </a:solidFill>
          <a:ln w="12700">
            <a:solidFill>
              <a:srgbClr val="FFFFFF"/>
            </a:solidFill>
            <a:prstDash val="solid"/>
          </a:ln>
        </p:spPr>
      </p:sp>
      <p:sp>
        <p:nvSpPr>
          <p:cNvPr id="10" name="Text 8"/>
          <p:cNvSpPr/>
          <p:nvPr/>
        </p:nvSpPr>
        <p:spPr>
          <a:xfrm>
            <a:off x="6629400" y="1554480"/>
            <a:ext cx="4617720" cy="274320"/>
          </a:xfrm>
          <a:prstGeom prst="rect">
            <a:avLst/>
          </a:prstGeom>
          <a:noFill/>
          <a:ln/>
        </p:spPr>
        <p:txBody>
          <a:bodyPr wrap="square" lIns="0" tIns="0" rIns="0" bIns="0" rtlCol="0" anchor="ctr"/>
          <a:lstStyle/>
          <a:p>
            <a:pPr indent="0" marL="0">
              <a:buNone/>
            </a:pPr>
            <a:r>
              <a:rPr lang="en-US" sz="1350" b="1" dirty="0">
                <a:solidFill>
                  <a:srgbClr val="141922"/>
                </a:solidFill>
                <a:latin typeface="Calibri" pitchFamily="34" charset="0"/>
                <a:ea typeface="Calibri" pitchFamily="34" charset="-122"/>
                <a:cs typeface="Calibri" pitchFamily="34" charset="-120"/>
              </a:rPr>
              <a:t>Submission status</a:t>
            </a:r>
            <a:endParaRPr lang="en-US" sz="1350" dirty="0"/>
          </a:p>
        </p:txBody>
      </p:sp>
      <p:sp>
        <p:nvSpPr>
          <p:cNvPr id="11" name="Text 9"/>
          <p:cNvSpPr/>
          <p:nvPr/>
        </p:nvSpPr>
        <p:spPr>
          <a:xfrm>
            <a:off x="6629400" y="1938528"/>
            <a:ext cx="3017520" cy="256032"/>
          </a:xfrm>
          <a:prstGeom prst="rect">
            <a:avLst/>
          </a:prstGeom>
          <a:noFill/>
          <a:ln/>
        </p:spPr>
        <p:txBody>
          <a:bodyPr wrap="square" lIns="0" tIns="0" rIns="0" bIns="0" rtlCol="0" anchor="ctr"/>
          <a:lstStyle/>
          <a:p>
            <a:pPr indent="0" marL="0">
              <a:buNone/>
            </a:pPr>
            <a:r>
              <a:rPr lang="en-US" sz="1150" dirty="0">
                <a:solidFill>
                  <a:srgbClr val="5A6478"/>
                </a:solidFill>
                <a:latin typeface="Calibri" pitchFamily="34" charset="0"/>
                <a:ea typeface="Calibri" pitchFamily="34" charset="-122"/>
                <a:cs typeface="Calibri" pitchFamily="34" charset="-120"/>
              </a:rPr>
              <a:t>Working system, demoed live</a:t>
            </a:r>
            <a:endParaRPr lang="en-US" sz="1150" dirty="0"/>
          </a:p>
        </p:txBody>
      </p:sp>
      <p:sp>
        <p:nvSpPr>
          <p:cNvPr id="12" name="Text 10"/>
          <p:cNvSpPr/>
          <p:nvPr/>
        </p:nvSpPr>
        <p:spPr>
          <a:xfrm>
            <a:off x="9692640" y="1938528"/>
            <a:ext cx="1920240" cy="256032"/>
          </a:xfrm>
          <a:prstGeom prst="rect">
            <a:avLst/>
          </a:prstGeom>
          <a:noFill/>
          <a:ln/>
        </p:spPr>
        <p:txBody>
          <a:bodyPr wrap="square" lIns="0" tIns="0" rIns="0" bIns="0" rtlCol="0" anchor="ctr"/>
          <a:lstStyle/>
          <a:p>
            <a:pPr indent="0" marL="0">
              <a:buNone/>
            </a:pPr>
            <a:r>
              <a:rPr lang="en-US" sz="1150" b="1" dirty="0">
                <a:solidFill>
                  <a:srgbClr val="15704F"/>
                </a:solidFill>
                <a:latin typeface="Calibri" pitchFamily="34" charset="0"/>
                <a:ea typeface="Calibri" pitchFamily="34" charset="-122"/>
                <a:cs typeface="Calibri" pitchFamily="34" charset="-120"/>
              </a:rPr>
              <a:t>Ready</a:t>
            </a:r>
            <a:endParaRPr lang="en-US" sz="1150" dirty="0"/>
          </a:p>
        </p:txBody>
      </p:sp>
      <p:sp>
        <p:nvSpPr>
          <p:cNvPr id="13" name="Text 11"/>
          <p:cNvSpPr/>
          <p:nvPr/>
        </p:nvSpPr>
        <p:spPr>
          <a:xfrm>
            <a:off x="6629400" y="2240280"/>
            <a:ext cx="3017520" cy="256032"/>
          </a:xfrm>
          <a:prstGeom prst="rect">
            <a:avLst/>
          </a:prstGeom>
          <a:noFill/>
          <a:ln/>
        </p:spPr>
        <p:txBody>
          <a:bodyPr wrap="square" lIns="0" tIns="0" rIns="0" bIns="0" rtlCol="0" anchor="ctr"/>
          <a:lstStyle/>
          <a:p>
            <a:pPr indent="0" marL="0">
              <a:buNone/>
            </a:pPr>
            <a:r>
              <a:rPr lang="en-US" sz="1150" dirty="0">
                <a:solidFill>
                  <a:srgbClr val="5A6478"/>
                </a:solidFill>
                <a:latin typeface="Calibri" pitchFamily="34" charset="0"/>
                <a:ea typeface="Calibri" pitchFamily="34" charset="-122"/>
                <a:cs typeface="Calibri" pitchFamily="34" charset="-120"/>
              </a:rPr>
              <a:t>Code repository, documented</a:t>
            </a:r>
            <a:endParaRPr lang="en-US" sz="1150" dirty="0"/>
          </a:p>
        </p:txBody>
      </p:sp>
      <p:sp>
        <p:nvSpPr>
          <p:cNvPr id="14" name="Text 12"/>
          <p:cNvSpPr/>
          <p:nvPr/>
        </p:nvSpPr>
        <p:spPr>
          <a:xfrm>
            <a:off x="9692640" y="2240280"/>
            <a:ext cx="1920240" cy="256032"/>
          </a:xfrm>
          <a:prstGeom prst="rect">
            <a:avLst/>
          </a:prstGeom>
          <a:noFill/>
          <a:ln/>
        </p:spPr>
        <p:txBody>
          <a:bodyPr wrap="square" lIns="0" tIns="0" rIns="0" bIns="0" rtlCol="0" anchor="ctr"/>
          <a:lstStyle/>
          <a:p>
            <a:pPr indent="0" marL="0">
              <a:buNone/>
            </a:pPr>
            <a:r>
              <a:rPr lang="en-US" sz="1150" b="1" dirty="0">
                <a:solidFill>
                  <a:srgbClr val="15704F"/>
                </a:solidFill>
                <a:latin typeface="Calibri" pitchFamily="34" charset="0"/>
                <a:ea typeface="Calibri" pitchFamily="34" charset="-122"/>
                <a:cs typeface="Calibri" pitchFamily="34" charset="-120"/>
              </a:rPr>
              <a:t>Ready</a:t>
            </a:r>
            <a:endParaRPr lang="en-US" sz="1150" dirty="0"/>
          </a:p>
        </p:txBody>
      </p:sp>
      <p:sp>
        <p:nvSpPr>
          <p:cNvPr id="15" name="Text 13"/>
          <p:cNvSpPr/>
          <p:nvPr/>
        </p:nvSpPr>
        <p:spPr>
          <a:xfrm>
            <a:off x="6629400" y="2542032"/>
            <a:ext cx="3017520" cy="256032"/>
          </a:xfrm>
          <a:prstGeom prst="rect">
            <a:avLst/>
          </a:prstGeom>
          <a:noFill/>
          <a:ln/>
        </p:spPr>
        <p:txBody>
          <a:bodyPr wrap="square" lIns="0" tIns="0" rIns="0" bIns="0" rtlCol="0" anchor="ctr"/>
          <a:lstStyle/>
          <a:p>
            <a:pPr indent="0" marL="0">
              <a:buNone/>
            </a:pPr>
            <a:r>
              <a:rPr lang="en-US" sz="1150" dirty="0">
                <a:solidFill>
                  <a:srgbClr val="5A6478"/>
                </a:solidFill>
                <a:latin typeface="Calibri" pitchFamily="34" charset="0"/>
                <a:ea typeface="Calibri" pitchFamily="34" charset="-122"/>
                <a:cs typeface="Calibri" pitchFamily="34" charset="-120"/>
              </a:rPr>
              <a:t>Results and ablation</a:t>
            </a:r>
            <a:endParaRPr lang="en-US" sz="1150" dirty="0"/>
          </a:p>
        </p:txBody>
      </p:sp>
      <p:sp>
        <p:nvSpPr>
          <p:cNvPr id="16" name="Text 14"/>
          <p:cNvSpPr/>
          <p:nvPr/>
        </p:nvSpPr>
        <p:spPr>
          <a:xfrm>
            <a:off x="9692640" y="2542032"/>
            <a:ext cx="1920240" cy="256032"/>
          </a:xfrm>
          <a:prstGeom prst="rect">
            <a:avLst/>
          </a:prstGeom>
          <a:noFill/>
          <a:ln/>
        </p:spPr>
        <p:txBody>
          <a:bodyPr wrap="square" lIns="0" tIns="0" rIns="0" bIns="0" rtlCol="0" anchor="ctr"/>
          <a:lstStyle/>
          <a:p>
            <a:pPr indent="0" marL="0">
              <a:buNone/>
            </a:pPr>
            <a:r>
              <a:rPr lang="en-US" sz="1150" b="1" dirty="0">
                <a:solidFill>
                  <a:srgbClr val="15704F"/>
                </a:solidFill>
                <a:latin typeface="Calibri" pitchFamily="34" charset="0"/>
                <a:ea typeface="Calibri" pitchFamily="34" charset="-122"/>
                <a:cs typeface="Calibri" pitchFamily="34" charset="-120"/>
              </a:rPr>
              <a:t>Ready</a:t>
            </a:r>
            <a:endParaRPr lang="en-US" sz="1150" dirty="0"/>
          </a:p>
        </p:txBody>
      </p:sp>
      <p:sp>
        <p:nvSpPr>
          <p:cNvPr id="17" name="Text 15"/>
          <p:cNvSpPr/>
          <p:nvPr/>
        </p:nvSpPr>
        <p:spPr>
          <a:xfrm>
            <a:off x="6629400" y="2843784"/>
            <a:ext cx="3017520" cy="256032"/>
          </a:xfrm>
          <a:prstGeom prst="rect">
            <a:avLst/>
          </a:prstGeom>
          <a:noFill/>
          <a:ln/>
        </p:spPr>
        <p:txBody>
          <a:bodyPr wrap="square" lIns="0" tIns="0" rIns="0" bIns="0" rtlCol="0" anchor="ctr"/>
          <a:lstStyle/>
          <a:p>
            <a:pPr indent="0" marL="0">
              <a:buNone/>
            </a:pPr>
            <a:r>
              <a:rPr lang="en-US" sz="1150" dirty="0">
                <a:solidFill>
                  <a:srgbClr val="5A6478"/>
                </a:solidFill>
                <a:latin typeface="Calibri" pitchFamily="34" charset="0"/>
                <a:ea typeface="Calibri" pitchFamily="34" charset="-122"/>
                <a:cs typeface="Calibri" pitchFamily="34" charset="-120"/>
              </a:rPr>
              <a:t>Project report</a:t>
            </a:r>
            <a:endParaRPr lang="en-US" sz="1150" dirty="0"/>
          </a:p>
        </p:txBody>
      </p:sp>
      <p:sp>
        <p:nvSpPr>
          <p:cNvPr id="18" name="Text 16"/>
          <p:cNvSpPr/>
          <p:nvPr/>
        </p:nvSpPr>
        <p:spPr>
          <a:xfrm>
            <a:off x="9692640" y="2843784"/>
            <a:ext cx="1920240" cy="256032"/>
          </a:xfrm>
          <a:prstGeom prst="rect">
            <a:avLst/>
          </a:prstGeom>
          <a:noFill/>
          <a:ln/>
        </p:spPr>
        <p:txBody>
          <a:bodyPr wrap="square" lIns="0" tIns="0" rIns="0" bIns="0" rtlCol="0" anchor="ctr"/>
          <a:lstStyle/>
          <a:p>
            <a:pPr indent="0" marL="0">
              <a:buNone/>
            </a:pPr>
            <a:r>
              <a:rPr lang="en-US" sz="1150" b="1" dirty="0">
                <a:solidFill>
                  <a:srgbClr val="9B6B00"/>
                </a:solidFill>
                <a:latin typeface="Calibri" pitchFamily="34" charset="0"/>
                <a:ea typeface="Calibri" pitchFamily="34" charset="-122"/>
                <a:cs typeface="Calibri" pitchFamily="34" charset="-120"/>
              </a:rPr>
              <a:t>Draft - PROJECT_REPORT</a:t>
            </a:r>
            <a:endParaRPr lang="en-US" sz="1150" dirty="0"/>
          </a:p>
        </p:txBody>
      </p:sp>
      <p:sp>
        <p:nvSpPr>
          <p:cNvPr id="19" name="Text 17"/>
          <p:cNvSpPr/>
          <p:nvPr/>
        </p:nvSpPr>
        <p:spPr>
          <a:xfrm>
            <a:off x="6629400" y="3145536"/>
            <a:ext cx="3017520" cy="256032"/>
          </a:xfrm>
          <a:prstGeom prst="rect">
            <a:avLst/>
          </a:prstGeom>
          <a:noFill/>
          <a:ln/>
        </p:spPr>
        <p:txBody>
          <a:bodyPr wrap="square" lIns="0" tIns="0" rIns="0" bIns="0" rtlCol="0" anchor="ctr"/>
          <a:lstStyle/>
          <a:p>
            <a:pPr indent="0" marL="0">
              <a:buNone/>
            </a:pPr>
            <a:r>
              <a:rPr lang="en-US" sz="1150" dirty="0">
                <a:solidFill>
                  <a:srgbClr val="5A6478"/>
                </a:solidFill>
                <a:latin typeface="Calibri" pitchFamily="34" charset="0"/>
                <a:ea typeface="Calibri" pitchFamily="34" charset="-122"/>
                <a:cs typeface="Calibri" pitchFamily="34" charset="-120"/>
              </a:rPr>
              <a:t>Literature survey</a:t>
            </a:r>
            <a:endParaRPr lang="en-US" sz="1150" dirty="0"/>
          </a:p>
        </p:txBody>
      </p:sp>
      <p:sp>
        <p:nvSpPr>
          <p:cNvPr id="20" name="Text 18"/>
          <p:cNvSpPr/>
          <p:nvPr/>
        </p:nvSpPr>
        <p:spPr>
          <a:xfrm>
            <a:off x="9692640" y="3145536"/>
            <a:ext cx="1920240" cy="256032"/>
          </a:xfrm>
          <a:prstGeom prst="rect">
            <a:avLst/>
          </a:prstGeom>
          <a:noFill/>
          <a:ln/>
        </p:spPr>
        <p:txBody>
          <a:bodyPr wrap="square" lIns="0" tIns="0" rIns="0" bIns="0" rtlCol="0" anchor="ctr"/>
          <a:lstStyle/>
          <a:p>
            <a:pPr indent="0" marL="0">
              <a:buNone/>
            </a:pPr>
            <a:r>
              <a:rPr lang="en-US" sz="1150" b="1" dirty="0">
                <a:solidFill>
                  <a:srgbClr val="15704F"/>
                </a:solidFill>
                <a:latin typeface="Calibri" pitchFamily="34" charset="0"/>
                <a:ea typeface="Calibri" pitchFamily="34" charset="-122"/>
                <a:cs typeface="Calibri" pitchFamily="34" charset="-120"/>
              </a:rPr>
              <a:t>17 works surveyed</a:t>
            </a:r>
            <a:endParaRPr lang="en-US" sz="1150" dirty="0"/>
          </a:p>
        </p:txBody>
      </p:sp>
      <p:sp>
        <p:nvSpPr>
          <p:cNvPr id="21" name="Text 19"/>
          <p:cNvSpPr/>
          <p:nvPr/>
        </p:nvSpPr>
        <p:spPr>
          <a:xfrm>
            <a:off x="6629400" y="3447288"/>
            <a:ext cx="3017520" cy="256032"/>
          </a:xfrm>
          <a:prstGeom prst="rect">
            <a:avLst/>
          </a:prstGeom>
          <a:noFill/>
          <a:ln/>
        </p:spPr>
        <p:txBody>
          <a:bodyPr wrap="square" lIns="0" tIns="0" rIns="0" bIns="0" rtlCol="0" anchor="ctr"/>
          <a:lstStyle/>
          <a:p>
            <a:pPr indent="0" marL="0">
              <a:buNone/>
            </a:pPr>
            <a:r>
              <a:rPr lang="en-US" sz="1150" dirty="0">
                <a:solidFill>
                  <a:srgbClr val="5A6478"/>
                </a:solidFill>
                <a:latin typeface="Calibri" pitchFamily="34" charset="0"/>
                <a:ea typeface="Calibri" pitchFamily="34" charset="-122"/>
                <a:cs typeface="Calibri" pitchFamily="34" charset="-120"/>
              </a:rPr>
              <a:t>Plagiarism report</a:t>
            </a:r>
            <a:endParaRPr lang="en-US" sz="1150" dirty="0"/>
          </a:p>
        </p:txBody>
      </p:sp>
      <p:sp>
        <p:nvSpPr>
          <p:cNvPr id="22" name="Text 20"/>
          <p:cNvSpPr/>
          <p:nvPr/>
        </p:nvSpPr>
        <p:spPr>
          <a:xfrm>
            <a:off x="9692640" y="3447288"/>
            <a:ext cx="1920240" cy="256032"/>
          </a:xfrm>
          <a:prstGeom prst="rect">
            <a:avLst/>
          </a:prstGeom>
          <a:noFill/>
          <a:ln/>
        </p:spPr>
        <p:txBody>
          <a:bodyPr wrap="square" lIns="0" tIns="0" rIns="0" bIns="0" rtlCol="0" anchor="ctr"/>
          <a:lstStyle/>
          <a:p>
            <a:pPr indent="0" marL="0">
              <a:buNone/>
            </a:pPr>
            <a:r>
              <a:rPr lang="en-US" sz="1150" b="1" dirty="0">
                <a:solidFill>
                  <a:srgbClr val="9B2C3A"/>
                </a:solidFill>
                <a:latin typeface="Calibri" pitchFamily="34" charset="0"/>
                <a:ea typeface="Calibri" pitchFamily="34" charset="-122"/>
                <a:cs typeface="Calibri" pitchFamily="34" charset="-120"/>
              </a:rPr>
              <a:t>Outstanding</a:t>
            </a:r>
            <a:endParaRPr lang="en-US" sz="1150" dirty="0"/>
          </a:p>
        </p:txBody>
      </p:sp>
      <p:sp>
        <p:nvSpPr>
          <p:cNvPr id="23" name="Text 21"/>
          <p:cNvSpPr/>
          <p:nvPr/>
        </p:nvSpPr>
        <p:spPr>
          <a:xfrm>
            <a:off x="6629400" y="3749040"/>
            <a:ext cx="3017520" cy="256032"/>
          </a:xfrm>
          <a:prstGeom prst="rect">
            <a:avLst/>
          </a:prstGeom>
          <a:noFill/>
          <a:ln/>
        </p:spPr>
        <p:txBody>
          <a:bodyPr wrap="square" lIns="0" tIns="0" rIns="0" bIns="0" rtlCol="0" anchor="ctr"/>
          <a:lstStyle/>
          <a:p>
            <a:pPr indent="0" marL="0">
              <a:buNone/>
            </a:pPr>
            <a:r>
              <a:rPr lang="en-US" sz="1150" dirty="0">
                <a:solidFill>
                  <a:srgbClr val="5A6478"/>
                </a:solidFill>
                <a:latin typeface="Calibri" pitchFamily="34" charset="0"/>
                <a:ea typeface="Calibri" pitchFamily="34" charset="-122"/>
                <a:cs typeface="Calibri" pitchFamily="34" charset="-120"/>
              </a:rPr>
              <a:t>Paper submission</a:t>
            </a:r>
            <a:endParaRPr lang="en-US" sz="1150" dirty="0"/>
          </a:p>
        </p:txBody>
      </p:sp>
      <p:sp>
        <p:nvSpPr>
          <p:cNvPr id="24" name="Text 22"/>
          <p:cNvSpPr/>
          <p:nvPr/>
        </p:nvSpPr>
        <p:spPr>
          <a:xfrm>
            <a:off x="9692640" y="3749040"/>
            <a:ext cx="1920240" cy="256032"/>
          </a:xfrm>
          <a:prstGeom prst="rect">
            <a:avLst/>
          </a:prstGeom>
          <a:noFill/>
          <a:ln/>
        </p:spPr>
        <p:txBody>
          <a:bodyPr wrap="square" lIns="0" tIns="0" rIns="0" bIns="0" rtlCol="0" anchor="ctr"/>
          <a:lstStyle/>
          <a:p>
            <a:pPr indent="0" marL="0">
              <a:buNone/>
            </a:pPr>
            <a:r>
              <a:rPr lang="en-US" sz="1150" b="1" dirty="0">
                <a:solidFill>
                  <a:srgbClr val="9B2C3A"/>
                </a:solidFill>
                <a:latin typeface="Calibri" pitchFamily="34" charset="0"/>
                <a:ea typeface="Calibri" pitchFamily="34" charset="-122"/>
                <a:cs typeface="Calibri" pitchFamily="34" charset="-120"/>
              </a:rPr>
              <a:t>Outstanding</a:t>
            </a:r>
            <a:endParaRPr lang="en-US" sz="1150" dirty="0"/>
          </a:p>
        </p:txBody>
      </p:sp>
      <p:sp>
        <p:nvSpPr>
          <p:cNvPr id="25" name="Shape 23"/>
          <p:cNvSpPr/>
          <p:nvPr/>
        </p:nvSpPr>
        <p:spPr>
          <a:xfrm>
            <a:off x="640080" y="4343400"/>
            <a:ext cx="10881360" cy="960120"/>
          </a:xfrm>
          <a:prstGeom prst="roundRect">
            <a:avLst>
              <a:gd name="adj" fmla="val 6667"/>
            </a:avLst>
          </a:prstGeom>
          <a:solidFill>
            <a:srgbClr val="FFF4D6"/>
          </a:solidFill>
          <a:ln w="12700">
            <a:solidFill>
              <a:srgbClr val="FFF4D6"/>
            </a:solidFill>
            <a:prstDash val="solid"/>
          </a:ln>
        </p:spPr>
      </p:sp>
      <p:sp>
        <p:nvSpPr>
          <p:cNvPr id="26" name="Text 24"/>
          <p:cNvSpPr/>
          <p:nvPr/>
        </p:nvSpPr>
        <p:spPr>
          <a:xfrm>
            <a:off x="960120" y="4572000"/>
            <a:ext cx="10241280" cy="548640"/>
          </a:xfrm>
          <a:prstGeom prst="rect">
            <a:avLst/>
          </a:prstGeom>
          <a:noFill/>
          <a:ln/>
        </p:spPr>
        <p:txBody>
          <a:bodyPr wrap="square" lIns="0" tIns="0" rIns="0" bIns="0" rtlCol="0" anchor="ctr"/>
          <a:lstStyle/>
          <a:p>
            <a:pPr indent="0" marL="0">
              <a:buNone/>
            </a:pPr>
            <a:r>
              <a:rPr lang="en-US" sz="1200" b="1" dirty="0">
                <a:solidFill>
                  <a:srgbClr val="7A5A00"/>
                </a:solidFill>
                <a:latin typeface="Calibri" pitchFamily="34" charset="0"/>
                <a:ea typeface="Calibri" pitchFamily="34" charset="-122"/>
                <a:cs typeface="Calibri" pitchFamily="34" charset="-120"/>
              </a:rPr>
              <a:t>Three checklist items are genuinely outstanding and are listed here rather than glossed: the literature survey, the plagiarism report, and a paper submission. Timeline for each is on the next slide.</a:t>
            </a:r>
            <a:endParaRPr lang="en-US" sz="1200" dirty="0"/>
          </a:p>
        </p:txBody>
      </p:sp>
      <p:sp>
        <p:nvSpPr>
          <p:cNvPr id="27" name="Text 25"/>
          <p:cNvSpPr/>
          <p:nvPr/>
        </p:nvSpPr>
        <p:spPr>
          <a:xfrm>
            <a:off x="640080" y="5532120"/>
            <a:ext cx="10881360" cy="502920"/>
          </a:xfrm>
          <a:prstGeom prst="rect">
            <a:avLst/>
          </a:prstGeom>
          <a:noFill/>
          <a:ln/>
        </p:spPr>
        <p:txBody>
          <a:bodyPr wrap="square" lIns="0" tIns="0" rIns="0" bIns="0" rtlCol="0" anchor="ctr"/>
          <a:lstStyle/>
          <a:p>
            <a:pPr indent="0" marL="0">
              <a:buNone/>
            </a:pPr>
            <a:r>
              <a:rPr lang="en-US" sz="1200" dirty="0">
                <a:solidFill>
                  <a:srgbClr val="5A6478"/>
                </a:solidFill>
                <a:latin typeface="Calibri" pitchFamily="34" charset="0"/>
                <a:ea typeface="Calibri" pitchFamily="34" charset="-122"/>
                <a:cs typeface="Calibri" pitchFamily="34" charset="-120"/>
              </a:rPr>
              <a:t>Ethical position: all evaluation runs locally with no data sent to third-party APIs. Datasets are public or synthetic. No PII is stored; payload capture is opt-in and off by default.</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E1117"/>
        </a:solidFill>
      </p:bgPr>
    </p:bg>
    <p:spTree>
      <p:nvGrpSpPr>
        <p:cNvPr id="1" name=""/>
        <p:cNvGrpSpPr/>
        <p:nvPr/>
      </p:nvGrpSpPr>
      <p:grpSpPr>
        <a:xfrm>
          <a:off x="0" y="0"/>
          <a:ext cx="0" cy="0"/>
          <a:chOff x="0" y="0"/>
          <a:chExt cx="0" cy="0"/>
        </a:xfrm>
      </p:grpSpPr>
      <p:sp>
        <p:nvSpPr>
          <p:cNvPr id="2" name="Text 0"/>
          <p:cNvSpPr/>
          <p:nvPr/>
        </p:nvSpPr>
        <p:spPr>
          <a:xfrm>
            <a:off x="640080" y="365760"/>
            <a:ext cx="9144000" cy="237744"/>
          </a:xfrm>
          <a:prstGeom prst="rect">
            <a:avLst/>
          </a:prstGeom>
          <a:noFill/>
          <a:ln/>
        </p:spPr>
        <p:txBody>
          <a:bodyPr wrap="square" lIns="0" tIns="0" rIns="0" bIns="0" rtlCol="0" anchor="ctr"/>
          <a:lstStyle/>
          <a:p>
            <a:pPr indent="0" marL="0">
              <a:buNone/>
            </a:pPr>
            <a:r>
              <a:rPr lang="en-US" sz="1050" b="1" spc="200" kern="0" dirty="0">
                <a:solidFill>
                  <a:srgbClr val="22D3EE"/>
                </a:solidFill>
                <a:latin typeface="Calibri" pitchFamily="34" charset="0"/>
                <a:ea typeface="Calibri" pitchFamily="34" charset="-122"/>
                <a:cs typeface="Calibri" pitchFamily="34" charset="-120"/>
              </a:rPr>
              <a:t>FUTURE WORK</a:t>
            </a:r>
            <a:endParaRPr lang="en-US" sz="1050" dirty="0"/>
          </a:p>
        </p:txBody>
      </p:sp>
      <p:sp>
        <p:nvSpPr>
          <p:cNvPr id="3" name="Text 1"/>
          <p:cNvSpPr/>
          <p:nvPr/>
        </p:nvSpPr>
        <p:spPr>
          <a:xfrm>
            <a:off x="640080" y="621792"/>
            <a:ext cx="10881360" cy="640080"/>
          </a:xfrm>
          <a:prstGeom prst="rect">
            <a:avLst/>
          </a:prstGeom>
          <a:noFill/>
          <a:ln/>
        </p:spPr>
        <p:txBody>
          <a:bodyPr wrap="square" lIns="0" tIns="0" rIns="0" bIns="0" rtlCol="0" anchor="ctr"/>
          <a:lstStyle/>
          <a:p>
            <a:pPr indent="0" marL="0">
              <a:buNone/>
            </a:pPr>
            <a:r>
              <a:rPr lang="en-US" sz="3100" b="1" dirty="0">
                <a:solidFill>
                  <a:srgbClr val="E8ECF5"/>
                </a:solidFill>
                <a:latin typeface="Cambria" pitchFamily="34" charset="0"/>
                <a:ea typeface="Cambria" pitchFamily="34" charset="-122"/>
                <a:cs typeface="Cambria" pitchFamily="34" charset="-120"/>
              </a:rPr>
              <a:t>Genuine next steps, in priority order</a:t>
            </a:r>
            <a:endParaRPr lang="en-US" sz="3100" dirty="0"/>
          </a:p>
        </p:txBody>
      </p:sp>
      <p:sp>
        <p:nvSpPr>
          <p:cNvPr id="4" name="Shape 2"/>
          <p:cNvSpPr/>
          <p:nvPr/>
        </p:nvSpPr>
        <p:spPr>
          <a:xfrm>
            <a:off x="640080" y="1371600"/>
            <a:ext cx="10881360" cy="914400"/>
          </a:xfrm>
          <a:prstGeom prst="roundRect">
            <a:avLst>
              <a:gd name="adj" fmla="val 7000"/>
            </a:avLst>
          </a:prstGeom>
          <a:solidFill>
            <a:srgbClr val="222937"/>
          </a:solidFill>
          <a:ln w="12700">
            <a:solidFill>
              <a:srgbClr val="222937"/>
            </a:solidFill>
            <a:prstDash val="solid"/>
          </a:ln>
        </p:spPr>
      </p:sp>
      <p:sp>
        <p:nvSpPr>
          <p:cNvPr id="5" name="Text 3"/>
          <p:cNvSpPr/>
          <p:nvPr/>
        </p:nvSpPr>
        <p:spPr>
          <a:xfrm>
            <a:off x="960120" y="1609344"/>
            <a:ext cx="457200" cy="365760"/>
          </a:xfrm>
          <a:prstGeom prst="rect">
            <a:avLst/>
          </a:prstGeom>
          <a:noFill/>
          <a:ln/>
        </p:spPr>
        <p:txBody>
          <a:bodyPr wrap="square" lIns="0" tIns="0" rIns="0" bIns="0" rtlCol="0" anchor="ctr"/>
          <a:lstStyle/>
          <a:p>
            <a:pPr indent="0" marL="0">
              <a:buNone/>
            </a:pPr>
            <a:r>
              <a:rPr lang="en-US" sz="1800" b="1" dirty="0">
                <a:solidFill>
                  <a:srgbClr val="22D3EE"/>
                </a:solidFill>
                <a:latin typeface="Cambria" pitchFamily="34" charset="0"/>
                <a:ea typeface="Cambria" pitchFamily="34" charset="-122"/>
                <a:cs typeface="Cambria" pitchFamily="34" charset="-120"/>
              </a:rPr>
              <a:t>1</a:t>
            </a:r>
            <a:endParaRPr lang="en-US" sz="1800" dirty="0"/>
          </a:p>
        </p:txBody>
      </p:sp>
      <p:sp>
        <p:nvSpPr>
          <p:cNvPr id="6" name="Text 4"/>
          <p:cNvSpPr/>
          <p:nvPr/>
        </p:nvSpPr>
        <p:spPr>
          <a:xfrm>
            <a:off x="1508760" y="1517904"/>
            <a:ext cx="7589520" cy="274320"/>
          </a:xfrm>
          <a:prstGeom prst="rect">
            <a:avLst/>
          </a:prstGeom>
          <a:noFill/>
          <a:ln/>
        </p:spPr>
        <p:txBody>
          <a:bodyPr wrap="square" lIns="0" tIns="0" rIns="0" bIns="0" rtlCol="0" anchor="ctr"/>
          <a:lstStyle/>
          <a:p>
            <a:pPr indent="0" marL="0">
              <a:buNone/>
            </a:pPr>
            <a:r>
              <a:rPr lang="en-US" sz="1300" b="1" dirty="0">
                <a:solidFill>
                  <a:srgbClr val="E8ECF5"/>
                </a:solidFill>
                <a:latin typeface="Calibri" pitchFamily="34" charset="0"/>
                <a:ea typeface="Calibri" pitchFamily="34" charset="-122"/>
                <a:cs typeface="Calibri" pitchFamily="34" charset="-120"/>
              </a:rPr>
              <a:t>Close the outstanding deliverables</a:t>
            </a:r>
            <a:endParaRPr lang="en-US" sz="1300" dirty="0"/>
          </a:p>
        </p:txBody>
      </p:sp>
      <p:sp>
        <p:nvSpPr>
          <p:cNvPr id="7" name="Text 5"/>
          <p:cNvSpPr/>
          <p:nvPr/>
        </p:nvSpPr>
        <p:spPr>
          <a:xfrm>
            <a:off x="1508760" y="1810512"/>
            <a:ext cx="8412480" cy="384048"/>
          </a:xfrm>
          <a:prstGeom prst="rect">
            <a:avLst/>
          </a:prstGeom>
          <a:noFill/>
          <a:ln/>
        </p:spPr>
        <p:txBody>
          <a:bodyPr wrap="square" lIns="0" tIns="0" rIns="0" bIns="0" rtlCol="0" anchor="ctr"/>
          <a:lstStyle/>
          <a:p>
            <a:pPr indent="0" marL="0">
              <a:buNone/>
            </a:pPr>
            <a:r>
              <a:rPr lang="en-US" sz="1100" dirty="0">
                <a:solidFill>
                  <a:srgbClr val="9AA4BD"/>
                </a:solidFill>
                <a:latin typeface="Calibri" pitchFamily="34" charset="0"/>
                <a:ea typeface="Calibri" pitchFamily="34" charset="-122"/>
                <a:cs typeface="Calibri" pitchFamily="34" charset="-120"/>
              </a:rPr>
              <a:t>Literature survey of 15-20 papers, plagiarism report, and a paper draft targeting an applied-ML or software-engineering venue.</a:t>
            </a:r>
            <a:endParaRPr lang="en-US" sz="1100" dirty="0"/>
          </a:p>
        </p:txBody>
      </p:sp>
      <p:sp>
        <p:nvSpPr>
          <p:cNvPr id="8" name="Text 6"/>
          <p:cNvSpPr/>
          <p:nvPr/>
        </p:nvSpPr>
        <p:spPr>
          <a:xfrm>
            <a:off x="10104120" y="1664208"/>
            <a:ext cx="1188720" cy="274320"/>
          </a:xfrm>
          <a:prstGeom prst="rect">
            <a:avLst/>
          </a:prstGeom>
          <a:noFill/>
          <a:ln/>
        </p:spPr>
        <p:txBody>
          <a:bodyPr wrap="square" lIns="0" tIns="0" rIns="0" bIns="0" rtlCol="0" anchor="ctr"/>
          <a:lstStyle/>
          <a:p>
            <a:pPr algn="r" indent="0" marL="0">
              <a:buNone/>
            </a:pPr>
            <a:r>
              <a:rPr lang="en-US" sz="1100" b="1" dirty="0">
                <a:solidFill>
                  <a:srgbClr val="34D399"/>
                </a:solidFill>
                <a:latin typeface="Calibri" pitchFamily="34" charset="0"/>
                <a:ea typeface="Calibri" pitchFamily="34" charset="-122"/>
                <a:cs typeface="Calibri" pitchFamily="34" charset="-120"/>
              </a:rPr>
              <a:t>Immediate</a:t>
            </a:r>
            <a:endParaRPr lang="en-US" sz="1100" dirty="0"/>
          </a:p>
        </p:txBody>
      </p:sp>
      <p:sp>
        <p:nvSpPr>
          <p:cNvPr id="9" name="Shape 7"/>
          <p:cNvSpPr/>
          <p:nvPr/>
        </p:nvSpPr>
        <p:spPr>
          <a:xfrm>
            <a:off x="640080" y="2377440"/>
            <a:ext cx="10881360" cy="914400"/>
          </a:xfrm>
          <a:prstGeom prst="roundRect">
            <a:avLst>
              <a:gd name="adj" fmla="val 7000"/>
            </a:avLst>
          </a:prstGeom>
          <a:solidFill>
            <a:srgbClr val="222937"/>
          </a:solidFill>
          <a:ln w="12700">
            <a:solidFill>
              <a:srgbClr val="222937"/>
            </a:solidFill>
            <a:prstDash val="solid"/>
          </a:ln>
        </p:spPr>
      </p:sp>
      <p:sp>
        <p:nvSpPr>
          <p:cNvPr id="10" name="Text 8"/>
          <p:cNvSpPr/>
          <p:nvPr/>
        </p:nvSpPr>
        <p:spPr>
          <a:xfrm>
            <a:off x="960120" y="2615184"/>
            <a:ext cx="457200" cy="365760"/>
          </a:xfrm>
          <a:prstGeom prst="rect">
            <a:avLst/>
          </a:prstGeom>
          <a:noFill/>
          <a:ln/>
        </p:spPr>
        <p:txBody>
          <a:bodyPr wrap="square" lIns="0" tIns="0" rIns="0" bIns="0" rtlCol="0" anchor="ctr"/>
          <a:lstStyle/>
          <a:p>
            <a:pPr indent="0" marL="0">
              <a:buNone/>
            </a:pPr>
            <a:r>
              <a:rPr lang="en-US" sz="1800" b="1" dirty="0">
                <a:solidFill>
                  <a:srgbClr val="22D3EE"/>
                </a:solidFill>
                <a:latin typeface="Cambria" pitchFamily="34" charset="0"/>
                <a:ea typeface="Cambria" pitchFamily="34" charset="-122"/>
                <a:cs typeface="Cambria" pitchFamily="34" charset="-120"/>
              </a:rPr>
              <a:t>2</a:t>
            </a:r>
            <a:endParaRPr lang="en-US" sz="1800" dirty="0"/>
          </a:p>
        </p:txBody>
      </p:sp>
      <p:sp>
        <p:nvSpPr>
          <p:cNvPr id="11" name="Text 9"/>
          <p:cNvSpPr/>
          <p:nvPr/>
        </p:nvSpPr>
        <p:spPr>
          <a:xfrm>
            <a:off x="1508760" y="2523744"/>
            <a:ext cx="7589520" cy="274320"/>
          </a:xfrm>
          <a:prstGeom prst="rect">
            <a:avLst/>
          </a:prstGeom>
          <a:noFill/>
          <a:ln/>
        </p:spPr>
        <p:txBody>
          <a:bodyPr wrap="square" lIns="0" tIns="0" rIns="0" bIns="0" rtlCol="0" anchor="ctr"/>
          <a:lstStyle/>
          <a:p>
            <a:pPr indent="0" marL="0">
              <a:buNone/>
            </a:pPr>
            <a:r>
              <a:rPr lang="en-US" sz="1300" b="1" dirty="0">
                <a:solidFill>
                  <a:srgbClr val="E8ECF5"/>
                </a:solidFill>
                <a:latin typeface="Calibri" pitchFamily="34" charset="0"/>
                <a:ea typeface="Calibri" pitchFamily="34" charset="-122"/>
                <a:cs typeface="Calibri" pitchFamily="34" charset="-120"/>
              </a:rPr>
              <a:t>Re-run the baseline comparison</a:t>
            </a:r>
            <a:endParaRPr lang="en-US" sz="1300" dirty="0"/>
          </a:p>
        </p:txBody>
      </p:sp>
      <p:sp>
        <p:nvSpPr>
          <p:cNvPr id="12" name="Text 10"/>
          <p:cNvSpPr/>
          <p:nvPr/>
        </p:nvSpPr>
        <p:spPr>
          <a:xfrm>
            <a:off x="1508760" y="2816352"/>
            <a:ext cx="8412480" cy="384048"/>
          </a:xfrm>
          <a:prstGeom prst="rect">
            <a:avLst/>
          </a:prstGeom>
          <a:noFill/>
          <a:ln/>
        </p:spPr>
        <p:txBody>
          <a:bodyPr wrap="square" lIns="0" tIns="0" rIns="0" bIns="0" rtlCol="0" anchor="ctr"/>
          <a:lstStyle/>
          <a:p>
            <a:pPr indent="0" marL="0">
              <a:buNone/>
            </a:pPr>
            <a:r>
              <a:rPr lang="en-US" sz="1100" dirty="0">
                <a:solidFill>
                  <a:srgbClr val="9AA4BD"/>
                </a:solidFill>
                <a:latin typeface="Calibri" pitchFamily="34" charset="0"/>
                <a:ea typeface="Calibri" pitchFamily="34" charset="-122"/>
                <a:cs typeface="Calibri" pitchFamily="34" charset="-120"/>
              </a:rPr>
              <a:t>The current comparison predates the drift rebuild by nine days, so it measures the superseded signal. Re-running it may change the headline row.</a:t>
            </a:r>
            <a:endParaRPr lang="en-US" sz="1100" dirty="0"/>
          </a:p>
        </p:txBody>
      </p:sp>
      <p:sp>
        <p:nvSpPr>
          <p:cNvPr id="13" name="Text 11"/>
          <p:cNvSpPr/>
          <p:nvPr/>
        </p:nvSpPr>
        <p:spPr>
          <a:xfrm>
            <a:off x="10104120" y="2670048"/>
            <a:ext cx="1188720" cy="274320"/>
          </a:xfrm>
          <a:prstGeom prst="rect">
            <a:avLst/>
          </a:prstGeom>
          <a:noFill/>
          <a:ln/>
        </p:spPr>
        <p:txBody>
          <a:bodyPr wrap="square" lIns="0" tIns="0" rIns="0" bIns="0" rtlCol="0" anchor="ctr"/>
          <a:lstStyle/>
          <a:p>
            <a:pPr algn="r" indent="0" marL="0">
              <a:buNone/>
            </a:pPr>
            <a:r>
              <a:rPr lang="en-US" sz="1100" b="1" dirty="0">
                <a:solidFill>
                  <a:srgbClr val="34D399"/>
                </a:solidFill>
                <a:latin typeface="Calibri" pitchFamily="34" charset="0"/>
                <a:ea typeface="Calibri" pitchFamily="34" charset="-122"/>
                <a:cs typeface="Calibri" pitchFamily="34" charset="-120"/>
              </a:rPr>
              <a:t>Short</a:t>
            </a:r>
            <a:endParaRPr lang="en-US" sz="1100" dirty="0"/>
          </a:p>
        </p:txBody>
      </p:sp>
      <p:sp>
        <p:nvSpPr>
          <p:cNvPr id="14" name="Shape 12"/>
          <p:cNvSpPr/>
          <p:nvPr/>
        </p:nvSpPr>
        <p:spPr>
          <a:xfrm>
            <a:off x="640080" y="3383280"/>
            <a:ext cx="10881360" cy="914400"/>
          </a:xfrm>
          <a:prstGeom prst="roundRect">
            <a:avLst>
              <a:gd name="adj" fmla="val 7000"/>
            </a:avLst>
          </a:prstGeom>
          <a:solidFill>
            <a:srgbClr val="222937"/>
          </a:solidFill>
          <a:ln w="12700">
            <a:solidFill>
              <a:srgbClr val="222937"/>
            </a:solidFill>
            <a:prstDash val="solid"/>
          </a:ln>
        </p:spPr>
      </p:sp>
      <p:sp>
        <p:nvSpPr>
          <p:cNvPr id="15" name="Text 13"/>
          <p:cNvSpPr/>
          <p:nvPr/>
        </p:nvSpPr>
        <p:spPr>
          <a:xfrm>
            <a:off x="960120" y="3621024"/>
            <a:ext cx="457200" cy="365760"/>
          </a:xfrm>
          <a:prstGeom prst="rect">
            <a:avLst/>
          </a:prstGeom>
          <a:noFill/>
          <a:ln/>
        </p:spPr>
        <p:txBody>
          <a:bodyPr wrap="square" lIns="0" tIns="0" rIns="0" bIns="0" rtlCol="0" anchor="ctr"/>
          <a:lstStyle/>
          <a:p>
            <a:pPr indent="0" marL="0">
              <a:buNone/>
            </a:pPr>
            <a:r>
              <a:rPr lang="en-US" sz="1800" b="1" dirty="0">
                <a:solidFill>
                  <a:srgbClr val="22D3EE"/>
                </a:solidFill>
                <a:latin typeface="Cambria" pitchFamily="34" charset="0"/>
                <a:ea typeface="Cambria" pitchFamily="34" charset="-122"/>
                <a:cs typeface="Cambria" pitchFamily="34" charset="-120"/>
              </a:rPr>
              <a:t>3</a:t>
            </a:r>
            <a:endParaRPr lang="en-US" sz="1800" dirty="0"/>
          </a:p>
        </p:txBody>
      </p:sp>
      <p:sp>
        <p:nvSpPr>
          <p:cNvPr id="16" name="Text 14"/>
          <p:cNvSpPr/>
          <p:nvPr/>
        </p:nvSpPr>
        <p:spPr>
          <a:xfrm>
            <a:off x="1508760" y="3529584"/>
            <a:ext cx="7589520" cy="274320"/>
          </a:xfrm>
          <a:prstGeom prst="rect">
            <a:avLst/>
          </a:prstGeom>
          <a:noFill/>
          <a:ln/>
        </p:spPr>
        <p:txBody>
          <a:bodyPr wrap="square" lIns="0" tIns="0" rIns="0" bIns="0" rtlCol="0" anchor="ctr"/>
          <a:lstStyle/>
          <a:p>
            <a:pPr indent="0" marL="0">
              <a:buNone/>
            </a:pPr>
            <a:r>
              <a:rPr lang="en-US" sz="1300" b="1" dirty="0">
                <a:solidFill>
                  <a:srgbClr val="E8ECF5"/>
                </a:solidFill>
                <a:latin typeface="Calibri" pitchFamily="34" charset="0"/>
                <a:ea typeface="Calibri" pitchFamily="34" charset="-122"/>
                <a:cs typeface="Calibri" pitchFamily="34" charset="-120"/>
              </a:rPr>
              <a:t>Repeat the benchmarks across seeds</a:t>
            </a:r>
            <a:endParaRPr lang="en-US" sz="1300" dirty="0"/>
          </a:p>
        </p:txBody>
      </p:sp>
      <p:sp>
        <p:nvSpPr>
          <p:cNvPr id="17" name="Text 15"/>
          <p:cNvSpPr/>
          <p:nvPr/>
        </p:nvSpPr>
        <p:spPr>
          <a:xfrm>
            <a:off x="1508760" y="3822192"/>
            <a:ext cx="8412480" cy="384048"/>
          </a:xfrm>
          <a:prstGeom prst="rect">
            <a:avLst/>
          </a:prstGeom>
          <a:noFill/>
          <a:ln/>
        </p:spPr>
        <p:txBody>
          <a:bodyPr wrap="square" lIns="0" tIns="0" rIns="0" bIns="0" rtlCol="0" anchor="ctr"/>
          <a:lstStyle/>
          <a:p>
            <a:pPr indent="0" marL="0">
              <a:buNone/>
            </a:pPr>
            <a:r>
              <a:rPr lang="en-US" sz="1100" dirty="0">
                <a:solidFill>
                  <a:srgbClr val="9AA4BD"/>
                </a:solidFill>
                <a:latin typeface="Calibri" pitchFamily="34" charset="0"/>
                <a:ea typeface="Calibri" pitchFamily="34" charset="-122"/>
                <a:cs typeface="Calibri" pitchFamily="34" charset="-120"/>
              </a:rPr>
              <a:t>Multiple runs with confidence intervals, and a larger held-out split, to convert single-run figures into interval estimates.</a:t>
            </a:r>
            <a:endParaRPr lang="en-US" sz="1100" dirty="0"/>
          </a:p>
        </p:txBody>
      </p:sp>
      <p:sp>
        <p:nvSpPr>
          <p:cNvPr id="18" name="Text 16"/>
          <p:cNvSpPr/>
          <p:nvPr/>
        </p:nvSpPr>
        <p:spPr>
          <a:xfrm>
            <a:off x="10104120" y="3675888"/>
            <a:ext cx="1188720" cy="274320"/>
          </a:xfrm>
          <a:prstGeom prst="rect">
            <a:avLst/>
          </a:prstGeom>
          <a:noFill/>
          <a:ln/>
        </p:spPr>
        <p:txBody>
          <a:bodyPr wrap="square" lIns="0" tIns="0" rIns="0" bIns="0" rtlCol="0" anchor="ctr"/>
          <a:lstStyle/>
          <a:p>
            <a:pPr algn="r" indent="0" marL="0">
              <a:buNone/>
            </a:pPr>
            <a:r>
              <a:rPr lang="en-US" sz="1100" b="1" dirty="0">
                <a:solidFill>
                  <a:srgbClr val="34D399"/>
                </a:solidFill>
                <a:latin typeface="Calibri" pitchFamily="34" charset="0"/>
                <a:ea typeface="Calibri" pitchFamily="34" charset="-122"/>
                <a:cs typeface="Calibri" pitchFamily="34" charset="-120"/>
              </a:rPr>
              <a:t>Short</a:t>
            </a:r>
            <a:endParaRPr lang="en-US" sz="1100" dirty="0"/>
          </a:p>
        </p:txBody>
      </p:sp>
      <p:sp>
        <p:nvSpPr>
          <p:cNvPr id="19" name="Shape 17"/>
          <p:cNvSpPr/>
          <p:nvPr/>
        </p:nvSpPr>
        <p:spPr>
          <a:xfrm>
            <a:off x="640080" y="4389120"/>
            <a:ext cx="10881360" cy="914400"/>
          </a:xfrm>
          <a:prstGeom prst="roundRect">
            <a:avLst>
              <a:gd name="adj" fmla="val 7000"/>
            </a:avLst>
          </a:prstGeom>
          <a:solidFill>
            <a:srgbClr val="222937"/>
          </a:solidFill>
          <a:ln w="12700">
            <a:solidFill>
              <a:srgbClr val="222937"/>
            </a:solidFill>
            <a:prstDash val="solid"/>
          </a:ln>
        </p:spPr>
      </p:sp>
      <p:sp>
        <p:nvSpPr>
          <p:cNvPr id="20" name="Text 18"/>
          <p:cNvSpPr/>
          <p:nvPr/>
        </p:nvSpPr>
        <p:spPr>
          <a:xfrm>
            <a:off x="960120" y="4626864"/>
            <a:ext cx="457200" cy="365760"/>
          </a:xfrm>
          <a:prstGeom prst="rect">
            <a:avLst/>
          </a:prstGeom>
          <a:noFill/>
          <a:ln/>
        </p:spPr>
        <p:txBody>
          <a:bodyPr wrap="square" lIns="0" tIns="0" rIns="0" bIns="0" rtlCol="0" anchor="ctr"/>
          <a:lstStyle/>
          <a:p>
            <a:pPr indent="0" marL="0">
              <a:buNone/>
            </a:pPr>
            <a:r>
              <a:rPr lang="en-US" sz="1800" b="1" dirty="0">
                <a:solidFill>
                  <a:srgbClr val="22D3EE"/>
                </a:solidFill>
                <a:latin typeface="Cambria" pitchFamily="34" charset="0"/>
                <a:ea typeface="Cambria" pitchFamily="34" charset="-122"/>
                <a:cs typeface="Cambria" pitchFamily="34" charset="-120"/>
              </a:rPr>
              <a:t>4</a:t>
            </a:r>
            <a:endParaRPr lang="en-US" sz="1800" dirty="0"/>
          </a:p>
        </p:txBody>
      </p:sp>
      <p:sp>
        <p:nvSpPr>
          <p:cNvPr id="21" name="Text 19"/>
          <p:cNvSpPr/>
          <p:nvPr/>
        </p:nvSpPr>
        <p:spPr>
          <a:xfrm>
            <a:off x="1508760" y="4535424"/>
            <a:ext cx="7589520" cy="274320"/>
          </a:xfrm>
          <a:prstGeom prst="rect">
            <a:avLst/>
          </a:prstGeom>
          <a:noFill/>
          <a:ln/>
        </p:spPr>
        <p:txBody>
          <a:bodyPr wrap="square" lIns="0" tIns="0" rIns="0" bIns="0" rtlCol="0" anchor="ctr"/>
          <a:lstStyle/>
          <a:p>
            <a:pPr indent="0" marL="0">
              <a:buNone/>
            </a:pPr>
            <a:r>
              <a:rPr lang="en-US" sz="1300" b="1" dirty="0">
                <a:solidFill>
                  <a:srgbClr val="E8ECF5"/>
                </a:solidFill>
                <a:latin typeface="Calibri" pitchFamily="34" charset="0"/>
                <a:ea typeface="Calibri" pitchFamily="34" charset="-122"/>
                <a:cs typeface="Calibri" pitchFamily="34" charset="-120"/>
              </a:rPr>
              <a:t>Represent evidence partitions</a:t>
            </a:r>
            <a:endParaRPr lang="en-US" sz="1300" dirty="0"/>
          </a:p>
        </p:txBody>
      </p:sp>
      <p:sp>
        <p:nvSpPr>
          <p:cNvPr id="22" name="Text 20"/>
          <p:cNvSpPr/>
          <p:nvPr/>
        </p:nvSpPr>
        <p:spPr>
          <a:xfrm>
            <a:off x="1508760" y="4828032"/>
            <a:ext cx="8412480" cy="384048"/>
          </a:xfrm>
          <a:prstGeom prst="rect">
            <a:avLst/>
          </a:prstGeom>
          <a:noFill/>
          <a:ln/>
        </p:spPr>
        <p:txBody>
          <a:bodyPr wrap="square" lIns="0" tIns="0" rIns="0" bIns="0" rtlCol="0" anchor="ctr"/>
          <a:lstStyle/>
          <a:p>
            <a:pPr indent="0" marL="0">
              <a:buNone/>
            </a:pPr>
            <a:r>
              <a:rPr lang="en-US" sz="1100" dirty="0">
                <a:solidFill>
                  <a:srgbClr val="9AA4BD"/>
                </a:solidFill>
                <a:latin typeface="Calibri" pitchFamily="34" charset="0"/>
                <a:ea typeface="Calibri" pitchFamily="34" charset="-122"/>
                <a:cs typeface="Calibri" pitchFamily="34" charset="-120"/>
              </a:rPr>
              <a:t>Give the disagreement detector access to what each agent could see, so legitimate disagreement can be separated from a genuine fault.</a:t>
            </a:r>
            <a:endParaRPr lang="en-US" sz="1100" dirty="0"/>
          </a:p>
        </p:txBody>
      </p:sp>
      <p:sp>
        <p:nvSpPr>
          <p:cNvPr id="23" name="Text 21"/>
          <p:cNvSpPr/>
          <p:nvPr/>
        </p:nvSpPr>
        <p:spPr>
          <a:xfrm>
            <a:off x="10104120" y="4681728"/>
            <a:ext cx="1188720" cy="274320"/>
          </a:xfrm>
          <a:prstGeom prst="rect">
            <a:avLst/>
          </a:prstGeom>
          <a:noFill/>
          <a:ln/>
        </p:spPr>
        <p:txBody>
          <a:bodyPr wrap="square" lIns="0" tIns="0" rIns="0" bIns="0" rtlCol="0" anchor="ctr"/>
          <a:lstStyle/>
          <a:p>
            <a:pPr algn="r" indent="0" marL="0">
              <a:buNone/>
            </a:pPr>
            <a:r>
              <a:rPr lang="en-US" sz="1100" b="1" dirty="0">
                <a:solidFill>
                  <a:srgbClr val="FBBF24"/>
                </a:solidFill>
                <a:latin typeface="Calibri" pitchFamily="34" charset="0"/>
                <a:ea typeface="Calibri" pitchFamily="34" charset="-122"/>
                <a:cs typeface="Calibri" pitchFamily="34" charset="-120"/>
              </a:rPr>
              <a:t>Research</a:t>
            </a:r>
            <a:endParaRPr lang="en-US" sz="1100" dirty="0"/>
          </a:p>
        </p:txBody>
      </p:sp>
      <p:sp>
        <p:nvSpPr>
          <p:cNvPr id="24" name="Shape 22"/>
          <p:cNvSpPr/>
          <p:nvPr/>
        </p:nvSpPr>
        <p:spPr>
          <a:xfrm>
            <a:off x="640080" y="5394960"/>
            <a:ext cx="10881360" cy="914400"/>
          </a:xfrm>
          <a:prstGeom prst="roundRect">
            <a:avLst>
              <a:gd name="adj" fmla="val 7000"/>
            </a:avLst>
          </a:prstGeom>
          <a:solidFill>
            <a:srgbClr val="222937"/>
          </a:solidFill>
          <a:ln w="12700">
            <a:solidFill>
              <a:srgbClr val="222937"/>
            </a:solidFill>
            <a:prstDash val="solid"/>
          </a:ln>
        </p:spPr>
      </p:sp>
      <p:sp>
        <p:nvSpPr>
          <p:cNvPr id="25" name="Text 23"/>
          <p:cNvSpPr/>
          <p:nvPr/>
        </p:nvSpPr>
        <p:spPr>
          <a:xfrm>
            <a:off x="960120" y="5632704"/>
            <a:ext cx="457200" cy="365760"/>
          </a:xfrm>
          <a:prstGeom prst="rect">
            <a:avLst/>
          </a:prstGeom>
          <a:noFill/>
          <a:ln/>
        </p:spPr>
        <p:txBody>
          <a:bodyPr wrap="square" lIns="0" tIns="0" rIns="0" bIns="0" rtlCol="0" anchor="ctr"/>
          <a:lstStyle/>
          <a:p>
            <a:pPr indent="0" marL="0">
              <a:buNone/>
            </a:pPr>
            <a:r>
              <a:rPr lang="en-US" sz="1800" b="1" dirty="0">
                <a:solidFill>
                  <a:srgbClr val="22D3EE"/>
                </a:solidFill>
                <a:latin typeface="Cambria" pitchFamily="34" charset="0"/>
                <a:ea typeface="Cambria" pitchFamily="34" charset="-122"/>
                <a:cs typeface="Cambria" pitchFamily="34" charset="-120"/>
              </a:rPr>
              <a:t>5</a:t>
            </a:r>
            <a:endParaRPr lang="en-US" sz="1800" dirty="0"/>
          </a:p>
        </p:txBody>
      </p:sp>
      <p:sp>
        <p:nvSpPr>
          <p:cNvPr id="26" name="Text 24"/>
          <p:cNvSpPr/>
          <p:nvPr/>
        </p:nvSpPr>
        <p:spPr>
          <a:xfrm>
            <a:off x="1508760" y="5541264"/>
            <a:ext cx="7589520" cy="274320"/>
          </a:xfrm>
          <a:prstGeom prst="rect">
            <a:avLst/>
          </a:prstGeom>
          <a:noFill/>
          <a:ln/>
        </p:spPr>
        <p:txBody>
          <a:bodyPr wrap="square" lIns="0" tIns="0" rIns="0" bIns="0" rtlCol="0" anchor="ctr"/>
          <a:lstStyle/>
          <a:p>
            <a:pPr indent="0" marL="0">
              <a:buNone/>
            </a:pPr>
            <a:r>
              <a:rPr lang="en-US" sz="1300" b="1" dirty="0">
                <a:solidFill>
                  <a:srgbClr val="E8ECF5"/>
                </a:solidFill>
                <a:latin typeface="Calibri" pitchFamily="34" charset="0"/>
                <a:ea typeface="Calibri" pitchFamily="34" charset="-122"/>
                <a:cs typeface="Calibri" pitchFamily="34" charset="-120"/>
              </a:rPr>
              <a:t>Re-pose the tool-claim task</a:t>
            </a:r>
            <a:endParaRPr lang="en-US" sz="1300" dirty="0"/>
          </a:p>
        </p:txBody>
      </p:sp>
      <p:sp>
        <p:nvSpPr>
          <p:cNvPr id="27" name="Text 25"/>
          <p:cNvSpPr/>
          <p:nvPr/>
        </p:nvSpPr>
        <p:spPr>
          <a:xfrm>
            <a:off x="1508760" y="5833872"/>
            <a:ext cx="8412480" cy="384048"/>
          </a:xfrm>
          <a:prstGeom prst="rect">
            <a:avLst/>
          </a:prstGeom>
          <a:noFill/>
          <a:ln/>
        </p:spPr>
        <p:txBody>
          <a:bodyPr wrap="square" lIns="0" tIns="0" rIns="0" bIns="0" rtlCol="0" anchor="ctr"/>
          <a:lstStyle/>
          <a:p>
            <a:pPr indent="0" marL="0">
              <a:buNone/>
            </a:pPr>
            <a:r>
              <a:rPr lang="en-US" sz="1100" dirty="0">
                <a:solidFill>
                  <a:srgbClr val="9AA4BD"/>
                </a:solidFill>
                <a:latin typeface="Calibri" pitchFamily="34" charset="0"/>
                <a:ea typeface="Calibri" pitchFamily="34" charset="-122"/>
                <a:cs typeface="Calibri" pitchFamily="34" charset="-120"/>
              </a:rPr>
              <a:t>Extract individual assertions and label each against the single tool result it refers to - the task shape that previously reached kappa 0.922.</a:t>
            </a:r>
            <a:endParaRPr lang="en-US" sz="1100" dirty="0"/>
          </a:p>
        </p:txBody>
      </p:sp>
      <p:sp>
        <p:nvSpPr>
          <p:cNvPr id="28" name="Text 26"/>
          <p:cNvSpPr/>
          <p:nvPr/>
        </p:nvSpPr>
        <p:spPr>
          <a:xfrm>
            <a:off x="10104120" y="5687568"/>
            <a:ext cx="1188720" cy="274320"/>
          </a:xfrm>
          <a:prstGeom prst="rect">
            <a:avLst/>
          </a:prstGeom>
          <a:noFill/>
          <a:ln/>
        </p:spPr>
        <p:txBody>
          <a:bodyPr wrap="square" lIns="0" tIns="0" rIns="0" bIns="0" rtlCol="0" anchor="ctr"/>
          <a:lstStyle/>
          <a:p>
            <a:pPr algn="r" indent="0" marL="0">
              <a:buNone/>
            </a:pPr>
            <a:r>
              <a:rPr lang="en-US" sz="1100" b="1" dirty="0">
                <a:solidFill>
                  <a:srgbClr val="FBBF24"/>
                </a:solidFill>
                <a:latin typeface="Calibri" pitchFamily="34" charset="0"/>
                <a:ea typeface="Calibri" pitchFamily="34" charset="-122"/>
                <a:cs typeface="Calibri" pitchFamily="34" charset="-120"/>
              </a:rPr>
              <a:t>Research</a:t>
            </a:r>
            <a:endParaRPr lang="en-US" sz="1100" dirty="0"/>
          </a:p>
        </p:txBody>
      </p:sp>
      <p:sp>
        <p:nvSpPr>
          <p:cNvPr id="29" name="Text 27"/>
          <p:cNvSpPr/>
          <p:nvPr/>
        </p:nvSpPr>
        <p:spPr>
          <a:xfrm>
            <a:off x="640080" y="6400800"/>
            <a:ext cx="10881360" cy="320040"/>
          </a:xfrm>
          <a:prstGeom prst="rect">
            <a:avLst/>
          </a:prstGeom>
          <a:noFill/>
          <a:ln/>
        </p:spPr>
        <p:txBody>
          <a:bodyPr wrap="square" lIns="0" tIns="0" rIns="0" bIns="0" rtlCol="0" anchor="ctr"/>
          <a:lstStyle/>
          <a:p>
            <a:pPr indent="0" marL="0">
              <a:buNone/>
            </a:pPr>
            <a:r>
              <a:rPr lang="en-US" sz="1150" i="1" dirty="0">
                <a:solidFill>
                  <a:srgbClr val="6B7690"/>
                </a:solidFill>
                <a:latin typeface="Calibri" pitchFamily="34" charset="0"/>
                <a:ea typeface="Calibri" pitchFamily="34" charset="-122"/>
                <a:cs typeface="Calibri" pitchFamily="34" charset="-120"/>
              </a:rPr>
              <a:t>Items 4 and 5 are research problems rather than engineering tasks, and are stated as such.</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640080" y="365760"/>
            <a:ext cx="9144000" cy="237744"/>
          </a:xfrm>
          <a:prstGeom prst="rect">
            <a:avLst/>
          </a:prstGeom>
          <a:noFill/>
          <a:ln/>
        </p:spPr>
        <p:txBody>
          <a:bodyPr wrap="square" lIns="0" tIns="0" rIns="0" bIns="0" rtlCol="0" anchor="ctr"/>
          <a:lstStyle/>
          <a:p>
            <a:pPr indent="0" marL="0">
              <a:buNone/>
            </a:pPr>
            <a:r>
              <a:rPr lang="en-US" sz="1050" b="1" spc="200" kern="0" dirty="0">
                <a:solidFill>
                  <a:srgbClr val="22D3EE"/>
                </a:solidFill>
                <a:latin typeface="Calibri" pitchFamily="34" charset="0"/>
                <a:ea typeface="Calibri" pitchFamily="34" charset="-122"/>
                <a:cs typeface="Calibri" pitchFamily="34" charset="-120"/>
              </a:rPr>
              <a:t>APPENDIX</a:t>
            </a:r>
            <a:endParaRPr lang="en-US" sz="1050" dirty="0"/>
          </a:p>
        </p:txBody>
      </p:sp>
      <p:sp>
        <p:nvSpPr>
          <p:cNvPr id="3" name="Text 1"/>
          <p:cNvSpPr/>
          <p:nvPr/>
        </p:nvSpPr>
        <p:spPr>
          <a:xfrm>
            <a:off x="640080" y="621792"/>
            <a:ext cx="10881360" cy="640080"/>
          </a:xfrm>
          <a:prstGeom prst="rect">
            <a:avLst/>
          </a:prstGeom>
          <a:noFill/>
          <a:ln/>
        </p:spPr>
        <p:txBody>
          <a:bodyPr wrap="square" lIns="0" tIns="0" rIns="0" bIns="0" rtlCol="0" anchor="ctr"/>
          <a:lstStyle/>
          <a:p>
            <a:pPr indent="0" marL="0">
              <a:buNone/>
            </a:pPr>
            <a:r>
              <a:rPr lang="en-US" sz="3100" b="1" dirty="0">
                <a:solidFill>
                  <a:srgbClr val="141922"/>
                </a:solidFill>
                <a:latin typeface="Cambria" pitchFamily="34" charset="0"/>
                <a:ea typeface="Cambria" pitchFamily="34" charset="-122"/>
                <a:cs typeface="Cambria" pitchFamily="34" charset="-120"/>
              </a:rPr>
              <a:t>Full reference list - 17 works</a:t>
            </a:r>
            <a:endParaRPr lang="en-US" sz="3100" dirty="0"/>
          </a:p>
        </p:txBody>
      </p:sp>
      <p:sp>
        <p:nvSpPr>
          <p:cNvPr id="4" name="Shape 2"/>
          <p:cNvSpPr/>
          <p:nvPr/>
        </p:nvSpPr>
        <p:spPr>
          <a:xfrm>
            <a:off x="640080" y="1371600"/>
            <a:ext cx="3200400" cy="4572000"/>
          </a:xfrm>
          <a:prstGeom prst="roundRect">
            <a:avLst>
              <a:gd name="adj" fmla="val 2000"/>
            </a:avLst>
          </a:prstGeom>
          <a:solidFill>
            <a:srgbClr val="FFFFFF"/>
          </a:solidFill>
          <a:ln w="12700">
            <a:solidFill>
              <a:srgbClr val="FFFFFF"/>
            </a:solidFill>
            <a:prstDash val="solid"/>
          </a:ln>
        </p:spPr>
      </p:sp>
      <p:sp>
        <p:nvSpPr>
          <p:cNvPr id="5" name="Text 3"/>
          <p:cNvSpPr/>
          <p:nvPr/>
        </p:nvSpPr>
        <p:spPr>
          <a:xfrm>
            <a:off x="896112" y="1572768"/>
            <a:ext cx="2743200" cy="457200"/>
          </a:xfrm>
          <a:prstGeom prst="rect">
            <a:avLst/>
          </a:prstGeom>
          <a:noFill/>
          <a:ln/>
        </p:spPr>
        <p:txBody>
          <a:bodyPr wrap="square" lIns="0" tIns="0" rIns="0" bIns="0" rtlCol="0" anchor="ctr"/>
          <a:lstStyle/>
          <a:p>
            <a:pPr indent="0" marL="0">
              <a:buNone/>
            </a:pPr>
            <a:r>
              <a:rPr lang="en-US" sz="1250" b="1" dirty="0">
                <a:solidFill>
                  <a:srgbClr val="141922"/>
                </a:solidFill>
                <a:latin typeface="Calibri" pitchFamily="34" charset="0"/>
                <a:ea typeface="Calibri" pitchFamily="34" charset="-122"/>
                <a:cs typeface="Calibri" pitchFamily="34" charset="-120"/>
              </a:rPr>
              <a:t>Factual consistency / NLI</a:t>
            </a:r>
            <a:endParaRPr lang="en-US" sz="1250" dirty="0"/>
          </a:p>
        </p:txBody>
      </p:sp>
      <p:sp>
        <p:nvSpPr>
          <p:cNvPr id="6" name="Text 4"/>
          <p:cNvSpPr/>
          <p:nvPr/>
        </p:nvSpPr>
        <p:spPr>
          <a:xfrm>
            <a:off x="896112" y="2103120"/>
            <a:ext cx="2697480" cy="3657600"/>
          </a:xfrm>
          <a:prstGeom prst="rect">
            <a:avLst/>
          </a:prstGeom>
          <a:noFill/>
          <a:ln/>
        </p:spPr>
        <p:txBody>
          <a:bodyPr wrap="square" lIns="0" tIns="0" rIns="0" bIns="0" rtlCol="0" anchor="ctr"/>
          <a:lstStyle/>
          <a:p>
            <a:pPr marL="342900" indent="-342900">
              <a:spcAft>
                <a:spcPts val="600"/>
              </a:spcAft>
              <a:buSzPct val="100000"/>
              <a:buChar char="•"/>
            </a:pPr>
            <a:r>
              <a:rPr lang="en-US" sz="1000" dirty="0">
                <a:solidFill>
                  <a:srgbClr val="5A6478"/>
                </a:solidFill>
                <a:latin typeface="Calibri" pitchFamily="34" charset="0"/>
                <a:ea typeface="Calibri" pitchFamily="34" charset="-122"/>
                <a:cs typeface="Calibri" pitchFamily="34" charset="-120"/>
              </a:rPr>
              <a:t>Kryscinski et al., FactCC, 2019</a:t>
            </a:r>
            <a:endParaRPr lang="en-US" sz="1000" dirty="0"/>
          </a:p>
          <a:p>
            <a:pPr marL="342900" indent="-342900">
              <a:spcAft>
                <a:spcPts val="600"/>
              </a:spcAft>
              <a:buSzPct val="100000"/>
              <a:buChar char="•"/>
            </a:pPr>
            <a:r>
              <a:rPr lang="en-US" sz="1000" dirty="0">
                <a:solidFill>
                  <a:srgbClr val="5A6478"/>
                </a:solidFill>
                <a:latin typeface="Calibri" pitchFamily="34" charset="0"/>
                <a:ea typeface="Calibri" pitchFamily="34" charset="-122"/>
                <a:cs typeface="Calibri" pitchFamily="34" charset="-120"/>
              </a:rPr>
              <a:t>Durmus et al., FEQA, 2020</a:t>
            </a:r>
            <a:endParaRPr lang="en-US" sz="1000" dirty="0"/>
          </a:p>
          <a:p>
            <a:pPr marL="342900" indent="-342900">
              <a:spcAft>
                <a:spcPts val="600"/>
              </a:spcAft>
              <a:buSzPct val="100000"/>
              <a:buChar char="•"/>
            </a:pPr>
            <a:r>
              <a:rPr lang="en-US" sz="1000" dirty="0">
                <a:solidFill>
                  <a:srgbClr val="5A6478"/>
                </a:solidFill>
                <a:latin typeface="Calibri" pitchFamily="34" charset="0"/>
                <a:ea typeface="Calibri" pitchFamily="34" charset="-122"/>
                <a:cs typeface="Calibri" pitchFamily="34" charset="-120"/>
              </a:rPr>
              <a:t>Scialom et al., QuestEval, 2021</a:t>
            </a:r>
            <a:endParaRPr lang="en-US" sz="1000" dirty="0"/>
          </a:p>
          <a:p>
            <a:pPr marL="342900" indent="-342900">
              <a:spcAft>
                <a:spcPts val="600"/>
              </a:spcAft>
              <a:buSzPct val="100000"/>
              <a:buChar char="•"/>
            </a:pPr>
            <a:r>
              <a:rPr lang="en-US" sz="1000" dirty="0">
                <a:solidFill>
                  <a:srgbClr val="5A6478"/>
                </a:solidFill>
                <a:latin typeface="Calibri" pitchFamily="34" charset="0"/>
                <a:ea typeface="Calibri" pitchFamily="34" charset="-122"/>
                <a:cs typeface="Calibri" pitchFamily="34" charset="-120"/>
              </a:rPr>
              <a:t>Fabbri et al., QAFactEval, 2021</a:t>
            </a:r>
            <a:endParaRPr lang="en-US" sz="1000" dirty="0"/>
          </a:p>
          <a:p>
            <a:pPr marL="342900" indent="-342900">
              <a:spcAft>
                <a:spcPts val="600"/>
              </a:spcAft>
              <a:buSzPct val="100000"/>
              <a:buChar char="•"/>
            </a:pPr>
            <a:r>
              <a:rPr lang="en-US" sz="1000" dirty="0">
                <a:solidFill>
                  <a:srgbClr val="5A6478"/>
                </a:solidFill>
                <a:latin typeface="Calibri" pitchFamily="34" charset="0"/>
                <a:ea typeface="Calibri" pitchFamily="34" charset="-122"/>
                <a:cs typeface="Calibri" pitchFamily="34" charset="-120"/>
              </a:rPr>
              <a:t>Laban et al., SummaC, TACL 2022</a:t>
            </a:r>
            <a:endParaRPr lang="en-US" sz="1000" dirty="0"/>
          </a:p>
          <a:p>
            <a:pPr marL="342900" indent="-342900">
              <a:spcAft>
                <a:spcPts val="600"/>
              </a:spcAft>
              <a:buSzPct val="100000"/>
              <a:buChar char="•"/>
            </a:pPr>
            <a:r>
              <a:rPr lang="en-US" sz="1000" dirty="0">
                <a:solidFill>
                  <a:srgbClr val="5A6478"/>
                </a:solidFill>
                <a:latin typeface="Calibri" pitchFamily="34" charset="0"/>
                <a:ea typeface="Calibri" pitchFamily="34" charset="-122"/>
                <a:cs typeface="Calibri" pitchFamily="34" charset="-120"/>
              </a:rPr>
              <a:t>Zha et al., AlignScore, ACL 2023</a:t>
            </a:r>
            <a:endParaRPr lang="en-US" sz="1000" dirty="0"/>
          </a:p>
          <a:p>
            <a:pPr marL="342900" indent="-342900">
              <a:spcAft>
                <a:spcPts val="600"/>
              </a:spcAft>
              <a:buSzPct val="100000"/>
              <a:buChar char="•"/>
            </a:pPr>
            <a:r>
              <a:rPr lang="en-US" sz="1000" dirty="0">
                <a:solidFill>
                  <a:srgbClr val="5A6478"/>
                </a:solidFill>
                <a:latin typeface="Calibri" pitchFamily="34" charset="0"/>
                <a:ea typeface="Calibri" pitchFamily="34" charset="-122"/>
                <a:cs typeface="Calibri" pitchFamily="34" charset="-120"/>
              </a:rPr>
              <a:t>Gekhman et al., TrueTeacher, 2023</a:t>
            </a:r>
            <a:endParaRPr lang="en-US" sz="1000" dirty="0"/>
          </a:p>
        </p:txBody>
      </p:sp>
      <p:sp>
        <p:nvSpPr>
          <p:cNvPr id="7" name="Shape 5"/>
          <p:cNvSpPr/>
          <p:nvPr/>
        </p:nvSpPr>
        <p:spPr>
          <a:xfrm>
            <a:off x="4160520" y="1371600"/>
            <a:ext cx="4206240" cy="4572000"/>
          </a:xfrm>
          <a:prstGeom prst="roundRect">
            <a:avLst>
              <a:gd name="adj" fmla="val 1522"/>
            </a:avLst>
          </a:prstGeom>
          <a:solidFill>
            <a:srgbClr val="FFFFFF"/>
          </a:solidFill>
          <a:ln w="12700">
            <a:solidFill>
              <a:srgbClr val="FFFFFF"/>
            </a:solidFill>
            <a:prstDash val="solid"/>
          </a:ln>
        </p:spPr>
      </p:sp>
      <p:sp>
        <p:nvSpPr>
          <p:cNvPr id="8" name="Text 6"/>
          <p:cNvSpPr/>
          <p:nvPr/>
        </p:nvSpPr>
        <p:spPr>
          <a:xfrm>
            <a:off x="4416552" y="1572768"/>
            <a:ext cx="3749040" cy="457200"/>
          </a:xfrm>
          <a:prstGeom prst="rect">
            <a:avLst/>
          </a:prstGeom>
          <a:noFill/>
          <a:ln/>
        </p:spPr>
        <p:txBody>
          <a:bodyPr wrap="square" lIns="0" tIns="0" rIns="0" bIns="0" rtlCol="0" anchor="ctr"/>
          <a:lstStyle/>
          <a:p>
            <a:pPr indent="0" marL="0">
              <a:buNone/>
            </a:pPr>
            <a:r>
              <a:rPr lang="en-US" sz="1250" b="1" dirty="0">
                <a:solidFill>
                  <a:srgbClr val="141922"/>
                </a:solidFill>
                <a:latin typeface="Calibri" pitchFamily="34" charset="0"/>
                <a:ea typeface="Calibri" pitchFamily="34" charset="-122"/>
                <a:cs typeface="Calibri" pitchFamily="34" charset="-120"/>
              </a:rPr>
              <a:t>RAG and judge-based evaluation</a:t>
            </a:r>
            <a:endParaRPr lang="en-US" sz="1250" dirty="0"/>
          </a:p>
        </p:txBody>
      </p:sp>
      <p:sp>
        <p:nvSpPr>
          <p:cNvPr id="9" name="Text 7"/>
          <p:cNvSpPr/>
          <p:nvPr/>
        </p:nvSpPr>
        <p:spPr>
          <a:xfrm>
            <a:off x="4416552" y="2103120"/>
            <a:ext cx="3703320" cy="3657600"/>
          </a:xfrm>
          <a:prstGeom prst="rect">
            <a:avLst/>
          </a:prstGeom>
          <a:noFill/>
          <a:ln/>
        </p:spPr>
        <p:txBody>
          <a:bodyPr wrap="square" lIns="0" tIns="0" rIns="0" bIns="0" rtlCol="0" anchor="ctr"/>
          <a:lstStyle/>
          <a:p>
            <a:pPr marL="342900" indent="-342900">
              <a:spcAft>
                <a:spcPts val="600"/>
              </a:spcAft>
              <a:buSzPct val="100000"/>
              <a:buChar char="•"/>
            </a:pPr>
            <a:r>
              <a:rPr lang="en-US" sz="1000" dirty="0">
                <a:solidFill>
                  <a:srgbClr val="5A6478"/>
                </a:solidFill>
                <a:latin typeface="Calibri" pitchFamily="34" charset="0"/>
                <a:ea typeface="Calibri" pitchFamily="34" charset="-122"/>
                <a:cs typeface="Calibri" pitchFamily="34" charset="-120"/>
              </a:rPr>
              <a:t>Es et al., RAGAS, EACL 2024 demo</a:t>
            </a:r>
            <a:endParaRPr lang="en-US" sz="1000" dirty="0"/>
          </a:p>
          <a:p>
            <a:pPr marL="342900" indent="-342900">
              <a:spcAft>
                <a:spcPts val="600"/>
              </a:spcAft>
              <a:buSzPct val="100000"/>
              <a:buChar char="•"/>
            </a:pPr>
            <a:r>
              <a:rPr lang="en-US" sz="1000" dirty="0">
                <a:solidFill>
                  <a:srgbClr val="5A6478"/>
                </a:solidFill>
                <a:latin typeface="Calibri" pitchFamily="34" charset="0"/>
                <a:ea typeface="Calibri" pitchFamily="34" charset="-122"/>
                <a:cs typeface="Calibri" pitchFamily="34" charset="-120"/>
              </a:rPr>
              <a:t>Saad-Falcon et al., ARES, 2023</a:t>
            </a:r>
            <a:endParaRPr lang="en-US" sz="1000" dirty="0"/>
          </a:p>
          <a:p>
            <a:pPr marL="342900" indent="-342900">
              <a:spcAft>
                <a:spcPts val="600"/>
              </a:spcAft>
              <a:buSzPct val="100000"/>
              <a:buChar char="•"/>
            </a:pPr>
            <a:r>
              <a:rPr lang="en-US" sz="1000" dirty="0">
                <a:solidFill>
                  <a:srgbClr val="5A6478"/>
                </a:solidFill>
                <a:latin typeface="Calibri" pitchFamily="34" charset="0"/>
                <a:ea typeface="Calibri" pitchFamily="34" charset="-122"/>
                <a:cs typeface="Calibri" pitchFamily="34" charset="-120"/>
              </a:rPr>
              <a:t>Zheng et al., MT-Bench / Chatbot Arena, NeurIPS 2023</a:t>
            </a:r>
            <a:endParaRPr lang="en-US" sz="1000" dirty="0"/>
          </a:p>
          <a:p>
            <a:pPr marL="342900" indent="-342900">
              <a:spcAft>
                <a:spcPts val="600"/>
              </a:spcAft>
              <a:buSzPct val="100000"/>
              <a:buChar char="•"/>
            </a:pPr>
            <a:r>
              <a:rPr lang="en-US" sz="1000" dirty="0">
                <a:solidFill>
                  <a:srgbClr val="5A6478"/>
                </a:solidFill>
                <a:latin typeface="Calibri" pitchFamily="34" charset="0"/>
                <a:ea typeface="Calibri" pitchFamily="34" charset="-122"/>
                <a:cs typeface="Calibri" pitchFamily="34" charset="-120"/>
              </a:rPr>
              <a:t>Kim et al., Prometheus, 2023</a:t>
            </a:r>
            <a:endParaRPr lang="en-US" sz="1000" dirty="0"/>
          </a:p>
          <a:p>
            <a:pPr marL="342900" indent="-342900">
              <a:spcAft>
                <a:spcPts val="600"/>
              </a:spcAft>
              <a:buSzPct val="100000"/>
              <a:buChar char="•"/>
            </a:pPr>
            <a:r>
              <a:rPr lang="en-US" sz="1000" dirty="0">
                <a:solidFill>
                  <a:srgbClr val="5A6478"/>
                </a:solidFill>
                <a:latin typeface="Calibri" pitchFamily="34" charset="0"/>
                <a:ea typeface="Calibri" pitchFamily="34" charset="-122"/>
                <a:cs typeface="Calibri" pitchFamily="34" charset="-120"/>
              </a:rPr>
              <a:t>Kim et al., Prometheus 2, 2024</a:t>
            </a:r>
            <a:endParaRPr lang="en-US" sz="1000" dirty="0"/>
          </a:p>
          <a:p>
            <a:pPr marL="342900" indent="-342900">
              <a:spcAft>
                <a:spcPts val="600"/>
              </a:spcAft>
              <a:buSzPct val="100000"/>
              <a:buChar char="•"/>
            </a:pPr>
            <a:r>
              <a:rPr lang="en-US" sz="1000" dirty="0">
                <a:solidFill>
                  <a:srgbClr val="5A6478"/>
                </a:solidFill>
                <a:latin typeface="Calibri" pitchFamily="34" charset="0"/>
                <a:ea typeface="Calibri" pitchFamily="34" charset="-122"/>
                <a:cs typeface="Calibri" pitchFamily="34" charset="-120"/>
              </a:rPr>
              <a:t>Gu et al., A Survey on LLM-as-a-Judge, 2024</a:t>
            </a:r>
            <a:endParaRPr lang="en-US" sz="1000" dirty="0"/>
          </a:p>
          <a:p>
            <a:pPr marL="342900" indent="-342900">
              <a:spcAft>
                <a:spcPts val="600"/>
              </a:spcAft>
              <a:buSzPct val="100000"/>
              <a:buChar char="•"/>
            </a:pPr>
            <a:r>
              <a:rPr lang="en-US" sz="1000" dirty="0">
                <a:solidFill>
                  <a:srgbClr val="5A6478"/>
                </a:solidFill>
                <a:latin typeface="Calibri" pitchFamily="34" charset="0"/>
                <a:ea typeface="Calibri" pitchFamily="34" charset="-122"/>
                <a:cs typeface="Calibri" pitchFamily="34" charset="-120"/>
              </a:rPr>
              <a:t>Li et al., From Generation to Judgment, 2024</a:t>
            </a:r>
            <a:endParaRPr lang="en-US" sz="1000" dirty="0"/>
          </a:p>
          <a:p>
            <a:pPr marL="342900" indent="-342900">
              <a:spcAft>
                <a:spcPts val="600"/>
              </a:spcAft>
              <a:buSzPct val="100000"/>
              <a:buChar char="•"/>
            </a:pPr>
            <a:r>
              <a:rPr lang="en-US" sz="1000" dirty="0">
                <a:solidFill>
                  <a:srgbClr val="5A6478"/>
                </a:solidFill>
                <a:latin typeface="Calibri" pitchFamily="34" charset="0"/>
                <a:ea typeface="Calibri" pitchFamily="34" charset="-122"/>
                <a:cs typeface="Calibri" pitchFamily="34" charset="-120"/>
              </a:rPr>
              <a:t>Ye et al., Justice or Prejudice, 2024</a:t>
            </a:r>
            <a:endParaRPr lang="en-US" sz="1000" dirty="0"/>
          </a:p>
          <a:p>
            <a:pPr marL="342900" indent="-342900">
              <a:spcAft>
                <a:spcPts val="600"/>
              </a:spcAft>
              <a:buSzPct val="100000"/>
              <a:buChar char="•"/>
            </a:pPr>
            <a:r>
              <a:rPr lang="en-US" sz="1000" dirty="0">
                <a:solidFill>
                  <a:srgbClr val="5A6478"/>
                </a:solidFill>
                <a:latin typeface="Calibri" pitchFamily="34" charset="0"/>
                <a:ea typeface="Calibri" pitchFamily="34" charset="-122"/>
                <a:cs typeface="Calibri" pitchFamily="34" charset="-120"/>
              </a:rPr>
              <a:t>Krumdick et al., No Free Labels, 2025</a:t>
            </a:r>
            <a:endParaRPr lang="en-US" sz="1000" dirty="0"/>
          </a:p>
        </p:txBody>
      </p:sp>
      <p:sp>
        <p:nvSpPr>
          <p:cNvPr id="10" name="Shape 8"/>
          <p:cNvSpPr/>
          <p:nvPr/>
        </p:nvSpPr>
        <p:spPr>
          <a:xfrm>
            <a:off x="8686800" y="1371600"/>
            <a:ext cx="3200400" cy="4572000"/>
          </a:xfrm>
          <a:prstGeom prst="roundRect">
            <a:avLst>
              <a:gd name="adj" fmla="val 2000"/>
            </a:avLst>
          </a:prstGeom>
          <a:solidFill>
            <a:srgbClr val="FFFFFF"/>
          </a:solidFill>
          <a:ln w="12700">
            <a:solidFill>
              <a:srgbClr val="FFFFFF"/>
            </a:solidFill>
            <a:prstDash val="solid"/>
          </a:ln>
        </p:spPr>
      </p:sp>
      <p:sp>
        <p:nvSpPr>
          <p:cNvPr id="11" name="Text 9"/>
          <p:cNvSpPr/>
          <p:nvPr/>
        </p:nvSpPr>
        <p:spPr>
          <a:xfrm>
            <a:off x="8942832" y="1572768"/>
            <a:ext cx="2743200" cy="457200"/>
          </a:xfrm>
          <a:prstGeom prst="rect">
            <a:avLst/>
          </a:prstGeom>
          <a:noFill/>
          <a:ln/>
        </p:spPr>
        <p:txBody>
          <a:bodyPr wrap="square" lIns="0" tIns="0" rIns="0" bIns="0" rtlCol="0" anchor="ctr"/>
          <a:lstStyle/>
          <a:p>
            <a:pPr indent="0" marL="0">
              <a:buNone/>
            </a:pPr>
            <a:r>
              <a:rPr lang="en-US" sz="1250" b="1" dirty="0">
                <a:solidFill>
                  <a:srgbClr val="141922"/>
                </a:solidFill>
                <a:latin typeface="Calibri" pitchFamily="34" charset="0"/>
                <a:ea typeface="Calibri" pitchFamily="34" charset="-122"/>
                <a:cs typeface="Calibri" pitchFamily="34" charset="-120"/>
              </a:rPr>
              <a:t>Drift and multi-agent failure</a:t>
            </a:r>
            <a:endParaRPr lang="en-US" sz="1250" dirty="0"/>
          </a:p>
        </p:txBody>
      </p:sp>
      <p:sp>
        <p:nvSpPr>
          <p:cNvPr id="12" name="Text 10"/>
          <p:cNvSpPr/>
          <p:nvPr/>
        </p:nvSpPr>
        <p:spPr>
          <a:xfrm>
            <a:off x="8942832" y="2103120"/>
            <a:ext cx="2697480" cy="3657600"/>
          </a:xfrm>
          <a:prstGeom prst="rect">
            <a:avLst/>
          </a:prstGeom>
          <a:noFill/>
          <a:ln/>
        </p:spPr>
        <p:txBody>
          <a:bodyPr wrap="square" lIns="0" tIns="0" rIns="0" bIns="0" rtlCol="0" anchor="ctr"/>
          <a:lstStyle/>
          <a:p>
            <a:pPr marL="342900" indent="-342900">
              <a:spcAft>
                <a:spcPts val="600"/>
              </a:spcAft>
              <a:buSzPct val="100000"/>
              <a:buChar char="•"/>
            </a:pPr>
            <a:r>
              <a:rPr lang="en-US" sz="1000" dirty="0">
                <a:solidFill>
                  <a:srgbClr val="5A6478"/>
                </a:solidFill>
                <a:latin typeface="Calibri" pitchFamily="34" charset="0"/>
                <a:ea typeface="Calibri" pitchFamily="34" charset="-122"/>
                <a:cs typeface="Calibri" pitchFamily="34" charset="-120"/>
              </a:rPr>
              <a:t>Greco et al., DriftLens, 2024</a:t>
            </a:r>
            <a:endParaRPr lang="en-US" sz="1000" dirty="0"/>
          </a:p>
          <a:p>
            <a:pPr marL="342900" indent="-342900">
              <a:spcAft>
                <a:spcPts val="600"/>
              </a:spcAft>
              <a:buSzPct val="100000"/>
              <a:buChar char="•"/>
            </a:pPr>
            <a:r>
              <a:rPr lang="en-US" sz="1000" dirty="0">
                <a:solidFill>
                  <a:srgbClr val="5A6478"/>
                </a:solidFill>
                <a:latin typeface="Calibri" pitchFamily="34" charset="0"/>
                <a:ea typeface="Calibri" pitchFamily="34" charset="-122"/>
                <a:cs typeface="Calibri" pitchFamily="34" charset="-120"/>
              </a:rPr>
              <a:t>Cemri, Pan, Yang et al., MAST - Why Do Multi-Agent LLM Systems Fail, NeurIPS 2025</a:t>
            </a:r>
            <a:endParaRPr lang="en-US" sz="1000" dirty="0"/>
          </a:p>
        </p:txBody>
      </p:sp>
      <p:sp>
        <p:nvSpPr>
          <p:cNvPr id="13" name="Text 11"/>
          <p:cNvSpPr/>
          <p:nvPr/>
        </p:nvSpPr>
        <p:spPr>
          <a:xfrm>
            <a:off x="640080" y="6080760"/>
            <a:ext cx="10881360" cy="365760"/>
          </a:xfrm>
          <a:prstGeom prst="rect">
            <a:avLst/>
          </a:prstGeom>
          <a:noFill/>
          <a:ln/>
        </p:spPr>
        <p:txBody>
          <a:bodyPr wrap="square" lIns="0" tIns="0" rIns="0" bIns="0" rtlCol="0" anchor="ctr"/>
          <a:lstStyle/>
          <a:p>
            <a:pPr indent="0" marL="0">
              <a:buNone/>
            </a:pPr>
            <a:r>
              <a:rPr lang="en-US" sz="1100" i="1" dirty="0">
                <a:solidFill>
                  <a:srgbClr val="5A6478"/>
                </a:solidFill>
                <a:latin typeface="Calibri" pitchFamily="34" charset="0"/>
                <a:ea typeface="Calibri" pitchFamily="34" charset="-122"/>
                <a:cs typeface="Calibri" pitchFamily="34" charset="-120"/>
              </a:rPr>
              <a:t>Nine of the seventeen are from 2023 onward. Full citations with venue and identifier belong in the report bibliography, not on this slide.</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E1117"/>
        </a:solidFill>
      </p:bgPr>
    </p:bg>
    <p:spTree>
      <p:nvGrpSpPr>
        <p:cNvPr id="1" name=""/>
        <p:cNvGrpSpPr/>
        <p:nvPr/>
      </p:nvGrpSpPr>
      <p:grpSpPr>
        <a:xfrm>
          <a:off x="0" y="0"/>
          <a:ext cx="0" cy="0"/>
          <a:chOff x="0" y="0"/>
          <a:chExt cx="0" cy="0"/>
        </a:xfrm>
      </p:grpSpPr>
      <p:sp>
        <p:nvSpPr>
          <p:cNvPr id="2" name="Shape 0"/>
          <p:cNvSpPr/>
          <p:nvPr/>
        </p:nvSpPr>
        <p:spPr>
          <a:xfrm>
            <a:off x="-1828800" y="3657600"/>
            <a:ext cx="5120640" cy="5120640"/>
          </a:xfrm>
          <a:prstGeom prst="ellipse">
            <a:avLst/>
          </a:prstGeom>
          <a:solidFill>
            <a:srgbClr val="22D3EE">
              <a:alpha val="7000"/>
            </a:srgbClr>
          </a:solidFill>
          <a:ln w="12700">
            <a:solidFill>
              <a:srgbClr val="333333"/>
            </a:solidFill>
            <a:prstDash val="solid"/>
          </a:ln>
        </p:spPr>
      </p:sp>
      <p:sp>
        <p:nvSpPr>
          <p:cNvPr id="3" name="Text 1"/>
          <p:cNvSpPr/>
          <p:nvPr/>
        </p:nvSpPr>
        <p:spPr>
          <a:xfrm>
            <a:off x="640080" y="1371600"/>
            <a:ext cx="7315200" cy="274320"/>
          </a:xfrm>
          <a:prstGeom prst="rect">
            <a:avLst/>
          </a:prstGeom>
          <a:noFill/>
          <a:ln/>
        </p:spPr>
        <p:txBody>
          <a:bodyPr wrap="square" lIns="0" tIns="0" rIns="0" bIns="0" rtlCol="0" anchor="ctr"/>
          <a:lstStyle/>
          <a:p>
            <a:pPr indent="0" marL="0">
              <a:buNone/>
            </a:pPr>
            <a:r>
              <a:rPr lang="en-US" sz="1150" b="1" spc="300" kern="0" dirty="0">
                <a:solidFill>
                  <a:srgbClr val="22D3EE"/>
                </a:solidFill>
                <a:latin typeface="Calibri" pitchFamily="34" charset="0"/>
                <a:ea typeface="Calibri" pitchFamily="34" charset="-122"/>
                <a:cs typeface="Calibri" pitchFamily="34" charset="-120"/>
              </a:rPr>
              <a:t>IN SUMMARY</a:t>
            </a:r>
            <a:endParaRPr lang="en-US" sz="1150" dirty="0"/>
          </a:p>
        </p:txBody>
      </p:sp>
      <p:sp>
        <p:nvSpPr>
          <p:cNvPr id="4" name="Text 2"/>
          <p:cNvSpPr/>
          <p:nvPr/>
        </p:nvSpPr>
        <p:spPr>
          <a:xfrm>
            <a:off x="640080" y="1783080"/>
            <a:ext cx="10424160" cy="1554480"/>
          </a:xfrm>
          <a:prstGeom prst="rect">
            <a:avLst/>
          </a:prstGeom>
          <a:noFill/>
          <a:ln/>
        </p:spPr>
        <p:txBody>
          <a:bodyPr wrap="square" lIns="0" tIns="0" rIns="0" bIns="0" rtlCol="0" anchor="ctr"/>
          <a:lstStyle/>
          <a:p>
            <a:pPr indent="0" marL="0">
              <a:buNone/>
            </a:pPr>
            <a:r>
              <a:rPr lang="en-US" sz="3800" b="1" dirty="0">
                <a:solidFill>
                  <a:srgbClr val="E8ECF5"/>
                </a:solidFill>
                <a:latin typeface="Cambria" pitchFamily="34" charset="0"/>
                <a:ea typeface="Cambria" pitchFamily="34" charset="-122"/>
                <a:cs typeface="Cambria" pitchFamily="34" charset="-120"/>
              </a:rPr>
              <a:t>An evaluation tool that was</a:t>
            </a:r>
            <a:endParaRPr lang="en-US" sz="3800" dirty="0"/>
          </a:p>
          <a:p>
            <a:pPr indent="0" marL="0">
              <a:buNone/>
            </a:pPr>
            <a:r>
              <a:rPr lang="en-US" sz="3800" b="1" dirty="0">
                <a:solidFill>
                  <a:srgbClr val="E8ECF5"/>
                </a:solidFill>
                <a:latin typeface="Cambria" pitchFamily="34" charset="0"/>
                <a:ea typeface="Cambria" pitchFamily="34" charset="-122"/>
                <a:cs typeface="Cambria" pitchFamily="34" charset="-120"/>
              </a:rPr>
              <a:t>honestly evaluated</a:t>
            </a:r>
            <a:endParaRPr lang="en-US" sz="3800" dirty="0"/>
          </a:p>
        </p:txBody>
      </p:sp>
      <p:sp>
        <p:nvSpPr>
          <p:cNvPr id="5" name="Text 3"/>
          <p:cNvSpPr/>
          <p:nvPr/>
        </p:nvSpPr>
        <p:spPr>
          <a:xfrm>
            <a:off x="640080" y="3520440"/>
            <a:ext cx="10332720" cy="2194560"/>
          </a:xfrm>
          <a:prstGeom prst="rect">
            <a:avLst/>
          </a:prstGeom>
          <a:noFill/>
          <a:ln/>
        </p:spPr>
        <p:txBody>
          <a:bodyPr wrap="square" lIns="0" tIns="0" rIns="0" bIns="0" rtlCol="0" anchor="ctr"/>
          <a:lstStyle/>
          <a:p>
            <a:pPr marL="342900" indent="-342900">
              <a:spcAft>
                <a:spcPts val="1000"/>
              </a:spcAft>
              <a:buSzPct val="100000"/>
              <a:buChar char="•"/>
            </a:pPr>
            <a:r>
              <a:rPr lang="en-US" sz="1350" dirty="0">
                <a:solidFill>
                  <a:srgbClr val="9AA4BD"/>
                </a:solidFill>
                <a:latin typeface="Calibri" pitchFamily="34" charset="0"/>
                <a:ea typeface="Calibri" pitchFamily="34" charset="-122"/>
                <a:cs typeface="Calibri" pitchFamily="34" charset="-120"/>
              </a:rPr>
              <a:t>A working system: every span evaluated on CPU with durable execution, migrations, retention and self-monitoring - each claim backed by a measurement.</a:t>
            </a:r>
            <a:endParaRPr lang="en-US" sz="1350" dirty="0"/>
          </a:p>
          <a:p>
            <a:pPr marL="342900" indent="-342900">
              <a:spcAft>
                <a:spcPts val="1000"/>
              </a:spcAft>
              <a:buSzPct val="100000"/>
              <a:buChar char="•"/>
            </a:pPr>
            <a:r>
              <a:rPr lang="en-US" sz="1350" dirty="0">
                <a:solidFill>
                  <a:srgbClr val="9AA4BD"/>
                </a:solidFill>
                <a:latin typeface="Calibri" pitchFamily="34" charset="0"/>
                <a:ea typeface="Calibri" pitchFamily="34" charset="-122"/>
                <a:cs typeface="Calibri" pitchFamily="34" charset="-120"/>
              </a:rPr>
              <a:t>One validated capability: drift, rebuilt after failing on real text, AUC 0.991 held out, with its 24.5% coverage stated alongside.</a:t>
            </a:r>
            <a:endParaRPr lang="en-US" sz="1350" dirty="0"/>
          </a:p>
          <a:p>
            <a:pPr marL="342900" indent="-342900">
              <a:spcAft>
                <a:spcPts val="1000"/>
              </a:spcAft>
              <a:buSzPct val="100000"/>
              <a:buChar char="•"/>
            </a:pPr>
            <a:r>
              <a:rPr lang="en-US" sz="1350" dirty="0">
                <a:solidFill>
                  <a:srgbClr val="9AA4BD"/>
                </a:solidFill>
                <a:latin typeface="Calibri" pitchFamily="34" charset="0"/>
                <a:ea typeface="Calibri" pitchFamily="34" charset="-122"/>
                <a:cs typeface="Calibri" pitchFamily="34" charset="-120"/>
              </a:rPr>
              <a:t>Three negative results with diagnoses rather than mysteries, and two positioning claims retracted after auditing competitors.</a:t>
            </a:r>
            <a:endParaRPr lang="en-US" sz="1350" dirty="0"/>
          </a:p>
          <a:p>
            <a:pPr marL="342900" indent="-342900">
              <a:spcAft>
                <a:spcPts val="1000"/>
              </a:spcAft>
              <a:buSzPct val="100000"/>
              <a:buChar char="•"/>
            </a:pPr>
            <a:r>
              <a:rPr lang="en-US" sz="1350" dirty="0">
                <a:solidFill>
                  <a:srgbClr val="9AA4BD"/>
                </a:solidFill>
                <a:latin typeface="Calibri" pitchFamily="34" charset="0"/>
                <a:ea typeface="Calibri" pitchFamily="34" charset="-122"/>
                <a:cs typeface="Calibri" pitchFamily="34" charset="-120"/>
              </a:rPr>
              <a:t>One open research question: contradiction detection under distributed evidence.</a:t>
            </a:r>
            <a:endParaRPr lang="en-US" sz="1350" dirty="0"/>
          </a:p>
        </p:txBody>
      </p:sp>
      <p:sp>
        <p:nvSpPr>
          <p:cNvPr id="6" name="Text 4"/>
          <p:cNvSpPr/>
          <p:nvPr/>
        </p:nvSpPr>
        <p:spPr>
          <a:xfrm>
            <a:off x="640080" y="5943600"/>
            <a:ext cx="6400800" cy="411480"/>
          </a:xfrm>
          <a:prstGeom prst="rect">
            <a:avLst/>
          </a:prstGeom>
          <a:noFill/>
          <a:ln/>
        </p:spPr>
        <p:txBody>
          <a:bodyPr wrap="square" lIns="0" tIns="0" rIns="0" bIns="0" rtlCol="0" anchor="ctr"/>
          <a:lstStyle/>
          <a:p>
            <a:pPr indent="0" marL="0">
              <a:buNone/>
            </a:pPr>
            <a:r>
              <a:rPr lang="en-US" sz="1900" b="1" dirty="0">
                <a:solidFill>
                  <a:srgbClr val="E8ECF5"/>
                </a:solidFill>
                <a:latin typeface="Cambria" pitchFamily="34" charset="0"/>
                <a:ea typeface="Cambria" pitchFamily="34" charset="-122"/>
                <a:cs typeface="Cambria" pitchFamily="34" charset="-120"/>
              </a:rPr>
              <a:t>Thank you  -  questions</a:t>
            </a:r>
            <a:endParaRPr lang="en-US" sz="1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AgentPulse - Final Review</dc:title>
  <dc:subject>PptxGenJS Presentation</dc:subject>
  <dc:creator>Somnath Reddy</dc:creator>
  <cp:lastModifiedBy>Somnath Reddy</cp:lastModifiedBy>
  <cp:revision>1</cp:revision>
  <dcterms:created xsi:type="dcterms:W3CDTF">2026-10-22T04:51:01Z</dcterms:created>
  <dcterms:modified xsi:type="dcterms:W3CDTF">2026-10-22T04:51:01Z</dcterms:modified>
</cp:coreProperties>
</file>