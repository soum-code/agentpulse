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c:v>
                </c:pt>
              </c:strCache>
            </c:strRef>
          </c:tx>
          <c:spPr>
            <a:solidFill>
              <a:srgbClr val="3A4456"/>
            </a:solidFill>
            <a:effectLst/>
          </c:spPr>
          <c:invertIfNegative val="0"/>
          <c:dLbls>
            <c:numFmt formatCode="0.000" sourceLinked="0"/>
            <c:txPr>
              <a:bodyPr/>
              <a:lstStyle/>
              <a:p>
                <a:pPr>
                  <a:defRPr b="0" i="0" strike="noStrike" sz="1000" u="none">
                    <a:solidFill>
                      <a:srgbClr val="E8ECF5"/>
                    </a:solidFill>
                    <a:latin typeface="Arial"/>
                  </a:defRPr>
                </a:pPr>
              </a:p>
            </c:txPr>
            <c:showLegendKey val="0"/>
            <c:showVal val="1"/>
            <c:showCatName val="0"/>
            <c:showSerName val="0"/>
            <c:showPercent val="0"/>
            <c:showBubbleSize val="0"/>
            <c:showLeaderLines val="0"/>
          </c:dLbls>
          <c:dPt>
            <c:idx val="0"/>
            <c:invertIfNegative val="0"/>
            <c:bubble3D val="0"/>
            <c:spPr>
              <a:solidFill>
                <a:srgbClr val="3A4456"/>
              </a:solidFill>
              <a:effectLst/>
            </c:spPr>
          </c:dPt>
          <c:dPt>
            <c:idx val="1"/>
            <c:invertIfNegative val="0"/>
            <c:bubble3D val="0"/>
            <c:spPr>
              <a:solidFill>
                <a:srgbClr val="2C3547"/>
              </a:solidFill>
              <a:effectLst/>
            </c:spPr>
          </c:dPt>
          <c:dPt>
            <c:idx val="2"/>
            <c:invertIfNegative val="0"/>
            <c:bubble3D val="0"/>
            <c:spPr>
              <a:solidFill>
                <a:srgbClr val="22D3EE"/>
              </a:solidFill>
              <a:effectLst/>
            </c:spPr>
          </c:dPt>
          <c:dPt>
            <c:idx val="3"/>
            <c:invertIfNegative val="0"/>
            <c:bubble3D val="0"/>
            <c:spPr>
              <a:solidFill>
                <a:srgbClr val="2C3547"/>
              </a:solidFill>
              <a:effectLst/>
            </c:spPr>
          </c:dPt>
          <c:dPt>
            <c:idx val="4"/>
            <c:invertIfNegative val="0"/>
            <c:bubble3D val="0"/>
            <c:spPr>
              <a:solidFill>
                <a:srgbClr val="2C3547"/>
              </a:solidFill>
              <a:effectLst/>
            </c:spPr>
          </c:dPt>
          <c:dPt>
            <c:idx val="5"/>
            <c:invertIfNegative val="0"/>
            <c:bubble3D val="0"/>
            <c:spPr>
              <a:solidFill>
                <a:srgbClr val="FB7185"/>
              </a:solidFill>
              <a:effectLst/>
            </c:spPr>
          </c:dPt>
          <c:dPt>
            <c:idx val="6"/>
            <c:invertIfNegative val="0"/>
            <c:bubble3D val="0"/>
            <c:spPr>
              <a:solidFill>
                <a:srgbClr val="22D3EE"/>
              </a:solidFill>
              <a:effectLst/>
            </c:spPr>
          </c:dPt>
          <c:cat>
            <c:multiLvlStrRef>
              <c:f>Sheet1!$A$2:$A$8</c:f>
              <c:multiLvlStrCache>
                <c:ptCount val="7"/>
                <c:lvl>
                  <c:pt idx="0">
                    <c:v>A MiniLM</c:v>
                  </c:pt>
                  <c:pt idx="1">
                    <c:v>B DeBERTa</c:v>
                  </c:pt>
                  <c:pt idx="2">
                    <c:v>C Cascade</c:v>
                  </c:pt>
                  <c:pt idx="3">
                    <c:v>D + tool</c:v>
                  </c:pt>
                  <c:pt idx="4">
                    <c:v>E + disagree</c:v>
                  </c:pt>
                  <c:pt idx="5">
                    <c:v>F + drift</c:v>
                  </c:pt>
                  <c:pt idx="6">
                    <c:v>G Full</c:v>
                  </c:pt>
                </c:lvl>
              </c:multiLvlStrCache>
            </c:multiLvlStrRef>
          </c:cat>
          <c:val>
            <c:numRef>
              <c:f>Sheet1!$B$2:$B$8</c:f>
              <c:numCache>
                <c:formatCode>General</c:formatCode>
                <c:ptCount val="7"/>
                <c:pt idx="0">
                  <c:v>0.786</c:v>
                </c:pt>
                <c:pt idx="1">
                  <c:v>0.963</c:v>
                </c:pt>
                <c:pt idx="2">
                  <c:v>0.963</c:v>
                </c:pt>
                <c:pt idx="3">
                  <c:v>0.963</c:v>
                </c:pt>
                <c:pt idx="4">
                  <c:v>0.963</c:v>
                </c:pt>
                <c:pt idx="5">
                  <c:v>0.619</c:v>
                </c:pt>
                <c:pt idx="6">
                  <c:v>0.963</c:v>
                </c:pt>
              </c:numCache>
            </c:numRef>
          </c:val>
        </c:ser>
        <c:dLbls>
          <c:numFmt formatCode="0.000" sourceLinked="0"/>
          <c:txPr>
            <a:bodyPr/>
            <a:lstStyle/>
            <a:p>
              <a:pPr>
                <a:defRPr b="0" i="0" strike="noStrike" sz="1000" u="none">
                  <a:solidFill>
                    <a:srgbClr val="E8ECF5"/>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AA4BD"/>
                </a:solidFill>
                <a:latin typeface="Arial"/>
              </a:defRPr>
            </a:pPr>
            <a:endParaRPr lang="en-US"/>
          </a:p>
        </c:txPr>
        <c:crossAx val="2094734552"/>
        <c:crosses val="autoZero"/>
        <c:auto val="1"/>
        <c:lblAlgn val="ctr"/>
        <c:noMultiLvlLbl val="1"/>
      </c:catAx>
      <c:valAx>
        <c:axId val="2094734552"/>
        <c:scaling>
          <c:orientation val="minMax"/>
          <c:max val="1.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guide and panel names before presenting. State the review number out loud so the panel knows which checklist you are being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ninety seconds. The one sentence that must land is the last one: rare faults plus sampled evaluation equals faults you never see. Everything in the architecture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of the seventeen surveyed works are from 2023 onward, which meets the checklist requirement. The limitation column is what motivates the gap on the next slide: consistency metrics assume a single-document premise, judge-based methods pay per evaluation, drift methods are not tied to correctness, and MAST describes multi-agent failures without detecting them at runtime. Read every paper on this slide before the review - a panel that finds you cannot discuss a row you cited will discount the whole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with a measured outcome next to it rather than a claim. Be ready to defend O5: reporting that three of four signals failed external validation is a completed objective, not an incomplete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for "why this over alternatives" on every box. The three justifications on the right are the answers. The strongest is the last: if evaluation is inline you are forced back to sampling, and the whole premise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a deliberate concession. If a panel member raises label quality, you have already named it as the largest validity threat, and you can point to the kappa figure and the provenance split as the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past the red row. Volunteering that your full system underperforms an ablated variant, and giving the mechanism plus the date caveat, is far stronger than being caught at it. Expect a question here and welcome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will ask why four configurations report the same F1. The answer is the strongest methodological point in the deck: the test split could not exercise those components, and noticing that is what led to the external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validated signals with their held-out numbers, then the story of how drift got there. Always say the coverage figure in the same breath as the AUC - that pairing is the honesty discipline this project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brisk, ninety seconds. The framing sentence: every one of these was obtained by running the system, not by reasoning about the design. The durability figure in particular came from actually killing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Final Review checklist asks for statistical rigor and the honest answer is mixed. Saying so directly is far safer than presenting a single-run F1 as though it were an established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Three for three is not bad luck, it is a finding about how self-authored benchmarks get built. If you only get one technical point across in the viva, make it the evidence-partition problem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calmly and without apology. Every line has a number or a reason behind it. Naming your own limits converts a likely attack into evidence of rigour.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half here. The line to say out loud: anyone can demo a dashboard - what distinguishes this work is that it turned its instruments on itself and published what it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three outstanding items - the panel has the checklist in front of them and will notice. Listing them with a timeline reads as control; being caught reads as the opposite.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asks that future work identify genuine next steps rather than filler. Items 1 to 3 are commitments with dates; items 4 and 5 are the open questions this project surfaced.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 do not present unless asked. Its purpose is to have the full list on hand if the panel asks what else was surveyed beyond the ten rows in the comparison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fourth bullet, not the first. Then stop talking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778240" y="-1554480"/>
            <a:ext cx="4937760" cy="4937760"/>
          </a:xfrm>
          <a:prstGeom prst="ellipse">
            <a:avLst/>
          </a:prstGeom>
          <a:solidFill>
            <a:srgbClr val="22D3EE">
              <a:alpha val="8000"/>
            </a:srgbClr>
          </a:solidFill>
          <a:ln w="12700">
            <a:solidFill>
              <a:srgbClr val="333333"/>
            </a:solidFill>
            <a:prstDash val="solid"/>
          </a:ln>
        </p:spPr>
      </p:sp>
      <p:sp>
        <p:nvSpPr>
          <p:cNvPr id="3" name="Text 1"/>
          <p:cNvSpPr/>
          <p:nvPr/>
        </p:nvSpPr>
        <p:spPr>
          <a:xfrm>
            <a:off x="640080" y="1463040"/>
            <a:ext cx="7315200" cy="274320"/>
          </a:xfrm>
          <a:prstGeom prst="rect">
            <a:avLst/>
          </a:prstGeom>
          <a:noFill/>
          <a:ln/>
        </p:spPr>
        <p:txBody>
          <a:bodyPr wrap="square" lIns="0" tIns="0" rIns="0" bIns="0" rtlCol="0" anchor="ctr"/>
          <a:lstStyle/>
          <a:p>
            <a:pPr indent="0" marL="0">
              <a:buNone/>
            </a:pPr>
            <a:r>
              <a:rPr lang="en-US" sz="1200" b="1" spc="300" kern="0" dirty="0">
                <a:solidFill>
                  <a:srgbClr val="22D3EE"/>
                </a:solidFill>
                <a:latin typeface="Calibri" pitchFamily="34" charset="0"/>
                <a:ea typeface="Calibri" pitchFamily="34" charset="-122"/>
                <a:cs typeface="Calibri" pitchFamily="34" charset="-120"/>
              </a:rPr>
              <a:t>FINAL REVIEW</a:t>
            </a:r>
            <a:endParaRPr lang="en-US" sz="1200" dirty="0"/>
          </a:p>
        </p:txBody>
      </p:sp>
      <p:sp>
        <p:nvSpPr>
          <p:cNvPr id="4" name="Text 2"/>
          <p:cNvSpPr/>
          <p:nvPr/>
        </p:nvSpPr>
        <p:spPr>
          <a:xfrm>
            <a:off x="640080" y="1874520"/>
            <a:ext cx="8229600" cy="1005840"/>
          </a:xfrm>
          <a:prstGeom prst="rect">
            <a:avLst/>
          </a:prstGeom>
          <a:noFill/>
          <a:ln/>
        </p:spPr>
        <p:txBody>
          <a:bodyPr wrap="square" lIns="0" tIns="0" rIns="0" bIns="0" rtlCol="0" anchor="ctr"/>
          <a:lstStyle/>
          <a:p>
            <a:pPr indent="0" marL="0">
              <a:buNone/>
            </a:pPr>
            <a:r>
              <a:rPr lang="en-US" sz="5400" b="1" dirty="0">
                <a:solidFill>
                  <a:srgbClr val="E8ECF5"/>
                </a:solidFill>
                <a:latin typeface="Cambria" pitchFamily="34" charset="0"/>
                <a:ea typeface="Cambria" pitchFamily="34" charset="-122"/>
                <a:cs typeface="Cambria" pitchFamily="34" charset="-120"/>
              </a:rPr>
              <a:t>AgentPulse</a:t>
            </a:r>
            <a:endParaRPr lang="en-US" sz="5400" dirty="0"/>
          </a:p>
        </p:txBody>
      </p:sp>
      <p:sp>
        <p:nvSpPr>
          <p:cNvPr id="5" name="Text 3"/>
          <p:cNvSpPr/>
          <p:nvPr/>
        </p:nvSpPr>
        <p:spPr>
          <a:xfrm>
            <a:off x="640080" y="2880360"/>
            <a:ext cx="7680960" cy="731520"/>
          </a:xfrm>
          <a:prstGeom prst="rect">
            <a:avLst/>
          </a:prstGeom>
          <a:noFill/>
          <a:ln/>
        </p:spPr>
        <p:txBody>
          <a:bodyPr wrap="square" lIns="0" tIns="0" rIns="0" bIns="0" rtlCol="0" anchor="ctr"/>
          <a:lstStyle/>
          <a:p>
            <a:pPr indent="0" marL="0">
              <a:buNone/>
            </a:pPr>
            <a:r>
              <a:rPr lang="en-US" sz="1800" dirty="0">
                <a:solidFill>
                  <a:srgbClr val="9AA4BD"/>
                </a:solidFill>
                <a:latin typeface="Calibri" pitchFamily="34" charset="0"/>
                <a:ea typeface="Calibri" pitchFamily="34" charset="-122"/>
                <a:cs typeface="Calibri" pitchFamily="34" charset="-120"/>
              </a:rPr>
              <a:t>Continuous grounding and drift observability for multi-agent LLM systems</a:t>
            </a:r>
            <a:endParaRPr lang="en-US" sz="1800" dirty="0"/>
          </a:p>
        </p:txBody>
      </p:sp>
      <p:sp>
        <p:nvSpPr>
          <p:cNvPr id="6" name="Text 4"/>
          <p:cNvSpPr/>
          <p:nvPr/>
        </p:nvSpPr>
        <p:spPr>
          <a:xfrm>
            <a:off x="640080" y="3977640"/>
            <a:ext cx="7315200" cy="292608"/>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M.Tech - AIML</a:t>
            </a:r>
            <a:endParaRPr lang="en-US" sz="1300" dirty="0"/>
          </a:p>
        </p:txBody>
      </p:sp>
      <p:sp>
        <p:nvSpPr>
          <p:cNvPr id="7" name="Text 5"/>
          <p:cNvSpPr/>
          <p:nvPr/>
        </p:nvSpPr>
        <p:spPr>
          <a:xfrm>
            <a:off x="640080" y="5074920"/>
            <a:ext cx="4572000" cy="320040"/>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Somnath Reddy</a:t>
            </a:r>
            <a:endParaRPr lang="en-US" sz="1500" dirty="0"/>
          </a:p>
        </p:txBody>
      </p:sp>
      <p:sp>
        <p:nvSpPr>
          <p:cNvPr id="8" name="Text 6"/>
          <p:cNvSpPr/>
          <p:nvPr/>
        </p:nvSpPr>
        <p:spPr>
          <a:xfrm>
            <a:off x="640080" y="5440680"/>
            <a:ext cx="8229600" cy="274320"/>
          </a:xfrm>
          <a:prstGeom prst="rect">
            <a:avLst/>
          </a:prstGeom>
          <a:noFill/>
          <a:ln/>
        </p:spPr>
        <p:txBody>
          <a:bodyPr wrap="square" lIns="0" tIns="0" rIns="0" bIns="0" rtlCol="0" anchor="ctr"/>
          <a:lstStyle/>
          <a:p>
            <a:pPr indent="0" marL="0">
              <a:buNone/>
            </a:pPr>
            <a:r>
              <a:rPr lang="en-US" sz="1150" dirty="0">
                <a:solidFill>
                  <a:srgbClr val="6B7690"/>
                </a:solidFill>
                <a:latin typeface="Calibri" pitchFamily="34" charset="0"/>
                <a:ea typeface="Calibri" pitchFamily="34" charset="-122"/>
                <a:cs typeface="Calibri" pitchFamily="34" charset="-120"/>
              </a:rPr>
              <a:t>Guide: ______________________     Panel: ______________________</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PROBLEM STATEMENT</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Multi-agent systems fail without failing</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Problem statement + motivation</a:t>
            </a:r>
            <a:endParaRPr lang="en-US" sz="900" dirty="0"/>
          </a:p>
        </p:txBody>
      </p:sp>
      <p:sp>
        <p:nvSpPr>
          <p:cNvPr id="6" name="Text 4"/>
          <p:cNvSpPr/>
          <p:nvPr/>
        </p:nvSpPr>
        <p:spPr>
          <a:xfrm>
            <a:off x="640080" y="1463040"/>
            <a:ext cx="10881360" cy="640080"/>
          </a:xfrm>
          <a:prstGeom prst="rect">
            <a:avLst/>
          </a:prstGeom>
          <a:noFill/>
          <a:ln/>
        </p:spPr>
        <p:txBody>
          <a:bodyPr wrap="square" lIns="0" tIns="0" rIns="0" bIns="0" rtlCol="0" anchor="ctr"/>
          <a:lstStyle/>
          <a:p>
            <a:pPr indent="0" marL="0">
              <a:buNone/>
            </a:pPr>
            <a:r>
              <a:rPr lang="en-US" sz="1450" dirty="0">
                <a:solidFill>
                  <a:srgbClr val="141922"/>
                </a:solidFill>
                <a:latin typeface="Calibri" pitchFamily="34" charset="0"/>
                <a:ea typeface="Calibri" pitchFamily="34" charset="-122"/>
                <a:cs typeface="Calibri" pitchFamily="34" charset="-120"/>
              </a:rPr>
              <a:t>A multi-agent LLM pipeline can produce a fluent, well-formed, entirely unsupported answer while every service reports success. No exception is raised and no latency alarm fires.</a:t>
            </a:r>
            <a:endParaRPr lang="en-US" sz="1450" dirty="0"/>
          </a:p>
        </p:txBody>
      </p:sp>
      <p:sp>
        <p:nvSpPr>
          <p:cNvPr id="7" name="Shape 5"/>
          <p:cNvSpPr/>
          <p:nvPr/>
        </p:nvSpPr>
        <p:spPr>
          <a:xfrm>
            <a:off x="640080" y="2286000"/>
            <a:ext cx="2606040" cy="1691640"/>
          </a:xfrm>
          <a:prstGeom prst="roundRect">
            <a:avLst>
              <a:gd name="adj" fmla="val 3784"/>
            </a:avLst>
          </a:prstGeom>
          <a:solidFill>
            <a:srgbClr val="FFFFFF"/>
          </a:solidFill>
          <a:ln w="12700">
            <a:solidFill>
              <a:srgbClr val="FFFFFF"/>
            </a:solidFill>
            <a:prstDash val="solid"/>
          </a:ln>
        </p:spPr>
      </p:sp>
      <p:sp>
        <p:nvSpPr>
          <p:cNvPr id="8" name="Shape 6"/>
          <p:cNvSpPr/>
          <p:nvPr/>
        </p:nvSpPr>
        <p:spPr>
          <a:xfrm>
            <a:off x="896112" y="2514600"/>
            <a:ext cx="182880" cy="182880"/>
          </a:xfrm>
          <a:prstGeom prst="ellipse">
            <a:avLst/>
          </a:prstGeom>
          <a:solidFill>
            <a:srgbClr val="FB7185"/>
          </a:solidFill>
          <a:ln w="12700">
            <a:solidFill>
              <a:srgbClr val="333333"/>
            </a:solidFill>
            <a:prstDash val="solid"/>
          </a:ln>
        </p:spPr>
      </p:sp>
      <p:sp>
        <p:nvSpPr>
          <p:cNvPr id="9" name="Text 7"/>
          <p:cNvSpPr/>
          <p:nvPr/>
        </p:nvSpPr>
        <p:spPr>
          <a:xfrm>
            <a:off x="8961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Grounding failure</a:t>
            </a:r>
            <a:endParaRPr lang="en-US" sz="1350" dirty="0"/>
          </a:p>
        </p:txBody>
      </p:sp>
      <p:sp>
        <p:nvSpPr>
          <p:cNvPr id="10" name="Text 8"/>
          <p:cNvSpPr/>
          <p:nvPr/>
        </p:nvSpPr>
        <p:spPr>
          <a:xfrm>
            <a:off x="8961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claim its own retrieved evidence does not support.</a:t>
            </a:r>
            <a:endParaRPr lang="en-US" sz="1150" dirty="0"/>
          </a:p>
        </p:txBody>
      </p:sp>
      <p:sp>
        <p:nvSpPr>
          <p:cNvPr id="11" name="Shape 9"/>
          <p:cNvSpPr/>
          <p:nvPr/>
        </p:nvSpPr>
        <p:spPr>
          <a:xfrm>
            <a:off x="3383280" y="2286000"/>
            <a:ext cx="2606040" cy="1691640"/>
          </a:xfrm>
          <a:prstGeom prst="roundRect">
            <a:avLst>
              <a:gd name="adj" fmla="val 3784"/>
            </a:avLst>
          </a:prstGeom>
          <a:solidFill>
            <a:srgbClr val="FFFFFF"/>
          </a:solidFill>
          <a:ln w="12700">
            <a:solidFill>
              <a:srgbClr val="FFFFFF"/>
            </a:solidFill>
            <a:prstDash val="solid"/>
          </a:ln>
        </p:spPr>
      </p:sp>
      <p:sp>
        <p:nvSpPr>
          <p:cNvPr id="12" name="Shape 10"/>
          <p:cNvSpPr/>
          <p:nvPr/>
        </p:nvSpPr>
        <p:spPr>
          <a:xfrm>
            <a:off x="3639312" y="2514600"/>
            <a:ext cx="182880" cy="182880"/>
          </a:xfrm>
          <a:prstGeom prst="ellipse">
            <a:avLst/>
          </a:prstGeom>
          <a:solidFill>
            <a:srgbClr val="FBBF24"/>
          </a:solidFill>
          <a:ln w="12700">
            <a:solidFill>
              <a:srgbClr val="333333"/>
            </a:solidFill>
            <a:prstDash val="solid"/>
          </a:ln>
        </p:spPr>
      </p:sp>
      <p:sp>
        <p:nvSpPr>
          <p:cNvPr id="13" name="Text 11"/>
          <p:cNvSpPr/>
          <p:nvPr/>
        </p:nvSpPr>
        <p:spPr>
          <a:xfrm>
            <a:off x="36393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Cross-agent contradiction</a:t>
            </a:r>
            <a:endParaRPr lang="en-US" sz="1350" dirty="0"/>
          </a:p>
        </p:txBody>
      </p:sp>
      <p:sp>
        <p:nvSpPr>
          <p:cNvPr id="14" name="Text 12"/>
          <p:cNvSpPr/>
          <p:nvPr/>
        </p:nvSpPr>
        <p:spPr>
          <a:xfrm>
            <a:off x="36393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agents disagree and the pipeline proceeds regardless.</a:t>
            </a:r>
            <a:endParaRPr lang="en-US" sz="1150" dirty="0"/>
          </a:p>
        </p:txBody>
      </p:sp>
      <p:sp>
        <p:nvSpPr>
          <p:cNvPr id="15" name="Shape 13"/>
          <p:cNvSpPr/>
          <p:nvPr/>
        </p:nvSpPr>
        <p:spPr>
          <a:xfrm>
            <a:off x="6126480" y="2286000"/>
            <a:ext cx="2606040" cy="1691640"/>
          </a:xfrm>
          <a:prstGeom prst="roundRect">
            <a:avLst>
              <a:gd name="adj" fmla="val 3784"/>
            </a:avLst>
          </a:prstGeom>
          <a:solidFill>
            <a:srgbClr val="FFFFFF"/>
          </a:solidFill>
          <a:ln w="12700">
            <a:solidFill>
              <a:srgbClr val="FFFFFF"/>
            </a:solidFill>
            <a:prstDash val="solid"/>
          </a:ln>
        </p:spPr>
      </p:sp>
      <p:sp>
        <p:nvSpPr>
          <p:cNvPr id="16" name="Shape 14"/>
          <p:cNvSpPr/>
          <p:nvPr/>
        </p:nvSpPr>
        <p:spPr>
          <a:xfrm>
            <a:off x="6382512" y="2514600"/>
            <a:ext cx="182880" cy="182880"/>
          </a:xfrm>
          <a:prstGeom prst="ellipse">
            <a:avLst/>
          </a:prstGeom>
          <a:solidFill>
            <a:srgbClr val="FB7185"/>
          </a:solidFill>
          <a:ln w="12700">
            <a:solidFill>
              <a:srgbClr val="333333"/>
            </a:solidFill>
            <a:prstDash val="solid"/>
          </a:ln>
        </p:spPr>
      </p:sp>
      <p:sp>
        <p:nvSpPr>
          <p:cNvPr id="17" name="Text 15"/>
          <p:cNvSpPr/>
          <p:nvPr/>
        </p:nvSpPr>
        <p:spPr>
          <a:xfrm>
            <a:off x="63825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Tool-result fabrication</a:t>
            </a:r>
            <a:endParaRPr lang="en-US" sz="1350" dirty="0"/>
          </a:p>
        </p:txBody>
      </p:sp>
      <p:sp>
        <p:nvSpPr>
          <p:cNvPr id="18" name="Text 16"/>
          <p:cNvSpPr/>
          <p:nvPr/>
        </p:nvSpPr>
        <p:spPr>
          <a:xfrm>
            <a:off x="63825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The agent describes a result the tool never returned.</a:t>
            </a:r>
            <a:endParaRPr lang="en-US" sz="1150" dirty="0"/>
          </a:p>
        </p:txBody>
      </p:sp>
      <p:sp>
        <p:nvSpPr>
          <p:cNvPr id="19" name="Shape 17"/>
          <p:cNvSpPr/>
          <p:nvPr/>
        </p:nvSpPr>
        <p:spPr>
          <a:xfrm>
            <a:off x="8869680" y="2286000"/>
            <a:ext cx="2606040" cy="1691640"/>
          </a:xfrm>
          <a:prstGeom prst="roundRect">
            <a:avLst>
              <a:gd name="adj" fmla="val 3784"/>
            </a:avLst>
          </a:prstGeom>
          <a:solidFill>
            <a:srgbClr val="FFFFFF"/>
          </a:solidFill>
          <a:ln w="12700">
            <a:solidFill>
              <a:srgbClr val="FFFFFF"/>
            </a:solidFill>
            <a:prstDash val="solid"/>
          </a:ln>
        </p:spPr>
      </p:sp>
      <p:sp>
        <p:nvSpPr>
          <p:cNvPr id="20" name="Shape 18"/>
          <p:cNvSpPr/>
          <p:nvPr/>
        </p:nvSpPr>
        <p:spPr>
          <a:xfrm>
            <a:off x="9125712" y="2514600"/>
            <a:ext cx="182880" cy="182880"/>
          </a:xfrm>
          <a:prstGeom prst="ellipse">
            <a:avLst/>
          </a:prstGeom>
          <a:solidFill>
            <a:srgbClr val="FBBF24"/>
          </a:solidFill>
          <a:ln w="12700">
            <a:solidFill>
              <a:srgbClr val="333333"/>
            </a:solidFill>
            <a:prstDash val="solid"/>
          </a:ln>
        </p:spPr>
      </p:sp>
      <p:sp>
        <p:nvSpPr>
          <p:cNvPr id="21" name="Text 19"/>
          <p:cNvSpPr/>
          <p:nvPr/>
        </p:nvSpPr>
        <p:spPr>
          <a:xfrm>
            <a:off x="91257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Behavioural drift</a:t>
            </a:r>
            <a:endParaRPr lang="en-US" sz="1350" dirty="0"/>
          </a:p>
        </p:txBody>
      </p:sp>
      <p:sp>
        <p:nvSpPr>
          <p:cNvPr id="22" name="Text 20"/>
          <p:cNvSpPr/>
          <p:nvPr/>
        </p:nvSpPr>
        <p:spPr>
          <a:xfrm>
            <a:off x="91257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Output distribution moves after a model or prompt change.</a:t>
            </a:r>
            <a:endParaRPr lang="en-US" sz="1150" dirty="0"/>
          </a:p>
        </p:txBody>
      </p:sp>
      <p:sp>
        <p:nvSpPr>
          <p:cNvPr id="23" name="Shape 21"/>
          <p:cNvSpPr/>
          <p:nvPr/>
        </p:nvSpPr>
        <p:spPr>
          <a:xfrm>
            <a:off x="640080" y="4251960"/>
            <a:ext cx="10881360" cy="1371600"/>
          </a:xfrm>
          <a:prstGeom prst="roundRect">
            <a:avLst>
              <a:gd name="adj" fmla="val 4667"/>
            </a:avLst>
          </a:prstGeom>
          <a:solidFill>
            <a:srgbClr val="FFFFFF"/>
          </a:solidFill>
          <a:ln w="12700">
            <a:solidFill>
              <a:srgbClr val="FFFFFF"/>
            </a:solidFill>
            <a:prstDash val="solid"/>
          </a:ln>
        </p:spPr>
      </p:sp>
      <p:sp>
        <p:nvSpPr>
          <p:cNvPr id="24" name="Text 22"/>
          <p:cNvSpPr/>
          <p:nvPr/>
        </p:nvSpPr>
        <p:spPr>
          <a:xfrm>
            <a:off x="960120" y="4434840"/>
            <a:ext cx="102412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Why it matters</a:t>
            </a:r>
            <a:endParaRPr lang="en-US" sz="1350" dirty="0"/>
          </a:p>
        </p:txBody>
      </p:sp>
      <p:sp>
        <p:nvSpPr>
          <p:cNvPr id="25" name="Text 23"/>
          <p:cNvSpPr/>
          <p:nvPr/>
        </p:nvSpPr>
        <p:spPr>
          <a:xfrm>
            <a:off x="960120" y="4754880"/>
            <a:ext cx="10241280" cy="7315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These faults are rare, so the standard practice of sampling a percentage of traffic for quality evaluation is structurally the wrong instrument: the sample is most likely to miss exactly the events worth catching. Anyone deploying agents in a regulated or high-consequence setting needs per-span evidence, not an aggregate.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LITERATURE SURVEY</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Comparison of prior work</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Lit. survey - comparison table</a:t>
            </a:r>
            <a:endParaRPr lang="en-US" sz="900" dirty="0"/>
          </a:p>
        </p:txBody>
      </p:sp>
      <p:sp>
        <p:nvSpPr>
          <p:cNvPr id="6" name="Text 4"/>
          <p:cNvSpPr/>
          <p:nvPr/>
        </p:nvSpPr>
        <p:spPr>
          <a:xfrm>
            <a:off x="841248" y="1353312"/>
            <a:ext cx="169164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WORK, YEAR</a:t>
            </a:r>
            <a:endParaRPr lang="en-US" sz="850" dirty="0"/>
          </a:p>
        </p:txBody>
      </p:sp>
      <p:sp>
        <p:nvSpPr>
          <p:cNvPr id="7" name="Text 5"/>
          <p:cNvSpPr/>
          <p:nvPr/>
        </p:nvSpPr>
        <p:spPr>
          <a:xfrm>
            <a:off x="2514600" y="1353312"/>
            <a:ext cx="242316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METHOD</a:t>
            </a:r>
            <a:endParaRPr lang="en-US" sz="850" dirty="0"/>
          </a:p>
        </p:txBody>
      </p:sp>
      <p:sp>
        <p:nvSpPr>
          <p:cNvPr id="8" name="Text 6"/>
          <p:cNvSpPr/>
          <p:nvPr/>
        </p:nvSpPr>
        <p:spPr>
          <a:xfrm>
            <a:off x="4937760" y="1353312"/>
            <a:ext cx="228600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EVALUATED ON</a:t>
            </a:r>
            <a:endParaRPr lang="en-US" sz="850" dirty="0"/>
          </a:p>
        </p:txBody>
      </p:sp>
      <p:sp>
        <p:nvSpPr>
          <p:cNvPr id="9" name="Text 7"/>
          <p:cNvSpPr/>
          <p:nvPr/>
        </p:nvSpPr>
        <p:spPr>
          <a:xfrm>
            <a:off x="7223760" y="1353312"/>
            <a:ext cx="173736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METRIC</a:t>
            </a:r>
            <a:endParaRPr lang="en-US" sz="850" dirty="0"/>
          </a:p>
        </p:txBody>
      </p:sp>
      <p:sp>
        <p:nvSpPr>
          <p:cNvPr id="10" name="Text 8"/>
          <p:cNvSpPr/>
          <p:nvPr/>
        </p:nvSpPr>
        <p:spPr>
          <a:xfrm>
            <a:off x="8961120" y="1353312"/>
            <a:ext cx="256032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LIMITATION FOR THIS PROBLEM</a:t>
            </a:r>
            <a:endParaRPr lang="en-US" sz="850" dirty="0"/>
          </a:p>
        </p:txBody>
      </p:sp>
      <p:sp>
        <p:nvSpPr>
          <p:cNvPr id="11" name="Shape 9"/>
          <p:cNvSpPr/>
          <p:nvPr/>
        </p:nvSpPr>
        <p:spPr>
          <a:xfrm>
            <a:off x="640080" y="1655064"/>
            <a:ext cx="10881360" cy="493776"/>
          </a:xfrm>
          <a:prstGeom prst="roundRect">
            <a:avLst>
              <a:gd name="adj" fmla="val 12963"/>
            </a:avLst>
          </a:prstGeom>
          <a:solidFill>
            <a:srgbClr val="FFFFFF"/>
          </a:solidFill>
          <a:ln w="12700">
            <a:solidFill>
              <a:srgbClr val="FFFFFF"/>
            </a:solidFill>
            <a:prstDash val="solid"/>
          </a:ln>
        </p:spPr>
      </p:sp>
      <p:sp>
        <p:nvSpPr>
          <p:cNvPr id="12" name="Text 10"/>
          <p:cNvSpPr/>
          <p:nvPr/>
        </p:nvSpPr>
        <p:spPr>
          <a:xfrm>
            <a:off x="841248" y="1783080"/>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SummaC, 2022</a:t>
            </a:r>
            <a:endParaRPr lang="en-US" sz="980" dirty="0"/>
          </a:p>
        </p:txBody>
      </p:sp>
      <p:sp>
        <p:nvSpPr>
          <p:cNvPr id="13" name="Text 11"/>
          <p:cNvSpPr/>
          <p:nvPr/>
        </p:nvSpPr>
        <p:spPr>
          <a:xfrm>
            <a:off x="2514600" y="1783080"/>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NLI at sentence granularity</a:t>
            </a:r>
            <a:endParaRPr lang="en-US" sz="980" dirty="0"/>
          </a:p>
        </p:txBody>
      </p:sp>
      <p:sp>
        <p:nvSpPr>
          <p:cNvPr id="14" name="Text 12"/>
          <p:cNvSpPr/>
          <p:nvPr/>
        </p:nvSpPr>
        <p:spPr>
          <a:xfrm>
            <a:off x="4937760" y="1783080"/>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SummaC, 6 datasets</a:t>
            </a:r>
            <a:endParaRPr lang="en-US" sz="980" dirty="0"/>
          </a:p>
        </p:txBody>
      </p:sp>
      <p:sp>
        <p:nvSpPr>
          <p:cNvPr id="15" name="Text 13"/>
          <p:cNvSpPr/>
          <p:nvPr/>
        </p:nvSpPr>
        <p:spPr>
          <a:xfrm>
            <a:off x="7223760" y="1783080"/>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Bal. acc 74.4%</a:t>
            </a:r>
            <a:endParaRPr lang="en-US" sz="980" dirty="0"/>
          </a:p>
        </p:txBody>
      </p:sp>
      <p:sp>
        <p:nvSpPr>
          <p:cNvPr id="16" name="Text 14"/>
          <p:cNvSpPr/>
          <p:nvPr/>
        </p:nvSpPr>
        <p:spPr>
          <a:xfrm>
            <a:off x="8961120" y="1783080"/>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Summarisation only; single-document premise</a:t>
            </a:r>
            <a:endParaRPr lang="en-US" sz="980" dirty="0"/>
          </a:p>
        </p:txBody>
      </p:sp>
      <p:sp>
        <p:nvSpPr>
          <p:cNvPr id="17" name="Shape 15"/>
          <p:cNvSpPr/>
          <p:nvPr/>
        </p:nvSpPr>
        <p:spPr>
          <a:xfrm>
            <a:off x="640080" y="2194560"/>
            <a:ext cx="10881360" cy="493776"/>
          </a:xfrm>
          <a:prstGeom prst="roundRect">
            <a:avLst>
              <a:gd name="adj" fmla="val 12963"/>
            </a:avLst>
          </a:prstGeom>
          <a:solidFill>
            <a:srgbClr val="FAFBFD"/>
          </a:solidFill>
          <a:ln w="12700">
            <a:solidFill>
              <a:srgbClr val="FAFBFD"/>
            </a:solidFill>
            <a:prstDash val="solid"/>
          </a:ln>
        </p:spPr>
      </p:sp>
      <p:sp>
        <p:nvSpPr>
          <p:cNvPr id="18" name="Text 16"/>
          <p:cNvSpPr/>
          <p:nvPr/>
        </p:nvSpPr>
        <p:spPr>
          <a:xfrm>
            <a:off x="841248" y="2322576"/>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AlignScore, 2023</a:t>
            </a:r>
            <a:endParaRPr lang="en-US" sz="980" dirty="0"/>
          </a:p>
        </p:txBody>
      </p:sp>
      <p:sp>
        <p:nvSpPr>
          <p:cNvPr id="19" name="Text 17"/>
          <p:cNvSpPr/>
          <p:nvPr/>
        </p:nvSpPr>
        <p:spPr>
          <a:xfrm>
            <a:off x="2514600" y="2322576"/>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Unified alignment function</a:t>
            </a:r>
            <a:endParaRPr lang="en-US" sz="980" dirty="0"/>
          </a:p>
        </p:txBody>
      </p:sp>
      <p:sp>
        <p:nvSpPr>
          <p:cNvPr id="20" name="Text 18"/>
          <p:cNvSpPr/>
          <p:nvPr/>
        </p:nvSpPr>
        <p:spPr>
          <a:xfrm>
            <a:off x="4937760" y="2322576"/>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NLI + QA + fact verif.</a:t>
            </a:r>
            <a:endParaRPr lang="en-US" sz="980" dirty="0"/>
          </a:p>
        </p:txBody>
      </p:sp>
      <p:sp>
        <p:nvSpPr>
          <p:cNvPr id="21" name="Text 19"/>
          <p:cNvSpPr/>
          <p:nvPr/>
        </p:nvSpPr>
        <p:spPr>
          <a:xfrm>
            <a:off x="7223760" y="2322576"/>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Corr. with human</a:t>
            </a:r>
            <a:endParaRPr lang="en-US" sz="980" dirty="0"/>
          </a:p>
        </p:txBody>
      </p:sp>
      <p:sp>
        <p:nvSpPr>
          <p:cNvPr id="22" name="Text 20"/>
          <p:cNvSpPr/>
          <p:nvPr/>
        </p:nvSpPr>
        <p:spPr>
          <a:xfrm>
            <a:off x="8961120" y="2322576"/>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Needs a trained unified model; no drift notion</a:t>
            </a:r>
            <a:endParaRPr lang="en-US" sz="980" dirty="0"/>
          </a:p>
        </p:txBody>
      </p:sp>
      <p:sp>
        <p:nvSpPr>
          <p:cNvPr id="23" name="Shape 21"/>
          <p:cNvSpPr/>
          <p:nvPr/>
        </p:nvSpPr>
        <p:spPr>
          <a:xfrm>
            <a:off x="640080" y="2734056"/>
            <a:ext cx="10881360" cy="493776"/>
          </a:xfrm>
          <a:prstGeom prst="roundRect">
            <a:avLst>
              <a:gd name="adj" fmla="val 12963"/>
            </a:avLst>
          </a:prstGeom>
          <a:solidFill>
            <a:srgbClr val="FFFFFF"/>
          </a:solidFill>
          <a:ln w="12700">
            <a:solidFill>
              <a:srgbClr val="FFFFFF"/>
            </a:solidFill>
            <a:prstDash val="solid"/>
          </a:ln>
        </p:spPr>
      </p:sp>
      <p:sp>
        <p:nvSpPr>
          <p:cNvPr id="24" name="Text 22"/>
          <p:cNvSpPr/>
          <p:nvPr/>
        </p:nvSpPr>
        <p:spPr>
          <a:xfrm>
            <a:off x="841248" y="2862072"/>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RAGAS, 2023</a:t>
            </a:r>
            <a:endParaRPr lang="en-US" sz="980" dirty="0"/>
          </a:p>
        </p:txBody>
      </p:sp>
      <p:sp>
        <p:nvSpPr>
          <p:cNvPr id="25" name="Text 23"/>
          <p:cNvSpPr/>
          <p:nvPr/>
        </p:nvSpPr>
        <p:spPr>
          <a:xfrm>
            <a:off x="2514600" y="2862072"/>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Reference-free LLM judge</a:t>
            </a:r>
            <a:endParaRPr lang="en-US" sz="980" dirty="0"/>
          </a:p>
        </p:txBody>
      </p:sp>
      <p:sp>
        <p:nvSpPr>
          <p:cNvPr id="26" name="Text 24"/>
          <p:cNvSpPr/>
          <p:nvPr/>
        </p:nvSpPr>
        <p:spPr>
          <a:xfrm>
            <a:off x="4937760" y="2862072"/>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WikiEval</a:t>
            </a:r>
            <a:endParaRPr lang="en-US" sz="980" dirty="0"/>
          </a:p>
        </p:txBody>
      </p:sp>
      <p:sp>
        <p:nvSpPr>
          <p:cNvPr id="27" name="Text 25"/>
          <p:cNvSpPr/>
          <p:nvPr/>
        </p:nvSpPr>
        <p:spPr>
          <a:xfrm>
            <a:off x="7223760" y="2862072"/>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Faithfulness, relevance</a:t>
            </a:r>
            <a:endParaRPr lang="en-US" sz="980" dirty="0"/>
          </a:p>
        </p:txBody>
      </p:sp>
      <p:sp>
        <p:nvSpPr>
          <p:cNvPr id="28" name="Text 26"/>
          <p:cNvSpPr/>
          <p:nvPr/>
        </p:nvSpPr>
        <p:spPr>
          <a:xfrm>
            <a:off x="8961120" y="2862072"/>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Judge bias; cost scales with coverage</a:t>
            </a:r>
            <a:endParaRPr lang="en-US" sz="980" dirty="0"/>
          </a:p>
        </p:txBody>
      </p:sp>
      <p:sp>
        <p:nvSpPr>
          <p:cNvPr id="29" name="Shape 27"/>
          <p:cNvSpPr/>
          <p:nvPr/>
        </p:nvSpPr>
        <p:spPr>
          <a:xfrm>
            <a:off x="640080" y="3273552"/>
            <a:ext cx="10881360" cy="493776"/>
          </a:xfrm>
          <a:prstGeom prst="roundRect">
            <a:avLst>
              <a:gd name="adj" fmla="val 12963"/>
            </a:avLst>
          </a:prstGeom>
          <a:solidFill>
            <a:srgbClr val="FAFBFD"/>
          </a:solidFill>
          <a:ln w="12700">
            <a:solidFill>
              <a:srgbClr val="FAFBFD"/>
            </a:solidFill>
            <a:prstDash val="solid"/>
          </a:ln>
        </p:spPr>
      </p:sp>
      <p:sp>
        <p:nvSpPr>
          <p:cNvPr id="30" name="Text 28"/>
          <p:cNvSpPr/>
          <p:nvPr/>
        </p:nvSpPr>
        <p:spPr>
          <a:xfrm>
            <a:off x="841248" y="3401568"/>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ARES, 2023</a:t>
            </a:r>
            <a:endParaRPr lang="en-US" sz="980" dirty="0"/>
          </a:p>
        </p:txBody>
      </p:sp>
      <p:sp>
        <p:nvSpPr>
          <p:cNvPr id="31" name="Text 29"/>
          <p:cNvSpPr/>
          <p:nvPr/>
        </p:nvSpPr>
        <p:spPr>
          <a:xfrm>
            <a:off x="2514600" y="3401568"/>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Fine-tuned judges + PPI</a:t>
            </a:r>
            <a:endParaRPr lang="en-US" sz="980" dirty="0"/>
          </a:p>
        </p:txBody>
      </p:sp>
      <p:sp>
        <p:nvSpPr>
          <p:cNvPr id="32" name="Text 30"/>
          <p:cNvSpPr/>
          <p:nvPr/>
        </p:nvSpPr>
        <p:spPr>
          <a:xfrm>
            <a:off x="4937760" y="3401568"/>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KILT, SuperGLUE, AIS</a:t>
            </a:r>
            <a:endParaRPr lang="en-US" sz="980" dirty="0"/>
          </a:p>
        </p:txBody>
      </p:sp>
      <p:sp>
        <p:nvSpPr>
          <p:cNvPr id="33" name="Text 31"/>
          <p:cNvSpPr/>
          <p:nvPr/>
        </p:nvSpPr>
        <p:spPr>
          <a:xfrm>
            <a:off x="7223760" y="3401568"/>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Ctx / answer accuracy</a:t>
            </a:r>
            <a:endParaRPr lang="en-US" sz="980" dirty="0"/>
          </a:p>
        </p:txBody>
      </p:sp>
      <p:sp>
        <p:nvSpPr>
          <p:cNvPr id="34" name="Text 32"/>
          <p:cNvSpPr/>
          <p:nvPr/>
        </p:nvSpPr>
        <p:spPr>
          <a:xfrm>
            <a:off x="8961120" y="3401568"/>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Needs 50-500 human-labelled triples per domain</a:t>
            </a:r>
            <a:endParaRPr lang="en-US" sz="980" dirty="0"/>
          </a:p>
        </p:txBody>
      </p:sp>
      <p:sp>
        <p:nvSpPr>
          <p:cNvPr id="35" name="Shape 33"/>
          <p:cNvSpPr/>
          <p:nvPr/>
        </p:nvSpPr>
        <p:spPr>
          <a:xfrm>
            <a:off x="640080" y="3813048"/>
            <a:ext cx="10881360" cy="493776"/>
          </a:xfrm>
          <a:prstGeom prst="roundRect">
            <a:avLst>
              <a:gd name="adj" fmla="val 12963"/>
            </a:avLst>
          </a:prstGeom>
          <a:solidFill>
            <a:srgbClr val="FFFFFF"/>
          </a:solidFill>
          <a:ln w="12700">
            <a:solidFill>
              <a:srgbClr val="FFFFFF"/>
            </a:solidFill>
            <a:prstDash val="solid"/>
          </a:ln>
        </p:spPr>
      </p:sp>
      <p:sp>
        <p:nvSpPr>
          <p:cNvPr id="36" name="Text 34"/>
          <p:cNvSpPr/>
          <p:nvPr/>
        </p:nvSpPr>
        <p:spPr>
          <a:xfrm>
            <a:off x="841248" y="3941064"/>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MT-Bench, 2023</a:t>
            </a:r>
            <a:endParaRPr lang="en-US" sz="980" dirty="0"/>
          </a:p>
        </p:txBody>
      </p:sp>
      <p:sp>
        <p:nvSpPr>
          <p:cNvPr id="37" name="Text 35"/>
          <p:cNvSpPr/>
          <p:nvPr/>
        </p:nvSpPr>
        <p:spPr>
          <a:xfrm>
            <a:off x="2514600" y="3941064"/>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LLM-as-judge, pairwise</a:t>
            </a:r>
            <a:endParaRPr lang="en-US" sz="980" dirty="0"/>
          </a:p>
        </p:txBody>
      </p:sp>
      <p:sp>
        <p:nvSpPr>
          <p:cNvPr id="38" name="Text 36"/>
          <p:cNvSpPr/>
          <p:nvPr/>
        </p:nvSpPr>
        <p:spPr>
          <a:xfrm>
            <a:off x="4937760" y="3941064"/>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MT-Bench, Chatbot Arena</a:t>
            </a:r>
            <a:endParaRPr lang="en-US" sz="980" dirty="0"/>
          </a:p>
        </p:txBody>
      </p:sp>
      <p:sp>
        <p:nvSpPr>
          <p:cNvPr id="39" name="Text 37"/>
          <p:cNvSpPr/>
          <p:nvPr/>
        </p:nvSpPr>
        <p:spPr>
          <a:xfrm>
            <a:off x="7223760" y="3941064"/>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&gt;80% human agreement</a:t>
            </a:r>
            <a:endParaRPr lang="en-US" sz="980" dirty="0"/>
          </a:p>
        </p:txBody>
      </p:sp>
      <p:sp>
        <p:nvSpPr>
          <p:cNvPr id="40" name="Text 38"/>
          <p:cNvSpPr/>
          <p:nvPr/>
        </p:nvSpPr>
        <p:spPr>
          <a:xfrm>
            <a:off x="8961120" y="3941064"/>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Position, verbosity, self-enhancement bias</a:t>
            </a:r>
            <a:endParaRPr lang="en-US" sz="980" dirty="0"/>
          </a:p>
        </p:txBody>
      </p:sp>
      <p:sp>
        <p:nvSpPr>
          <p:cNvPr id="41" name="Shape 39"/>
          <p:cNvSpPr/>
          <p:nvPr/>
        </p:nvSpPr>
        <p:spPr>
          <a:xfrm>
            <a:off x="640080" y="4352544"/>
            <a:ext cx="10881360" cy="493776"/>
          </a:xfrm>
          <a:prstGeom prst="roundRect">
            <a:avLst>
              <a:gd name="adj" fmla="val 12963"/>
            </a:avLst>
          </a:prstGeom>
          <a:solidFill>
            <a:srgbClr val="FAFBFD"/>
          </a:solidFill>
          <a:ln w="12700">
            <a:solidFill>
              <a:srgbClr val="FAFBFD"/>
            </a:solidFill>
            <a:prstDash val="solid"/>
          </a:ln>
        </p:spPr>
      </p:sp>
      <p:sp>
        <p:nvSpPr>
          <p:cNvPr id="42" name="Text 40"/>
          <p:cNvSpPr/>
          <p:nvPr/>
        </p:nvSpPr>
        <p:spPr>
          <a:xfrm>
            <a:off x="841248" y="4480560"/>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Prometheus, 2023</a:t>
            </a:r>
            <a:endParaRPr lang="en-US" sz="980" dirty="0"/>
          </a:p>
        </p:txBody>
      </p:sp>
      <p:sp>
        <p:nvSpPr>
          <p:cNvPr id="43" name="Text 41"/>
          <p:cNvSpPr/>
          <p:nvPr/>
        </p:nvSpPr>
        <p:spPr>
          <a:xfrm>
            <a:off x="2514600" y="4480560"/>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Fine-grained evaluator LM</a:t>
            </a:r>
            <a:endParaRPr lang="en-US" sz="980" dirty="0"/>
          </a:p>
        </p:txBody>
      </p:sp>
      <p:sp>
        <p:nvSpPr>
          <p:cNvPr id="44" name="Text 42"/>
          <p:cNvSpPr/>
          <p:nvPr/>
        </p:nvSpPr>
        <p:spPr>
          <a:xfrm>
            <a:off x="4937760" y="4480560"/>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Feedback Collection</a:t>
            </a:r>
            <a:endParaRPr lang="en-US" sz="980" dirty="0"/>
          </a:p>
        </p:txBody>
      </p:sp>
      <p:sp>
        <p:nvSpPr>
          <p:cNvPr id="45" name="Text 43"/>
          <p:cNvSpPr/>
          <p:nvPr/>
        </p:nvSpPr>
        <p:spPr>
          <a:xfrm>
            <a:off x="7223760" y="4480560"/>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Corr. with GPT-4</a:t>
            </a:r>
            <a:endParaRPr lang="en-US" sz="980" dirty="0"/>
          </a:p>
        </p:txBody>
      </p:sp>
      <p:sp>
        <p:nvSpPr>
          <p:cNvPr id="46" name="Text 44"/>
          <p:cNvSpPr/>
          <p:nvPr/>
        </p:nvSpPr>
        <p:spPr>
          <a:xfrm>
            <a:off x="8961120" y="4480560"/>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Absolute scoring; verbosity bias untested</a:t>
            </a:r>
            <a:endParaRPr lang="en-US" sz="980" dirty="0"/>
          </a:p>
        </p:txBody>
      </p:sp>
      <p:sp>
        <p:nvSpPr>
          <p:cNvPr id="47" name="Shape 45"/>
          <p:cNvSpPr/>
          <p:nvPr/>
        </p:nvSpPr>
        <p:spPr>
          <a:xfrm>
            <a:off x="640080" y="4892040"/>
            <a:ext cx="10881360" cy="493776"/>
          </a:xfrm>
          <a:prstGeom prst="roundRect">
            <a:avLst>
              <a:gd name="adj" fmla="val 12963"/>
            </a:avLst>
          </a:prstGeom>
          <a:solidFill>
            <a:srgbClr val="FFFFFF"/>
          </a:solidFill>
          <a:ln w="12700">
            <a:solidFill>
              <a:srgbClr val="FFFFFF"/>
            </a:solidFill>
            <a:prstDash val="solid"/>
          </a:ln>
        </p:spPr>
      </p:sp>
      <p:sp>
        <p:nvSpPr>
          <p:cNvPr id="48" name="Text 46"/>
          <p:cNvSpPr/>
          <p:nvPr/>
        </p:nvSpPr>
        <p:spPr>
          <a:xfrm>
            <a:off x="841248" y="5020056"/>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No Free Labels, 2025</a:t>
            </a:r>
            <a:endParaRPr lang="en-US" sz="980" dirty="0"/>
          </a:p>
        </p:txBody>
      </p:sp>
      <p:sp>
        <p:nvSpPr>
          <p:cNvPr id="49" name="Text 47"/>
          <p:cNvSpPr/>
          <p:nvPr/>
        </p:nvSpPr>
        <p:spPr>
          <a:xfrm>
            <a:off x="2514600" y="5020056"/>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Judging without grounding</a:t>
            </a:r>
            <a:endParaRPr lang="en-US" sz="980" dirty="0"/>
          </a:p>
        </p:txBody>
      </p:sp>
      <p:sp>
        <p:nvSpPr>
          <p:cNvPr id="50" name="Text 48"/>
          <p:cNvSpPr/>
          <p:nvPr/>
        </p:nvSpPr>
        <p:spPr>
          <a:xfrm>
            <a:off x="4937760" y="5020056"/>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Multiple QA sets</a:t>
            </a:r>
            <a:endParaRPr lang="en-US" sz="980" dirty="0"/>
          </a:p>
        </p:txBody>
      </p:sp>
      <p:sp>
        <p:nvSpPr>
          <p:cNvPr id="51" name="Text 49"/>
          <p:cNvSpPr/>
          <p:nvPr/>
        </p:nvSpPr>
        <p:spPr>
          <a:xfrm>
            <a:off x="7223760" y="5020056"/>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Judge-human gap</a:t>
            </a:r>
            <a:endParaRPr lang="en-US" sz="980" dirty="0"/>
          </a:p>
        </p:txBody>
      </p:sp>
      <p:sp>
        <p:nvSpPr>
          <p:cNvPr id="52" name="Text 50"/>
          <p:cNvSpPr/>
          <p:nvPr/>
        </p:nvSpPr>
        <p:spPr>
          <a:xfrm>
            <a:off x="8961120" y="5020056"/>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Shows judges unreliable without human anchors</a:t>
            </a:r>
            <a:endParaRPr lang="en-US" sz="980" dirty="0"/>
          </a:p>
        </p:txBody>
      </p:sp>
      <p:sp>
        <p:nvSpPr>
          <p:cNvPr id="53" name="Shape 51"/>
          <p:cNvSpPr/>
          <p:nvPr/>
        </p:nvSpPr>
        <p:spPr>
          <a:xfrm>
            <a:off x="640080" y="5431536"/>
            <a:ext cx="10881360" cy="493776"/>
          </a:xfrm>
          <a:prstGeom prst="roundRect">
            <a:avLst>
              <a:gd name="adj" fmla="val 12963"/>
            </a:avLst>
          </a:prstGeom>
          <a:solidFill>
            <a:srgbClr val="FAFBFD"/>
          </a:solidFill>
          <a:ln w="12700">
            <a:solidFill>
              <a:srgbClr val="FAFBFD"/>
            </a:solidFill>
            <a:prstDash val="solid"/>
          </a:ln>
        </p:spPr>
      </p:sp>
      <p:sp>
        <p:nvSpPr>
          <p:cNvPr id="54" name="Text 52"/>
          <p:cNvSpPr/>
          <p:nvPr/>
        </p:nvSpPr>
        <p:spPr>
          <a:xfrm>
            <a:off x="841248" y="5559552"/>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DriftLens, 2024</a:t>
            </a:r>
            <a:endParaRPr lang="en-US" sz="980" dirty="0"/>
          </a:p>
        </p:txBody>
      </p:sp>
      <p:sp>
        <p:nvSpPr>
          <p:cNvPr id="55" name="Text 53"/>
          <p:cNvSpPr/>
          <p:nvPr/>
        </p:nvSpPr>
        <p:spPr>
          <a:xfrm>
            <a:off x="2514600" y="5559552"/>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Unsupervised embedding drift</a:t>
            </a:r>
            <a:endParaRPr lang="en-US" sz="980" dirty="0"/>
          </a:p>
        </p:txBody>
      </p:sp>
      <p:sp>
        <p:nvSpPr>
          <p:cNvPr id="56" name="Text 54"/>
          <p:cNvSpPr/>
          <p:nvPr/>
        </p:nvSpPr>
        <p:spPr>
          <a:xfrm>
            <a:off x="4937760" y="5559552"/>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Text stream benchmarks</a:t>
            </a:r>
            <a:endParaRPr lang="en-US" sz="980" dirty="0"/>
          </a:p>
        </p:txBody>
      </p:sp>
      <p:sp>
        <p:nvSpPr>
          <p:cNvPr id="57" name="Text 55"/>
          <p:cNvSpPr/>
          <p:nvPr/>
        </p:nvSpPr>
        <p:spPr>
          <a:xfrm>
            <a:off x="7223760" y="5559552"/>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Detection delay</a:t>
            </a:r>
            <a:endParaRPr lang="en-US" sz="980" dirty="0"/>
          </a:p>
        </p:txBody>
      </p:sp>
      <p:sp>
        <p:nvSpPr>
          <p:cNvPr id="58" name="Text 56"/>
          <p:cNvSpPr/>
          <p:nvPr/>
        </p:nvSpPr>
        <p:spPr>
          <a:xfrm>
            <a:off x="8961120" y="5559552"/>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Drift only; not tied to output correctness</a:t>
            </a:r>
            <a:endParaRPr lang="en-US" sz="980" dirty="0"/>
          </a:p>
        </p:txBody>
      </p:sp>
      <p:sp>
        <p:nvSpPr>
          <p:cNvPr id="59" name="Shape 57"/>
          <p:cNvSpPr/>
          <p:nvPr/>
        </p:nvSpPr>
        <p:spPr>
          <a:xfrm>
            <a:off x="640080" y="5971032"/>
            <a:ext cx="10881360" cy="493776"/>
          </a:xfrm>
          <a:prstGeom prst="roundRect">
            <a:avLst>
              <a:gd name="adj" fmla="val 12963"/>
            </a:avLst>
          </a:prstGeom>
          <a:solidFill>
            <a:srgbClr val="FFFFFF"/>
          </a:solidFill>
          <a:ln w="12700">
            <a:solidFill>
              <a:srgbClr val="FFFFFF"/>
            </a:solidFill>
            <a:prstDash val="solid"/>
          </a:ln>
        </p:spPr>
      </p:sp>
      <p:sp>
        <p:nvSpPr>
          <p:cNvPr id="60" name="Text 58"/>
          <p:cNvSpPr/>
          <p:nvPr/>
        </p:nvSpPr>
        <p:spPr>
          <a:xfrm>
            <a:off x="841248" y="6099048"/>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MAST, 2025</a:t>
            </a:r>
            <a:endParaRPr lang="en-US" sz="980" dirty="0"/>
          </a:p>
        </p:txBody>
      </p:sp>
      <p:sp>
        <p:nvSpPr>
          <p:cNvPr id="61" name="Text 59"/>
          <p:cNvSpPr/>
          <p:nvPr/>
        </p:nvSpPr>
        <p:spPr>
          <a:xfrm>
            <a:off x="2514600" y="6099048"/>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MAS failure taxonomy</a:t>
            </a:r>
            <a:endParaRPr lang="en-US" sz="980" dirty="0"/>
          </a:p>
        </p:txBody>
      </p:sp>
      <p:sp>
        <p:nvSpPr>
          <p:cNvPr id="62" name="Text 60"/>
          <p:cNvSpPr/>
          <p:nvPr/>
        </p:nvSpPr>
        <p:spPr>
          <a:xfrm>
            <a:off x="4937760" y="6099048"/>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1600+ traces, 7 frameworks</a:t>
            </a:r>
            <a:endParaRPr lang="en-US" sz="980" dirty="0"/>
          </a:p>
        </p:txBody>
      </p:sp>
      <p:sp>
        <p:nvSpPr>
          <p:cNvPr id="63" name="Text 61"/>
          <p:cNvSpPr/>
          <p:nvPr/>
        </p:nvSpPr>
        <p:spPr>
          <a:xfrm>
            <a:off x="7223760" y="6099048"/>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kappa 0.88 / 0.77</a:t>
            </a:r>
            <a:endParaRPr lang="en-US" sz="980" dirty="0"/>
          </a:p>
        </p:txBody>
      </p:sp>
      <p:sp>
        <p:nvSpPr>
          <p:cNvPr id="64" name="Text 62"/>
          <p:cNvSpPr/>
          <p:nvPr/>
        </p:nvSpPr>
        <p:spPr>
          <a:xfrm>
            <a:off x="8961120" y="6099048"/>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Descriptive taxonomy; no runtime detector</a:t>
            </a:r>
            <a:endParaRPr lang="en-US" sz="980" dirty="0"/>
          </a:p>
        </p:txBody>
      </p:sp>
      <p:sp>
        <p:nvSpPr>
          <p:cNvPr id="65" name="Shape 63"/>
          <p:cNvSpPr/>
          <p:nvPr/>
        </p:nvSpPr>
        <p:spPr>
          <a:xfrm>
            <a:off x="640080" y="5943600"/>
            <a:ext cx="10881360" cy="566928"/>
          </a:xfrm>
          <a:prstGeom prst="roundRect">
            <a:avLst>
              <a:gd name="adj" fmla="val 11290"/>
            </a:avLst>
          </a:prstGeom>
          <a:solidFill>
            <a:srgbClr val="FFF4D6"/>
          </a:solidFill>
          <a:ln w="12700">
            <a:solidFill>
              <a:srgbClr val="FFF4D6"/>
            </a:solidFill>
            <a:prstDash val="solid"/>
          </a:ln>
        </p:spPr>
      </p:sp>
      <p:sp>
        <p:nvSpPr>
          <p:cNvPr id="66" name="Text 64"/>
          <p:cNvSpPr/>
          <p:nvPr/>
        </p:nvSpPr>
        <p:spPr>
          <a:xfrm>
            <a:off x="914400" y="6080760"/>
            <a:ext cx="10332720" cy="320040"/>
          </a:xfrm>
          <a:prstGeom prst="rect">
            <a:avLst/>
          </a:prstGeom>
          <a:noFill/>
          <a:ln/>
        </p:spPr>
        <p:txBody>
          <a:bodyPr wrap="square" lIns="0" tIns="0" rIns="0" bIns="0" rtlCol="0" anchor="ctr"/>
          <a:lstStyle/>
          <a:p>
            <a:pPr indent="0" marL="0">
              <a:buNone/>
            </a:pPr>
            <a:r>
              <a:rPr lang="en-US" sz="1100" b="1" dirty="0">
                <a:solidFill>
                  <a:srgbClr val="7A5A00"/>
                </a:solidFill>
                <a:latin typeface="Calibri" pitchFamily="34" charset="0"/>
                <a:ea typeface="Calibri" pitchFamily="34" charset="-122"/>
                <a:cs typeface="Calibri" pitchFamily="34" charset="-120"/>
              </a:rPr>
              <a:t>Ten of seventeen surveyed works shown; the full reference list is on the appendix slide. Read each one before defending this table - the panel may pick any row.</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RESEARCH GAP AND OBJECTIVES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What is missing, and what this project set out to do</a:t>
            </a:r>
            <a:endParaRPr lang="en-US" sz="3100" dirty="0"/>
          </a:p>
        </p:txBody>
      </p:sp>
      <p:sp>
        <p:nvSpPr>
          <p:cNvPr id="4" name="Shape 2"/>
          <p:cNvSpPr/>
          <p:nvPr/>
        </p:nvSpPr>
        <p:spPr>
          <a:xfrm>
            <a:off x="640080" y="1463040"/>
            <a:ext cx="5349240" cy="2011680"/>
          </a:xfrm>
          <a:prstGeom prst="roundRect">
            <a:avLst>
              <a:gd name="adj" fmla="val 3182"/>
            </a:avLst>
          </a:prstGeom>
          <a:solidFill>
            <a:srgbClr val="222937"/>
          </a:solidFill>
          <a:ln w="12700">
            <a:solidFill>
              <a:srgbClr val="222937"/>
            </a:solidFill>
            <a:prstDash val="solid"/>
          </a:ln>
        </p:spPr>
      </p:sp>
      <p:sp>
        <p:nvSpPr>
          <p:cNvPr id="5" name="Text 3"/>
          <p:cNvSpPr/>
          <p:nvPr/>
        </p:nvSpPr>
        <p:spPr>
          <a:xfrm>
            <a:off x="960120" y="1645920"/>
            <a:ext cx="475488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The gap</a:t>
            </a:r>
            <a:endParaRPr lang="en-US" sz="1400" dirty="0"/>
          </a:p>
        </p:txBody>
      </p:sp>
      <p:sp>
        <p:nvSpPr>
          <p:cNvPr id="6" name="Text 4"/>
          <p:cNvSpPr/>
          <p:nvPr/>
        </p:nvSpPr>
        <p:spPr>
          <a:xfrm>
            <a:off x="960120" y="2011680"/>
            <a:ext cx="4754880" cy="132588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Existing agent-observability platforms record what happened and leave quality to sampled, LLM-judged evaluation. None combines full per-span evaluation with a dedicated behavioural drift signal at a cost that makes full coverage affordable on commodity CPU.</a:t>
            </a:r>
            <a:endParaRPr lang="en-US" sz="1200" dirty="0"/>
          </a:p>
        </p:txBody>
      </p:sp>
      <p:sp>
        <p:nvSpPr>
          <p:cNvPr id="7" name="Shape 5"/>
          <p:cNvSpPr/>
          <p:nvPr/>
        </p:nvSpPr>
        <p:spPr>
          <a:xfrm>
            <a:off x="6309360" y="1463040"/>
            <a:ext cx="5212080" cy="2011680"/>
          </a:xfrm>
          <a:prstGeom prst="roundRect">
            <a:avLst>
              <a:gd name="adj" fmla="val 3182"/>
            </a:avLst>
          </a:prstGeom>
          <a:solidFill>
            <a:srgbClr val="222937"/>
          </a:solidFill>
          <a:ln w="12700">
            <a:solidFill>
              <a:srgbClr val="222937"/>
            </a:solidFill>
            <a:prstDash val="solid"/>
          </a:ln>
        </p:spPr>
      </p:sp>
      <p:sp>
        <p:nvSpPr>
          <p:cNvPr id="8" name="Text 6"/>
          <p:cNvSpPr/>
          <p:nvPr/>
        </p:nvSpPr>
        <p:spPr>
          <a:xfrm>
            <a:off x="6629400" y="1645920"/>
            <a:ext cx="461772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Why it matters</a:t>
            </a:r>
            <a:endParaRPr lang="en-US" sz="1400" dirty="0"/>
          </a:p>
        </p:txBody>
      </p:sp>
      <p:sp>
        <p:nvSpPr>
          <p:cNvPr id="9" name="Text 7"/>
          <p:cNvSpPr/>
          <p:nvPr/>
        </p:nvSpPr>
        <p:spPr>
          <a:xfrm>
            <a:off x="6629400" y="2011680"/>
            <a:ext cx="4617720" cy="132588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Sampling is not a tuning choice here, it is a structural mismatch: the faults are rare, so the sample is biased against finding them. Cost is what forces sampling, so reducing evaluation cost is the enabling problem.</a:t>
            </a:r>
            <a:endParaRPr lang="en-US" sz="1200" dirty="0"/>
          </a:p>
        </p:txBody>
      </p:sp>
      <p:sp>
        <p:nvSpPr>
          <p:cNvPr id="10" name="Text 8"/>
          <p:cNvSpPr/>
          <p:nvPr/>
        </p:nvSpPr>
        <p:spPr>
          <a:xfrm>
            <a:off x="640080" y="3657600"/>
            <a:ext cx="548640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Objectives</a:t>
            </a:r>
            <a:endParaRPr lang="en-US" sz="1500" dirty="0"/>
          </a:p>
        </p:txBody>
      </p:sp>
      <p:sp>
        <p:nvSpPr>
          <p:cNvPr id="11" name="Text 9"/>
          <p:cNvSpPr/>
          <p:nvPr/>
        </p:nvSpPr>
        <p:spPr>
          <a:xfrm>
            <a:off x="640080" y="4041648"/>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O1</a:t>
            </a:r>
            <a:endParaRPr lang="en-US" sz="1400" dirty="0"/>
          </a:p>
        </p:txBody>
      </p:sp>
      <p:sp>
        <p:nvSpPr>
          <p:cNvPr id="12" name="Text 10"/>
          <p:cNvSpPr/>
          <p:nvPr/>
        </p:nvSpPr>
        <p:spPr>
          <a:xfrm>
            <a:off x="1188720" y="4041648"/>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Evaluate 100% of spans on CPU</a:t>
            </a:r>
            <a:endParaRPr lang="en-US" sz="1250" dirty="0"/>
          </a:p>
        </p:txBody>
      </p:sp>
      <p:sp>
        <p:nvSpPr>
          <p:cNvPr id="13" name="Text 11"/>
          <p:cNvSpPr/>
          <p:nvPr/>
        </p:nvSpPr>
        <p:spPr>
          <a:xfrm>
            <a:off x="5852160" y="4041648"/>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 measured 12 spans/sec at 4 workers</a:t>
            </a:r>
            <a:endParaRPr lang="en-US" sz="1200" dirty="0"/>
          </a:p>
        </p:txBody>
      </p:sp>
      <p:sp>
        <p:nvSpPr>
          <p:cNvPr id="14" name="Text 12"/>
          <p:cNvSpPr/>
          <p:nvPr/>
        </p:nvSpPr>
        <p:spPr>
          <a:xfrm>
            <a:off x="640080" y="4462272"/>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O2</a:t>
            </a:r>
            <a:endParaRPr lang="en-US" sz="1400" dirty="0"/>
          </a:p>
        </p:txBody>
      </p:sp>
      <p:sp>
        <p:nvSpPr>
          <p:cNvPr id="15" name="Text 13"/>
          <p:cNvSpPr/>
          <p:nvPr/>
        </p:nvSpPr>
        <p:spPr>
          <a:xfrm>
            <a:off x="1188720" y="4462272"/>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Match a strong NLI baseline on grounding</a:t>
            </a:r>
            <a:endParaRPr lang="en-US" sz="1250" dirty="0"/>
          </a:p>
        </p:txBody>
      </p:sp>
      <p:sp>
        <p:nvSpPr>
          <p:cNvPr id="16" name="Text 14"/>
          <p:cNvSpPr/>
          <p:nvPr/>
        </p:nvSpPr>
        <p:spPr>
          <a:xfrm>
            <a:off x="5852160" y="4462272"/>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 F1 0.963 on held-out v1.0_test</a:t>
            </a:r>
            <a:endParaRPr lang="en-US" sz="1200" dirty="0"/>
          </a:p>
        </p:txBody>
      </p:sp>
      <p:sp>
        <p:nvSpPr>
          <p:cNvPr id="17" name="Text 15"/>
          <p:cNvSpPr/>
          <p:nvPr/>
        </p:nvSpPr>
        <p:spPr>
          <a:xfrm>
            <a:off x="640080" y="4882896"/>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O3</a:t>
            </a:r>
            <a:endParaRPr lang="en-US" sz="1400" dirty="0"/>
          </a:p>
        </p:txBody>
      </p:sp>
      <p:sp>
        <p:nvSpPr>
          <p:cNvPr id="18" name="Text 16"/>
          <p:cNvSpPr/>
          <p:nvPr/>
        </p:nvSpPr>
        <p:spPr>
          <a:xfrm>
            <a:off x="1188720" y="4882896"/>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Detect sustained behavioural drift on real text</a:t>
            </a:r>
            <a:endParaRPr lang="en-US" sz="1250" dirty="0"/>
          </a:p>
        </p:txBody>
      </p:sp>
      <p:sp>
        <p:nvSpPr>
          <p:cNvPr id="19" name="Text 17"/>
          <p:cNvSpPr/>
          <p:nvPr/>
        </p:nvSpPr>
        <p:spPr>
          <a:xfrm>
            <a:off x="5852160" y="4882896"/>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after rebuild - AUC 0.991, coverage 24.5%</a:t>
            </a:r>
            <a:endParaRPr lang="en-US" sz="1200" dirty="0"/>
          </a:p>
        </p:txBody>
      </p:sp>
      <p:sp>
        <p:nvSpPr>
          <p:cNvPr id="20" name="Text 18"/>
          <p:cNvSpPr/>
          <p:nvPr/>
        </p:nvSpPr>
        <p:spPr>
          <a:xfrm>
            <a:off x="640080" y="5303520"/>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O4</a:t>
            </a:r>
            <a:endParaRPr lang="en-US" sz="1400" dirty="0"/>
          </a:p>
        </p:txBody>
      </p:sp>
      <p:sp>
        <p:nvSpPr>
          <p:cNvPr id="21" name="Text 19"/>
          <p:cNvSpPr/>
          <p:nvPr/>
        </p:nvSpPr>
        <p:spPr>
          <a:xfrm>
            <a:off x="1188720" y="5303520"/>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Survive process failure without losing work</a:t>
            </a:r>
            <a:endParaRPr lang="en-US" sz="1250" dirty="0"/>
          </a:p>
        </p:txBody>
      </p:sp>
      <p:sp>
        <p:nvSpPr>
          <p:cNvPr id="22" name="Text 20"/>
          <p:cNvSpPr/>
          <p:nvPr/>
        </p:nvSpPr>
        <p:spPr>
          <a:xfrm>
            <a:off x="5852160" y="5303520"/>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 exactly-once across 8,000 spans</a:t>
            </a:r>
            <a:endParaRPr lang="en-US" sz="1200" dirty="0"/>
          </a:p>
        </p:txBody>
      </p:sp>
      <p:sp>
        <p:nvSpPr>
          <p:cNvPr id="23" name="Text 21"/>
          <p:cNvSpPr/>
          <p:nvPr/>
        </p:nvSpPr>
        <p:spPr>
          <a:xfrm>
            <a:off x="640080" y="5724144"/>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O5</a:t>
            </a:r>
            <a:endParaRPr lang="en-US" sz="1400" dirty="0"/>
          </a:p>
        </p:txBody>
      </p:sp>
      <p:sp>
        <p:nvSpPr>
          <p:cNvPr id="24" name="Text 22"/>
          <p:cNvSpPr/>
          <p:nvPr/>
        </p:nvSpPr>
        <p:spPr>
          <a:xfrm>
            <a:off x="1188720" y="5724144"/>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Validate every signal against external data</a:t>
            </a:r>
            <a:endParaRPr lang="en-US" sz="1250" dirty="0"/>
          </a:p>
        </p:txBody>
      </p:sp>
      <p:sp>
        <p:nvSpPr>
          <p:cNvPr id="25" name="Text 23"/>
          <p:cNvSpPr/>
          <p:nvPr/>
        </p:nvSpPr>
        <p:spPr>
          <a:xfrm>
            <a:off x="5852160" y="5724144"/>
            <a:ext cx="5669280" cy="274320"/>
          </a:xfrm>
          <a:prstGeom prst="rect">
            <a:avLst/>
          </a:prstGeom>
          <a:noFill/>
          <a:ln/>
        </p:spPr>
        <p:txBody>
          <a:bodyPr wrap="square" lIns="0" tIns="0" rIns="0" bIns="0" rtlCol="0" anchor="ctr"/>
          <a:lstStyle/>
          <a:p>
            <a:pPr indent="0" marL="0">
              <a:buNone/>
            </a:pPr>
            <a:r>
              <a:rPr lang="en-US" sz="1200" dirty="0">
                <a:solidFill>
                  <a:srgbClr val="FBBF24"/>
                </a:solidFill>
                <a:latin typeface="Calibri" pitchFamily="34" charset="0"/>
                <a:ea typeface="Calibri" pitchFamily="34" charset="-122"/>
                <a:cs typeface="Calibri" pitchFamily="34" charset="-120"/>
              </a:rPr>
              <a:t>Partly - 3 of 4 signals failed and are reported as such</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METHODOLOGY</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System architecture</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End-to-end system</a:t>
            </a:r>
            <a:endParaRPr lang="en-US" sz="900" dirty="0"/>
          </a:p>
        </p:txBody>
      </p:sp>
      <p:sp>
        <p:nvSpPr>
          <p:cNvPr id="6" name="Shape 4"/>
          <p:cNvSpPr/>
          <p:nvPr/>
        </p:nvSpPr>
        <p:spPr>
          <a:xfrm>
            <a:off x="640080" y="1508760"/>
            <a:ext cx="1965960" cy="1600200"/>
          </a:xfrm>
          <a:prstGeom prst="roundRect">
            <a:avLst>
              <a:gd name="adj" fmla="val 4000"/>
            </a:avLst>
          </a:prstGeom>
          <a:solidFill>
            <a:srgbClr val="FFFFFF"/>
          </a:solidFill>
          <a:ln w="12700">
            <a:solidFill>
              <a:srgbClr val="FFFFFF"/>
            </a:solidFill>
            <a:prstDash val="solid"/>
          </a:ln>
        </p:spPr>
      </p:sp>
      <p:sp>
        <p:nvSpPr>
          <p:cNvPr id="7" name="Text 5"/>
          <p:cNvSpPr/>
          <p:nvPr/>
        </p:nvSpPr>
        <p:spPr>
          <a:xfrm>
            <a:off x="822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SDK</a:t>
            </a:r>
            <a:endParaRPr lang="en-US" sz="1350" dirty="0"/>
          </a:p>
        </p:txBody>
      </p:sp>
      <p:sp>
        <p:nvSpPr>
          <p:cNvPr id="8" name="Text 6"/>
          <p:cNvSpPr/>
          <p:nvPr/>
        </p:nvSpPr>
        <p:spPr>
          <a:xfrm>
            <a:off x="822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Decorator wraps agent steps.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Non-blocking buffer.</a:t>
            </a:r>
            <a:endParaRPr lang="en-US" sz="1050" dirty="0"/>
          </a:p>
        </p:txBody>
      </p:sp>
      <p:sp>
        <p:nvSpPr>
          <p:cNvPr id="9" name="Text 7"/>
          <p:cNvSpPr/>
          <p:nvPr/>
        </p:nvSpPr>
        <p:spPr>
          <a:xfrm>
            <a:off x="2615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0" name="Shape 8"/>
          <p:cNvSpPr/>
          <p:nvPr/>
        </p:nvSpPr>
        <p:spPr>
          <a:xfrm>
            <a:off x="2926080" y="1508760"/>
            <a:ext cx="1965960" cy="1600200"/>
          </a:xfrm>
          <a:prstGeom prst="roundRect">
            <a:avLst>
              <a:gd name="adj" fmla="val 4000"/>
            </a:avLst>
          </a:prstGeom>
          <a:solidFill>
            <a:srgbClr val="FFFFFF"/>
          </a:solidFill>
          <a:ln w="12700">
            <a:solidFill>
              <a:srgbClr val="FFFFFF"/>
            </a:solidFill>
            <a:prstDash val="solid"/>
          </a:ln>
        </p:spPr>
      </p:sp>
      <p:sp>
        <p:nvSpPr>
          <p:cNvPr id="11" name="Text 9"/>
          <p:cNvSpPr/>
          <p:nvPr/>
        </p:nvSpPr>
        <p:spPr>
          <a:xfrm>
            <a:off x="3108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Ingest API</a:t>
            </a:r>
            <a:endParaRPr lang="en-US" sz="1350" dirty="0"/>
          </a:p>
        </p:txBody>
      </p:sp>
      <p:sp>
        <p:nvSpPr>
          <p:cNvPr id="12" name="Text 10"/>
          <p:cNvSpPr/>
          <p:nvPr/>
        </p:nvSpPr>
        <p:spPr>
          <a:xfrm>
            <a:off x="3108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FastAPI. Accepts spans.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Loads no models at all.</a:t>
            </a:r>
            <a:endParaRPr lang="en-US" sz="1050" dirty="0"/>
          </a:p>
        </p:txBody>
      </p:sp>
      <p:sp>
        <p:nvSpPr>
          <p:cNvPr id="13" name="Text 11"/>
          <p:cNvSpPr/>
          <p:nvPr/>
        </p:nvSpPr>
        <p:spPr>
          <a:xfrm>
            <a:off x="4901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4" name="Shape 12"/>
          <p:cNvSpPr/>
          <p:nvPr/>
        </p:nvSpPr>
        <p:spPr>
          <a:xfrm>
            <a:off x="5212080" y="1508760"/>
            <a:ext cx="1965960" cy="1600200"/>
          </a:xfrm>
          <a:prstGeom prst="roundRect">
            <a:avLst>
              <a:gd name="adj" fmla="val 4000"/>
            </a:avLst>
          </a:prstGeom>
          <a:solidFill>
            <a:srgbClr val="FFFFFF"/>
          </a:solidFill>
          <a:ln w="12700">
            <a:solidFill>
              <a:srgbClr val="FFFFFF"/>
            </a:solidFill>
            <a:prstDash val="solid"/>
          </a:ln>
        </p:spPr>
      </p:sp>
      <p:sp>
        <p:nvSpPr>
          <p:cNvPr id="15" name="Text 13"/>
          <p:cNvSpPr/>
          <p:nvPr/>
        </p:nvSpPr>
        <p:spPr>
          <a:xfrm>
            <a:off x="5394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Durable queue</a:t>
            </a:r>
            <a:endParaRPr lang="en-US" sz="1350" dirty="0"/>
          </a:p>
        </p:txBody>
      </p:sp>
      <p:sp>
        <p:nvSpPr>
          <p:cNvPr id="16" name="Text 14"/>
          <p:cNvSpPr/>
          <p:nvPr/>
        </p:nvSpPr>
        <p:spPr>
          <a:xfrm>
            <a:off x="5394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SQLite WAL.</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Leased jobs, at-least-once.</a:t>
            </a:r>
            <a:endParaRPr lang="en-US" sz="1050" dirty="0"/>
          </a:p>
        </p:txBody>
      </p:sp>
      <p:sp>
        <p:nvSpPr>
          <p:cNvPr id="17" name="Text 15"/>
          <p:cNvSpPr/>
          <p:nvPr/>
        </p:nvSpPr>
        <p:spPr>
          <a:xfrm>
            <a:off x="7187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8" name="Shape 16"/>
          <p:cNvSpPr/>
          <p:nvPr/>
        </p:nvSpPr>
        <p:spPr>
          <a:xfrm>
            <a:off x="7498080" y="1508760"/>
            <a:ext cx="1965960" cy="1600200"/>
          </a:xfrm>
          <a:prstGeom prst="roundRect">
            <a:avLst>
              <a:gd name="adj" fmla="val 4000"/>
            </a:avLst>
          </a:prstGeom>
          <a:solidFill>
            <a:srgbClr val="FFFFFF"/>
          </a:solidFill>
          <a:ln w="12700">
            <a:solidFill>
              <a:srgbClr val="FFFFFF"/>
            </a:solidFill>
            <a:prstDash val="solid"/>
          </a:ln>
        </p:spPr>
      </p:sp>
      <p:sp>
        <p:nvSpPr>
          <p:cNvPr id="19" name="Text 17"/>
          <p:cNvSpPr/>
          <p:nvPr/>
        </p:nvSpPr>
        <p:spPr>
          <a:xfrm>
            <a:off x="7680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Worker fleet</a:t>
            </a:r>
            <a:endParaRPr lang="en-US" sz="1350" dirty="0"/>
          </a:p>
        </p:txBody>
      </p:sp>
      <p:sp>
        <p:nvSpPr>
          <p:cNvPr id="20" name="Text 18"/>
          <p:cNvSpPr/>
          <p:nvPr/>
        </p:nvSpPr>
        <p:spPr>
          <a:xfrm>
            <a:off x="7680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Runs the evaluator cascade</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off the request path.</a:t>
            </a:r>
            <a:endParaRPr lang="en-US" sz="1050" dirty="0"/>
          </a:p>
        </p:txBody>
      </p:sp>
      <p:sp>
        <p:nvSpPr>
          <p:cNvPr id="21" name="Text 19"/>
          <p:cNvSpPr/>
          <p:nvPr/>
        </p:nvSpPr>
        <p:spPr>
          <a:xfrm>
            <a:off x="9473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22" name="Shape 20"/>
          <p:cNvSpPr/>
          <p:nvPr/>
        </p:nvSpPr>
        <p:spPr>
          <a:xfrm>
            <a:off x="9784080" y="1508760"/>
            <a:ext cx="1965960" cy="1600200"/>
          </a:xfrm>
          <a:prstGeom prst="roundRect">
            <a:avLst>
              <a:gd name="adj" fmla="val 4000"/>
            </a:avLst>
          </a:prstGeom>
          <a:solidFill>
            <a:srgbClr val="FFFFFF"/>
          </a:solidFill>
          <a:ln w="12700">
            <a:solidFill>
              <a:srgbClr val="FFFFFF"/>
            </a:solidFill>
            <a:prstDash val="solid"/>
          </a:ln>
        </p:spPr>
      </p:sp>
      <p:sp>
        <p:nvSpPr>
          <p:cNvPr id="23" name="Text 21"/>
          <p:cNvSpPr/>
          <p:nvPr/>
        </p:nvSpPr>
        <p:spPr>
          <a:xfrm>
            <a:off x="9966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Alerts + console</a:t>
            </a:r>
            <a:endParaRPr lang="en-US" sz="1350" dirty="0"/>
          </a:p>
        </p:txBody>
      </p:sp>
      <p:sp>
        <p:nvSpPr>
          <p:cNvPr id="24" name="Text 22"/>
          <p:cNvSpPr/>
          <p:nvPr/>
        </p:nvSpPr>
        <p:spPr>
          <a:xfrm>
            <a:off x="9966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Rule engine, drift records,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operator dashboard.</a:t>
            </a:r>
            <a:endParaRPr lang="en-US" sz="1050" dirty="0"/>
          </a:p>
        </p:txBody>
      </p:sp>
      <p:sp>
        <p:nvSpPr>
          <p:cNvPr id="25" name="Shape 23"/>
          <p:cNvSpPr/>
          <p:nvPr/>
        </p:nvSpPr>
        <p:spPr>
          <a:xfrm>
            <a:off x="640080" y="3337560"/>
            <a:ext cx="5349240" cy="2651760"/>
          </a:xfrm>
          <a:prstGeom prst="roundRect">
            <a:avLst>
              <a:gd name="adj" fmla="val 2414"/>
            </a:avLst>
          </a:prstGeom>
          <a:solidFill>
            <a:srgbClr val="FFFFFF"/>
          </a:solidFill>
          <a:ln w="12700">
            <a:solidFill>
              <a:srgbClr val="FFFFFF"/>
            </a:solidFill>
            <a:prstDash val="solid"/>
          </a:ln>
        </p:spPr>
      </p:sp>
      <p:sp>
        <p:nvSpPr>
          <p:cNvPr id="26" name="Text 24"/>
          <p:cNvSpPr/>
          <p:nvPr/>
        </p:nvSpPr>
        <p:spPr>
          <a:xfrm>
            <a:off x="960120" y="3520440"/>
            <a:ext cx="475488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The evaluator cascade</a:t>
            </a:r>
            <a:endParaRPr lang="en-US" sz="1400" dirty="0"/>
          </a:p>
        </p:txBody>
      </p:sp>
      <p:sp>
        <p:nvSpPr>
          <p:cNvPr id="27" name="Text 25"/>
          <p:cNvSpPr/>
          <p:nvPr/>
        </p:nvSpPr>
        <p:spPr>
          <a:xfrm>
            <a:off x="960120" y="3886200"/>
            <a:ext cx="4754880" cy="19202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Stage 1 - MiniLM-L6-v2 cosine gate, 27.8 ms. Fast-accepts the confident cases.</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Stage 2 - DeBERTa-v3 cross-encoder NLI, run only when the gate is uncertain.</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Deterministic tool-claim regex and per-agent drift run alongside.</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End-to-end cascade: 215.9 ms mean per span.</a:t>
            </a:r>
            <a:endParaRPr lang="en-US" sz="1150" dirty="0"/>
          </a:p>
        </p:txBody>
      </p:sp>
      <p:sp>
        <p:nvSpPr>
          <p:cNvPr id="28" name="Shape 26"/>
          <p:cNvSpPr/>
          <p:nvPr/>
        </p:nvSpPr>
        <p:spPr>
          <a:xfrm>
            <a:off x="6309360" y="3337560"/>
            <a:ext cx="5212080" cy="2651760"/>
          </a:xfrm>
          <a:prstGeom prst="roundRect">
            <a:avLst>
              <a:gd name="adj" fmla="val 2414"/>
            </a:avLst>
          </a:prstGeom>
          <a:solidFill>
            <a:srgbClr val="FFFFFF"/>
          </a:solidFill>
          <a:ln w="12700">
            <a:solidFill>
              <a:srgbClr val="FFFFFF"/>
            </a:solidFill>
            <a:prstDash val="solid"/>
          </a:ln>
        </p:spPr>
      </p:sp>
      <p:sp>
        <p:nvSpPr>
          <p:cNvPr id="29" name="Text 27"/>
          <p:cNvSpPr/>
          <p:nvPr/>
        </p:nvSpPr>
        <p:spPr>
          <a:xfrm>
            <a:off x="6629400" y="3520440"/>
            <a:ext cx="461772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Design justification</a:t>
            </a:r>
            <a:endParaRPr lang="en-US" sz="1400" dirty="0"/>
          </a:p>
        </p:txBody>
      </p:sp>
      <p:sp>
        <p:nvSpPr>
          <p:cNvPr id="30" name="Text 28"/>
          <p:cNvSpPr/>
          <p:nvPr/>
        </p:nvSpPr>
        <p:spPr>
          <a:xfrm>
            <a:off x="6629400" y="3886200"/>
            <a:ext cx="4617720" cy="19202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a cascade and not NLI alone: the gate handles the common case at a seventh of the cost, and the ablation shows no F1 loss.</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CPU and not GPU: removes the cost argument for sampling, and keeps deployment self-hosted with no data egress.</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a queue and not inline evaluation: inline evaluation forces sampling at scale, which defeats the objective.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EVALUATION METHODOLOGY</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Datasets, splits and metrics fixed before measuring</a:t>
            </a:r>
            <a:endParaRPr lang="en-US" sz="3100" dirty="0"/>
          </a:p>
        </p:txBody>
      </p:sp>
      <p:sp>
        <p:nvSpPr>
          <p:cNvPr id="4" name="Text 2"/>
          <p:cNvSpPr/>
          <p:nvPr/>
        </p:nvSpPr>
        <p:spPr>
          <a:xfrm>
            <a:off x="640080" y="1417320"/>
            <a:ext cx="502920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Versioned datasets</a:t>
            </a:r>
            <a:endParaRPr lang="en-US" sz="1400" dirty="0"/>
          </a:p>
        </p:txBody>
      </p:sp>
      <p:sp>
        <p:nvSpPr>
          <p:cNvPr id="5" name="Shape 3"/>
          <p:cNvSpPr/>
          <p:nvPr/>
        </p:nvSpPr>
        <p:spPr>
          <a:xfrm>
            <a:off x="640080" y="1810512"/>
            <a:ext cx="5349240" cy="548640"/>
          </a:xfrm>
          <a:prstGeom prst="roundRect">
            <a:avLst>
              <a:gd name="adj" fmla="val 11667"/>
            </a:avLst>
          </a:prstGeom>
          <a:solidFill>
            <a:srgbClr val="222937"/>
          </a:solidFill>
          <a:ln w="12700">
            <a:solidFill>
              <a:srgbClr val="222937"/>
            </a:solidFill>
            <a:prstDash val="solid"/>
          </a:ln>
        </p:spPr>
      </p:sp>
      <p:sp>
        <p:nvSpPr>
          <p:cNvPr id="6" name="Text 4"/>
          <p:cNvSpPr/>
          <p:nvPr/>
        </p:nvSpPr>
        <p:spPr>
          <a:xfrm>
            <a:off x="914400" y="194767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v1.0_dev</a:t>
            </a:r>
            <a:endParaRPr lang="en-US" sz="1200" dirty="0"/>
          </a:p>
        </p:txBody>
      </p:sp>
      <p:sp>
        <p:nvSpPr>
          <p:cNvPr id="7" name="Text 5"/>
          <p:cNvSpPr/>
          <p:nvPr/>
        </p:nvSpPr>
        <p:spPr>
          <a:xfrm>
            <a:off x="2743200" y="194767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21</a:t>
            </a:r>
            <a:endParaRPr lang="en-US" sz="1300" dirty="0"/>
          </a:p>
        </p:txBody>
      </p:sp>
      <p:sp>
        <p:nvSpPr>
          <p:cNvPr id="8" name="Text 6"/>
          <p:cNvSpPr/>
          <p:nvPr/>
        </p:nvSpPr>
        <p:spPr>
          <a:xfrm>
            <a:off x="3383280" y="196596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Threshold selection only</a:t>
            </a:r>
            <a:endParaRPr lang="en-US" sz="1050" dirty="0"/>
          </a:p>
        </p:txBody>
      </p:sp>
      <p:sp>
        <p:nvSpPr>
          <p:cNvPr id="9" name="Shape 7"/>
          <p:cNvSpPr/>
          <p:nvPr/>
        </p:nvSpPr>
        <p:spPr>
          <a:xfrm>
            <a:off x="640080" y="2450592"/>
            <a:ext cx="5349240" cy="548640"/>
          </a:xfrm>
          <a:prstGeom prst="roundRect">
            <a:avLst>
              <a:gd name="adj" fmla="val 11667"/>
            </a:avLst>
          </a:prstGeom>
          <a:solidFill>
            <a:srgbClr val="222937"/>
          </a:solidFill>
          <a:ln w="12700">
            <a:solidFill>
              <a:srgbClr val="222937"/>
            </a:solidFill>
            <a:prstDash val="solid"/>
          </a:ln>
        </p:spPr>
      </p:sp>
      <p:sp>
        <p:nvSpPr>
          <p:cNvPr id="10" name="Text 8"/>
          <p:cNvSpPr/>
          <p:nvPr/>
        </p:nvSpPr>
        <p:spPr>
          <a:xfrm>
            <a:off x="914400" y="258775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v1.0_val</a:t>
            </a:r>
            <a:endParaRPr lang="en-US" sz="1200" dirty="0"/>
          </a:p>
        </p:txBody>
      </p:sp>
      <p:sp>
        <p:nvSpPr>
          <p:cNvPr id="11" name="Text 9"/>
          <p:cNvSpPr/>
          <p:nvPr/>
        </p:nvSpPr>
        <p:spPr>
          <a:xfrm>
            <a:off x="2743200" y="258775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22</a:t>
            </a:r>
            <a:endParaRPr lang="en-US" sz="1300" dirty="0"/>
          </a:p>
        </p:txBody>
      </p:sp>
      <p:sp>
        <p:nvSpPr>
          <p:cNvPr id="12" name="Text 10"/>
          <p:cNvSpPr/>
          <p:nvPr/>
        </p:nvSpPr>
        <p:spPr>
          <a:xfrm>
            <a:off x="3383280" y="260604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Parameter selection, regression</a:t>
            </a:r>
            <a:endParaRPr lang="en-US" sz="1050" dirty="0"/>
          </a:p>
        </p:txBody>
      </p:sp>
      <p:sp>
        <p:nvSpPr>
          <p:cNvPr id="13" name="Shape 11"/>
          <p:cNvSpPr/>
          <p:nvPr/>
        </p:nvSpPr>
        <p:spPr>
          <a:xfrm>
            <a:off x="640080" y="3090672"/>
            <a:ext cx="5349240" cy="548640"/>
          </a:xfrm>
          <a:prstGeom prst="roundRect">
            <a:avLst>
              <a:gd name="adj" fmla="val 11667"/>
            </a:avLst>
          </a:prstGeom>
          <a:solidFill>
            <a:srgbClr val="222937"/>
          </a:solidFill>
          <a:ln w="12700">
            <a:solidFill>
              <a:srgbClr val="222937"/>
            </a:solidFill>
            <a:prstDash val="solid"/>
          </a:ln>
        </p:spPr>
      </p:sp>
      <p:sp>
        <p:nvSpPr>
          <p:cNvPr id="14" name="Text 12"/>
          <p:cNvSpPr/>
          <p:nvPr/>
        </p:nvSpPr>
        <p:spPr>
          <a:xfrm>
            <a:off x="914400" y="322783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v1.0_test</a:t>
            </a:r>
            <a:endParaRPr lang="en-US" sz="1200" dirty="0"/>
          </a:p>
        </p:txBody>
      </p:sp>
      <p:sp>
        <p:nvSpPr>
          <p:cNvPr id="15" name="Text 13"/>
          <p:cNvSpPr/>
          <p:nvPr/>
        </p:nvSpPr>
        <p:spPr>
          <a:xfrm>
            <a:off x="2743200" y="322783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30</a:t>
            </a:r>
            <a:endParaRPr lang="en-US" sz="1300" dirty="0"/>
          </a:p>
        </p:txBody>
      </p:sp>
      <p:sp>
        <p:nvSpPr>
          <p:cNvPr id="16" name="Text 14"/>
          <p:cNvSpPr/>
          <p:nvPr/>
        </p:nvSpPr>
        <p:spPr>
          <a:xfrm>
            <a:off x="3383280" y="324612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Held out for reporting</a:t>
            </a:r>
            <a:endParaRPr lang="en-US" sz="1050" dirty="0"/>
          </a:p>
        </p:txBody>
      </p:sp>
      <p:sp>
        <p:nvSpPr>
          <p:cNvPr id="17" name="Shape 15"/>
          <p:cNvSpPr/>
          <p:nvPr/>
        </p:nvSpPr>
        <p:spPr>
          <a:xfrm>
            <a:off x="640080" y="3730752"/>
            <a:ext cx="5349240" cy="548640"/>
          </a:xfrm>
          <a:prstGeom prst="roundRect">
            <a:avLst>
              <a:gd name="adj" fmla="val 11667"/>
            </a:avLst>
          </a:prstGeom>
          <a:solidFill>
            <a:srgbClr val="222937"/>
          </a:solidFill>
          <a:ln w="12700">
            <a:solidFill>
              <a:srgbClr val="222937"/>
            </a:solidFill>
            <a:prstDash val="solid"/>
          </a:ln>
        </p:spPr>
      </p:sp>
      <p:sp>
        <p:nvSpPr>
          <p:cNvPr id="18" name="Text 16"/>
          <p:cNvSpPr/>
          <p:nvPr/>
        </p:nvSpPr>
        <p:spPr>
          <a:xfrm>
            <a:off x="914400" y="386791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v1.0_multiagent</a:t>
            </a:r>
            <a:endParaRPr lang="en-US" sz="1200" dirty="0"/>
          </a:p>
        </p:txBody>
      </p:sp>
      <p:sp>
        <p:nvSpPr>
          <p:cNvPr id="19" name="Text 17"/>
          <p:cNvSpPr/>
          <p:nvPr/>
        </p:nvSpPr>
        <p:spPr>
          <a:xfrm>
            <a:off x="2743200" y="386791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22</a:t>
            </a:r>
            <a:endParaRPr lang="en-US" sz="1300" dirty="0"/>
          </a:p>
        </p:txBody>
      </p:sp>
      <p:sp>
        <p:nvSpPr>
          <p:cNvPr id="20" name="Text 18"/>
          <p:cNvSpPr/>
          <p:nvPr/>
        </p:nvSpPr>
        <p:spPr>
          <a:xfrm>
            <a:off x="3383280" y="388620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Inter-agent disagreement cases</a:t>
            </a:r>
            <a:endParaRPr lang="en-US" sz="1050" dirty="0"/>
          </a:p>
        </p:txBody>
      </p:sp>
      <p:sp>
        <p:nvSpPr>
          <p:cNvPr id="21" name="Shape 19"/>
          <p:cNvSpPr/>
          <p:nvPr/>
        </p:nvSpPr>
        <p:spPr>
          <a:xfrm>
            <a:off x="640080" y="4370832"/>
            <a:ext cx="5349240" cy="548640"/>
          </a:xfrm>
          <a:prstGeom prst="roundRect">
            <a:avLst>
              <a:gd name="adj" fmla="val 11667"/>
            </a:avLst>
          </a:prstGeom>
          <a:solidFill>
            <a:srgbClr val="222937"/>
          </a:solidFill>
          <a:ln w="12700">
            <a:solidFill>
              <a:srgbClr val="222937"/>
            </a:solidFill>
            <a:prstDash val="solid"/>
          </a:ln>
        </p:spPr>
      </p:sp>
      <p:sp>
        <p:nvSpPr>
          <p:cNvPr id="22" name="Text 20"/>
          <p:cNvSpPr/>
          <p:nvPr/>
        </p:nvSpPr>
        <p:spPr>
          <a:xfrm>
            <a:off x="914400" y="450799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v1.0_curated</a:t>
            </a:r>
            <a:endParaRPr lang="en-US" sz="1200" dirty="0"/>
          </a:p>
        </p:txBody>
      </p:sp>
      <p:sp>
        <p:nvSpPr>
          <p:cNvPr id="23" name="Text 21"/>
          <p:cNvSpPr/>
          <p:nvPr/>
        </p:nvSpPr>
        <p:spPr>
          <a:xfrm>
            <a:off x="2743200" y="450799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76</a:t>
            </a:r>
            <a:endParaRPr lang="en-US" sz="1300" dirty="0"/>
          </a:p>
        </p:txBody>
      </p:sp>
      <p:sp>
        <p:nvSpPr>
          <p:cNvPr id="24" name="Text 22"/>
          <p:cNvSpPr/>
          <p:nvPr/>
        </p:nvSpPr>
        <p:spPr>
          <a:xfrm>
            <a:off x="3383280" y="452628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Curated from live incidents</a:t>
            </a:r>
            <a:endParaRPr lang="en-US" sz="1050" dirty="0"/>
          </a:p>
        </p:txBody>
      </p:sp>
      <p:sp>
        <p:nvSpPr>
          <p:cNvPr id="25" name="Shape 23"/>
          <p:cNvSpPr/>
          <p:nvPr/>
        </p:nvSpPr>
        <p:spPr>
          <a:xfrm>
            <a:off x="6309360" y="1810512"/>
            <a:ext cx="5212080" cy="3200400"/>
          </a:xfrm>
          <a:prstGeom prst="roundRect">
            <a:avLst>
              <a:gd name="adj" fmla="val 2000"/>
            </a:avLst>
          </a:prstGeom>
          <a:solidFill>
            <a:srgbClr val="222937"/>
          </a:solidFill>
          <a:ln w="12700">
            <a:solidFill>
              <a:srgbClr val="222937"/>
            </a:solidFill>
            <a:prstDash val="solid"/>
          </a:ln>
        </p:spPr>
      </p:sp>
      <p:sp>
        <p:nvSpPr>
          <p:cNvPr id="26" name="Text 24"/>
          <p:cNvSpPr/>
          <p:nvPr/>
        </p:nvSpPr>
        <p:spPr>
          <a:xfrm>
            <a:off x="6629400" y="1993392"/>
            <a:ext cx="461772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Protocol</a:t>
            </a:r>
            <a:endParaRPr lang="en-US" sz="1400" dirty="0"/>
          </a:p>
        </p:txBody>
      </p:sp>
      <p:sp>
        <p:nvSpPr>
          <p:cNvPr id="27" name="Text 25"/>
          <p:cNvSpPr/>
          <p:nvPr/>
        </p:nvSpPr>
        <p:spPr>
          <a:xfrm>
            <a:off x="6629400" y="2377440"/>
            <a:ext cx="4617720" cy="246888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Metrics fixed upfront: precision, recall, F1, FPR, AUC, latency.</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Thresholds selected on dev, applied unchanged to the held-out test split.</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Drift calibration used a criterion fixed in advance, then measured once on 111 held-out tasks.</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Labels: two independent LLM-as-judge passes, Cohen kappa 0.922 on the original 50 cases.</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LLM-judge results split by label provenance, because scoring a judge against judge-made labels is circular.</a:t>
            </a:r>
            <a:endParaRPr lang="en-US" sz="1150" dirty="0"/>
          </a:p>
        </p:txBody>
      </p:sp>
      <p:sp>
        <p:nvSpPr>
          <p:cNvPr id="28" name="Text 26"/>
          <p:cNvSpPr/>
          <p:nvPr/>
        </p:nvSpPr>
        <p:spPr>
          <a:xfrm>
            <a:off x="640080" y="5257800"/>
            <a:ext cx="10881360" cy="457200"/>
          </a:xfrm>
          <a:prstGeom prst="rect">
            <a:avLst/>
          </a:prstGeom>
          <a:noFill/>
          <a:ln/>
        </p:spPr>
        <p:txBody>
          <a:bodyPr wrap="square" lIns="0" tIns="0" rIns="0" bIns="0" rtlCol="0" anchor="ctr"/>
          <a:lstStyle/>
          <a:p>
            <a:pPr indent="0" marL="0">
              <a:buNone/>
            </a:pPr>
            <a:r>
              <a:rPr lang="en-US" sz="1250" i="1" dirty="0">
                <a:solidFill>
                  <a:srgbClr val="FBBF24"/>
                </a:solidFill>
                <a:latin typeface="Calibri" pitchFamily="34" charset="0"/>
                <a:ea typeface="Calibri" pitchFamily="34" charset="-122"/>
                <a:cs typeface="Calibri" pitchFamily="34" charset="-120"/>
              </a:rPr>
              <a:t>Labels are LLM-generated, not human-annotated. That is stated wherever the numbers are, and it is the single largest threat to validity in this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Comparison against four baselines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Baseline comparison</a:t>
            </a:r>
            <a:endParaRPr lang="en-US" sz="900" dirty="0"/>
          </a:p>
        </p:txBody>
      </p:sp>
      <p:sp>
        <p:nvSpPr>
          <p:cNvPr id="6" name="Text 4"/>
          <p:cNvSpPr/>
          <p:nvPr/>
        </p:nvSpPr>
        <p:spPr>
          <a:xfrm>
            <a:off x="914400" y="1463040"/>
            <a:ext cx="329184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SYSTEM</a:t>
            </a:r>
            <a:endParaRPr lang="en-US" sz="950" dirty="0"/>
          </a:p>
        </p:txBody>
      </p:sp>
      <p:sp>
        <p:nvSpPr>
          <p:cNvPr id="7" name="Text 5"/>
          <p:cNvSpPr/>
          <p:nvPr/>
        </p:nvSpPr>
        <p:spPr>
          <a:xfrm>
            <a:off x="429768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PRECISION</a:t>
            </a:r>
            <a:endParaRPr lang="en-US" sz="950" dirty="0"/>
          </a:p>
        </p:txBody>
      </p:sp>
      <p:sp>
        <p:nvSpPr>
          <p:cNvPr id="8" name="Text 6"/>
          <p:cNvSpPr/>
          <p:nvPr/>
        </p:nvSpPr>
        <p:spPr>
          <a:xfrm>
            <a:off x="5760720" y="1463040"/>
            <a:ext cx="128016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RECALL</a:t>
            </a:r>
            <a:endParaRPr lang="en-US" sz="950" dirty="0"/>
          </a:p>
        </p:txBody>
      </p:sp>
      <p:sp>
        <p:nvSpPr>
          <p:cNvPr id="9" name="Text 7"/>
          <p:cNvSpPr/>
          <p:nvPr/>
        </p:nvSpPr>
        <p:spPr>
          <a:xfrm>
            <a:off x="7132320" y="1463040"/>
            <a:ext cx="118872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F1</a:t>
            </a:r>
            <a:endParaRPr lang="en-US" sz="950" dirty="0"/>
          </a:p>
        </p:txBody>
      </p:sp>
      <p:sp>
        <p:nvSpPr>
          <p:cNvPr id="10" name="Text 8"/>
          <p:cNvSpPr/>
          <p:nvPr/>
        </p:nvSpPr>
        <p:spPr>
          <a:xfrm>
            <a:off x="841248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FPR</a:t>
            </a:r>
            <a:endParaRPr lang="en-US" sz="950" dirty="0"/>
          </a:p>
        </p:txBody>
      </p:sp>
      <p:sp>
        <p:nvSpPr>
          <p:cNvPr id="11" name="Text 9"/>
          <p:cNvSpPr/>
          <p:nvPr/>
        </p:nvSpPr>
        <p:spPr>
          <a:xfrm>
            <a:off x="987552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LATENCY</a:t>
            </a:r>
            <a:endParaRPr lang="en-US" sz="950" dirty="0"/>
          </a:p>
        </p:txBody>
      </p:sp>
      <p:sp>
        <p:nvSpPr>
          <p:cNvPr id="12" name="Shape 10"/>
          <p:cNvSpPr/>
          <p:nvPr/>
        </p:nvSpPr>
        <p:spPr>
          <a:xfrm>
            <a:off x="640080" y="1847088"/>
            <a:ext cx="10881360" cy="603504"/>
          </a:xfrm>
          <a:prstGeom prst="roundRect">
            <a:avLst>
              <a:gd name="adj" fmla="val 10606"/>
            </a:avLst>
          </a:prstGeom>
          <a:solidFill>
            <a:srgbClr val="FFFFFF"/>
          </a:solidFill>
          <a:ln w="12700">
            <a:solidFill>
              <a:srgbClr val="FFFFFF"/>
            </a:solidFill>
            <a:prstDash val="solid"/>
          </a:ln>
        </p:spPr>
      </p:sp>
      <p:sp>
        <p:nvSpPr>
          <p:cNvPr id="13" name="Text 11"/>
          <p:cNvSpPr/>
          <p:nvPr/>
        </p:nvSpPr>
        <p:spPr>
          <a:xfrm>
            <a:off x="914400" y="2029968"/>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A - No semantic check</a:t>
            </a:r>
            <a:endParaRPr lang="en-US" sz="1250" dirty="0"/>
          </a:p>
        </p:txBody>
      </p:sp>
      <p:sp>
        <p:nvSpPr>
          <p:cNvPr id="14" name="Text 12"/>
          <p:cNvSpPr/>
          <p:nvPr/>
        </p:nvSpPr>
        <p:spPr>
          <a:xfrm>
            <a:off x="429768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1.000</a:t>
            </a:r>
            <a:endParaRPr lang="en-US" sz="1250" dirty="0"/>
          </a:p>
        </p:txBody>
      </p:sp>
      <p:sp>
        <p:nvSpPr>
          <p:cNvPr id="15" name="Text 13"/>
          <p:cNvSpPr/>
          <p:nvPr/>
        </p:nvSpPr>
        <p:spPr>
          <a:xfrm>
            <a:off x="5760720" y="2029968"/>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0.125</a:t>
            </a:r>
            <a:endParaRPr lang="en-US" sz="1250" dirty="0"/>
          </a:p>
        </p:txBody>
      </p:sp>
      <p:sp>
        <p:nvSpPr>
          <p:cNvPr id="16" name="Text 14"/>
          <p:cNvSpPr/>
          <p:nvPr/>
        </p:nvSpPr>
        <p:spPr>
          <a:xfrm>
            <a:off x="7132320" y="2029968"/>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0.222</a:t>
            </a:r>
            <a:endParaRPr lang="en-US" sz="1250" dirty="0"/>
          </a:p>
        </p:txBody>
      </p:sp>
      <p:sp>
        <p:nvSpPr>
          <p:cNvPr id="17" name="Text 15"/>
          <p:cNvSpPr/>
          <p:nvPr/>
        </p:nvSpPr>
        <p:spPr>
          <a:xfrm>
            <a:off x="841248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0.000</a:t>
            </a:r>
            <a:endParaRPr lang="en-US" sz="1250" dirty="0"/>
          </a:p>
        </p:txBody>
      </p:sp>
      <p:sp>
        <p:nvSpPr>
          <p:cNvPr id="18" name="Text 16"/>
          <p:cNvSpPr/>
          <p:nvPr/>
        </p:nvSpPr>
        <p:spPr>
          <a:xfrm>
            <a:off x="987552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 ms</a:t>
            </a:r>
            <a:endParaRPr lang="en-US" sz="1250" dirty="0"/>
          </a:p>
        </p:txBody>
      </p:sp>
      <p:sp>
        <p:nvSpPr>
          <p:cNvPr id="19" name="Shape 17"/>
          <p:cNvSpPr/>
          <p:nvPr/>
        </p:nvSpPr>
        <p:spPr>
          <a:xfrm>
            <a:off x="640080" y="2523744"/>
            <a:ext cx="10881360" cy="603504"/>
          </a:xfrm>
          <a:prstGeom prst="roundRect">
            <a:avLst>
              <a:gd name="adj" fmla="val 10606"/>
            </a:avLst>
          </a:prstGeom>
          <a:solidFill>
            <a:srgbClr val="FFFFFF"/>
          </a:solidFill>
          <a:ln w="12700">
            <a:solidFill>
              <a:srgbClr val="FFFFFF"/>
            </a:solidFill>
            <a:prstDash val="solid"/>
          </a:ln>
        </p:spPr>
      </p:sp>
      <p:sp>
        <p:nvSpPr>
          <p:cNvPr id="20" name="Text 18"/>
          <p:cNvSpPr/>
          <p:nvPr/>
        </p:nvSpPr>
        <p:spPr>
          <a:xfrm>
            <a:off x="914400" y="2706624"/>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B - Sampled evaluation</a:t>
            </a:r>
            <a:endParaRPr lang="en-US" sz="1250" dirty="0"/>
          </a:p>
        </p:txBody>
      </p:sp>
      <p:sp>
        <p:nvSpPr>
          <p:cNvPr id="21" name="Text 19"/>
          <p:cNvSpPr/>
          <p:nvPr/>
        </p:nvSpPr>
        <p:spPr>
          <a:xfrm>
            <a:off x="429768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2" name="Text 20"/>
          <p:cNvSpPr/>
          <p:nvPr/>
        </p:nvSpPr>
        <p:spPr>
          <a:xfrm>
            <a:off x="5760720" y="2706624"/>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3" name="Text 21"/>
          <p:cNvSpPr/>
          <p:nvPr/>
        </p:nvSpPr>
        <p:spPr>
          <a:xfrm>
            <a:off x="7132320" y="2706624"/>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4" name="Text 22"/>
          <p:cNvSpPr/>
          <p:nvPr/>
        </p:nvSpPr>
        <p:spPr>
          <a:xfrm>
            <a:off x="841248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0.167</a:t>
            </a:r>
            <a:endParaRPr lang="en-US" sz="1250" dirty="0"/>
          </a:p>
        </p:txBody>
      </p:sp>
      <p:sp>
        <p:nvSpPr>
          <p:cNvPr id="25" name="Text 23"/>
          <p:cNvSpPr/>
          <p:nvPr/>
        </p:nvSpPr>
        <p:spPr>
          <a:xfrm>
            <a:off x="987552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53.2 ms</a:t>
            </a:r>
            <a:endParaRPr lang="en-US" sz="1250" dirty="0"/>
          </a:p>
        </p:txBody>
      </p:sp>
      <p:sp>
        <p:nvSpPr>
          <p:cNvPr id="26" name="Shape 24"/>
          <p:cNvSpPr/>
          <p:nvPr/>
        </p:nvSpPr>
        <p:spPr>
          <a:xfrm>
            <a:off x="640080" y="3200400"/>
            <a:ext cx="10881360" cy="603504"/>
          </a:xfrm>
          <a:prstGeom prst="roundRect">
            <a:avLst>
              <a:gd name="adj" fmla="val 10606"/>
            </a:avLst>
          </a:prstGeom>
          <a:solidFill>
            <a:srgbClr val="FFFFFF"/>
          </a:solidFill>
          <a:ln w="12700">
            <a:solidFill>
              <a:srgbClr val="FFFFFF"/>
            </a:solidFill>
            <a:prstDash val="solid"/>
          </a:ln>
        </p:spPr>
      </p:sp>
      <p:sp>
        <p:nvSpPr>
          <p:cNvPr id="27" name="Text 25"/>
          <p:cNvSpPr/>
          <p:nvPr/>
        </p:nvSpPr>
        <p:spPr>
          <a:xfrm>
            <a:off x="914400" y="3383280"/>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C - Embedding only</a:t>
            </a:r>
            <a:endParaRPr lang="en-US" sz="1250" dirty="0"/>
          </a:p>
        </p:txBody>
      </p:sp>
      <p:sp>
        <p:nvSpPr>
          <p:cNvPr id="28" name="Text 26"/>
          <p:cNvSpPr/>
          <p:nvPr/>
        </p:nvSpPr>
        <p:spPr>
          <a:xfrm>
            <a:off x="429768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0.833</a:t>
            </a:r>
            <a:endParaRPr lang="en-US" sz="1250" dirty="0"/>
          </a:p>
        </p:txBody>
      </p:sp>
      <p:sp>
        <p:nvSpPr>
          <p:cNvPr id="29" name="Text 27"/>
          <p:cNvSpPr/>
          <p:nvPr/>
        </p:nvSpPr>
        <p:spPr>
          <a:xfrm>
            <a:off x="5760720" y="3383280"/>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0.625</a:t>
            </a:r>
            <a:endParaRPr lang="en-US" sz="1250" dirty="0"/>
          </a:p>
        </p:txBody>
      </p:sp>
      <p:sp>
        <p:nvSpPr>
          <p:cNvPr id="30" name="Text 28"/>
          <p:cNvSpPr/>
          <p:nvPr/>
        </p:nvSpPr>
        <p:spPr>
          <a:xfrm>
            <a:off x="7132320" y="3383280"/>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0.714</a:t>
            </a:r>
            <a:endParaRPr lang="en-US" sz="1250" dirty="0"/>
          </a:p>
        </p:txBody>
      </p:sp>
      <p:sp>
        <p:nvSpPr>
          <p:cNvPr id="31" name="Text 29"/>
          <p:cNvSpPr/>
          <p:nvPr/>
        </p:nvSpPr>
        <p:spPr>
          <a:xfrm>
            <a:off x="841248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0.083</a:t>
            </a:r>
            <a:endParaRPr lang="en-US" sz="1250" dirty="0"/>
          </a:p>
        </p:txBody>
      </p:sp>
      <p:sp>
        <p:nvSpPr>
          <p:cNvPr id="32" name="Text 30"/>
          <p:cNvSpPr/>
          <p:nvPr/>
        </p:nvSpPr>
        <p:spPr>
          <a:xfrm>
            <a:off x="987552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15.1 ms</a:t>
            </a:r>
            <a:endParaRPr lang="en-US" sz="1250" dirty="0"/>
          </a:p>
        </p:txBody>
      </p:sp>
      <p:sp>
        <p:nvSpPr>
          <p:cNvPr id="33" name="Shape 31"/>
          <p:cNvSpPr/>
          <p:nvPr/>
        </p:nvSpPr>
        <p:spPr>
          <a:xfrm>
            <a:off x="640080" y="3877056"/>
            <a:ext cx="10881360" cy="603504"/>
          </a:xfrm>
          <a:prstGeom prst="roundRect">
            <a:avLst>
              <a:gd name="adj" fmla="val 10606"/>
            </a:avLst>
          </a:prstGeom>
          <a:solidFill>
            <a:srgbClr val="EAF7F1"/>
          </a:solidFill>
          <a:ln w="12700">
            <a:solidFill>
              <a:srgbClr val="EAF7F1"/>
            </a:solidFill>
            <a:prstDash val="solid"/>
          </a:ln>
        </p:spPr>
      </p:sp>
      <p:sp>
        <p:nvSpPr>
          <p:cNvPr id="34" name="Text 32"/>
          <p:cNvSpPr/>
          <p:nvPr/>
        </p:nvSpPr>
        <p:spPr>
          <a:xfrm>
            <a:off x="914400" y="4059936"/>
            <a:ext cx="329184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D - NLI without drift</a:t>
            </a:r>
            <a:endParaRPr lang="en-US" sz="1250" dirty="0"/>
          </a:p>
        </p:txBody>
      </p:sp>
      <p:sp>
        <p:nvSpPr>
          <p:cNvPr id="35" name="Text 33"/>
          <p:cNvSpPr/>
          <p:nvPr/>
        </p:nvSpPr>
        <p:spPr>
          <a:xfrm>
            <a:off x="429768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0.889</a:t>
            </a:r>
            <a:endParaRPr lang="en-US" sz="1250" dirty="0"/>
          </a:p>
        </p:txBody>
      </p:sp>
      <p:sp>
        <p:nvSpPr>
          <p:cNvPr id="36" name="Text 34"/>
          <p:cNvSpPr/>
          <p:nvPr/>
        </p:nvSpPr>
        <p:spPr>
          <a:xfrm>
            <a:off x="5760720" y="4059936"/>
            <a:ext cx="128016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1.000</a:t>
            </a:r>
            <a:endParaRPr lang="en-US" sz="1250" dirty="0"/>
          </a:p>
        </p:txBody>
      </p:sp>
      <p:sp>
        <p:nvSpPr>
          <p:cNvPr id="37" name="Text 35"/>
          <p:cNvSpPr/>
          <p:nvPr/>
        </p:nvSpPr>
        <p:spPr>
          <a:xfrm>
            <a:off x="7132320" y="4059936"/>
            <a:ext cx="118872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0.941</a:t>
            </a:r>
            <a:endParaRPr lang="en-US" sz="1250" dirty="0"/>
          </a:p>
        </p:txBody>
      </p:sp>
      <p:sp>
        <p:nvSpPr>
          <p:cNvPr id="38" name="Text 36"/>
          <p:cNvSpPr/>
          <p:nvPr/>
        </p:nvSpPr>
        <p:spPr>
          <a:xfrm>
            <a:off x="841248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0.083</a:t>
            </a:r>
            <a:endParaRPr lang="en-US" sz="1250" dirty="0"/>
          </a:p>
        </p:txBody>
      </p:sp>
      <p:sp>
        <p:nvSpPr>
          <p:cNvPr id="39" name="Text 37"/>
          <p:cNvSpPr/>
          <p:nvPr/>
        </p:nvSpPr>
        <p:spPr>
          <a:xfrm>
            <a:off x="987552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72.6 ms</a:t>
            </a:r>
            <a:endParaRPr lang="en-US" sz="1250" dirty="0"/>
          </a:p>
        </p:txBody>
      </p:sp>
      <p:sp>
        <p:nvSpPr>
          <p:cNvPr id="40" name="Shape 38"/>
          <p:cNvSpPr/>
          <p:nvPr/>
        </p:nvSpPr>
        <p:spPr>
          <a:xfrm>
            <a:off x="640080" y="4553712"/>
            <a:ext cx="10881360" cy="603504"/>
          </a:xfrm>
          <a:prstGeom prst="roundRect">
            <a:avLst>
              <a:gd name="adj" fmla="val 10606"/>
            </a:avLst>
          </a:prstGeom>
          <a:solidFill>
            <a:srgbClr val="FFF0F2"/>
          </a:solidFill>
          <a:ln w="12700">
            <a:solidFill>
              <a:srgbClr val="FFF0F2"/>
            </a:solidFill>
            <a:prstDash val="solid"/>
          </a:ln>
        </p:spPr>
      </p:sp>
      <p:sp>
        <p:nvSpPr>
          <p:cNvPr id="41" name="Text 39"/>
          <p:cNvSpPr/>
          <p:nvPr/>
        </p:nvSpPr>
        <p:spPr>
          <a:xfrm>
            <a:off x="914400" y="4736592"/>
            <a:ext cx="3291840" cy="274320"/>
          </a:xfrm>
          <a:prstGeom prst="rect">
            <a:avLst/>
          </a:prstGeom>
          <a:noFill/>
          <a:ln/>
        </p:spPr>
        <p:txBody>
          <a:bodyPr wrap="square" lIns="0" tIns="0" rIns="0" bIns="0" rtlCol="0" anchor="ctr"/>
          <a:lstStyle/>
          <a:p>
            <a:pPr indent="0" marL="0">
              <a:buNone/>
            </a:pPr>
            <a:r>
              <a:rPr lang="en-US" sz="1250" b="1" dirty="0">
                <a:solidFill>
                  <a:srgbClr val="9B2C3A"/>
                </a:solidFill>
                <a:latin typeface="Calibri" pitchFamily="34" charset="0"/>
                <a:ea typeface="Calibri" pitchFamily="34" charset="-122"/>
                <a:cs typeface="Calibri" pitchFamily="34" charset="-120"/>
              </a:rPr>
              <a:t>AgentPulse full system</a:t>
            </a:r>
            <a:endParaRPr lang="en-US" sz="1250" dirty="0"/>
          </a:p>
        </p:txBody>
      </p:sp>
      <p:sp>
        <p:nvSpPr>
          <p:cNvPr id="42" name="Text 40"/>
          <p:cNvSpPr/>
          <p:nvPr/>
        </p:nvSpPr>
        <p:spPr>
          <a:xfrm>
            <a:off x="429768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0.727</a:t>
            </a:r>
            <a:endParaRPr lang="en-US" sz="1250" dirty="0"/>
          </a:p>
        </p:txBody>
      </p:sp>
      <p:sp>
        <p:nvSpPr>
          <p:cNvPr id="43" name="Text 41"/>
          <p:cNvSpPr/>
          <p:nvPr/>
        </p:nvSpPr>
        <p:spPr>
          <a:xfrm>
            <a:off x="5760720" y="4736592"/>
            <a:ext cx="128016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1.000</a:t>
            </a:r>
            <a:endParaRPr lang="en-US" sz="1250" dirty="0"/>
          </a:p>
        </p:txBody>
      </p:sp>
      <p:sp>
        <p:nvSpPr>
          <p:cNvPr id="44" name="Text 42"/>
          <p:cNvSpPr/>
          <p:nvPr/>
        </p:nvSpPr>
        <p:spPr>
          <a:xfrm>
            <a:off x="7132320" y="4736592"/>
            <a:ext cx="118872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0.842</a:t>
            </a:r>
            <a:endParaRPr lang="en-US" sz="1250" dirty="0"/>
          </a:p>
        </p:txBody>
      </p:sp>
      <p:sp>
        <p:nvSpPr>
          <p:cNvPr id="45" name="Text 43"/>
          <p:cNvSpPr/>
          <p:nvPr/>
        </p:nvSpPr>
        <p:spPr>
          <a:xfrm>
            <a:off x="841248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0.250</a:t>
            </a:r>
            <a:endParaRPr lang="en-US" sz="1250" dirty="0"/>
          </a:p>
        </p:txBody>
      </p:sp>
      <p:sp>
        <p:nvSpPr>
          <p:cNvPr id="46" name="Text 44"/>
          <p:cNvSpPr/>
          <p:nvPr/>
        </p:nvSpPr>
        <p:spPr>
          <a:xfrm>
            <a:off x="987552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101.5 ms</a:t>
            </a:r>
            <a:endParaRPr lang="en-US" sz="1250" dirty="0"/>
          </a:p>
        </p:txBody>
      </p:sp>
      <p:sp>
        <p:nvSpPr>
          <p:cNvPr id="47" name="Shape 45"/>
          <p:cNvSpPr/>
          <p:nvPr/>
        </p:nvSpPr>
        <p:spPr>
          <a:xfrm>
            <a:off x="640080" y="5029200"/>
            <a:ext cx="10881360" cy="1325880"/>
          </a:xfrm>
          <a:prstGeom prst="roundRect">
            <a:avLst>
              <a:gd name="adj" fmla="val 4828"/>
            </a:avLst>
          </a:prstGeom>
          <a:solidFill>
            <a:srgbClr val="FFFFFF"/>
          </a:solidFill>
          <a:ln w="12700">
            <a:solidFill>
              <a:srgbClr val="FFFFFF"/>
            </a:solidFill>
            <a:prstDash val="solid"/>
          </a:ln>
        </p:spPr>
      </p:sp>
      <p:sp>
        <p:nvSpPr>
          <p:cNvPr id="48" name="Text 46"/>
          <p:cNvSpPr/>
          <p:nvPr/>
        </p:nvSpPr>
        <p:spPr>
          <a:xfrm>
            <a:off x="960120" y="5193792"/>
            <a:ext cx="10241280" cy="274320"/>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The full system is not the best row, and that is reported rather than hidden</a:t>
            </a:r>
            <a:endParaRPr lang="en-US" sz="1300" dirty="0"/>
          </a:p>
        </p:txBody>
      </p:sp>
      <p:sp>
        <p:nvSpPr>
          <p:cNvPr id="49" name="Text 47"/>
          <p:cNvSpPr/>
          <p:nvPr/>
        </p:nvSpPr>
        <p:spPr>
          <a:xfrm>
            <a:off x="960120" y="5504688"/>
            <a:ext cx="10241280" cy="7315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Folding the drift score into a per-claim composite risk adds noise to a claim-level classification task - drift is a per-agent behavioural signal, not evidence about a single statement. The ablation shows the same effect independently: configuration F, NLI plus drift, drops to F1 0.619. Note also that this comparison is dated 18 August, nine days before the drift detector was rebuilt, so it measures the superseded signal. Re-running it is listed in future work.</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Ablation study - seven configurations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Ablation completed</a:t>
            </a:r>
            <a:endParaRPr lang="en-US" sz="900" dirty="0"/>
          </a:p>
        </p:txBody>
      </p:sp>
      <p:graphicFrame>
        <p:nvGraphicFramePr>
          <p:cNvPr id="6" name="Chart 0" descr=""/>
          <p:cNvGraphicFramePr/>
          <p:nvPr/>
        </p:nvGraphicFramePr>
        <p:xfrm>
          <a:off x="640080" y="1371600"/>
          <a:ext cx="676656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35240" y="1371600"/>
            <a:ext cx="3886200" cy="3017520"/>
          </a:xfrm>
          <a:prstGeom prst="roundRect">
            <a:avLst>
              <a:gd name="adj" fmla="val 2121"/>
            </a:avLst>
          </a:prstGeom>
          <a:solidFill>
            <a:srgbClr val="222937"/>
          </a:solidFill>
          <a:ln w="12700">
            <a:solidFill>
              <a:srgbClr val="222937"/>
            </a:solidFill>
            <a:prstDash val="solid"/>
          </a:ln>
        </p:spPr>
      </p:sp>
      <p:sp>
        <p:nvSpPr>
          <p:cNvPr id="8" name="Text 5"/>
          <p:cNvSpPr/>
          <p:nvPr/>
        </p:nvSpPr>
        <p:spPr>
          <a:xfrm>
            <a:off x="7955280" y="1572768"/>
            <a:ext cx="329184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What the ablation shows</a:t>
            </a:r>
            <a:endParaRPr lang="en-US" sz="1350" dirty="0"/>
          </a:p>
        </p:txBody>
      </p:sp>
      <p:sp>
        <p:nvSpPr>
          <p:cNvPr id="9" name="Text 6"/>
          <p:cNvSpPr/>
          <p:nvPr/>
        </p:nvSpPr>
        <p:spPr>
          <a:xfrm>
            <a:off x="7955280" y="1965960"/>
            <a:ext cx="3291840" cy="228600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The cascade (C) matches NLI alone (B) at 0.963 while handling the common case at a fraction of the cost. That is the justification for the gate.</a:t>
            </a:r>
            <a:endParaRPr lang="en-US" sz="1100" dirty="0"/>
          </a:p>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Tool-claim (D) and disagreement (E) change nothing - the single-agent test split cannot exercise either.</a:t>
            </a:r>
            <a:endParaRPr lang="en-US" sz="1100" dirty="0"/>
          </a:p>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Drift (F) actively harms classification, 0.619.</a:t>
            </a:r>
            <a:endParaRPr lang="en-US" sz="1100" dirty="0"/>
          </a:p>
        </p:txBody>
      </p:sp>
      <p:sp>
        <p:nvSpPr>
          <p:cNvPr id="10" name="Shape 7"/>
          <p:cNvSpPr/>
          <p:nvPr/>
        </p:nvSpPr>
        <p:spPr>
          <a:xfrm>
            <a:off x="640080" y="4617720"/>
            <a:ext cx="10881360" cy="1371600"/>
          </a:xfrm>
          <a:prstGeom prst="roundRect">
            <a:avLst>
              <a:gd name="adj" fmla="val 4667"/>
            </a:avLst>
          </a:prstGeom>
          <a:solidFill>
            <a:srgbClr val="1B2230"/>
          </a:solidFill>
          <a:ln w="12700">
            <a:solidFill>
              <a:srgbClr val="1B2230"/>
            </a:solidFill>
            <a:prstDash val="solid"/>
          </a:ln>
        </p:spPr>
      </p:sp>
      <p:sp>
        <p:nvSpPr>
          <p:cNvPr id="11" name="Text 8"/>
          <p:cNvSpPr/>
          <p:nvPr/>
        </p:nvSpPr>
        <p:spPr>
          <a:xfrm>
            <a:off x="960120" y="4800600"/>
            <a:ext cx="10241280" cy="27432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Error analysis</a:t>
            </a:r>
            <a:endParaRPr lang="en-US" sz="1300" dirty="0"/>
          </a:p>
        </p:txBody>
      </p:sp>
      <p:sp>
        <p:nvSpPr>
          <p:cNvPr id="12" name="Text 9"/>
          <p:cNvSpPr/>
          <p:nvPr/>
        </p:nvSpPr>
        <p:spPr>
          <a:xfrm>
            <a:off x="960120" y="5120640"/>
            <a:ext cx="10241280" cy="73152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Configurations D and E producing identical numbers is itself the finding: the ablation could not test them, because a single-agent dataset structurally cannot exercise a cross-agent or tool-narration signal. That observation is what triggered the external validation on the next slide, and it is the reason those two signals ship as Experimental.</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Grounding and drift</a:t>
            </a:r>
            <a:endParaRPr lang="en-US" sz="3100" dirty="0"/>
          </a:p>
        </p:txBody>
      </p:sp>
      <p:sp>
        <p:nvSpPr>
          <p:cNvPr id="4" name="Shape 2"/>
          <p:cNvSpPr/>
          <p:nvPr/>
        </p:nvSpPr>
        <p:spPr>
          <a:xfrm>
            <a:off x="640080" y="1417320"/>
            <a:ext cx="5349240" cy="2148840"/>
          </a:xfrm>
          <a:prstGeom prst="roundRect">
            <a:avLst>
              <a:gd name="adj" fmla="val 2979"/>
            </a:avLst>
          </a:prstGeom>
          <a:solidFill>
            <a:srgbClr val="FFFFFF"/>
          </a:solidFill>
          <a:ln w="12700">
            <a:solidFill>
              <a:srgbClr val="FFFFFF"/>
            </a:solidFill>
            <a:prstDash val="solid"/>
          </a:ln>
        </p:spPr>
      </p:sp>
      <p:sp>
        <p:nvSpPr>
          <p:cNvPr id="5" name="Text 3"/>
          <p:cNvSpPr/>
          <p:nvPr/>
        </p:nvSpPr>
        <p:spPr>
          <a:xfrm>
            <a:off x="960120" y="1600200"/>
            <a:ext cx="47548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Grounding</a:t>
            </a:r>
            <a:endParaRPr lang="en-US" sz="1350" dirty="0"/>
          </a:p>
        </p:txBody>
      </p:sp>
      <p:sp>
        <p:nvSpPr>
          <p:cNvPr id="6" name="Text 4"/>
          <p:cNvSpPr/>
          <p:nvPr/>
        </p:nvSpPr>
        <p:spPr>
          <a:xfrm>
            <a:off x="960120" y="1920240"/>
            <a:ext cx="2194560" cy="594360"/>
          </a:xfrm>
          <a:prstGeom prst="rect">
            <a:avLst/>
          </a:prstGeom>
          <a:noFill/>
          <a:ln/>
        </p:spPr>
        <p:txBody>
          <a:bodyPr wrap="square" lIns="0" tIns="0" rIns="0" bIns="0" rtlCol="0" anchor="ctr"/>
          <a:lstStyle/>
          <a:p>
            <a:pPr indent="0" marL="0">
              <a:buNone/>
            </a:pPr>
            <a:r>
              <a:rPr lang="en-US" sz="3600" b="1" dirty="0">
                <a:solidFill>
                  <a:srgbClr val="15704F"/>
                </a:solidFill>
                <a:latin typeface="Cambria" pitchFamily="34" charset="0"/>
                <a:ea typeface="Cambria" pitchFamily="34" charset="-122"/>
                <a:cs typeface="Cambria" pitchFamily="34" charset="-120"/>
              </a:rPr>
              <a:t>0.963</a:t>
            </a:r>
            <a:endParaRPr lang="en-US" sz="3600" dirty="0"/>
          </a:p>
        </p:txBody>
      </p:sp>
      <p:sp>
        <p:nvSpPr>
          <p:cNvPr id="7" name="Text 5"/>
          <p:cNvSpPr/>
          <p:nvPr/>
        </p:nvSpPr>
        <p:spPr>
          <a:xfrm>
            <a:off x="960120" y="2542032"/>
            <a:ext cx="274320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F1 on held-out v1.0_test</a:t>
            </a:r>
            <a:endParaRPr lang="en-US" sz="1150" dirty="0"/>
          </a:p>
        </p:txBody>
      </p:sp>
      <p:sp>
        <p:nvSpPr>
          <p:cNvPr id="8" name="Text 6"/>
          <p:cNvSpPr/>
          <p:nvPr/>
        </p:nvSpPr>
        <p:spPr>
          <a:xfrm>
            <a:off x="960120" y="2834640"/>
            <a:ext cx="4754880" cy="59436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Precision 0.929, recall 1.000, FPR 0.059. Thresholds were selected on the dev split and applied unchanged.</a:t>
            </a:r>
            <a:endParaRPr lang="en-US" sz="1150" dirty="0"/>
          </a:p>
        </p:txBody>
      </p:sp>
      <p:sp>
        <p:nvSpPr>
          <p:cNvPr id="9" name="Shape 7"/>
          <p:cNvSpPr/>
          <p:nvPr/>
        </p:nvSpPr>
        <p:spPr>
          <a:xfrm>
            <a:off x="6309360" y="1417320"/>
            <a:ext cx="5212080" cy="2148840"/>
          </a:xfrm>
          <a:prstGeom prst="roundRect">
            <a:avLst>
              <a:gd name="adj" fmla="val 2979"/>
            </a:avLst>
          </a:prstGeom>
          <a:solidFill>
            <a:srgbClr val="FFFFFF"/>
          </a:solidFill>
          <a:ln w="12700">
            <a:solidFill>
              <a:srgbClr val="FFFFFF"/>
            </a:solidFill>
            <a:prstDash val="solid"/>
          </a:ln>
        </p:spPr>
      </p:sp>
      <p:sp>
        <p:nvSpPr>
          <p:cNvPr id="10" name="Text 8"/>
          <p:cNvSpPr/>
          <p:nvPr/>
        </p:nvSpPr>
        <p:spPr>
          <a:xfrm>
            <a:off x="6629400" y="1600200"/>
            <a:ext cx="461772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Drift, after the rebuild</a:t>
            </a:r>
            <a:endParaRPr lang="en-US" sz="1350" dirty="0"/>
          </a:p>
        </p:txBody>
      </p:sp>
      <p:sp>
        <p:nvSpPr>
          <p:cNvPr id="11" name="Text 9"/>
          <p:cNvSpPr/>
          <p:nvPr/>
        </p:nvSpPr>
        <p:spPr>
          <a:xfrm>
            <a:off x="6629400" y="1920240"/>
            <a:ext cx="2194560" cy="594360"/>
          </a:xfrm>
          <a:prstGeom prst="rect">
            <a:avLst/>
          </a:prstGeom>
          <a:noFill/>
          <a:ln/>
        </p:spPr>
        <p:txBody>
          <a:bodyPr wrap="square" lIns="0" tIns="0" rIns="0" bIns="0" rtlCol="0" anchor="ctr"/>
          <a:lstStyle/>
          <a:p>
            <a:pPr indent="0" marL="0">
              <a:buNone/>
            </a:pPr>
            <a:r>
              <a:rPr lang="en-US" sz="3600" b="1" dirty="0">
                <a:solidFill>
                  <a:srgbClr val="15704F"/>
                </a:solidFill>
                <a:latin typeface="Cambria" pitchFamily="34" charset="0"/>
                <a:ea typeface="Cambria" pitchFamily="34" charset="-122"/>
                <a:cs typeface="Cambria" pitchFamily="34" charset="-120"/>
              </a:rPr>
              <a:t>0.991</a:t>
            </a:r>
            <a:endParaRPr lang="en-US" sz="3600" dirty="0"/>
          </a:p>
        </p:txBody>
      </p:sp>
      <p:sp>
        <p:nvSpPr>
          <p:cNvPr id="12" name="Text 10"/>
          <p:cNvSpPr/>
          <p:nvPr/>
        </p:nvSpPr>
        <p:spPr>
          <a:xfrm>
            <a:off x="6629400" y="2542032"/>
            <a:ext cx="29260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AUC on 111 held-out tasks</a:t>
            </a:r>
            <a:endParaRPr lang="en-US" sz="1150" dirty="0"/>
          </a:p>
        </p:txBody>
      </p:sp>
      <p:sp>
        <p:nvSpPr>
          <p:cNvPr id="13" name="Text 11"/>
          <p:cNvSpPr/>
          <p:nvPr/>
        </p:nvSpPr>
        <p:spPr>
          <a:xfrm>
            <a:off x="6629400" y="2834640"/>
            <a:ext cx="4617720" cy="59436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False alarms 1.5%, detection 92%. Calibrated on 89 dev tasks with the criterion fixed beforehand.</a:t>
            </a:r>
            <a:endParaRPr lang="en-US" sz="1150" dirty="0"/>
          </a:p>
        </p:txBody>
      </p:sp>
      <p:sp>
        <p:nvSpPr>
          <p:cNvPr id="14" name="Text 12"/>
          <p:cNvSpPr/>
          <p:nvPr/>
        </p:nvSpPr>
        <p:spPr>
          <a:xfrm>
            <a:off x="640080" y="3794760"/>
            <a:ext cx="1088136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The drift detector had to be rebuilt first</a:t>
            </a:r>
            <a:endParaRPr lang="en-US" sz="1400" dirty="0"/>
          </a:p>
        </p:txBody>
      </p:sp>
      <p:sp>
        <p:nvSpPr>
          <p:cNvPr id="15" name="Shape 13"/>
          <p:cNvSpPr/>
          <p:nvPr/>
        </p:nvSpPr>
        <p:spPr>
          <a:xfrm>
            <a:off x="640080" y="4160520"/>
            <a:ext cx="3520440" cy="1417320"/>
          </a:xfrm>
          <a:prstGeom prst="roundRect">
            <a:avLst>
              <a:gd name="adj" fmla="val 4516"/>
            </a:avLst>
          </a:prstGeom>
          <a:solidFill>
            <a:srgbClr val="FFFFFF"/>
          </a:solidFill>
          <a:ln w="12700">
            <a:solidFill>
              <a:srgbClr val="FFFFFF"/>
            </a:solidFill>
            <a:prstDash val="solid"/>
          </a:ln>
        </p:spPr>
      </p:sp>
      <p:sp>
        <p:nvSpPr>
          <p:cNvPr id="16" name="Text 14"/>
          <p:cNvSpPr/>
          <p:nvPr/>
        </p:nvSpPr>
        <p:spPr>
          <a:xfrm>
            <a:off x="896112"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01</a:t>
            </a:r>
            <a:endParaRPr lang="en-US" sz="1600" dirty="0"/>
          </a:p>
        </p:txBody>
      </p:sp>
      <p:sp>
        <p:nvSpPr>
          <p:cNvPr id="17" name="Text 15"/>
          <p:cNvSpPr/>
          <p:nvPr/>
        </p:nvSpPr>
        <p:spPr>
          <a:xfrm>
            <a:off x="1417320"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Synthetic benchmark</a:t>
            </a:r>
            <a:endParaRPr lang="en-US" sz="1250" dirty="0"/>
          </a:p>
        </p:txBody>
      </p:sp>
      <p:sp>
        <p:nvSpPr>
          <p:cNvPr id="18" name="Text 16"/>
          <p:cNvSpPr/>
          <p:nvPr/>
        </p:nvSpPr>
        <p:spPr>
          <a:xfrm>
            <a:off x="896112"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Looked adequate. Measured centroid distance never exceeded 0.099 against a 0.30 threshold, so the signal had in fact never fired.</a:t>
            </a:r>
            <a:endParaRPr lang="en-US" sz="1050" dirty="0"/>
          </a:p>
        </p:txBody>
      </p:sp>
      <p:sp>
        <p:nvSpPr>
          <p:cNvPr id="19" name="Shape 17"/>
          <p:cNvSpPr/>
          <p:nvPr/>
        </p:nvSpPr>
        <p:spPr>
          <a:xfrm>
            <a:off x="4325112" y="4160520"/>
            <a:ext cx="3520440" cy="1417320"/>
          </a:xfrm>
          <a:prstGeom prst="roundRect">
            <a:avLst>
              <a:gd name="adj" fmla="val 4516"/>
            </a:avLst>
          </a:prstGeom>
          <a:solidFill>
            <a:srgbClr val="FFFFFF"/>
          </a:solidFill>
          <a:ln w="12700">
            <a:solidFill>
              <a:srgbClr val="FFFFFF"/>
            </a:solidFill>
            <a:prstDash val="solid"/>
          </a:ln>
        </p:spPr>
      </p:sp>
      <p:sp>
        <p:nvSpPr>
          <p:cNvPr id="20" name="Text 18"/>
          <p:cNvSpPr/>
          <p:nvPr/>
        </p:nvSpPr>
        <p:spPr>
          <a:xfrm>
            <a:off x="4581144"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02</a:t>
            </a:r>
            <a:endParaRPr lang="en-US" sz="1600" dirty="0"/>
          </a:p>
        </p:txBody>
      </p:sp>
      <p:sp>
        <p:nvSpPr>
          <p:cNvPr id="21" name="Text 19"/>
          <p:cNvSpPr/>
          <p:nvPr/>
        </p:nvSpPr>
        <p:spPr>
          <a:xfrm>
            <a:off x="5102352"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Real agent text</a:t>
            </a:r>
            <a:endParaRPr lang="en-US" sz="1250" dirty="0"/>
          </a:p>
        </p:txBody>
      </p:sp>
      <p:sp>
        <p:nvSpPr>
          <p:cNvPr id="22" name="Text 20"/>
          <p:cNvSpPr/>
          <p:nvPr/>
        </p:nvSpPr>
        <p:spPr>
          <a:xfrm>
            <a:off x="4581144"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The shipped metric fired on 91.7% of unchanged operation. A multi-step agent legitimately says something different at every step.</a:t>
            </a:r>
            <a:endParaRPr lang="en-US" sz="1050" dirty="0"/>
          </a:p>
        </p:txBody>
      </p:sp>
      <p:sp>
        <p:nvSpPr>
          <p:cNvPr id="23" name="Shape 21"/>
          <p:cNvSpPr/>
          <p:nvPr/>
        </p:nvSpPr>
        <p:spPr>
          <a:xfrm>
            <a:off x="8010144" y="4160520"/>
            <a:ext cx="3520440" cy="1417320"/>
          </a:xfrm>
          <a:prstGeom prst="roundRect">
            <a:avLst>
              <a:gd name="adj" fmla="val 4516"/>
            </a:avLst>
          </a:prstGeom>
          <a:solidFill>
            <a:srgbClr val="FFFFFF"/>
          </a:solidFill>
          <a:ln w="12700">
            <a:solidFill>
              <a:srgbClr val="FFFFFF"/>
            </a:solidFill>
            <a:prstDash val="solid"/>
          </a:ln>
        </p:spPr>
      </p:sp>
      <p:sp>
        <p:nvSpPr>
          <p:cNvPr id="24" name="Text 22"/>
          <p:cNvSpPr/>
          <p:nvPr/>
        </p:nvSpPr>
        <p:spPr>
          <a:xfrm>
            <a:off x="8266176"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03</a:t>
            </a:r>
            <a:endParaRPr lang="en-US" sz="1600" dirty="0"/>
          </a:p>
        </p:txBody>
      </p:sp>
      <p:sp>
        <p:nvSpPr>
          <p:cNvPr id="25" name="Text 23"/>
          <p:cNvSpPr/>
          <p:nvPr/>
        </p:nvSpPr>
        <p:spPr>
          <a:xfrm>
            <a:off x="8787384"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Diagnosis and fix</a:t>
            </a:r>
            <a:endParaRPr lang="en-US" sz="1250" dirty="0"/>
          </a:p>
        </p:txBody>
      </p:sp>
      <p:sp>
        <p:nvSpPr>
          <p:cNvPr id="26" name="Text 24"/>
          <p:cNvSpPr/>
          <p:nvPr/>
        </p:nvSpPr>
        <p:spPr>
          <a:xfrm>
            <a:off x="8266176"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The threshold was never the problem; the representation was. A baseline window mean against a current window mean, pooled and disjoint.</a:t>
            </a:r>
            <a:endParaRPr lang="en-US" sz="1050" dirty="0"/>
          </a:p>
        </p:txBody>
      </p:sp>
      <p:sp>
        <p:nvSpPr>
          <p:cNvPr id="27" name="Text 25"/>
          <p:cNvSpPr/>
          <p:nvPr/>
        </p:nvSpPr>
        <p:spPr>
          <a:xfrm>
            <a:off x="640080" y="5715000"/>
            <a:ext cx="10881360" cy="457200"/>
          </a:xfrm>
          <a:prstGeom prst="rect">
            <a:avLst/>
          </a:prstGeom>
          <a:noFill/>
          <a:ln/>
        </p:spPr>
        <p:txBody>
          <a:bodyPr wrap="square" lIns="0" tIns="0" rIns="0" bIns="0" rtlCol="0" anchor="ctr"/>
          <a:lstStyle/>
          <a:p>
            <a:pPr indent="0" marL="0">
              <a:buNone/>
            </a:pPr>
            <a:r>
              <a:rPr lang="en-US" sz="1200" i="1" dirty="0">
                <a:solidFill>
                  <a:srgbClr val="9B6B00"/>
                </a:solidFill>
                <a:latin typeface="Calibri" pitchFamily="34" charset="0"/>
                <a:ea typeface="Calibri" pitchFamily="34" charset="-122"/>
                <a:cs typeface="Calibri" pitchFamily="34" charset="-120"/>
              </a:rPr>
              <a:t>Cost, stated with the accuracy every time: coverage is 24.5%. The metric is undefined until both windows fill, so roughly three quarters of sessions produce no drift verdict at all.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Production behaviour, measured</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End-to-end demonstrated</a:t>
            </a:r>
            <a:endParaRPr lang="en-US" sz="900" dirty="0"/>
          </a:p>
        </p:txBody>
      </p:sp>
      <p:sp>
        <p:nvSpPr>
          <p:cNvPr id="6" name="Shape 4"/>
          <p:cNvSpPr/>
          <p:nvPr/>
        </p:nvSpPr>
        <p:spPr>
          <a:xfrm>
            <a:off x="640080" y="1417320"/>
            <a:ext cx="5349240" cy="2057400"/>
          </a:xfrm>
          <a:prstGeom prst="roundRect">
            <a:avLst>
              <a:gd name="adj" fmla="val 3111"/>
            </a:avLst>
          </a:prstGeom>
          <a:solidFill>
            <a:srgbClr val="222937"/>
          </a:solidFill>
          <a:ln w="12700">
            <a:solidFill>
              <a:srgbClr val="222937"/>
            </a:solidFill>
            <a:prstDash val="solid"/>
          </a:ln>
        </p:spPr>
      </p:sp>
      <p:sp>
        <p:nvSpPr>
          <p:cNvPr id="7" name="Text 5"/>
          <p:cNvSpPr/>
          <p:nvPr/>
        </p:nvSpPr>
        <p:spPr>
          <a:xfrm>
            <a:off x="960120" y="1618488"/>
            <a:ext cx="4754880" cy="548640"/>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exactly once</a:t>
            </a:r>
            <a:endParaRPr lang="en-US" sz="2600" dirty="0"/>
          </a:p>
        </p:txBody>
      </p:sp>
      <p:sp>
        <p:nvSpPr>
          <p:cNvPr id="8" name="Text 6"/>
          <p:cNvSpPr/>
          <p:nvPr/>
        </p:nvSpPr>
        <p:spPr>
          <a:xfrm>
            <a:off x="960120" y="21945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Crash recovery</a:t>
            </a:r>
            <a:endParaRPr lang="en-US" sz="1250" dirty="0"/>
          </a:p>
        </p:txBody>
      </p:sp>
      <p:sp>
        <p:nvSpPr>
          <p:cNvPr id="9" name="Text 7"/>
          <p:cNvSpPr/>
          <p:nvPr/>
        </p:nvSpPr>
        <p:spPr>
          <a:xfrm>
            <a:off x="960120" y="251460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SIGKILL mid-evaluation, 8,000 spans across 8 runs: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0 lost, 0 retried, 0 duplicated, at every concurrency level</a:t>
            </a:r>
            <a:endParaRPr lang="en-US" sz="1100" dirty="0"/>
          </a:p>
        </p:txBody>
      </p:sp>
      <p:sp>
        <p:nvSpPr>
          <p:cNvPr id="10" name="Shape 8"/>
          <p:cNvSpPr/>
          <p:nvPr/>
        </p:nvSpPr>
        <p:spPr>
          <a:xfrm>
            <a:off x="6172200" y="1417320"/>
            <a:ext cx="5349240" cy="2057400"/>
          </a:xfrm>
          <a:prstGeom prst="roundRect">
            <a:avLst>
              <a:gd name="adj" fmla="val 3111"/>
            </a:avLst>
          </a:prstGeom>
          <a:solidFill>
            <a:srgbClr val="222937"/>
          </a:solidFill>
          <a:ln w="12700">
            <a:solidFill>
              <a:srgbClr val="222937"/>
            </a:solidFill>
            <a:prstDash val="solid"/>
          </a:ln>
        </p:spPr>
      </p:sp>
      <p:sp>
        <p:nvSpPr>
          <p:cNvPr id="11" name="Text 9"/>
          <p:cNvSpPr/>
          <p:nvPr/>
        </p:nvSpPr>
        <p:spPr>
          <a:xfrm>
            <a:off x="6492240" y="1618488"/>
            <a:ext cx="4754880" cy="54864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12 spans/sec</a:t>
            </a:r>
            <a:endParaRPr lang="en-US" sz="2600" dirty="0"/>
          </a:p>
        </p:txBody>
      </p:sp>
      <p:sp>
        <p:nvSpPr>
          <p:cNvPr id="12" name="Text 10"/>
          <p:cNvSpPr/>
          <p:nvPr/>
        </p:nvSpPr>
        <p:spPr>
          <a:xfrm>
            <a:off x="6492240" y="21945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Throughput, 4 workers</a:t>
            </a:r>
            <a:endParaRPr lang="en-US" sz="1250" dirty="0"/>
          </a:p>
        </p:txBody>
      </p:sp>
      <p:sp>
        <p:nvSpPr>
          <p:cNvPr id="13" name="Text 11"/>
          <p:cNvSpPr/>
          <p:nvPr/>
        </p:nvSpPr>
        <p:spPr>
          <a:xfrm>
            <a:off x="6492240" y="251460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8 workers buys 8% more throughput for 86% more memory.</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Per-worker CPU falls monotonically - core saturation</a:t>
            </a:r>
            <a:endParaRPr lang="en-US" sz="1100" dirty="0"/>
          </a:p>
        </p:txBody>
      </p:sp>
      <p:sp>
        <p:nvSpPr>
          <p:cNvPr id="14" name="Shape 12"/>
          <p:cNvSpPr/>
          <p:nvPr/>
        </p:nvSpPr>
        <p:spPr>
          <a:xfrm>
            <a:off x="640080" y="3794760"/>
            <a:ext cx="5349240" cy="2057400"/>
          </a:xfrm>
          <a:prstGeom prst="roundRect">
            <a:avLst>
              <a:gd name="adj" fmla="val 3111"/>
            </a:avLst>
          </a:prstGeom>
          <a:solidFill>
            <a:srgbClr val="222937"/>
          </a:solidFill>
          <a:ln w="12700">
            <a:solidFill>
              <a:srgbClr val="222937"/>
            </a:solidFill>
            <a:prstDash val="solid"/>
          </a:ln>
        </p:spPr>
      </p:sp>
      <p:sp>
        <p:nvSpPr>
          <p:cNvPr id="15" name="Text 13"/>
          <p:cNvSpPr/>
          <p:nvPr/>
        </p:nvSpPr>
        <p:spPr>
          <a:xfrm>
            <a:off x="960120" y="3995928"/>
            <a:ext cx="4754880" cy="54864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1.97x</a:t>
            </a:r>
            <a:endParaRPr lang="en-US" sz="2600" dirty="0"/>
          </a:p>
        </p:txBody>
      </p:sp>
      <p:sp>
        <p:nvSpPr>
          <p:cNvPr id="16" name="Text 14"/>
          <p:cNvSpPr/>
          <p:nvPr/>
        </p:nvSpPr>
        <p:spPr>
          <a:xfrm>
            <a:off x="960120" y="457200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ONNX over PyTorch</a:t>
            </a:r>
            <a:endParaRPr lang="en-US" sz="1250" dirty="0"/>
          </a:p>
        </p:txBody>
      </p:sp>
      <p:sp>
        <p:nvSpPr>
          <p:cNvPr id="17" name="Text 15"/>
          <p:cNvSpPr/>
          <p:nvPr/>
        </p:nvSpPr>
        <p:spPr>
          <a:xfrm>
            <a:off x="960120" y="489204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Worst probability difference between backends 1.2e-08.</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Identical output, roughly twice the speed</a:t>
            </a:r>
            <a:endParaRPr lang="en-US" sz="1100" dirty="0"/>
          </a:p>
        </p:txBody>
      </p:sp>
      <p:sp>
        <p:nvSpPr>
          <p:cNvPr id="18" name="Shape 16"/>
          <p:cNvSpPr/>
          <p:nvPr/>
        </p:nvSpPr>
        <p:spPr>
          <a:xfrm>
            <a:off x="6172200" y="3794760"/>
            <a:ext cx="5349240" cy="2057400"/>
          </a:xfrm>
          <a:prstGeom prst="roundRect">
            <a:avLst>
              <a:gd name="adj" fmla="val 3111"/>
            </a:avLst>
          </a:prstGeom>
          <a:solidFill>
            <a:srgbClr val="222937"/>
          </a:solidFill>
          <a:ln w="12700">
            <a:solidFill>
              <a:srgbClr val="222937"/>
            </a:solidFill>
            <a:prstDash val="solid"/>
          </a:ln>
        </p:spPr>
      </p:sp>
      <p:sp>
        <p:nvSpPr>
          <p:cNvPr id="19" name="Text 17"/>
          <p:cNvSpPr/>
          <p:nvPr/>
        </p:nvSpPr>
        <p:spPr>
          <a:xfrm>
            <a:off x="6492240" y="3995928"/>
            <a:ext cx="4754880" cy="548640"/>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1.24 to 0.10 GB</a:t>
            </a:r>
            <a:endParaRPr lang="en-US" sz="2600" dirty="0"/>
          </a:p>
        </p:txBody>
      </p:sp>
      <p:sp>
        <p:nvSpPr>
          <p:cNvPr id="20" name="Text 18"/>
          <p:cNvSpPr/>
          <p:nvPr/>
        </p:nvSpPr>
        <p:spPr>
          <a:xfrm>
            <a:off x="6492240" y="457200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API memory footprint</a:t>
            </a:r>
            <a:endParaRPr lang="en-US" sz="1250" dirty="0"/>
          </a:p>
        </p:txBody>
      </p:sp>
      <p:sp>
        <p:nvSpPr>
          <p:cNvPr id="21" name="Text 19"/>
          <p:cNvSpPr/>
          <p:nvPr/>
        </p:nvSpPr>
        <p:spPr>
          <a:xfrm>
            <a:off x="6492240" y="489204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Models moved off the ingest process.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Time-to-ready unchanged at about 1.5 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STATISTICAL RIGOR</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What the methodology does and does not establish</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Rigor - stated honestly</a:t>
            </a:r>
            <a:endParaRPr lang="en-US" sz="900" dirty="0"/>
          </a:p>
        </p:txBody>
      </p:sp>
      <p:sp>
        <p:nvSpPr>
          <p:cNvPr id="6" name="Shape 4"/>
          <p:cNvSpPr/>
          <p:nvPr/>
        </p:nvSpPr>
        <p:spPr>
          <a:xfrm>
            <a:off x="640080" y="1417320"/>
            <a:ext cx="5349240" cy="3931920"/>
          </a:xfrm>
          <a:prstGeom prst="roundRect">
            <a:avLst>
              <a:gd name="adj" fmla="val 1628"/>
            </a:avLst>
          </a:prstGeom>
          <a:solidFill>
            <a:srgbClr val="FFFFFF"/>
          </a:solidFill>
          <a:ln w="12700">
            <a:solidFill>
              <a:srgbClr val="FFFFFF"/>
            </a:solidFill>
            <a:prstDash val="solid"/>
          </a:ln>
        </p:spPr>
      </p:sp>
      <p:sp>
        <p:nvSpPr>
          <p:cNvPr id="7" name="Text 5"/>
          <p:cNvSpPr/>
          <p:nvPr/>
        </p:nvSpPr>
        <p:spPr>
          <a:xfrm>
            <a:off x="960120" y="1627632"/>
            <a:ext cx="4754880" cy="274320"/>
          </a:xfrm>
          <a:prstGeom prst="rect">
            <a:avLst/>
          </a:prstGeom>
          <a:noFill/>
          <a:ln/>
        </p:spPr>
        <p:txBody>
          <a:bodyPr wrap="square" lIns="0" tIns="0" rIns="0" bIns="0" rtlCol="0" anchor="ctr"/>
          <a:lstStyle/>
          <a:p>
            <a:pPr indent="0" marL="0">
              <a:buNone/>
            </a:pPr>
            <a:r>
              <a:rPr lang="en-US" sz="1350" b="1" dirty="0">
                <a:solidFill>
                  <a:srgbClr val="15704F"/>
                </a:solidFill>
                <a:latin typeface="Calibri" pitchFamily="34" charset="0"/>
                <a:ea typeface="Calibri" pitchFamily="34" charset="-122"/>
                <a:cs typeface="Calibri" pitchFamily="34" charset="-120"/>
              </a:rPr>
              <a:t>What is in place</a:t>
            </a:r>
            <a:endParaRPr lang="en-US" sz="1350" dirty="0"/>
          </a:p>
        </p:txBody>
      </p:sp>
      <p:sp>
        <p:nvSpPr>
          <p:cNvPr id="8" name="Text 6"/>
          <p:cNvSpPr/>
          <p:nvPr/>
        </p:nvSpPr>
        <p:spPr>
          <a:xfrm>
            <a:off x="960120" y="2011680"/>
            <a:ext cx="4754880" cy="320040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Held-out reporting: thresholds selected on dev, applied unchanged to test. Drift measured once on 111 unseen tasks.</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Pre-registered criterion: the drift acceptance rule (FA &lt;= 0.10, coverage &gt;= 0.25) was fixed before the held-out measurement.</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Inter-annotator agreement: Cohen kappa 0.922 on the original 50 labels, and 0.225 on a later attempt, which was reported as disqualifying.</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Power analysis: the 370-row external benchmark was sized before running.</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Seeds recorded for every sampling step, so selection is reproducible.</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Confidence intervals reported where they change the conclusion - the extraction generalization result is reported as overlapping intervals, not as an improvement.</a:t>
            </a:r>
            <a:endParaRPr lang="en-US" sz="1100" dirty="0"/>
          </a:p>
        </p:txBody>
      </p:sp>
      <p:sp>
        <p:nvSpPr>
          <p:cNvPr id="9" name="Shape 7"/>
          <p:cNvSpPr/>
          <p:nvPr/>
        </p:nvSpPr>
        <p:spPr>
          <a:xfrm>
            <a:off x="6309360" y="1417320"/>
            <a:ext cx="5212080" cy="3931920"/>
          </a:xfrm>
          <a:prstGeom prst="roundRect">
            <a:avLst>
              <a:gd name="adj" fmla="val 1628"/>
            </a:avLst>
          </a:prstGeom>
          <a:solidFill>
            <a:srgbClr val="FFFFFF"/>
          </a:solidFill>
          <a:ln w="12700">
            <a:solidFill>
              <a:srgbClr val="FFFFFF"/>
            </a:solidFill>
            <a:prstDash val="solid"/>
          </a:ln>
        </p:spPr>
      </p:sp>
      <p:sp>
        <p:nvSpPr>
          <p:cNvPr id="10" name="Text 8"/>
          <p:cNvSpPr/>
          <p:nvPr/>
        </p:nvSpPr>
        <p:spPr>
          <a:xfrm>
            <a:off x="6629400" y="1627632"/>
            <a:ext cx="4617720" cy="274320"/>
          </a:xfrm>
          <a:prstGeom prst="rect">
            <a:avLst/>
          </a:prstGeom>
          <a:noFill/>
          <a:ln/>
        </p:spPr>
        <p:txBody>
          <a:bodyPr wrap="square" lIns="0" tIns="0" rIns="0" bIns="0" rtlCol="0" anchor="ctr"/>
          <a:lstStyle/>
          <a:p>
            <a:pPr indent="0" marL="0">
              <a:buNone/>
            </a:pPr>
            <a:r>
              <a:rPr lang="en-US" sz="1350" b="1" dirty="0">
                <a:solidFill>
                  <a:srgbClr val="9B2C3A"/>
                </a:solidFill>
                <a:latin typeface="Calibri" pitchFamily="34" charset="0"/>
                <a:ea typeface="Calibri" pitchFamily="34" charset="-122"/>
                <a:cs typeface="Calibri" pitchFamily="34" charset="-120"/>
              </a:rPr>
              <a:t>What is not</a:t>
            </a:r>
            <a:endParaRPr lang="en-US" sz="1350" dirty="0"/>
          </a:p>
        </p:txBody>
      </p:sp>
      <p:sp>
        <p:nvSpPr>
          <p:cNvPr id="11" name="Text 9"/>
          <p:cNvSpPr/>
          <p:nvPr/>
        </p:nvSpPr>
        <p:spPr>
          <a:xfrm>
            <a:off x="6629400" y="2011680"/>
            <a:ext cx="4617720" cy="320040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No multi-seed repetition of the grounding benchmark. The 0.963 figure is a single run on a 30-case split, so it carries no variance estimate.</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No significance testing between the cascade and baseline D. Their difference is reported as observed, not as established.</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Test splits are small - 20 to 30 cases. Adequate for direction, not for tight intervals.</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Labels are LLM-generated. The kappa is between two model passes, not between human annotators.</a:t>
            </a:r>
            <a:endParaRPr lang="en-US" sz="1100" dirty="0"/>
          </a:p>
        </p:txBody>
      </p:sp>
      <p:sp>
        <p:nvSpPr>
          <p:cNvPr id="12" name="Text 10"/>
          <p:cNvSpPr/>
          <p:nvPr/>
        </p:nvSpPr>
        <p:spPr>
          <a:xfrm>
            <a:off x="640080" y="5532120"/>
            <a:ext cx="10881360" cy="45720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The honest summary: the methodology is strong on held-out discipline and weak on repetition. Where a number lacks an interval, this deck says so rather than implying one.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ERROR ANALYSIS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Three signals met external data. Three broke.</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Failure cases discussed</a:t>
            </a:r>
            <a:endParaRPr lang="en-US" sz="900" dirty="0"/>
          </a:p>
        </p:txBody>
      </p:sp>
      <p:sp>
        <p:nvSpPr>
          <p:cNvPr id="6" name="Text 4"/>
          <p:cNvSpPr/>
          <p:nvPr/>
        </p:nvSpPr>
        <p:spPr>
          <a:xfrm>
            <a:off x="914400" y="1417320"/>
            <a:ext cx="146304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SIGNAL</a:t>
            </a:r>
            <a:endParaRPr lang="en-US" sz="950" dirty="0"/>
          </a:p>
        </p:txBody>
      </p:sp>
      <p:sp>
        <p:nvSpPr>
          <p:cNvPr id="7" name="Text 5"/>
          <p:cNvSpPr/>
          <p:nvPr/>
        </p:nvSpPr>
        <p:spPr>
          <a:xfrm>
            <a:off x="2468880" y="1417320"/>
            <a:ext cx="310896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INTERNAL BENCHMARK</a:t>
            </a:r>
            <a:endParaRPr lang="en-US" sz="950" dirty="0"/>
          </a:p>
        </p:txBody>
      </p:sp>
      <p:sp>
        <p:nvSpPr>
          <p:cNvPr id="8" name="Text 6"/>
          <p:cNvSpPr/>
          <p:nvPr/>
        </p:nvSpPr>
        <p:spPr>
          <a:xfrm>
            <a:off x="5669280" y="1417320"/>
            <a:ext cx="338328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ON EXTERNAL DATA</a:t>
            </a:r>
            <a:endParaRPr lang="en-US" sz="950" dirty="0"/>
          </a:p>
        </p:txBody>
      </p:sp>
      <p:sp>
        <p:nvSpPr>
          <p:cNvPr id="9" name="Text 7"/>
          <p:cNvSpPr/>
          <p:nvPr/>
        </p:nvSpPr>
        <p:spPr>
          <a:xfrm>
            <a:off x="9189720" y="1417320"/>
            <a:ext cx="219456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STATUS</a:t>
            </a:r>
            <a:endParaRPr lang="en-US" sz="950" dirty="0"/>
          </a:p>
        </p:txBody>
      </p:sp>
      <p:sp>
        <p:nvSpPr>
          <p:cNvPr id="10" name="Shape 8"/>
          <p:cNvSpPr/>
          <p:nvPr/>
        </p:nvSpPr>
        <p:spPr>
          <a:xfrm>
            <a:off x="640080" y="1755648"/>
            <a:ext cx="10881360" cy="868680"/>
          </a:xfrm>
          <a:prstGeom prst="roundRect">
            <a:avLst>
              <a:gd name="adj" fmla="val 7368"/>
            </a:avLst>
          </a:prstGeom>
          <a:solidFill>
            <a:srgbClr val="222937"/>
          </a:solidFill>
          <a:ln w="12700">
            <a:solidFill>
              <a:srgbClr val="222937"/>
            </a:solidFill>
            <a:prstDash val="solid"/>
          </a:ln>
        </p:spPr>
      </p:sp>
      <p:sp>
        <p:nvSpPr>
          <p:cNvPr id="11" name="Text 9"/>
          <p:cNvSpPr/>
          <p:nvPr/>
        </p:nvSpPr>
        <p:spPr>
          <a:xfrm>
            <a:off x="914400" y="2029968"/>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Drift</a:t>
            </a:r>
            <a:endParaRPr lang="en-US" sz="1400" dirty="0"/>
          </a:p>
        </p:txBody>
      </p:sp>
      <p:sp>
        <p:nvSpPr>
          <p:cNvPr id="12" name="Text 10"/>
          <p:cNvSpPr/>
          <p:nvPr/>
        </p:nvSpPr>
        <p:spPr>
          <a:xfrm>
            <a:off x="2468880" y="2048256"/>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Threshold 0.30 appeared calibrated</a:t>
            </a:r>
            <a:endParaRPr lang="en-US" sz="1150" dirty="0"/>
          </a:p>
        </p:txBody>
      </p:sp>
      <p:sp>
        <p:nvSpPr>
          <p:cNvPr id="13" name="Text 11"/>
          <p:cNvSpPr/>
          <p:nvPr/>
        </p:nvSpPr>
        <p:spPr>
          <a:xfrm>
            <a:off x="5669280" y="2048256"/>
            <a:ext cx="3383280" cy="292608"/>
          </a:xfrm>
          <a:prstGeom prst="rect">
            <a:avLst/>
          </a:prstGeom>
          <a:noFill/>
          <a:ln/>
        </p:spPr>
        <p:txBody>
          <a:bodyPr wrap="square" lIns="0" tIns="0" rIns="0" bIns="0" rtlCol="0" anchor="ctr"/>
          <a:lstStyle/>
          <a:p>
            <a:pPr indent="0" marL="0">
              <a:buNone/>
            </a:pPr>
            <a:r>
              <a:rPr lang="en-US" sz="1150" b="1" dirty="0">
                <a:solidFill>
                  <a:srgbClr val="34D399"/>
                </a:solidFill>
                <a:latin typeface="Calibri" pitchFamily="34" charset="0"/>
                <a:ea typeface="Calibri" pitchFamily="34" charset="-122"/>
                <a:cs typeface="Calibri" pitchFamily="34" charset="-120"/>
              </a:rPr>
              <a:t>91.7% false alarms on real text</a:t>
            </a:r>
            <a:endParaRPr lang="en-US" sz="1150" dirty="0"/>
          </a:p>
        </p:txBody>
      </p:sp>
      <p:sp>
        <p:nvSpPr>
          <p:cNvPr id="14" name="Text 12"/>
          <p:cNvSpPr/>
          <p:nvPr/>
        </p:nvSpPr>
        <p:spPr>
          <a:xfrm>
            <a:off x="9189720" y="2048256"/>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Diagnosed and rebuilt</a:t>
            </a:r>
            <a:endParaRPr lang="en-US" sz="1100" dirty="0"/>
          </a:p>
        </p:txBody>
      </p:sp>
      <p:sp>
        <p:nvSpPr>
          <p:cNvPr id="15" name="Shape 13"/>
          <p:cNvSpPr/>
          <p:nvPr/>
        </p:nvSpPr>
        <p:spPr>
          <a:xfrm>
            <a:off x="640080" y="2743200"/>
            <a:ext cx="10881360" cy="868680"/>
          </a:xfrm>
          <a:prstGeom prst="roundRect">
            <a:avLst>
              <a:gd name="adj" fmla="val 7368"/>
            </a:avLst>
          </a:prstGeom>
          <a:solidFill>
            <a:srgbClr val="222937"/>
          </a:solidFill>
          <a:ln w="12700">
            <a:solidFill>
              <a:srgbClr val="222937"/>
            </a:solidFill>
            <a:prstDash val="solid"/>
          </a:ln>
        </p:spPr>
      </p:sp>
      <p:sp>
        <p:nvSpPr>
          <p:cNvPr id="16" name="Text 14"/>
          <p:cNvSpPr/>
          <p:nvPr/>
        </p:nvSpPr>
        <p:spPr>
          <a:xfrm>
            <a:off x="914400" y="3017520"/>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Tool-claim</a:t>
            </a:r>
            <a:endParaRPr lang="en-US" sz="1400" dirty="0"/>
          </a:p>
        </p:txBody>
      </p:sp>
      <p:sp>
        <p:nvSpPr>
          <p:cNvPr id="17" name="Text 15"/>
          <p:cNvSpPr/>
          <p:nvPr/>
        </p:nvSpPr>
        <p:spPr>
          <a:xfrm>
            <a:off x="2468880" y="3035808"/>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F1 0.842 on 19 self-authored cases</a:t>
            </a:r>
            <a:endParaRPr lang="en-US" sz="1150" dirty="0"/>
          </a:p>
        </p:txBody>
      </p:sp>
      <p:sp>
        <p:nvSpPr>
          <p:cNvPr id="18" name="Text 16"/>
          <p:cNvSpPr/>
          <p:nvPr/>
        </p:nvSpPr>
        <p:spPr>
          <a:xfrm>
            <a:off x="5669280" y="3035808"/>
            <a:ext cx="3383280" cy="292608"/>
          </a:xfrm>
          <a:prstGeom prst="rect">
            <a:avLst/>
          </a:prstGeom>
          <a:noFill/>
          <a:ln/>
        </p:spPr>
        <p:txBody>
          <a:bodyPr wrap="square" lIns="0" tIns="0" rIns="0" bIns="0" rtlCol="0" anchor="ctr"/>
          <a:lstStyle/>
          <a:p>
            <a:pPr indent="0" marL="0">
              <a:buNone/>
            </a:pPr>
            <a:r>
              <a:rPr lang="en-US" sz="1150" b="1" dirty="0">
                <a:solidFill>
                  <a:srgbClr val="FB7185"/>
                </a:solidFill>
                <a:latin typeface="Calibri" pitchFamily="34" charset="0"/>
                <a:ea typeface="Calibri" pitchFamily="34" charset="-122"/>
                <a:cs typeface="Calibri" pitchFamily="34" charset="-120"/>
              </a:rPr>
              <a:t>0 claims from 8,353 real prose spans</a:t>
            </a:r>
            <a:endParaRPr lang="en-US" sz="1150" dirty="0"/>
          </a:p>
        </p:txBody>
      </p:sp>
      <p:sp>
        <p:nvSpPr>
          <p:cNvPr id="19" name="Text 17"/>
          <p:cNvSpPr/>
          <p:nvPr/>
        </p:nvSpPr>
        <p:spPr>
          <a:xfrm>
            <a:off x="9189720" y="3035808"/>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Redesign blocked on labelling</a:t>
            </a:r>
            <a:endParaRPr lang="en-US" sz="1100" dirty="0"/>
          </a:p>
        </p:txBody>
      </p:sp>
      <p:sp>
        <p:nvSpPr>
          <p:cNvPr id="20" name="Shape 18"/>
          <p:cNvSpPr/>
          <p:nvPr/>
        </p:nvSpPr>
        <p:spPr>
          <a:xfrm>
            <a:off x="640080" y="3730752"/>
            <a:ext cx="10881360" cy="868680"/>
          </a:xfrm>
          <a:prstGeom prst="roundRect">
            <a:avLst>
              <a:gd name="adj" fmla="val 7368"/>
            </a:avLst>
          </a:prstGeom>
          <a:solidFill>
            <a:srgbClr val="222937"/>
          </a:solidFill>
          <a:ln w="12700">
            <a:solidFill>
              <a:srgbClr val="222937"/>
            </a:solidFill>
            <a:prstDash val="solid"/>
          </a:ln>
        </p:spPr>
      </p:sp>
      <p:sp>
        <p:nvSpPr>
          <p:cNvPr id="21" name="Text 19"/>
          <p:cNvSpPr/>
          <p:nvPr/>
        </p:nvSpPr>
        <p:spPr>
          <a:xfrm>
            <a:off x="914400" y="4005072"/>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Disagreement</a:t>
            </a:r>
            <a:endParaRPr lang="en-US" sz="1400" dirty="0"/>
          </a:p>
        </p:txBody>
      </p:sp>
      <p:sp>
        <p:nvSpPr>
          <p:cNvPr id="22" name="Text 20"/>
          <p:cNvSpPr/>
          <p:nvPr/>
        </p:nvSpPr>
        <p:spPr>
          <a:xfrm>
            <a:off x="2468880" y="4023360"/>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F1 0.960 on 22 self-authored cases</a:t>
            </a:r>
            <a:endParaRPr lang="en-US" sz="1150" dirty="0"/>
          </a:p>
        </p:txBody>
      </p:sp>
      <p:sp>
        <p:nvSpPr>
          <p:cNvPr id="23" name="Text 21"/>
          <p:cNvSpPr/>
          <p:nvPr/>
        </p:nvSpPr>
        <p:spPr>
          <a:xfrm>
            <a:off x="5669280" y="4023360"/>
            <a:ext cx="3383280" cy="292608"/>
          </a:xfrm>
          <a:prstGeom prst="rect">
            <a:avLst/>
          </a:prstGeom>
          <a:noFill/>
          <a:ln/>
        </p:spPr>
        <p:txBody>
          <a:bodyPr wrap="square" lIns="0" tIns="0" rIns="0" bIns="0" rtlCol="0" anchor="ctr"/>
          <a:lstStyle/>
          <a:p>
            <a:pPr indent="0" marL="0">
              <a:buNone/>
            </a:pPr>
            <a:r>
              <a:rPr lang="en-US" sz="1150" b="1" dirty="0">
                <a:solidFill>
                  <a:srgbClr val="FB7185"/>
                </a:solidFill>
                <a:latin typeface="Calibri" pitchFamily="34" charset="0"/>
                <a:ea typeface="Calibri" pitchFamily="34" charset="-122"/>
                <a:cs typeface="Calibri" pitchFamily="34" charset="-120"/>
              </a:rPr>
              <a:t>0 of 10 contradictions detected</a:t>
            </a:r>
            <a:endParaRPr lang="en-US" sz="1150" dirty="0"/>
          </a:p>
        </p:txBody>
      </p:sp>
      <p:sp>
        <p:nvSpPr>
          <p:cNvPr id="24" name="Text 22"/>
          <p:cNvSpPr/>
          <p:nvPr/>
        </p:nvSpPr>
        <p:spPr>
          <a:xfrm>
            <a:off x="9189720" y="4023360"/>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Open research question</a:t>
            </a:r>
            <a:endParaRPr lang="en-US" sz="1100" dirty="0"/>
          </a:p>
        </p:txBody>
      </p:sp>
      <p:sp>
        <p:nvSpPr>
          <p:cNvPr id="25" name="Shape 23"/>
          <p:cNvSpPr/>
          <p:nvPr/>
        </p:nvSpPr>
        <p:spPr>
          <a:xfrm>
            <a:off x="640080" y="4846320"/>
            <a:ext cx="5349240" cy="1463040"/>
          </a:xfrm>
          <a:prstGeom prst="roundRect">
            <a:avLst>
              <a:gd name="adj" fmla="val 4375"/>
            </a:avLst>
          </a:prstGeom>
          <a:solidFill>
            <a:srgbClr val="1B2230"/>
          </a:solidFill>
          <a:ln w="12700">
            <a:solidFill>
              <a:srgbClr val="1B2230"/>
            </a:solidFill>
            <a:prstDash val="solid"/>
          </a:ln>
        </p:spPr>
      </p:sp>
      <p:sp>
        <p:nvSpPr>
          <p:cNvPr id="26" name="Text 24"/>
          <p:cNvSpPr/>
          <p:nvPr/>
        </p:nvSpPr>
        <p:spPr>
          <a:xfrm>
            <a:off x="914400" y="5010912"/>
            <a:ext cx="4754880" cy="274320"/>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Why the benchmarks missed it</a:t>
            </a:r>
            <a:endParaRPr lang="en-US" sz="1250" dirty="0"/>
          </a:p>
        </p:txBody>
      </p:sp>
      <p:sp>
        <p:nvSpPr>
          <p:cNvPr id="27" name="Text 25"/>
          <p:cNvSpPr/>
          <p:nvPr/>
        </p:nvSpPr>
        <p:spPr>
          <a:xfrm>
            <a:off x="914400" y="5321808"/>
            <a:ext cx="4846320" cy="86868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Tool-claim looks for narrated tool use; modern harnesses put the tool name in a structured field. The 22 disagreement cases averaged ten words - minimal pairs of exactly the shape the NLI model was trained on.</a:t>
            </a:r>
            <a:endParaRPr lang="en-US" sz="1050" dirty="0"/>
          </a:p>
        </p:txBody>
      </p:sp>
      <p:sp>
        <p:nvSpPr>
          <p:cNvPr id="28" name="Shape 26"/>
          <p:cNvSpPr/>
          <p:nvPr/>
        </p:nvSpPr>
        <p:spPr>
          <a:xfrm>
            <a:off x="6309360" y="4846320"/>
            <a:ext cx="5212080" cy="1463040"/>
          </a:xfrm>
          <a:prstGeom prst="roundRect">
            <a:avLst>
              <a:gd name="adj" fmla="val 4375"/>
            </a:avLst>
          </a:prstGeom>
          <a:solidFill>
            <a:srgbClr val="1B2230"/>
          </a:solidFill>
          <a:ln w="12700">
            <a:solidFill>
              <a:srgbClr val="1B2230"/>
            </a:solidFill>
            <a:prstDash val="solid"/>
          </a:ln>
        </p:spPr>
      </p:sp>
      <p:sp>
        <p:nvSpPr>
          <p:cNvPr id="29" name="Text 27"/>
          <p:cNvSpPr/>
          <p:nvPr/>
        </p:nvSpPr>
        <p:spPr>
          <a:xfrm>
            <a:off x="6583680" y="5010912"/>
            <a:ext cx="4663440" cy="274320"/>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The finding that outlives the failure</a:t>
            </a:r>
            <a:endParaRPr lang="en-US" sz="1250" dirty="0"/>
          </a:p>
        </p:txBody>
      </p:sp>
      <p:sp>
        <p:nvSpPr>
          <p:cNvPr id="30" name="Text 28"/>
          <p:cNvSpPr/>
          <p:nvPr/>
        </p:nvSpPr>
        <p:spPr>
          <a:xfrm>
            <a:off x="6583680" y="5321808"/>
            <a:ext cx="4709160" cy="86868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Agents holding different evidence can flatly contradict each other and both be correct. Six of forty labelled cases were exactly that. An entailment score over two strings cannot represent what each agent could see.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LIMITATIONS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Stated before the panel has to find them</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Limitations - no overclaiming</a:t>
            </a:r>
            <a:endParaRPr lang="en-US" sz="900" dirty="0"/>
          </a:p>
        </p:txBody>
      </p:sp>
      <p:sp>
        <p:nvSpPr>
          <p:cNvPr id="6" name="Shape 4"/>
          <p:cNvSpPr/>
          <p:nvPr/>
        </p:nvSpPr>
        <p:spPr>
          <a:xfrm>
            <a:off x="640080" y="1371600"/>
            <a:ext cx="10881360" cy="749808"/>
          </a:xfrm>
          <a:prstGeom prst="roundRect">
            <a:avLst>
              <a:gd name="adj" fmla="val 8537"/>
            </a:avLst>
          </a:prstGeom>
          <a:solidFill>
            <a:srgbClr val="FFFFFF"/>
          </a:solidFill>
          <a:ln w="12700">
            <a:solidFill>
              <a:srgbClr val="FFFFFF"/>
            </a:solidFill>
            <a:prstDash val="solid"/>
          </a:ln>
        </p:spPr>
      </p:sp>
      <p:sp>
        <p:nvSpPr>
          <p:cNvPr id="7" name="Shape 5"/>
          <p:cNvSpPr/>
          <p:nvPr/>
        </p:nvSpPr>
        <p:spPr>
          <a:xfrm>
            <a:off x="960120" y="1673352"/>
            <a:ext cx="146304" cy="146304"/>
          </a:xfrm>
          <a:prstGeom prst="ellipse">
            <a:avLst/>
          </a:prstGeom>
          <a:solidFill>
            <a:srgbClr val="FBBF24"/>
          </a:solidFill>
          <a:ln w="12700">
            <a:solidFill>
              <a:srgbClr val="333333"/>
            </a:solidFill>
            <a:prstDash val="solid"/>
          </a:ln>
        </p:spPr>
      </p:sp>
      <p:sp>
        <p:nvSpPr>
          <p:cNvPr id="8" name="Text 6"/>
          <p:cNvSpPr/>
          <p:nvPr/>
        </p:nvSpPr>
        <p:spPr>
          <a:xfrm>
            <a:off x="1298448" y="1472184"/>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Drift coverage is 24.5%</a:t>
            </a:r>
            <a:endParaRPr lang="en-US" sz="1300" dirty="0"/>
          </a:p>
        </p:txBody>
      </p:sp>
      <p:sp>
        <p:nvSpPr>
          <p:cNvPr id="9" name="Text 7"/>
          <p:cNvSpPr/>
          <p:nvPr/>
        </p:nvSpPr>
        <p:spPr>
          <a:xfrm>
            <a:off x="1298448" y="1755648"/>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Both windows must fill before the metric is defined, so about three quarters of sessions get no drift verdict.</a:t>
            </a:r>
            <a:endParaRPr lang="en-US" sz="1100" dirty="0"/>
          </a:p>
        </p:txBody>
      </p:sp>
      <p:sp>
        <p:nvSpPr>
          <p:cNvPr id="10" name="Shape 8"/>
          <p:cNvSpPr/>
          <p:nvPr/>
        </p:nvSpPr>
        <p:spPr>
          <a:xfrm>
            <a:off x="640080" y="2221992"/>
            <a:ext cx="10881360" cy="749808"/>
          </a:xfrm>
          <a:prstGeom prst="roundRect">
            <a:avLst>
              <a:gd name="adj" fmla="val 8537"/>
            </a:avLst>
          </a:prstGeom>
          <a:solidFill>
            <a:srgbClr val="FFFFFF"/>
          </a:solidFill>
          <a:ln w="12700">
            <a:solidFill>
              <a:srgbClr val="FFFFFF"/>
            </a:solidFill>
            <a:prstDash val="solid"/>
          </a:ln>
        </p:spPr>
      </p:sp>
      <p:sp>
        <p:nvSpPr>
          <p:cNvPr id="11" name="Shape 9"/>
          <p:cNvSpPr/>
          <p:nvPr/>
        </p:nvSpPr>
        <p:spPr>
          <a:xfrm>
            <a:off x="960120" y="2523744"/>
            <a:ext cx="146304" cy="146304"/>
          </a:xfrm>
          <a:prstGeom prst="ellipse">
            <a:avLst/>
          </a:prstGeom>
          <a:solidFill>
            <a:srgbClr val="FBBF24"/>
          </a:solidFill>
          <a:ln w="12700">
            <a:solidFill>
              <a:srgbClr val="333333"/>
            </a:solidFill>
            <a:prstDash val="solid"/>
          </a:ln>
        </p:spPr>
      </p:sp>
      <p:sp>
        <p:nvSpPr>
          <p:cNvPr id="12" name="Text 10"/>
          <p:cNvSpPr/>
          <p:nvPr/>
        </p:nvSpPr>
        <p:spPr>
          <a:xfrm>
            <a:off x="1298448" y="2322576"/>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Two of four signals are unvalidated</a:t>
            </a:r>
            <a:endParaRPr lang="en-US" sz="1300" dirty="0"/>
          </a:p>
        </p:txBody>
      </p:sp>
      <p:sp>
        <p:nvSpPr>
          <p:cNvPr id="13" name="Text 11"/>
          <p:cNvSpPr/>
          <p:nvPr/>
        </p:nvSpPr>
        <p:spPr>
          <a:xfrm>
            <a:off x="1298448" y="2606040"/>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Tool-claim and disagreement are labelled Experimental in the product and must not drive decisions.</a:t>
            </a:r>
            <a:endParaRPr lang="en-US" sz="1100" dirty="0"/>
          </a:p>
        </p:txBody>
      </p:sp>
      <p:sp>
        <p:nvSpPr>
          <p:cNvPr id="14" name="Shape 12"/>
          <p:cNvSpPr/>
          <p:nvPr/>
        </p:nvSpPr>
        <p:spPr>
          <a:xfrm>
            <a:off x="640080" y="3072384"/>
            <a:ext cx="10881360" cy="749808"/>
          </a:xfrm>
          <a:prstGeom prst="roundRect">
            <a:avLst>
              <a:gd name="adj" fmla="val 8537"/>
            </a:avLst>
          </a:prstGeom>
          <a:solidFill>
            <a:srgbClr val="FFFFFF"/>
          </a:solidFill>
          <a:ln w="12700">
            <a:solidFill>
              <a:srgbClr val="FFFFFF"/>
            </a:solidFill>
            <a:prstDash val="solid"/>
          </a:ln>
        </p:spPr>
      </p:sp>
      <p:sp>
        <p:nvSpPr>
          <p:cNvPr id="15" name="Shape 13"/>
          <p:cNvSpPr/>
          <p:nvPr/>
        </p:nvSpPr>
        <p:spPr>
          <a:xfrm>
            <a:off x="960120" y="3374136"/>
            <a:ext cx="146304" cy="146304"/>
          </a:xfrm>
          <a:prstGeom prst="ellipse">
            <a:avLst/>
          </a:prstGeom>
          <a:solidFill>
            <a:srgbClr val="FBBF24"/>
          </a:solidFill>
          <a:ln w="12700">
            <a:solidFill>
              <a:srgbClr val="333333"/>
            </a:solidFill>
            <a:prstDash val="solid"/>
          </a:ln>
        </p:spPr>
      </p:sp>
      <p:sp>
        <p:nvSpPr>
          <p:cNvPr id="16" name="Text 14"/>
          <p:cNvSpPr/>
          <p:nvPr/>
        </p:nvSpPr>
        <p:spPr>
          <a:xfrm>
            <a:off x="1298448" y="3172968"/>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Test splits are small and singly run</a:t>
            </a:r>
            <a:endParaRPr lang="en-US" sz="1300" dirty="0"/>
          </a:p>
        </p:txBody>
      </p:sp>
      <p:sp>
        <p:nvSpPr>
          <p:cNvPr id="17" name="Text 15"/>
          <p:cNvSpPr/>
          <p:nvPr/>
        </p:nvSpPr>
        <p:spPr>
          <a:xfrm>
            <a:off x="1298448" y="3456432"/>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Twenty to thirty cases, one run, LLM-generated labels. Adequate for direction, not for tight intervals.</a:t>
            </a:r>
            <a:endParaRPr lang="en-US" sz="1100" dirty="0"/>
          </a:p>
        </p:txBody>
      </p:sp>
      <p:sp>
        <p:nvSpPr>
          <p:cNvPr id="18" name="Shape 16"/>
          <p:cNvSpPr/>
          <p:nvPr/>
        </p:nvSpPr>
        <p:spPr>
          <a:xfrm>
            <a:off x="640080" y="3922776"/>
            <a:ext cx="10881360" cy="749808"/>
          </a:xfrm>
          <a:prstGeom prst="roundRect">
            <a:avLst>
              <a:gd name="adj" fmla="val 8537"/>
            </a:avLst>
          </a:prstGeom>
          <a:solidFill>
            <a:srgbClr val="FFFFFF"/>
          </a:solidFill>
          <a:ln w="12700">
            <a:solidFill>
              <a:srgbClr val="FFFFFF"/>
            </a:solidFill>
            <a:prstDash val="solid"/>
          </a:ln>
        </p:spPr>
      </p:sp>
      <p:sp>
        <p:nvSpPr>
          <p:cNvPr id="19" name="Shape 17"/>
          <p:cNvSpPr/>
          <p:nvPr/>
        </p:nvSpPr>
        <p:spPr>
          <a:xfrm>
            <a:off x="960120" y="4224528"/>
            <a:ext cx="146304" cy="146304"/>
          </a:xfrm>
          <a:prstGeom prst="ellipse">
            <a:avLst/>
          </a:prstGeom>
          <a:solidFill>
            <a:srgbClr val="FBBF24"/>
          </a:solidFill>
          <a:ln w="12700">
            <a:solidFill>
              <a:srgbClr val="333333"/>
            </a:solidFill>
            <a:prstDash val="solid"/>
          </a:ln>
        </p:spPr>
      </p:sp>
      <p:sp>
        <p:nvSpPr>
          <p:cNvPr id="20" name="Text 18"/>
          <p:cNvSpPr/>
          <p:nvPr/>
        </p:nvSpPr>
        <p:spPr>
          <a:xfrm>
            <a:off x="1298448" y="4023360"/>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The full system underperforms an ablated variant</a:t>
            </a:r>
            <a:endParaRPr lang="en-US" sz="1300" dirty="0"/>
          </a:p>
        </p:txBody>
      </p:sp>
      <p:sp>
        <p:nvSpPr>
          <p:cNvPr id="21" name="Text 19"/>
          <p:cNvSpPr/>
          <p:nvPr/>
        </p:nvSpPr>
        <p:spPr>
          <a:xfrm>
            <a:off x="1298448" y="4306824"/>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F1 0.842 against 0.941 for NLI without drift, on a comparison dated before the drift rebuild.</a:t>
            </a:r>
            <a:endParaRPr lang="en-US" sz="1100" dirty="0"/>
          </a:p>
        </p:txBody>
      </p:sp>
      <p:sp>
        <p:nvSpPr>
          <p:cNvPr id="22" name="Shape 20"/>
          <p:cNvSpPr/>
          <p:nvPr/>
        </p:nvSpPr>
        <p:spPr>
          <a:xfrm>
            <a:off x="640080" y="4773168"/>
            <a:ext cx="10881360" cy="749808"/>
          </a:xfrm>
          <a:prstGeom prst="roundRect">
            <a:avLst>
              <a:gd name="adj" fmla="val 8537"/>
            </a:avLst>
          </a:prstGeom>
          <a:solidFill>
            <a:srgbClr val="FFFFFF"/>
          </a:solidFill>
          <a:ln w="12700">
            <a:solidFill>
              <a:srgbClr val="FFFFFF"/>
            </a:solidFill>
            <a:prstDash val="solid"/>
          </a:ln>
        </p:spPr>
      </p:sp>
      <p:sp>
        <p:nvSpPr>
          <p:cNvPr id="23" name="Shape 21"/>
          <p:cNvSpPr/>
          <p:nvPr/>
        </p:nvSpPr>
        <p:spPr>
          <a:xfrm>
            <a:off x="960120" y="5074920"/>
            <a:ext cx="146304" cy="146304"/>
          </a:xfrm>
          <a:prstGeom prst="ellipse">
            <a:avLst/>
          </a:prstGeom>
          <a:solidFill>
            <a:srgbClr val="FBBF24"/>
          </a:solidFill>
          <a:ln w="12700">
            <a:solidFill>
              <a:srgbClr val="333333"/>
            </a:solidFill>
            <a:prstDash val="solid"/>
          </a:ln>
        </p:spPr>
      </p:sp>
      <p:sp>
        <p:nvSpPr>
          <p:cNvPr id="24" name="Text 22"/>
          <p:cNvSpPr/>
          <p:nvPr/>
        </p:nvSpPr>
        <p:spPr>
          <a:xfrm>
            <a:off x="1298448" y="4873752"/>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Single shared API key, single tenant</a:t>
            </a:r>
            <a:endParaRPr lang="en-US" sz="1300" dirty="0"/>
          </a:p>
        </p:txBody>
      </p:sp>
      <p:sp>
        <p:nvSpPr>
          <p:cNvPr id="25" name="Text 23"/>
          <p:cNvSpPr/>
          <p:nvPr/>
        </p:nvSpPr>
        <p:spPr>
          <a:xfrm>
            <a:off x="1298448" y="5157216"/>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No rotation and no tenancy. A deliberate scope boundary for self-hosted deployment, not an oversight.</a:t>
            </a:r>
            <a:endParaRPr lang="en-US" sz="1100" dirty="0"/>
          </a:p>
        </p:txBody>
      </p:sp>
      <p:sp>
        <p:nvSpPr>
          <p:cNvPr id="26" name="Shape 24"/>
          <p:cNvSpPr/>
          <p:nvPr/>
        </p:nvSpPr>
        <p:spPr>
          <a:xfrm>
            <a:off x="640080" y="5623560"/>
            <a:ext cx="10881360" cy="749808"/>
          </a:xfrm>
          <a:prstGeom prst="roundRect">
            <a:avLst>
              <a:gd name="adj" fmla="val 8537"/>
            </a:avLst>
          </a:prstGeom>
          <a:solidFill>
            <a:srgbClr val="FFFFFF"/>
          </a:solidFill>
          <a:ln w="12700">
            <a:solidFill>
              <a:srgbClr val="FFFFFF"/>
            </a:solidFill>
            <a:prstDash val="solid"/>
          </a:ln>
        </p:spPr>
      </p:sp>
      <p:sp>
        <p:nvSpPr>
          <p:cNvPr id="27" name="Shape 25"/>
          <p:cNvSpPr/>
          <p:nvPr/>
        </p:nvSpPr>
        <p:spPr>
          <a:xfrm>
            <a:off x="960120" y="5925312"/>
            <a:ext cx="146304" cy="146304"/>
          </a:xfrm>
          <a:prstGeom prst="ellipse">
            <a:avLst/>
          </a:prstGeom>
          <a:solidFill>
            <a:srgbClr val="FBBF24"/>
          </a:solidFill>
          <a:ln w="12700">
            <a:solidFill>
              <a:srgbClr val="333333"/>
            </a:solidFill>
            <a:prstDash val="solid"/>
          </a:ln>
        </p:spPr>
      </p:sp>
      <p:sp>
        <p:nvSpPr>
          <p:cNvPr id="28" name="Text 26"/>
          <p:cNvSpPr/>
          <p:nvPr/>
        </p:nvSpPr>
        <p:spPr>
          <a:xfrm>
            <a:off x="1298448" y="5724144"/>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Datadog was never audited</a:t>
            </a:r>
            <a:endParaRPr lang="en-US" sz="1300" dirty="0"/>
          </a:p>
        </p:txBody>
      </p:sp>
      <p:sp>
        <p:nvSpPr>
          <p:cNvPr id="29" name="Text 27"/>
          <p:cNvSpPr/>
          <p:nvPr/>
        </p:nvSpPr>
        <p:spPr>
          <a:xfrm>
            <a:off x="1298448" y="6007608"/>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It cannot be installed, so its column in the competitive matrix is the least reliable and is marked so.</a:t>
            </a:r>
            <a:endParaRPr lang="en-US" sz="1100" dirty="0"/>
          </a:p>
        </p:txBody>
      </p:sp>
      <p:sp>
        <p:nvSpPr>
          <p:cNvPr id="30" name="Text 28"/>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The phrase "production ready" is deliberately absent from this project. It is binary and unfalsifiable; the claim made instead is specific and checkable.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CONTRIBUTION</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What is new, what is better, and by how much</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Contribution restated</a:t>
            </a:r>
            <a:endParaRPr lang="en-US" sz="900" dirty="0"/>
          </a:p>
        </p:txBody>
      </p:sp>
      <p:sp>
        <p:nvSpPr>
          <p:cNvPr id="6" name="Shape 4"/>
          <p:cNvSpPr/>
          <p:nvPr/>
        </p:nvSpPr>
        <p:spPr>
          <a:xfrm>
            <a:off x="640080" y="1371600"/>
            <a:ext cx="10881360" cy="1143000"/>
          </a:xfrm>
          <a:prstGeom prst="roundRect">
            <a:avLst>
              <a:gd name="adj" fmla="val 5600"/>
            </a:avLst>
          </a:prstGeom>
          <a:solidFill>
            <a:srgbClr val="222937"/>
          </a:solidFill>
          <a:ln w="12700">
            <a:solidFill>
              <a:srgbClr val="222937"/>
            </a:solidFill>
            <a:prstDash val="solid"/>
          </a:ln>
        </p:spPr>
      </p:sp>
      <p:sp>
        <p:nvSpPr>
          <p:cNvPr id="7" name="Text 5"/>
          <p:cNvSpPr/>
          <p:nvPr/>
        </p:nvSpPr>
        <p:spPr>
          <a:xfrm>
            <a:off x="960120" y="1682496"/>
            <a:ext cx="640080" cy="411480"/>
          </a:xfrm>
          <a:prstGeom prst="rect">
            <a:avLst/>
          </a:prstGeom>
          <a:noFill/>
          <a:ln/>
        </p:spPr>
        <p:txBody>
          <a:bodyPr wrap="square" lIns="0" tIns="0" rIns="0" bIns="0" rtlCol="0" anchor="ctr"/>
          <a:lstStyle/>
          <a:p>
            <a:pPr indent="0" marL="0">
              <a:buNone/>
            </a:pPr>
            <a:r>
              <a:rPr lang="en-US" sz="2000" b="1" dirty="0">
                <a:solidFill>
                  <a:srgbClr val="22D3EE"/>
                </a:solidFill>
                <a:latin typeface="Cambria" pitchFamily="34" charset="0"/>
                <a:ea typeface="Cambria" pitchFamily="34" charset="-122"/>
                <a:cs typeface="Cambria" pitchFamily="34" charset="-120"/>
              </a:rPr>
              <a:t>01</a:t>
            </a:r>
            <a:endParaRPr lang="en-US" sz="2000" dirty="0"/>
          </a:p>
        </p:txBody>
      </p:sp>
      <p:sp>
        <p:nvSpPr>
          <p:cNvPr id="8" name="Text 6"/>
          <p:cNvSpPr/>
          <p:nvPr/>
        </p:nvSpPr>
        <p:spPr>
          <a:xfrm>
            <a:off x="1737360" y="1572768"/>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 working full-coverage evaluator</a:t>
            </a:r>
            <a:endParaRPr lang="en-US" sz="1400" dirty="0"/>
          </a:p>
        </p:txBody>
      </p:sp>
      <p:sp>
        <p:nvSpPr>
          <p:cNvPr id="9" name="Text 7"/>
          <p:cNvSpPr/>
          <p:nvPr/>
        </p:nvSpPr>
        <p:spPr>
          <a:xfrm>
            <a:off x="1737360" y="1892808"/>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Every span evaluated on commodity CPU at 12 spans/sec with exactly-once durability, rather than a sampled subset. Removes the cost argument that forces sampling.</a:t>
            </a:r>
            <a:endParaRPr lang="en-US" sz="1150" dirty="0"/>
          </a:p>
        </p:txBody>
      </p:sp>
      <p:sp>
        <p:nvSpPr>
          <p:cNvPr id="10" name="Shape 8"/>
          <p:cNvSpPr/>
          <p:nvPr/>
        </p:nvSpPr>
        <p:spPr>
          <a:xfrm>
            <a:off x="640080" y="2624328"/>
            <a:ext cx="10881360" cy="1143000"/>
          </a:xfrm>
          <a:prstGeom prst="roundRect">
            <a:avLst>
              <a:gd name="adj" fmla="val 5600"/>
            </a:avLst>
          </a:prstGeom>
          <a:solidFill>
            <a:srgbClr val="222937"/>
          </a:solidFill>
          <a:ln w="12700">
            <a:solidFill>
              <a:srgbClr val="222937"/>
            </a:solidFill>
            <a:prstDash val="solid"/>
          </a:ln>
        </p:spPr>
      </p:sp>
      <p:sp>
        <p:nvSpPr>
          <p:cNvPr id="11" name="Text 9"/>
          <p:cNvSpPr/>
          <p:nvPr/>
        </p:nvSpPr>
        <p:spPr>
          <a:xfrm>
            <a:off x="960120" y="2935224"/>
            <a:ext cx="640080" cy="411480"/>
          </a:xfrm>
          <a:prstGeom prst="rect">
            <a:avLst/>
          </a:prstGeom>
          <a:noFill/>
          <a:ln/>
        </p:spPr>
        <p:txBody>
          <a:bodyPr wrap="square" lIns="0" tIns="0" rIns="0" bIns="0" rtlCol="0" anchor="ctr"/>
          <a:lstStyle/>
          <a:p>
            <a:pPr indent="0" marL="0">
              <a:buNone/>
            </a:pPr>
            <a:r>
              <a:rPr lang="en-US" sz="2000" b="1" dirty="0">
                <a:solidFill>
                  <a:srgbClr val="34D399"/>
                </a:solidFill>
                <a:latin typeface="Cambria" pitchFamily="34" charset="0"/>
                <a:ea typeface="Cambria" pitchFamily="34" charset="-122"/>
                <a:cs typeface="Cambria" pitchFamily="34" charset="-120"/>
              </a:rPr>
              <a:t>02</a:t>
            </a:r>
            <a:endParaRPr lang="en-US" sz="2000" dirty="0"/>
          </a:p>
        </p:txBody>
      </p:sp>
      <p:sp>
        <p:nvSpPr>
          <p:cNvPr id="12" name="Text 10"/>
          <p:cNvSpPr/>
          <p:nvPr/>
        </p:nvSpPr>
        <p:spPr>
          <a:xfrm>
            <a:off x="1737360" y="2825496"/>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 drift signal that survives real text</a:t>
            </a:r>
            <a:endParaRPr lang="en-US" sz="1400" dirty="0"/>
          </a:p>
        </p:txBody>
      </p:sp>
      <p:sp>
        <p:nvSpPr>
          <p:cNvPr id="13" name="Text 11"/>
          <p:cNvSpPr/>
          <p:nvPr/>
        </p:nvSpPr>
        <p:spPr>
          <a:xfrm>
            <a:off x="1737360" y="3145536"/>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Rebuilt after failing on external data. False alarms 91.7% to 1.5%, AUC 0.991 held out - with coverage 24.5% stated alongside.</a:t>
            </a:r>
            <a:endParaRPr lang="en-US" sz="1150" dirty="0"/>
          </a:p>
        </p:txBody>
      </p:sp>
      <p:sp>
        <p:nvSpPr>
          <p:cNvPr id="14" name="Shape 12"/>
          <p:cNvSpPr/>
          <p:nvPr/>
        </p:nvSpPr>
        <p:spPr>
          <a:xfrm>
            <a:off x="640080" y="3877056"/>
            <a:ext cx="10881360" cy="1143000"/>
          </a:xfrm>
          <a:prstGeom prst="roundRect">
            <a:avLst>
              <a:gd name="adj" fmla="val 5600"/>
            </a:avLst>
          </a:prstGeom>
          <a:solidFill>
            <a:srgbClr val="222937"/>
          </a:solidFill>
          <a:ln w="12700">
            <a:solidFill>
              <a:srgbClr val="222937"/>
            </a:solidFill>
            <a:prstDash val="solid"/>
          </a:ln>
        </p:spPr>
      </p:sp>
      <p:sp>
        <p:nvSpPr>
          <p:cNvPr id="15" name="Text 13"/>
          <p:cNvSpPr/>
          <p:nvPr/>
        </p:nvSpPr>
        <p:spPr>
          <a:xfrm>
            <a:off x="960120" y="4187952"/>
            <a:ext cx="640080" cy="411480"/>
          </a:xfrm>
          <a:prstGeom prst="rect">
            <a:avLst/>
          </a:prstGeom>
          <a:noFill/>
          <a:ln/>
        </p:spPr>
        <p:txBody>
          <a:bodyPr wrap="square" lIns="0" tIns="0" rIns="0" bIns="0" rtlCol="0" anchor="ctr"/>
          <a:lstStyle/>
          <a:p>
            <a:pPr indent="0" marL="0">
              <a:buNone/>
            </a:pPr>
            <a:r>
              <a:rPr lang="en-US" sz="2000" b="1" dirty="0">
                <a:solidFill>
                  <a:srgbClr val="FBBF24"/>
                </a:solidFill>
                <a:latin typeface="Cambria" pitchFamily="34" charset="0"/>
                <a:ea typeface="Cambria" pitchFamily="34" charset="-122"/>
                <a:cs typeface="Cambria" pitchFamily="34" charset="-120"/>
              </a:rPr>
              <a:t>03</a:t>
            </a:r>
            <a:endParaRPr lang="en-US" sz="2000" dirty="0"/>
          </a:p>
        </p:txBody>
      </p:sp>
      <p:sp>
        <p:nvSpPr>
          <p:cNvPr id="16" name="Text 14"/>
          <p:cNvSpPr/>
          <p:nvPr/>
        </p:nvSpPr>
        <p:spPr>
          <a:xfrm>
            <a:off x="1737360" y="4078224"/>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Three reported negative results</a:t>
            </a:r>
            <a:endParaRPr lang="en-US" sz="1400" dirty="0"/>
          </a:p>
        </p:txBody>
      </p:sp>
      <p:sp>
        <p:nvSpPr>
          <p:cNvPr id="17" name="Text 15"/>
          <p:cNvSpPr/>
          <p:nvPr/>
        </p:nvSpPr>
        <p:spPr>
          <a:xfrm>
            <a:off x="1737360" y="4398264"/>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Tool-claim F1 0.000 and disagreement 0 of 10 on external traces, each with a mechanism rather than a mystery. Two published positioning claims were retracted after installing the competitors.</a:t>
            </a:r>
            <a:endParaRPr lang="en-US" sz="1150" dirty="0"/>
          </a:p>
        </p:txBody>
      </p:sp>
      <p:sp>
        <p:nvSpPr>
          <p:cNvPr id="18" name="Shape 16"/>
          <p:cNvSpPr/>
          <p:nvPr/>
        </p:nvSpPr>
        <p:spPr>
          <a:xfrm>
            <a:off x="640080" y="5129784"/>
            <a:ext cx="10881360" cy="1143000"/>
          </a:xfrm>
          <a:prstGeom prst="roundRect">
            <a:avLst>
              <a:gd name="adj" fmla="val 5600"/>
            </a:avLst>
          </a:prstGeom>
          <a:solidFill>
            <a:srgbClr val="222937"/>
          </a:solidFill>
          <a:ln w="12700">
            <a:solidFill>
              <a:srgbClr val="222937"/>
            </a:solidFill>
            <a:prstDash val="solid"/>
          </a:ln>
        </p:spPr>
      </p:sp>
      <p:sp>
        <p:nvSpPr>
          <p:cNvPr id="19" name="Text 17"/>
          <p:cNvSpPr/>
          <p:nvPr/>
        </p:nvSpPr>
        <p:spPr>
          <a:xfrm>
            <a:off x="960120" y="5440680"/>
            <a:ext cx="640080" cy="411480"/>
          </a:xfrm>
          <a:prstGeom prst="rect">
            <a:avLst/>
          </a:prstGeom>
          <a:noFill/>
          <a:ln/>
        </p:spPr>
        <p:txBody>
          <a:bodyPr wrap="square" lIns="0" tIns="0" rIns="0" bIns="0" rtlCol="0" anchor="ctr"/>
          <a:lstStyle/>
          <a:p>
            <a:pPr indent="0" marL="0">
              <a:buNone/>
            </a:pPr>
            <a:r>
              <a:rPr lang="en-US" sz="2000" b="1" dirty="0">
                <a:solidFill>
                  <a:srgbClr val="22D3EE"/>
                </a:solidFill>
                <a:latin typeface="Cambria" pitchFamily="34" charset="0"/>
                <a:ea typeface="Cambria" pitchFamily="34" charset="-122"/>
                <a:cs typeface="Cambria" pitchFamily="34" charset="-120"/>
              </a:rPr>
              <a:t>04</a:t>
            </a:r>
            <a:endParaRPr lang="en-US" sz="2000" dirty="0"/>
          </a:p>
        </p:txBody>
      </p:sp>
      <p:sp>
        <p:nvSpPr>
          <p:cNvPr id="20" name="Text 18"/>
          <p:cNvSpPr/>
          <p:nvPr/>
        </p:nvSpPr>
        <p:spPr>
          <a:xfrm>
            <a:off x="1737360" y="5330952"/>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An open research question</a:t>
            </a:r>
            <a:endParaRPr lang="en-US" sz="1400" dirty="0"/>
          </a:p>
        </p:txBody>
      </p:sp>
      <p:sp>
        <p:nvSpPr>
          <p:cNvPr id="21" name="Text 19"/>
          <p:cNvSpPr/>
          <p:nvPr/>
        </p:nvSpPr>
        <p:spPr>
          <a:xfrm>
            <a:off x="1737360" y="5650992"/>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Contradiction detection cannot separate a genuine fault from legitimate disagreement under distributed evidence. Independent of NLI quality or extraction method.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DELIVERABLES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Repository, reproducibility and submission status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Deliverables checklist</a:t>
            </a:r>
            <a:endParaRPr lang="en-US" sz="900" dirty="0"/>
          </a:p>
        </p:txBody>
      </p:sp>
      <p:sp>
        <p:nvSpPr>
          <p:cNvPr id="6" name="Shape 4"/>
          <p:cNvSpPr/>
          <p:nvPr/>
        </p:nvSpPr>
        <p:spPr>
          <a:xfrm>
            <a:off x="640080" y="1371600"/>
            <a:ext cx="5349240" cy="2743200"/>
          </a:xfrm>
          <a:prstGeom prst="roundRect">
            <a:avLst>
              <a:gd name="adj" fmla="val 2333"/>
            </a:avLst>
          </a:prstGeom>
          <a:solidFill>
            <a:srgbClr val="FFFFFF"/>
          </a:solidFill>
          <a:ln w="12700">
            <a:solidFill>
              <a:srgbClr val="FFFFFF"/>
            </a:solidFill>
            <a:prstDash val="solid"/>
          </a:ln>
        </p:spPr>
      </p:sp>
      <p:sp>
        <p:nvSpPr>
          <p:cNvPr id="7" name="Text 5"/>
          <p:cNvSpPr/>
          <p:nvPr/>
        </p:nvSpPr>
        <p:spPr>
          <a:xfrm>
            <a:off x="960120" y="1554480"/>
            <a:ext cx="47548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Repository and reproducibility</a:t>
            </a:r>
            <a:endParaRPr lang="en-US" sz="1350" dirty="0"/>
          </a:p>
        </p:txBody>
      </p:sp>
      <p:sp>
        <p:nvSpPr>
          <p:cNvPr id="8" name="Text 6"/>
          <p:cNvSpPr/>
          <p:nvPr/>
        </p:nvSpPr>
        <p:spPr>
          <a:xfrm>
            <a:off x="960120" y="1920240"/>
            <a:ext cx="4754880" cy="21031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Git repository with full commit history and a README.</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209 of 209 backend tests passing (pytest tests/ -q).</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Schema under Alembic, baselined and verified byte-identical across 43,941 rows.</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Every reported figure has a JSON file under experiments/results/ and a matching write-up.</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Docker compose and documented dev-server commands.</a:t>
            </a:r>
            <a:endParaRPr lang="en-US" sz="1100" dirty="0"/>
          </a:p>
        </p:txBody>
      </p:sp>
      <p:sp>
        <p:nvSpPr>
          <p:cNvPr id="9" name="Shape 7"/>
          <p:cNvSpPr/>
          <p:nvPr/>
        </p:nvSpPr>
        <p:spPr>
          <a:xfrm>
            <a:off x="6309360" y="1371600"/>
            <a:ext cx="5212080" cy="2743200"/>
          </a:xfrm>
          <a:prstGeom prst="roundRect">
            <a:avLst>
              <a:gd name="adj" fmla="val 2333"/>
            </a:avLst>
          </a:prstGeom>
          <a:solidFill>
            <a:srgbClr val="FFFFFF"/>
          </a:solidFill>
          <a:ln w="12700">
            <a:solidFill>
              <a:srgbClr val="FFFFFF"/>
            </a:solidFill>
            <a:prstDash val="solid"/>
          </a:ln>
        </p:spPr>
      </p:sp>
      <p:sp>
        <p:nvSpPr>
          <p:cNvPr id="10" name="Text 8"/>
          <p:cNvSpPr/>
          <p:nvPr/>
        </p:nvSpPr>
        <p:spPr>
          <a:xfrm>
            <a:off x="6629400" y="1554480"/>
            <a:ext cx="461772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Submission status</a:t>
            </a:r>
            <a:endParaRPr lang="en-US" sz="1350" dirty="0"/>
          </a:p>
        </p:txBody>
      </p:sp>
      <p:sp>
        <p:nvSpPr>
          <p:cNvPr id="11" name="Text 9"/>
          <p:cNvSpPr/>
          <p:nvPr/>
        </p:nvSpPr>
        <p:spPr>
          <a:xfrm>
            <a:off x="6629400" y="1938528"/>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Working system, demoed live</a:t>
            </a:r>
            <a:endParaRPr lang="en-US" sz="1150" dirty="0"/>
          </a:p>
        </p:txBody>
      </p:sp>
      <p:sp>
        <p:nvSpPr>
          <p:cNvPr id="12" name="Text 10"/>
          <p:cNvSpPr/>
          <p:nvPr/>
        </p:nvSpPr>
        <p:spPr>
          <a:xfrm>
            <a:off x="9692640" y="1938528"/>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3" name="Text 11"/>
          <p:cNvSpPr/>
          <p:nvPr/>
        </p:nvSpPr>
        <p:spPr>
          <a:xfrm>
            <a:off x="6629400" y="2240280"/>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Code repository, documented</a:t>
            </a:r>
            <a:endParaRPr lang="en-US" sz="1150" dirty="0"/>
          </a:p>
        </p:txBody>
      </p:sp>
      <p:sp>
        <p:nvSpPr>
          <p:cNvPr id="14" name="Text 12"/>
          <p:cNvSpPr/>
          <p:nvPr/>
        </p:nvSpPr>
        <p:spPr>
          <a:xfrm>
            <a:off x="9692640" y="2240280"/>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5" name="Text 13"/>
          <p:cNvSpPr/>
          <p:nvPr/>
        </p:nvSpPr>
        <p:spPr>
          <a:xfrm>
            <a:off x="6629400" y="2542032"/>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Results and ablation</a:t>
            </a:r>
            <a:endParaRPr lang="en-US" sz="1150" dirty="0"/>
          </a:p>
        </p:txBody>
      </p:sp>
      <p:sp>
        <p:nvSpPr>
          <p:cNvPr id="16" name="Text 14"/>
          <p:cNvSpPr/>
          <p:nvPr/>
        </p:nvSpPr>
        <p:spPr>
          <a:xfrm>
            <a:off x="9692640" y="2542032"/>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7" name="Text 15"/>
          <p:cNvSpPr/>
          <p:nvPr/>
        </p:nvSpPr>
        <p:spPr>
          <a:xfrm>
            <a:off x="6629400" y="2843784"/>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Project report</a:t>
            </a:r>
            <a:endParaRPr lang="en-US" sz="1150" dirty="0"/>
          </a:p>
        </p:txBody>
      </p:sp>
      <p:sp>
        <p:nvSpPr>
          <p:cNvPr id="18" name="Text 16"/>
          <p:cNvSpPr/>
          <p:nvPr/>
        </p:nvSpPr>
        <p:spPr>
          <a:xfrm>
            <a:off x="9692640" y="2843784"/>
            <a:ext cx="1920240" cy="256032"/>
          </a:xfrm>
          <a:prstGeom prst="rect">
            <a:avLst/>
          </a:prstGeom>
          <a:noFill/>
          <a:ln/>
        </p:spPr>
        <p:txBody>
          <a:bodyPr wrap="square" lIns="0" tIns="0" rIns="0" bIns="0" rtlCol="0" anchor="ctr"/>
          <a:lstStyle/>
          <a:p>
            <a:pPr indent="0" marL="0">
              <a:buNone/>
            </a:pPr>
            <a:r>
              <a:rPr lang="en-US" sz="1150" b="1" dirty="0">
                <a:solidFill>
                  <a:srgbClr val="9B6B00"/>
                </a:solidFill>
                <a:latin typeface="Calibri" pitchFamily="34" charset="0"/>
                <a:ea typeface="Calibri" pitchFamily="34" charset="-122"/>
                <a:cs typeface="Calibri" pitchFamily="34" charset="-120"/>
              </a:rPr>
              <a:t>Draft - PROJECT_REPORT</a:t>
            </a:r>
            <a:endParaRPr lang="en-US" sz="1150" dirty="0"/>
          </a:p>
        </p:txBody>
      </p:sp>
      <p:sp>
        <p:nvSpPr>
          <p:cNvPr id="19" name="Text 17"/>
          <p:cNvSpPr/>
          <p:nvPr/>
        </p:nvSpPr>
        <p:spPr>
          <a:xfrm>
            <a:off x="6629400" y="3145536"/>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Literature survey</a:t>
            </a:r>
            <a:endParaRPr lang="en-US" sz="1150" dirty="0"/>
          </a:p>
        </p:txBody>
      </p:sp>
      <p:sp>
        <p:nvSpPr>
          <p:cNvPr id="20" name="Text 18"/>
          <p:cNvSpPr/>
          <p:nvPr/>
        </p:nvSpPr>
        <p:spPr>
          <a:xfrm>
            <a:off x="9692640" y="3145536"/>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17 works surveyed</a:t>
            </a:r>
            <a:endParaRPr lang="en-US" sz="1150" dirty="0"/>
          </a:p>
        </p:txBody>
      </p:sp>
      <p:sp>
        <p:nvSpPr>
          <p:cNvPr id="21" name="Text 19"/>
          <p:cNvSpPr/>
          <p:nvPr/>
        </p:nvSpPr>
        <p:spPr>
          <a:xfrm>
            <a:off x="6629400" y="3447288"/>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Plagiarism report</a:t>
            </a:r>
            <a:endParaRPr lang="en-US" sz="1150" dirty="0"/>
          </a:p>
        </p:txBody>
      </p:sp>
      <p:sp>
        <p:nvSpPr>
          <p:cNvPr id="22" name="Text 20"/>
          <p:cNvSpPr/>
          <p:nvPr/>
        </p:nvSpPr>
        <p:spPr>
          <a:xfrm>
            <a:off x="9692640" y="3447288"/>
            <a:ext cx="1920240" cy="256032"/>
          </a:xfrm>
          <a:prstGeom prst="rect">
            <a:avLst/>
          </a:prstGeom>
          <a:noFill/>
          <a:ln/>
        </p:spPr>
        <p:txBody>
          <a:bodyPr wrap="square" lIns="0" tIns="0" rIns="0" bIns="0" rtlCol="0" anchor="ctr"/>
          <a:lstStyle/>
          <a:p>
            <a:pPr indent="0" marL="0">
              <a:buNone/>
            </a:pPr>
            <a:r>
              <a:rPr lang="en-US" sz="1150" b="1" dirty="0">
                <a:solidFill>
                  <a:srgbClr val="9B2C3A"/>
                </a:solidFill>
                <a:latin typeface="Calibri" pitchFamily="34" charset="0"/>
                <a:ea typeface="Calibri" pitchFamily="34" charset="-122"/>
                <a:cs typeface="Calibri" pitchFamily="34" charset="-120"/>
              </a:rPr>
              <a:t>Outstanding</a:t>
            </a:r>
            <a:endParaRPr lang="en-US" sz="1150" dirty="0"/>
          </a:p>
        </p:txBody>
      </p:sp>
      <p:sp>
        <p:nvSpPr>
          <p:cNvPr id="23" name="Text 21"/>
          <p:cNvSpPr/>
          <p:nvPr/>
        </p:nvSpPr>
        <p:spPr>
          <a:xfrm>
            <a:off x="6629400" y="3749040"/>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Paper submission</a:t>
            </a:r>
            <a:endParaRPr lang="en-US" sz="1150" dirty="0"/>
          </a:p>
        </p:txBody>
      </p:sp>
      <p:sp>
        <p:nvSpPr>
          <p:cNvPr id="24" name="Text 22"/>
          <p:cNvSpPr/>
          <p:nvPr/>
        </p:nvSpPr>
        <p:spPr>
          <a:xfrm>
            <a:off x="9692640" y="3749040"/>
            <a:ext cx="1920240" cy="256032"/>
          </a:xfrm>
          <a:prstGeom prst="rect">
            <a:avLst/>
          </a:prstGeom>
          <a:noFill/>
          <a:ln/>
        </p:spPr>
        <p:txBody>
          <a:bodyPr wrap="square" lIns="0" tIns="0" rIns="0" bIns="0" rtlCol="0" anchor="ctr"/>
          <a:lstStyle/>
          <a:p>
            <a:pPr indent="0" marL="0">
              <a:buNone/>
            </a:pPr>
            <a:r>
              <a:rPr lang="en-US" sz="1150" b="1" dirty="0">
                <a:solidFill>
                  <a:srgbClr val="9B2C3A"/>
                </a:solidFill>
                <a:latin typeface="Calibri" pitchFamily="34" charset="0"/>
                <a:ea typeface="Calibri" pitchFamily="34" charset="-122"/>
                <a:cs typeface="Calibri" pitchFamily="34" charset="-120"/>
              </a:rPr>
              <a:t>Outstanding</a:t>
            </a:r>
            <a:endParaRPr lang="en-US" sz="1150" dirty="0"/>
          </a:p>
        </p:txBody>
      </p:sp>
      <p:sp>
        <p:nvSpPr>
          <p:cNvPr id="25" name="Shape 23"/>
          <p:cNvSpPr/>
          <p:nvPr/>
        </p:nvSpPr>
        <p:spPr>
          <a:xfrm>
            <a:off x="640080" y="4343400"/>
            <a:ext cx="10881360" cy="960120"/>
          </a:xfrm>
          <a:prstGeom prst="roundRect">
            <a:avLst>
              <a:gd name="adj" fmla="val 6667"/>
            </a:avLst>
          </a:prstGeom>
          <a:solidFill>
            <a:srgbClr val="FFF4D6"/>
          </a:solidFill>
          <a:ln w="12700">
            <a:solidFill>
              <a:srgbClr val="FFF4D6"/>
            </a:solidFill>
            <a:prstDash val="solid"/>
          </a:ln>
        </p:spPr>
      </p:sp>
      <p:sp>
        <p:nvSpPr>
          <p:cNvPr id="26" name="Text 24"/>
          <p:cNvSpPr/>
          <p:nvPr/>
        </p:nvSpPr>
        <p:spPr>
          <a:xfrm>
            <a:off x="960120" y="4572000"/>
            <a:ext cx="10241280" cy="548640"/>
          </a:xfrm>
          <a:prstGeom prst="rect">
            <a:avLst/>
          </a:prstGeom>
          <a:noFill/>
          <a:ln/>
        </p:spPr>
        <p:txBody>
          <a:bodyPr wrap="square" lIns="0" tIns="0" rIns="0" bIns="0" rtlCol="0" anchor="ctr"/>
          <a:lstStyle/>
          <a:p>
            <a:pPr indent="0" marL="0">
              <a:buNone/>
            </a:pPr>
            <a:r>
              <a:rPr lang="en-US" sz="1200" b="1" dirty="0">
                <a:solidFill>
                  <a:srgbClr val="7A5A00"/>
                </a:solidFill>
                <a:latin typeface="Calibri" pitchFamily="34" charset="0"/>
                <a:ea typeface="Calibri" pitchFamily="34" charset="-122"/>
                <a:cs typeface="Calibri" pitchFamily="34" charset="-120"/>
              </a:rPr>
              <a:t>Three checklist items are genuinely outstanding and are listed here rather than glossed: the literature survey, the plagiarism report, and a paper submission. Timeline for each is on the next slide.</a:t>
            </a:r>
            <a:endParaRPr lang="en-US" sz="1200" dirty="0"/>
          </a:p>
        </p:txBody>
      </p:sp>
      <p:sp>
        <p:nvSpPr>
          <p:cNvPr id="27" name="Text 25"/>
          <p:cNvSpPr/>
          <p:nvPr/>
        </p:nvSpPr>
        <p:spPr>
          <a:xfrm>
            <a:off x="640080" y="5532120"/>
            <a:ext cx="10881360" cy="5029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Ethical position: all evaluation runs locally with no data sent to third-party APIs. Datasets are public or synthetic. No PII is stored; payload capture is opt-in and off by default.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FUTURE WORK</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Genuine next steps, in priority order</a:t>
            </a:r>
            <a:endParaRPr lang="en-US" sz="3100" dirty="0"/>
          </a:p>
        </p:txBody>
      </p:sp>
      <p:sp>
        <p:nvSpPr>
          <p:cNvPr id="4" name="Shape 2"/>
          <p:cNvSpPr/>
          <p:nvPr/>
        </p:nvSpPr>
        <p:spPr>
          <a:xfrm>
            <a:off x="640080" y="1371600"/>
            <a:ext cx="10881360" cy="914400"/>
          </a:xfrm>
          <a:prstGeom prst="roundRect">
            <a:avLst>
              <a:gd name="adj" fmla="val 7000"/>
            </a:avLst>
          </a:prstGeom>
          <a:solidFill>
            <a:srgbClr val="222937"/>
          </a:solidFill>
          <a:ln w="12700">
            <a:solidFill>
              <a:srgbClr val="222937"/>
            </a:solidFill>
            <a:prstDash val="solid"/>
          </a:ln>
        </p:spPr>
      </p:sp>
      <p:sp>
        <p:nvSpPr>
          <p:cNvPr id="5" name="Text 3"/>
          <p:cNvSpPr/>
          <p:nvPr/>
        </p:nvSpPr>
        <p:spPr>
          <a:xfrm>
            <a:off x="960120" y="160934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508760" y="151790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Close the outstanding deliverables</a:t>
            </a:r>
            <a:endParaRPr lang="en-US" sz="1300" dirty="0"/>
          </a:p>
        </p:txBody>
      </p:sp>
      <p:sp>
        <p:nvSpPr>
          <p:cNvPr id="7" name="Text 5"/>
          <p:cNvSpPr/>
          <p:nvPr/>
        </p:nvSpPr>
        <p:spPr>
          <a:xfrm>
            <a:off x="1508760" y="181051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Literature survey of 15-20 papers, plagiarism report, and a paper draft targeting an applied-ML or software-engineering venue.</a:t>
            </a:r>
            <a:endParaRPr lang="en-US" sz="1100" dirty="0"/>
          </a:p>
        </p:txBody>
      </p:sp>
      <p:sp>
        <p:nvSpPr>
          <p:cNvPr id="8" name="Text 6"/>
          <p:cNvSpPr/>
          <p:nvPr/>
        </p:nvSpPr>
        <p:spPr>
          <a:xfrm>
            <a:off x="10104120" y="166420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Immediate</a:t>
            </a:r>
            <a:endParaRPr lang="en-US" sz="1100" dirty="0"/>
          </a:p>
        </p:txBody>
      </p:sp>
      <p:sp>
        <p:nvSpPr>
          <p:cNvPr id="9" name="Shape 7"/>
          <p:cNvSpPr/>
          <p:nvPr/>
        </p:nvSpPr>
        <p:spPr>
          <a:xfrm>
            <a:off x="640080" y="2377440"/>
            <a:ext cx="10881360" cy="914400"/>
          </a:xfrm>
          <a:prstGeom prst="roundRect">
            <a:avLst>
              <a:gd name="adj" fmla="val 7000"/>
            </a:avLst>
          </a:prstGeom>
          <a:solidFill>
            <a:srgbClr val="222937"/>
          </a:solidFill>
          <a:ln w="12700">
            <a:solidFill>
              <a:srgbClr val="222937"/>
            </a:solidFill>
            <a:prstDash val="solid"/>
          </a:ln>
        </p:spPr>
      </p:sp>
      <p:sp>
        <p:nvSpPr>
          <p:cNvPr id="10" name="Text 8"/>
          <p:cNvSpPr/>
          <p:nvPr/>
        </p:nvSpPr>
        <p:spPr>
          <a:xfrm>
            <a:off x="960120" y="261518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508760" y="252374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Re-run the baseline comparison</a:t>
            </a:r>
            <a:endParaRPr lang="en-US" sz="1300" dirty="0"/>
          </a:p>
        </p:txBody>
      </p:sp>
      <p:sp>
        <p:nvSpPr>
          <p:cNvPr id="12" name="Text 10"/>
          <p:cNvSpPr/>
          <p:nvPr/>
        </p:nvSpPr>
        <p:spPr>
          <a:xfrm>
            <a:off x="1508760" y="281635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The current comparison predates the drift rebuild by nine days, so it measures the superseded signal. Re-running it may change the headline row.</a:t>
            </a:r>
            <a:endParaRPr lang="en-US" sz="1100" dirty="0"/>
          </a:p>
        </p:txBody>
      </p:sp>
      <p:sp>
        <p:nvSpPr>
          <p:cNvPr id="13" name="Text 11"/>
          <p:cNvSpPr/>
          <p:nvPr/>
        </p:nvSpPr>
        <p:spPr>
          <a:xfrm>
            <a:off x="10104120" y="267004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Short</a:t>
            </a:r>
            <a:endParaRPr lang="en-US" sz="1100" dirty="0"/>
          </a:p>
        </p:txBody>
      </p:sp>
      <p:sp>
        <p:nvSpPr>
          <p:cNvPr id="14" name="Shape 12"/>
          <p:cNvSpPr/>
          <p:nvPr/>
        </p:nvSpPr>
        <p:spPr>
          <a:xfrm>
            <a:off x="640080" y="3383280"/>
            <a:ext cx="10881360" cy="914400"/>
          </a:xfrm>
          <a:prstGeom prst="roundRect">
            <a:avLst>
              <a:gd name="adj" fmla="val 7000"/>
            </a:avLst>
          </a:prstGeom>
          <a:solidFill>
            <a:srgbClr val="222937"/>
          </a:solidFill>
          <a:ln w="12700">
            <a:solidFill>
              <a:srgbClr val="222937"/>
            </a:solidFill>
            <a:prstDash val="solid"/>
          </a:ln>
        </p:spPr>
      </p:sp>
      <p:sp>
        <p:nvSpPr>
          <p:cNvPr id="15" name="Text 13"/>
          <p:cNvSpPr/>
          <p:nvPr/>
        </p:nvSpPr>
        <p:spPr>
          <a:xfrm>
            <a:off x="960120" y="362102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3</a:t>
            </a:r>
            <a:endParaRPr lang="en-US" sz="1800" dirty="0"/>
          </a:p>
        </p:txBody>
      </p:sp>
      <p:sp>
        <p:nvSpPr>
          <p:cNvPr id="16" name="Text 14"/>
          <p:cNvSpPr/>
          <p:nvPr/>
        </p:nvSpPr>
        <p:spPr>
          <a:xfrm>
            <a:off x="1508760" y="352958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Repeat the benchmarks across seeds</a:t>
            </a:r>
            <a:endParaRPr lang="en-US" sz="1300" dirty="0"/>
          </a:p>
        </p:txBody>
      </p:sp>
      <p:sp>
        <p:nvSpPr>
          <p:cNvPr id="17" name="Text 15"/>
          <p:cNvSpPr/>
          <p:nvPr/>
        </p:nvSpPr>
        <p:spPr>
          <a:xfrm>
            <a:off x="1508760" y="382219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Multiple runs with confidence intervals, and a larger held-out split, to convert single-run figures into interval estimates.</a:t>
            </a:r>
            <a:endParaRPr lang="en-US" sz="1100" dirty="0"/>
          </a:p>
        </p:txBody>
      </p:sp>
      <p:sp>
        <p:nvSpPr>
          <p:cNvPr id="18" name="Text 16"/>
          <p:cNvSpPr/>
          <p:nvPr/>
        </p:nvSpPr>
        <p:spPr>
          <a:xfrm>
            <a:off x="10104120" y="367588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Short</a:t>
            </a:r>
            <a:endParaRPr lang="en-US" sz="1100" dirty="0"/>
          </a:p>
        </p:txBody>
      </p:sp>
      <p:sp>
        <p:nvSpPr>
          <p:cNvPr id="19" name="Shape 17"/>
          <p:cNvSpPr/>
          <p:nvPr/>
        </p:nvSpPr>
        <p:spPr>
          <a:xfrm>
            <a:off x="640080" y="4389120"/>
            <a:ext cx="10881360" cy="914400"/>
          </a:xfrm>
          <a:prstGeom prst="roundRect">
            <a:avLst>
              <a:gd name="adj" fmla="val 7000"/>
            </a:avLst>
          </a:prstGeom>
          <a:solidFill>
            <a:srgbClr val="222937"/>
          </a:solidFill>
          <a:ln w="12700">
            <a:solidFill>
              <a:srgbClr val="222937"/>
            </a:solidFill>
            <a:prstDash val="solid"/>
          </a:ln>
        </p:spPr>
      </p:sp>
      <p:sp>
        <p:nvSpPr>
          <p:cNvPr id="20" name="Text 18"/>
          <p:cNvSpPr/>
          <p:nvPr/>
        </p:nvSpPr>
        <p:spPr>
          <a:xfrm>
            <a:off x="960120" y="462686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4</a:t>
            </a:r>
            <a:endParaRPr lang="en-US" sz="1800" dirty="0"/>
          </a:p>
        </p:txBody>
      </p:sp>
      <p:sp>
        <p:nvSpPr>
          <p:cNvPr id="21" name="Text 19"/>
          <p:cNvSpPr/>
          <p:nvPr/>
        </p:nvSpPr>
        <p:spPr>
          <a:xfrm>
            <a:off x="1508760" y="453542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Represent evidence partitions</a:t>
            </a:r>
            <a:endParaRPr lang="en-US" sz="1300" dirty="0"/>
          </a:p>
        </p:txBody>
      </p:sp>
      <p:sp>
        <p:nvSpPr>
          <p:cNvPr id="22" name="Text 20"/>
          <p:cNvSpPr/>
          <p:nvPr/>
        </p:nvSpPr>
        <p:spPr>
          <a:xfrm>
            <a:off x="1508760" y="482803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Give the disagreement detector access to what each agent could see, so legitimate disagreement can be separated from a genuine fault.</a:t>
            </a:r>
            <a:endParaRPr lang="en-US" sz="1100" dirty="0"/>
          </a:p>
        </p:txBody>
      </p:sp>
      <p:sp>
        <p:nvSpPr>
          <p:cNvPr id="23" name="Text 21"/>
          <p:cNvSpPr/>
          <p:nvPr/>
        </p:nvSpPr>
        <p:spPr>
          <a:xfrm>
            <a:off x="10104120" y="4681728"/>
            <a:ext cx="1188720" cy="274320"/>
          </a:xfrm>
          <a:prstGeom prst="rect">
            <a:avLst/>
          </a:prstGeom>
          <a:noFill/>
          <a:ln/>
        </p:spPr>
        <p:txBody>
          <a:bodyPr wrap="square" lIns="0" tIns="0" rIns="0" bIns="0" rtlCol="0" anchor="ctr"/>
          <a:lstStyle/>
          <a:p>
            <a:pPr algn="r" indent="0" marL="0">
              <a:buNone/>
            </a:pPr>
            <a:r>
              <a:rPr lang="en-US" sz="1100" b="1" dirty="0">
                <a:solidFill>
                  <a:srgbClr val="FBBF24"/>
                </a:solidFill>
                <a:latin typeface="Calibri" pitchFamily="34" charset="0"/>
                <a:ea typeface="Calibri" pitchFamily="34" charset="-122"/>
                <a:cs typeface="Calibri" pitchFamily="34" charset="-120"/>
              </a:rPr>
              <a:t>Research</a:t>
            </a:r>
            <a:endParaRPr lang="en-US" sz="1100" dirty="0"/>
          </a:p>
        </p:txBody>
      </p:sp>
      <p:sp>
        <p:nvSpPr>
          <p:cNvPr id="24" name="Shape 22"/>
          <p:cNvSpPr/>
          <p:nvPr/>
        </p:nvSpPr>
        <p:spPr>
          <a:xfrm>
            <a:off x="640080" y="5394960"/>
            <a:ext cx="10881360" cy="914400"/>
          </a:xfrm>
          <a:prstGeom prst="roundRect">
            <a:avLst>
              <a:gd name="adj" fmla="val 7000"/>
            </a:avLst>
          </a:prstGeom>
          <a:solidFill>
            <a:srgbClr val="222937"/>
          </a:solidFill>
          <a:ln w="12700">
            <a:solidFill>
              <a:srgbClr val="222937"/>
            </a:solidFill>
            <a:prstDash val="solid"/>
          </a:ln>
        </p:spPr>
      </p:sp>
      <p:sp>
        <p:nvSpPr>
          <p:cNvPr id="25" name="Text 23"/>
          <p:cNvSpPr/>
          <p:nvPr/>
        </p:nvSpPr>
        <p:spPr>
          <a:xfrm>
            <a:off x="960120" y="563270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5</a:t>
            </a:r>
            <a:endParaRPr lang="en-US" sz="1800" dirty="0"/>
          </a:p>
        </p:txBody>
      </p:sp>
      <p:sp>
        <p:nvSpPr>
          <p:cNvPr id="26" name="Text 24"/>
          <p:cNvSpPr/>
          <p:nvPr/>
        </p:nvSpPr>
        <p:spPr>
          <a:xfrm>
            <a:off x="1508760" y="554126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Re-pose the tool-claim task</a:t>
            </a:r>
            <a:endParaRPr lang="en-US" sz="1300" dirty="0"/>
          </a:p>
        </p:txBody>
      </p:sp>
      <p:sp>
        <p:nvSpPr>
          <p:cNvPr id="27" name="Text 25"/>
          <p:cNvSpPr/>
          <p:nvPr/>
        </p:nvSpPr>
        <p:spPr>
          <a:xfrm>
            <a:off x="1508760" y="583387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Extract individual assertions and label each against the single tool result it refers to - the task shape that previously reached kappa 0.922.</a:t>
            </a:r>
            <a:endParaRPr lang="en-US" sz="1100" dirty="0"/>
          </a:p>
        </p:txBody>
      </p:sp>
      <p:sp>
        <p:nvSpPr>
          <p:cNvPr id="28" name="Text 26"/>
          <p:cNvSpPr/>
          <p:nvPr/>
        </p:nvSpPr>
        <p:spPr>
          <a:xfrm>
            <a:off x="10104120" y="5687568"/>
            <a:ext cx="1188720" cy="274320"/>
          </a:xfrm>
          <a:prstGeom prst="rect">
            <a:avLst/>
          </a:prstGeom>
          <a:noFill/>
          <a:ln/>
        </p:spPr>
        <p:txBody>
          <a:bodyPr wrap="square" lIns="0" tIns="0" rIns="0" bIns="0" rtlCol="0" anchor="ctr"/>
          <a:lstStyle/>
          <a:p>
            <a:pPr algn="r" indent="0" marL="0">
              <a:buNone/>
            </a:pPr>
            <a:r>
              <a:rPr lang="en-US" sz="1100" b="1" dirty="0">
                <a:solidFill>
                  <a:srgbClr val="FBBF24"/>
                </a:solidFill>
                <a:latin typeface="Calibri" pitchFamily="34" charset="0"/>
                <a:ea typeface="Calibri" pitchFamily="34" charset="-122"/>
                <a:cs typeface="Calibri" pitchFamily="34" charset="-120"/>
              </a:rPr>
              <a:t>Research</a:t>
            </a:r>
            <a:endParaRPr lang="en-US" sz="1100" dirty="0"/>
          </a:p>
        </p:txBody>
      </p:sp>
      <p:sp>
        <p:nvSpPr>
          <p:cNvPr id="29" name="Text 27"/>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6B7690"/>
                </a:solidFill>
                <a:latin typeface="Calibri" pitchFamily="34" charset="0"/>
                <a:ea typeface="Calibri" pitchFamily="34" charset="-122"/>
                <a:cs typeface="Calibri" pitchFamily="34" charset="-120"/>
              </a:rPr>
              <a:t>Items 4 and 5 are research problems rather than engineering tasks, and are stated as such.</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APPENDIX</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Full reference list - 17 works</a:t>
            </a:r>
            <a:endParaRPr lang="en-US" sz="3100" dirty="0"/>
          </a:p>
        </p:txBody>
      </p:sp>
      <p:sp>
        <p:nvSpPr>
          <p:cNvPr id="4" name="Shape 2"/>
          <p:cNvSpPr/>
          <p:nvPr/>
        </p:nvSpPr>
        <p:spPr>
          <a:xfrm>
            <a:off x="640080" y="1371600"/>
            <a:ext cx="3200400" cy="4572000"/>
          </a:xfrm>
          <a:prstGeom prst="roundRect">
            <a:avLst>
              <a:gd name="adj" fmla="val 2000"/>
            </a:avLst>
          </a:prstGeom>
          <a:solidFill>
            <a:srgbClr val="FFFFFF"/>
          </a:solidFill>
          <a:ln w="12700">
            <a:solidFill>
              <a:srgbClr val="FFFFFF"/>
            </a:solidFill>
            <a:prstDash val="solid"/>
          </a:ln>
        </p:spPr>
      </p:sp>
      <p:sp>
        <p:nvSpPr>
          <p:cNvPr id="5" name="Text 3"/>
          <p:cNvSpPr/>
          <p:nvPr/>
        </p:nvSpPr>
        <p:spPr>
          <a:xfrm>
            <a:off x="896112" y="1572768"/>
            <a:ext cx="274320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Factual consistency / NLI</a:t>
            </a:r>
            <a:endParaRPr lang="en-US" sz="1250" dirty="0"/>
          </a:p>
        </p:txBody>
      </p:sp>
      <p:sp>
        <p:nvSpPr>
          <p:cNvPr id="6" name="Text 4"/>
          <p:cNvSpPr/>
          <p:nvPr/>
        </p:nvSpPr>
        <p:spPr>
          <a:xfrm>
            <a:off x="896112" y="2103120"/>
            <a:ext cx="269748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Kryscinski et al., FactCC, 2019</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Durmus et al., FEQA, 2020</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Scialom et al., QuestEval, 2021</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Fabbri et al., QAFactEval, 2021</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Laban et al., SummaC, TACL 2022</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Zha et al., AlignScore, ACL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Gekhman et al., TrueTeacher, 2023</a:t>
            </a:r>
            <a:endParaRPr lang="en-US" sz="1000" dirty="0"/>
          </a:p>
        </p:txBody>
      </p:sp>
      <p:sp>
        <p:nvSpPr>
          <p:cNvPr id="7" name="Shape 5"/>
          <p:cNvSpPr/>
          <p:nvPr/>
        </p:nvSpPr>
        <p:spPr>
          <a:xfrm>
            <a:off x="4160520" y="1371600"/>
            <a:ext cx="4206240" cy="4572000"/>
          </a:xfrm>
          <a:prstGeom prst="roundRect">
            <a:avLst>
              <a:gd name="adj" fmla="val 1522"/>
            </a:avLst>
          </a:prstGeom>
          <a:solidFill>
            <a:srgbClr val="FFFFFF"/>
          </a:solidFill>
          <a:ln w="12700">
            <a:solidFill>
              <a:srgbClr val="FFFFFF"/>
            </a:solidFill>
            <a:prstDash val="solid"/>
          </a:ln>
        </p:spPr>
      </p:sp>
      <p:sp>
        <p:nvSpPr>
          <p:cNvPr id="8" name="Text 6"/>
          <p:cNvSpPr/>
          <p:nvPr/>
        </p:nvSpPr>
        <p:spPr>
          <a:xfrm>
            <a:off x="4416552" y="1572768"/>
            <a:ext cx="374904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RAG and judge-based evaluation</a:t>
            </a:r>
            <a:endParaRPr lang="en-US" sz="1250" dirty="0"/>
          </a:p>
        </p:txBody>
      </p:sp>
      <p:sp>
        <p:nvSpPr>
          <p:cNvPr id="9" name="Text 7"/>
          <p:cNvSpPr/>
          <p:nvPr/>
        </p:nvSpPr>
        <p:spPr>
          <a:xfrm>
            <a:off x="4416552" y="2103120"/>
            <a:ext cx="370332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Es et al., RAGAS, EACL 2024 demo</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Saad-Falcon et al., ARES,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Zheng et al., MT-Bench / Chatbot Arena, NeurIPS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Kim et al., Prometheus,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Kim et al., Prometheus 2,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Gu et al., A Survey on LLM-as-a-Judge,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Li et al., From Generation to Judgment,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Ye et al., Justice or Prejudice,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Krumdick et al., No Free Labels, 2025</a:t>
            </a:r>
            <a:endParaRPr lang="en-US" sz="1000" dirty="0"/>
          </a:p>
        </p:txBody>
      </p:sp>
      <p:sp>
        <p:nvSpPr>
          <p:cNvPr id="10" name="Shape 8"/>
          <p:cNvSpPr/>
          <p:nvPr/>
        </p:nvSpPr>
        <p:spPr>
          <a:xfrm>
            <a:off x="8686800" y="1371600"/>
            <a:ext cx="3200400" cy="4572000"/>
          </a:xfrm>
          <a:prstGeom prst="roundRect">
            <a:avLst>
              <a:gd name="adj" fmla="val 2000"/>
            </a:avLst>
          </a:prstGeom>
          <a:solidFill>
            <a:srgbClr val="FFFFFF"/>
          </a:solidFill>
          <a:ln w="12700">
            <a:solidFill>
              <a:srgbClr val="FFFFFF"/>
            </a:solidFill>
            <a:prstDash val="solid"/>
          </a:ln>
        </p:spPr>
      </p:sp>
      <p:sp>
        <p:nvSpPr>
          <p:cNvPr id="11" name="Text 9"/>
          <p:cNvSpPr/>
          <p:nvPr/>
        </p:nvSpPr>
        <p:spPr>
          <a:xfrm>
            <a:off x="8942832" y="1572768"/>
            <a:ext cx="274320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Drift and multi-agent failure</a:t>
            </a:r>
            <a:endParaRPr lang="en-US" sz="1250" dirty="0"/>
          </a:p>
        </p:txBody>
      </p:sp>
      <p:sp>
        <p:nvSpPr>
          <p:cNvPr id="12" name="Text 10"/>
          <p:cNvSpPr/>
          <p:nvPr/>
        </p:nvSpPr>
        <p:spPr>
          <a:xfrm>
            <a:off x="8942832" y="2103120"/>
            <a:ext cx="269748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Greco et al., DriftLens,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Cemri, Pan, Yang et al., MAST - Why Do Multi-Agent LLM Systems Fail, NeurIPS 2025</a:t>
            </a:r>
            <a:endParaRPr lang="en-US" sz="1000" dirty="0"/>
          </a:p>
        </p:txBody>
      </p:sp>
      <p:sp>
        <p:nvSpPr>
          <p:cNvPr id="13" name="Text 11"/>
          <p:cNvSpPr/>
          <p:nvPr/>
        </p:nvSpPr>
        <p:spPr>
          <a:xfrm>
            <a:off x="640080" y="6080760"/>
            <a:ext cx="10881360" cy="36576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Nine of the seventeen are from 2023 onward. Full citations with venue and identifier belong in the report bibliography, not on this slide.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1828800" y="3657600"/>
            <a:ext cx="5120640" cy="5120640"/>
          </a:xfrm>
          <a:prstGeom prst="ellipse">
            <a:avLst/>
          </a:prstGeom>
          <a:solidFill>
            <a:srgbClr val="22D3EE">
              <a:alpha val="7000"/>
            </a:srgbClr>
          </a:solidFill>
          <a:ln w="12700">
            <a:solidFill>
              <a:srgbClr val="333333"/>
            </a:solidFill>
            <a:prstDash val="solid"/>
          </a:ln>
        </p:spPr>
      </p:sp>
      <p:sp>
        <p:nvSpPr>
          <p:cNvPr id="3" name="Text 1"/>
          <p:cNvSpPr/>
          <p:nvPr/>
        </p:nvSpPr>
        <p:spPr>
          <a:xfrm>
            <a:off x="640080" y="1371600"/>
            <a:ext cx="7315200" cy="274320"/>
          </a:xfrm>
          <a:prstGeom prst="rect">
            <a:avLst/>
          </a:prstGeom>
          <a:noFill/>
          <a:ln/>
        </p:spPr>
        <p:txBody>
          <a:bodyPr wrap="square" lIns="0" tIns="0" rIns="0" bIns="0" rtlCol="0" anchor="ctr"/>
          <a:lstStyle/>
          <a:p>
            <a:pPr indent="0" marL="0">
              <a:buNone/>
            </a:pPr>
            <a:r>
              <a:rPr lang="en-US" sz="1150" b="1" spc="300" kern="0" dirty="0">
                <a:solidFill>
                  <a:srgbClr val="22D3EE"/>
                </a:solidFill>
                <a:latin typeface="Calibri" pitchFamily="34" charset="0"/>
                <a:ea typeface="Calibri" pitchFamily="34" charset="-122"/>
                <a:cs typeface="Calibri" pitchFamily="34" charset="-120"/>
              </a:rPr>
              <a:t>IN SUMMARY</a:t>
            </a:r>
            <a:endParaRPr lang="en-US" sz="1150" dirty="0"/>
          </a:p>
        </p:txBody>
      </p:sp>
      <p:sp>
        <p:nvSpPr>
          <p:cNvPr id="4" name="Text 2"/>
          <p:cNvSpPr/>
          <p:nvPr/>
        </p:nvSpPr>
        <p:spPr>
          <a:xfrm>
            <a:off x="640080" y="1783080"/>
            <a:ext cx="10424160" cy="1554480"/>
          </a:xfrm>
          <a:prstGeom prst="rect">
            <a:avLst/>
          </a:prstGeom>
          <a:noFill/>
          <a:ln/>
        </p:spPr>
        <p:txBody>
          <a:bodyPr wrap="square" lIns="0" tIns="0" rIns="0" bIns="0" rtlCol="0" anchor="ctr"/>
          <a:lstStyle/>
          <a:p>
            <a:pPr indent="0" marL="0">
              <a:buNone/>
            </a:pPr>
            <a:r>
              <a:rPr lang="en-US" sz="3800" b="1" dirty="0">
                <a:solidFill>
                  <a:srgbClr val="E8ECF5"/>
                </a:solidFill>
                <a:latin typeface="Cambria" pitchFamily="34" charset="0"/>
                <a:ea typeface="Cambria" pitchFamily="34" charset="-122"/>
                <a:cs typeface="Cambria" pitchFamily="34" charset="-120"/>
              </a:rPr>
              <a:t>An evaluation tool that was</a:t>
            </a:r>
            <a:endParaRPr lang="en-US" sz="3800" dirty="0"/>
          </a:p>
          <a:p>
            <a:pPr indent="0" marL="0">
              <a:buNone/>
            </a:pPr>
            <a:r>
              <a:rPr lang="en-US" sz="3800" b="1" dirty="0">
                <a:solidFill>
                  <a:srgbClr val="E8ECF5"/>
                </a:solidFill>
                <a:latin typeface="Cambria" pitchFamily="34" charset="0"/>
                <a:ea typeface="Cambria" pitchFamily="34" charset="-122"/>
                <a:cs typeface="Cambria" pitchFamily="34" charset="-120"/>
              </a:rPr>
              <a:t>honestly evaluated</a:t>
            </a:r>
            <a:endParaRPr lang="en-US" sz="3800" dirty="0"/>
          </a:p>
        </p:txBody>
      </p:sp>
      <p:sp>
        <p:nvSpPr>
          <p:cNvPr id="5" name="Text 3"/>
          <p:cNvSpPr/>
          <p:nvPr/>
        </p:nvSpPr>
        <p:spPr>
          <a:xfrm>
            <a:off x="640080" y="3520440"/>
            <a:ext cx="10332720" cy="219456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A working system: every span evaluated on CPU with durable execution, migrations, retention and self-monitoring - each claim backed by a measurement.</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One validated capability: drift, rebuilt after failing on real text, AUC 0.991 held out, with its 24.5% coverage stated alongside.</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Three negative results with diagnoses rather than mysteries, and two positioning claims retracted after auditing competitors.</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One open research question: contradiction detection under distributed evidence.</a:t>
            </a:r>
            <a:endParaRPr lang="en-US" sz="1350" dirty="0"/>
          </a:p>
        </p:txBody>
      </p:sp>
      <p:sp>
        <p:nvSpPr>
          <p:cNvPr id="6" name="Text 4"/>
          <p:cNvSpPr/>
          <p:nvPr/>
        </p:nvSpPr>
        <p:spPr>
          <a:xfrm>
            <a:off x="640080" y="5943600"/>
            <a:ext cx="6400800" cy="411480"/>
          </a:xfrm>
          <a:prstGeom prst="rect">
            <a:avLst/>
          </a:prstGeom>
          <a:noFill/>
          <a:ln/>
        </p:spPr>
        <p:txBody>
          <a:bodyPr wrap="square" lIns="0" tIns="0" rIns="0" bIns="0" rtlCol="0" anchor="ctr"/>
          <a:lstStyle/>
          <a:p>
            <a:pPr indent="0" marL="0">
              <a:buNone/>
            </a:pPr>
            <a:r>
              <a:rPr lang="en-US" sz="1900" b="1" dirty="0">
                <a:solidFill>
                  <a:srgbClr val="E8ECF5"/>
                </a:solidFill>
                <a:latin typeface="Cambria" pitchFamily="34" charset="0"/>
                <a:ea typeface="Cambria" pitchFamily="34" charset="-122"/>
                <a:cs typeface="Cambria" pitchFamily="34" charset="-120"/>
              </a:rPr>
              <a:t>Thank you  -  questions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Final Review</dc:title>
  <dc:subject>PptxGenJS Presentation</dc:subject>
  <dc:creator>Somnath Reddy</dc:creator>
  <cp:lastModifiedBy>Somnath Reddy</cp:lastModifiedBy>
  <cp:revision>1</cp:revision>
  <dcterms:created xsi:type="dcterms:W3CDTF">2026-08-31T11:33:55Z</dcterms:created>
  <dcterms:modified xsi:type="dcterms:W3CDTF">2026-08-31T11:33:55Z</dcterms:modified>
</cp:coreProperties>
</file>