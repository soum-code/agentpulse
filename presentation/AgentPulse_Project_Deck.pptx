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 cy="6858000"/>
          </a:xfrm>
          <a:prstGeom prst="rect">
            <a:avLst/>
          </a:prstGeom>
          <a:solidFill>
            <a:srgbClr val="1F4FD8"/>
          </a:solidFill>
          <a:ln/>
        </p:spPr>
      </p:sp>
      <p:sp>
        <p:nvSpPr>
          <p:cNvPr id="3" name="Text 1"/>
          <p:cNvSpPr/>
          <p:nvPr/>
        </p:nvSpPr>
        <p:spPr>
          <a:xfrm>
            <a:off x="1005840" y="2148840"/>
            <a:ext cx="9144000" cy="914400"/>
          </a:xfrm>
          <a:prstGeom prst="rect">
            <a:avLst/>
          </a:prstGeom>
          <a:noFill/>
          <a:ln/>
        </p:spPr>
        <p:txBody>
          <a:bodyPr wrap="square" rtlCol="0" anchor="ctr"/>
          <a:lstStyle/>
          <a:p>
            <a:pPr indent="0" marL="0">
              <a:buNone/>
            </a:pPr>
            <a:r>
              <a:rPr lang="en-US" sz="4600" b="1" dirty="0">
                <a:solidFill>
                  <a:srgbClr val="14171F"/>
                </a:solidFill>
              </a:rPr>
              <a:t>AgentPulse</a:t>
            </a:r>
            <a:endParaRPr lang="en-US" sz="4600" dirty="0"/>
          </a:p>
        </p:txBody>
      </p:sp>
      <p:sp>
        <p:nvSpPr>
          <p:cNvPr id="4" name="Text 2"/>
          <p:cNvSpPr/>
          <p:nvPr/>
        </p:nvSpPr>
        <p:spPr>
          <a:xfrm>
            <a:off x="1005840" y="3063240"/>
            <a:ext cx="9692640" cy="640080"/>
          </a:xfrm>
          <a:prstGeom prst="rect">
            <a:avLst/>
          </a:prstGeom>
          <a:noFill/>
          <a:ln/>
        </p:spPr>
        <p:txBody>
          <a:bodyPr wrap="square" rtlCol="0" anchor="ctr"/>
          <a:lstStyle/>
          <a:p>
            <a:pPr indent="0" marL="0">
              <a:buNone/>
            </a:pPr>
            <a:r>
              <a:rPr lang="en-US" sz="1800" dirty="0">
                <a:solidFill>
                  <a:srgbClr val="5B6472"/>
                </a:solidFill>
              </a:rPr>
              <a:t>Continuous grounding and drift observability for multi-agent LLM systems</a:t>
            </a:r>
            <a:endParaRPr lang="en-US" sz="1800" dirty="0"/>
          </a:p>
        </p:txBody>
      </p:sp>
      <p:sp>
        <p:nvSpPr>
          <p:cNvPr id="5" name="Shape 3"/>
          <p:cNvSpPr/>
          <p:nvPr/>
        </p:nvSpPr>
        <p:spPr>
          <a:xfrm>
            <a:off x="1005840" y="3886200"/>
            <a:ext cx="4754880" cy="0"/>
          </a:xfrm>
          <a:prstGeom prst="line">
            <a:avLst/>
          </a:prstGeom>
          <a:noFill/>
          <a:ln w="15875">
            <a:solidFill>
              <a:srgbClr val="D8DCE3"/>
            </a:solidFill>
            <a:prstDash val="solid"/>
          </a:ln>
        </p:spPr>
      </p:sp>
      <p:sp>
        <p:nvSpPr>
          <p:cNvPr id="6" name="Text 4"/>
          <p:cNvSpPr/>
          <p:nvPr/>
        </p:nvSpPr>
        <p:spPr>
          <a:xfrm>
            <a:off x="1005840" y="4114800"/>
            <a:ext cx="9692640" cy="365760"/>
          </a:xfrm>
          <a:prstGeom prst="rect">
            <a:avLst/>
          </a:prstGeom>
          <a:noFill/>
          <a:ln/>
        </p:spPr>
        <p:txBody>
          <a:bodyPr wrap="square" rtlCol="0" anchor="ctr"/>
          <a:lstStyle/>
          <a:p>
            <a:pPr indent="0" marL="0">
              <a:buNone/>
            </a:pPr>
            <a:r>
              <a:rPr lang="en-US" sz="1300" dirty="0">
                <a:solidFill>
                  <a:srgbClr val="5B6472"/>
                </a:solidFill>
              </a:rPr>
              <a:t>Self-hosted  ·  every span evaluated, never sampled  ·  local CPU inference, no per-token cost</a:t>
            </a:r>
            <a:endParaRPr lang="en-US" sz="1300" dirty="0"/>
          </a:p>
        </p:txBody>
      </p:sp>
      <p:sp>
        <p:nvSpPr>
          <p:cNvPr id="7" name="Text 5"/>
          <p:cNvSpPr/>
          <p:nvPr/>
        </p:nvSpPr>
        <p:spPr>
          <a:xfrm>
            <a:off x="1005840" y="5120640"/>
            <a:ext cx="7315200" cy="274320"/>
          </a:xfrm>
          <a:prstGeom prst="rect">
            <a:avLst/>
          </a:prstGeom>
          <a:noFill/>
          <a:ln/>
        </p:spPr>
        <p:txBody>
          <a:bodyPr wrap="square" rtlCol="0" anchor="ctr"/>
          <a:lstStyle/>
          <a:p>
            <a:pPr indent="0" marL="0">
              <a:buNone/>
            </a:pPr>
            <a:r>
              <a:rPr lang="en-US" sz="1200" dirty="0">
                <a:solidFill>
                  <a:srgbClr val="5B6472"/>
                </a:solidFill>
              </a:rPr>
              <a:t>M.Tech project  ·  technical review</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THE PROBLEM</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An agent can fail without anything breaking</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572768"/>
            <a:ext cx="10872216" cy="3108960"/>
          </a:xfrm>
          <a:prstGeom prst="rect">
            <a:avLst/>
          </a:prstGeom>
          <a:noFill/>
          <a:ln/>
        </p:spPr>
        <p:txBody>
          <a:bodyPr wrap="square" rtlCol="0" anchor="ctr"/>
          <a:lstStyle/>
          <a:p>
            <a:pPr marL="342900" indent="-342900">
              <a:lnSpc>
                <a:spcPct val="132000"/>
              </a:lnSpc>
              <a:spcAft>
                <a:spcPts val="800"/>
              </a:spcAft>
              <a:buSzPct val="100000"/>
              <a:buChar char="•"/>
            </a:pPr>
            <a:r>
              <a:rPr lang="en-US" sz="1500" dirty="0">
                <a:solidFill>
                  <a:srgbClr val="14171F"/>
                </a:solidFill>
              </a:rPr>
              <a:t>A hallucinating agent returns HTTP 200, in fluent prose, on time. The failure is in the content, not the transport.</a:t>
            </a:r>
            <a:endParaRPr lang="en-US" sz="1500" dirty="0"/>
          </a:p>
          <a:p>
            <a:pPr marL="342900" indent="-342900">
              <a:lnSpc>
                <a:spcPct val="132000"/>
              </a:lnSpc>
              <a:spcAft>
                <a:spcPts val="800"/>
              </a:spcAft>
              <a:buSzPct val="100000"/>
              <a:buChar char="•"/>
            </a:pPr>
            <a:r>
              <a:rPr lang="en-US" sz="1500" dirty="0">
                <a:solidFill>
                  <a:srgbClr val="14171F"/>
                </a:solidFill>
              </a:rPr>
              <a:t>Errors compound: a weak retrieval becomes an asserted fact downstream. Each step is plausible; only the chain is wrong.</a:t>
            </a:r>
            <a:endParaRPr lang="en-US" sz="1500" dirty="0"/>
          </a:p>
          <a:p>
            <a:pPr marL="342900" indent="-342900">
              <a:lnSpc>
                <a:spcPct val="132000"/>
              </a:lnSpc>
              <a:spcAft>
                <a:spcPts val="800"/>
              </a:spcAft>
              <a:buSzPct val="100000"/>
              <a:buChar char="•"/>
            </a:pPr>
            <a:r>
              <a:rPr lang="en-US" sz="1500" dirty="0">
                <a:solidFill>
                  <a:srgbClr val="14171F"/>
                </a:solidFill>
              </a:rPr>
              <a:t>There is no stack trace. Nothing raises, so there is no line number to debug from.</a:t>
            </a:r>
            <a:endParaRPr lang="en-US" sz="1500" dirty="0"/>
          </a:p>
          <a:p>
            <a:pPr marL="342900" indent="-342900">
              <a:lnSpc>
                <a:spcPct val="132000"/>
              </a:lnSpc>
              <a:spcAft>
                <a:spcPts val="800"/>
              </a:spcAft>
              <a:buSzPct val="100000"/>
              <a:buChar char="•"/>
            </a:pPr>
            <a:r>
              <a:rPr lang="en-US" sz="1500" dirty="0">
                <a:solidFill>
                  <a:srgbClr val="14171F"/>
                </a:solidFill>
              </a:rPr>
              <a:t>The usual answer, LLM-as-a-judge, bills per token and adds seconds per span, so teams sample. Sampling is exactly how a rare hallucination goes unseen.</a:t>
            </a:r>
            <a:endParaRPr lang="en-US" sz="1500" dirty="0"/>
          </a:p>
        </p:txBody>
      </p:sp>
      <p:sp>
        <p:nvSpPr>
          <p:cNvPr id="8" name="Shape 6"/>
          <p:cNvSpPr/>
          <p:nvPr/>
        </p:nvSpPr>
        <p:spPr>
          <a:xfrm>
            <a:off x="658368" y="4892040"/>
            <a:ext cx="10872216" cy="1005840"/>
          </a:xfrm>
          <a:prstGeom prst="rect">
            <a:avLst/>
          </a:prstGeom>
          <a:solidFill>
            <a:srgbClr val="FFF8EE"/>
          </a:solidFill>
          <a:ln w="9525">
            <a:solidFill>
              <a:srgbClr val="E8D5B5"/>
            </a:solidFill>
            <a:prstDash val="solid"/>
          </a:ln>
        </p:spPr>
      </p:sp>
      <p:sp>
        <p:nvSpPr>
          <p:cNvPr id="9" name="Text 7"/>
          <p:cNvSpPr/>
          <p:nvPr/>
        </p:nvSpPr>
        <p:spPr>
          <a:xfrm>
            <a:off x="877824" y="4983480"/>
            <a:ext cx="10433304" cy="822960"/>
          </a:xfrm>
          <a:prstGeom prst="rect">
            <a:avLst/>
          </a:prstGeom>
          <a:noFill/>
          <a:ln/>
        </p:spPr>
        <p:txBody>
          <a:bodyPr wrap="square" rtlCol="0" anchor="ctr"/>
          <a:lstStyle/>
          <a:p>
            <a:pPr indent="0" marL="0">
              <a:buNone/>
            </a:pPr>
            <a:r>
              <a:rPr lang="en-US" sz="1250" i="1" dirty="0">
                <a:solidFill>
                  <a:srgbClr val="8A4B00"/>
                </a:solidFill>
              </a:rPr>
              <a:t>The trade AgentPulse makes: small discriminative models on local CPU, cheap enough to score every span, accepting narrower coverage than a general judge in exchange.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WHAT IT DOES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Four signals over every span</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2</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1691640"/>
                <a:gridCol w="3200400"/>
                <a:gridCol w="4206240"/>
                <a:gridCol w="17739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Signal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Question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Method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Maturity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the output supported by its evidence?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MiniLM cosine gate to DeBERTa-v3 NLI</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Beta</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Drift / ASI</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Has this agent shifted from its own baseline?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Embedding centroid distance, EMA and windowed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Beta</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Disagreement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Do two agents contradict each other?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Pairwise NLI within one trace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Experimental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Tool-claim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Does the claim match what the tool returned?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Regex extraction vs recorded tool result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Experimental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4160520"/>
            <a:ext cx="10872216" cy="274320"/>
          </a:xfrm>
          <a:prstGeom prst="rect">
            <a:avLst/>
          </a:prstGeom>
          <a:noFill/>
          <a:ln/>
        </p:spPr>
        <p:txBody>
          <a:bodyPr wrap="square" rtlCol="0" anchor="ctr"/>
          <a:lstStyle/>
          <a:p>
            <a:pPr indent="0" marL="0">
              <a:buNone/>
            </a:pPr>
            <a:r>
              <a:rPr lang="en-US" sz="1150" i="1" dirty="0">
                <a:solidFill>
                  <a:srgbClr val="5B6472"/>
                </a:solidFill>
              </a:rPr>
              <a:t>Maturity tiers are the project's own. Slide 16 states what each tier means in practice.</a:t>
            </a:r>
            <a:endParaRPr lang="en-US" sz="1150" dirty="0"/>
          </a:p>
        </p:txBody>
      </p:sp>
      <p:sp>
        <p:nvSpPr>
          <p:cNvPr id="9" name="Shape 6"/>
          <p:cNvSpPr/>
          <p:nvPr/>
        </p:nvSpPr>
        <p:spPr>
          <a:xfrm>
            <a:off x="658368" y="4709160"/>
            <a:ext cx="10872216" cy="914400"/>
          </a:xfrm>
          <a:prstGeom prst="rect">
            <a:avLst/>
          </a:prstGeom>
          <a:solidFill>
            <a:srgbClr val="FFF8EE"/>
          </a:solidFill>
          <a:ln w="9525">
            <a:solidFill>
              <a:srgbClr val="E8D5B5"/>
            </a:solidFill>
            <a:prstDash val="solid"/>
          </a:ln>
        </p:spPr>
      </p:sp>
      <p:sp>
        <p:nvSpPr>
          <p:cNvPr id="10" name="Text 7"/>
          <p:cNvSpPr/>
          <p:nvPr/>
        </p:nvSpPr>
        <p:spPr>
          <a:xfrm>
            <a:off x="877824" y="4800600"/>
            <a:ext cx="10433304" cy="731520"/>
          </a:xfrm>
          <a:prstGeom prst="rect">
            <a:avLst/>
          </a:prstGeom>
          <a:noFill/>
          <a:ln/>
        </p:spPr>
        <p:txBody>
          <a:bodyPr wrap="square" rtlCol="0" anchor="ctr"/>
          <a:lstStyle/>
          <a:p>
            <a:pPr indent="0" marL="0">
              <a:buNone/>
            </a:pPr>
            <a:r>
              <a:rPr lang="en-US" sz="1250" i="1" dirty="0">
                <a:solidFill>
                  <a:srgbClr val="8A4B00"/>
                </a:solidFill>
              </a:rPr>
              <a:t>Design constraint throughout: a value the system did not measure is never displayed as if it did. Unmeasured reads as unmeasured, not as zero and not as healthy.</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ARCHITECTURE</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Four processes, deliberately separated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3</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10872216" cy="3977640"/>
          </a:xfrm>
          <a:prstGeom prst="rect">
            <a:avLst/>
          </a:prstGeom>
          <a:solidFill>
            <a:srgbClr val="F4F6F9"/>
          </a:solidFill>
          <a:ln w="9525">
            <a:solidFill>
              <a:srgbClr val="D8DCE3"/>
            </a:solidFill>
            <a:prstDash val="solid"/>
          </a:ln>
        </p:spPr>
      </p:sp>
      <p:sp>
        <p:nvSpPr>
          <p:cNvPr id="8" name="Text 6"/>
          <p:cNvSpPr/>
          <p:nvPr/>
        </p:nvSpPr>
        <p:spPr>
          <a:xfrm>
            <a:off x="859536" y="1746504"/>
            <a:ext cx="10469880" cy="3685032"/>
          </a:xfrm>
          <a:prstGeom prst="rect">
            <a:avLst/>
          </a:prstGeom>
          <a:noFill/>
          <a:ln/>
        </p:spPr>
        <p:txBody>
          <a:bodyPr wrap="square" rtlCol="0" anchor="t"/>
          <a:lstStyle/>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Agent pipeline  (LangGraph / CrewAI / LangChain / plain Python)</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SDK: buffers spans, flushes in batches, fails open</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v</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FastAPI ingest API      |  POST /v1/ingest -&gt; 202 Accepted</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loads no ML models      |  validate, dedupe, persist, enqueue</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evaluation_jobs (SQLite)       | REST + WebSocket</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v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Evaluation worker       |     |  React dashboard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MiniLM + DeBERTa (ONNX) |     |  polls every 10 s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leases, retries, scores |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v</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SQLite (WAL) - 11 tables</a:t>
            </a:r>
            <a:endParaRPr lang="en-US" sz="1100" dirty="0"/>
          </a:p>
        </p:txBody>
      </p:sp>
      <p:sp>
        <p:nvSpPr>
          <p:cNvPr id="9" name="Shape 7"/>
          <p:cNvSpPr/>
          <p:nvPr/>
        </p:nvSpPr>
        <p:spPr>
          <a:xfrm>
            <a:off x="658368" y="5760720"/>
            <a:ext cx="10872216" cy="658368"/>
          </a:xfrm>
          <a:prstGeom prst="rect">
            <a:avLst/>
          </a:prstGeom>
          <a:solidFill>
            <a:srgbClr val="FFF8EE"/>
          </a:solidFill>
          <a:ln w="9525">
            <a:solidFill>
              <a:srgbClr val="E8D5B5"/>
            </a:solidFill>
            <a:prstDash val="solid"/>
          </a:ln>
        </p:spPr>
      </p:sp>
      <p:sp>
        <p:nvSpPr>
          <p:cNvPr id="10" name="Text 8"/>
          <p:cNvSpPr/>
          <p:nvPr/>
        </p:nvSpPr>
        <p:spPr>
          <a:xfrm>
            <a:off x="877824" y="5852160"/>
            <a:ext cx="10433304" cy="475488"/>
          </a:xfrm>
          <a:prstGeom prst="rect">
            <a:avLst/>
          </a:prstGeom>
          <a:noFill/>
          <a:ln/>
        </p:spPr>
        <p:txBody>
          <a:bodyPr wrap="square" rtlCol="0" anchor="ctr"/>
          <a:lstStyle/>
          <a:p>
            <a:pPr indent="0" marL="0">
              <a:buNone/>
            </a:pPr>
            <a:r>
              <a:rPr lang="en-US" sz="1250" i="1" dirty="0">
                <a:solidFill>
                  <a:srgbClr val="8A4B00"/>
                </a:solidFill>
              </a:rPr>
              <a:t>The API holds no models: loading them cost ~1.24 GB resident and ~20 s of startup for a capability no route used.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END-TO-END FLOW</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From agent call to alert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4</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502920"/>
                <a:gridCol w="1737360"/>
                <a:gridCol w="8631936"/>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What happens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Instrument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 decorator or adapter captures inputs, outputs, timing, tool name and tool result.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Redact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Privacy filter applies regex redaction in the agent process, before anything leaves it.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Buffer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Spans batch in memory; transport failures are swallowed so telemetry cannot break the pipeline.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Ingest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Validate, upsert the trace, write spans, enqueue one evaluation job per span.</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Lease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 worker atomically claims a job with a 120-second lease and an attempt counter.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Evaluate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Four signals run; a weighted composite risk score is aggregated.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Persist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Evaluation and drift rows written idempotently, keyed on span id.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Alert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Threshold rules fire, subject to a 900 s cooldown and a 50/hour cap.</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THE SDK</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Observability must not break what it observes</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5</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6126480" cy="3200400"/>
          </a:xfrm>
          <a:prstGeom prst="rect">
            <a:avLst/>
          </a:prstGeom>
          <a:solidFill>
            <a:srgbClr val="F4F6F9"/>
          </a:solidFill>
          <a:ln w="9525">
            <a:solidFill>
              <a:srgbClr val="D8DCE3"/>
            </a:solidFill>
            <a:prstDash val="solid"/>
          </a:ln>
        </p:spPr>
      </p:sp>
      <p:sp>
        <p:nvSpPr>
          <p:cNvPr id="8" name="Text 6"/>
          <p:cNvSpPr/>
          <p:nvPr/>
        </p:nvSpPr>
        <p:spPr>
          <a:xfrm>
            <a:off x="859536" y="1746504"/>
            <a:ext cx="5724144" cy="2907792"/>
          </a:xfrm>
          <a:prstGeom prst="rect">
            <a:avLst/>
          </a:prstGeom>
          <a:noFill/>
          <a:ln/>
        </p:spPr>
        <p:txBody>
          <a:bodyPr wrap="square" rtlCol="0" anchor="t"/>
          <a:lstStyle/>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from agentpulse import AgentPulse</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pulse = AgentPulse(</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endpoint="http://localhost:8000",</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api_key="your-api-key",</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service_name="production-swarms",</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@pulse.monitor(agent_id="sql_synthesizer", role="synthesizer")</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def run_agent_pipeline(user_query: str):</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schema = fetch_warehouse_schema()</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sql = generate_sql(user_query, schema)</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return validate_and_execute(sql)</a:t>
            </a:r>
            <a:endParaRPr lang="en-US" sz="1150" dirty="0"/>
          </a:p>
        </p:txBody>
      </p:sp>
      <p:sp>
        <p:nvSpPr>
          <p:cNvPr id="9" name="Text 7"/>
          <p:cNvSpPr/>
          <p:nvPr/>
        </p:nvSpPr>
        <p:spPr>
          <a:xfrm>
            <a:off x="7040880" y="1645920"/>
            <a:ext cx="4480560" cy="3200400"/>
          </a:xfrm>
          <a:prstGeom prst="rect">
            <a:avLst/>
          </a:prstGeom>
          <a:noFill/>
          <a:ln/>
        </p:spPr>
        <p:txBody>
          <a:bodyPr wrap="square" rtlCol="0" anchor="ctr"/>
          <a:lstStyle/>
          <a:p>
            <a:pPr marL="342900" indent="-342900">
              <a:lnSpc>
                <a:spcPct val="132000"/>
              </a:lnSpc>
              <a:spcAft>
                <a:spcPts val="800"/>
              </a:spcAft>
              <a:buSzPct val="100000"/>
              <a:buChar char="•"/>
            </a:pPr>
            <a:r>
              <a:rPr lang="en-US" sz="1300" dirty="0">
                <a:solidFill>
                  <a:srgbClr val="14171F"/>
                </a:solidFill>
              </a:rPr>
              <a:t>Fails open by default: a collector that is down is swallowed, never raised into the agent.</a:t>
            </a:r>
            <a:endParaRPr lang="en-US" sz="1300" dirty="0"/>
          </a:p>
          <a:p>
            <a:pPr marL="342900" indent="-342900">
              <a:lnSpc>
                <a:spcPct val="132000"/>
              </a:lnSpc>
              <a:spcAft>
                <a:spcPts val="800"/>
              </a:spcAft>
              <a:buSzPct val="100000"/>
              <a:buChar char="•"/>
            </a:pPr>
            <a:r>
              <a:rPr lang="en-US" sz="1300" dirty="0">
                <a:solidFill>
                  <a:srgbClr val="14171F"/>
                </a:solidFill>
              </a:rPr>
              <a:t>Batched async transport over aiohttp.</a:t>
            </a:r>
            <a:endParaRPr lang="en-US" sz="1300" dirty="0"/>
          </a:p>
          <a:p>
            <a:pPr marL="342900" indent="-342900">
              <a:lnSpc>
                <a:spcPct val="132000"/>
              </a:lnSpc>
              <a:spcAft>
                <a:spcPts val="800"/>
              </a:spcAft>
              <a:buSzPct val="100000"/>
              <a:buChar char="•"/>
            </a:pPr>
            <a:r>
              <a:rPr lang="en-US" sz="1300" dirty="0">
                <a:solidFill>
                  <a:srgbClr val="14171F"/>
                </a:solidFill>
              </a:rPr>
              <a:t>Prompt capture is opt-in; without it spans carry structure and hashes, not text.</a:t>
            </a:r>
            <a:endParaRPr lang="en-US" sz="1300" dirty="0"/>
          </a:p>
          <a:p>
            <a:pPr marL="342900" indent="-342900">
              <a:lnSpc>
                <a:spcPct val="132000"/>
              </a:lnSpc>
              <a:spcAft>
                <a:spcPts val="800"/>
              </a:spcAft>
              <a:buSzPct val="100000"/>
              <a:buChar char="•"/>
            </a:pPr>
            <a:r>
              <a:rPr lang="en-US" sz="1300" dirty="0">
                <a:solidFill>
                  <a:srgbClr val="14171F"/>
                </a:solidFill>
              </a:rPr>
              <a:t>Redaction runs in your process, before the wire.</a:t>
            </a:r>
            <a:endParaRPr lang="en-US" sz="1300" dirty="0"/>
          </a:p>
          <a:p>
            <a:pPr marL="342900" indent="-342900">
              <a:lnSpc>
                <a:spcPct val="132000"/>
              </a:lnSpc>
              <a:spcAft>
                <a:spcPts val="800"/>
              </a:spcAft>
              <a:buSzPct val="100000"/>
              <a:buChar char="•"/>
            </a:pPr>
            <a:r>
              <a:rPr lang="en-US" sz="1300" dirty="0">
                <a:solidFill>
                  <a:srgbClr val="14171F"/>
                </a:solidFill>
              </a:rPr>
              <a:t>Adapters: LangGraph, CrewAI, LangChain. Explicit wrappers, not monkey-patching.</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DURABILITY</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Exactly-once evaluation without a broker</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6</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58368" y="1554480"/>
          <a:ext cx="10872216" cy="914400"/>
        </p:xfrm>
        <a:graphic>
          <a:graphicData uri="http://schemas.openxmlformats.org/drawingml/2006/table">
            <a:tbl>
              <a:tblPr/>
              <a:tblGrid>
                <a:gridCol w="2011680"/>
                <a:gridCol w="88605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State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Meaning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queued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Written, waiting for a worker.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running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Leased by a worker; the lease carries an expiry.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succeeded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Evaluated and persisted.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failed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Attempt failed; returns to queued while attempts remain.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dead_letter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Exhausted three attempts; will not be retried.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4160520"/>
            <a:ext cx="10872216" cy="1554480"/>
          </a:xfrm>
          <a:prstGeom prst="rect">
            <a:avLst/>
          </a:prstGeom>
          <a:noFill/>
          <a:ln/>
        </p:spPr>
        <p:txBody>
          <a:bodyPr wrap="square" rtlCol="0" anchor="ctr"/>
          <a:lstStyle/>
          <a:p>
            <a:pPr marL="342900" indent="-342900">
              <a:lnSpc>
                <a:spcPct val="132000"/>
              </a:lnSpc>
              <a:spcAft>
                <a:spcPts val="800"/>
              </a:spcAft>
              <a:buSzPct val="100000"/>
              <a:buChar char="•"/>
            </a:pPr>
            <a:r>
              <a:rPr lang="en-US" sz="1350" dirty="0">
                <a:solidFill>
                  <a:srgbClr val="14171F"/>
                </a:solidFill>
              </a:rPr>
              <a:t>A worker holds a 120-second lease. If it dies mid-evaluation the lease expires and the job is reclaimed.</a:t>
            </a:r>
            <a:endParaRPr lang="en-US" sz="1350" dirty="0"/>
          </a:p>
          <a:p>
            <a:pPr marL="342900" indent="-342900">
              <a:lnSpc>
                <a:spcPct val="132000"/>
              </a:lnSpc>
              <a:spcAft>
                <a:spcPts val="800"/>
              </a:spcAft>
              <a:buSzPct val="100000"/>
              <a:buChar char="•"/>
            </a:pPr>
            <a:r>
              <a:rPr lang="en-US" sz="1350" dirty="0">
                <a:solidFill>
                  <a:srgbClr val="14171F"/>
                </a:solidFill>
              </a:rPr>
              <a:t>Persistence is keyed on span id and no-ops if an evaluation exists, so a replayed job cannot double-write.</a:t>
            </a:r>
            <a:endParaRPr lang="en-US" sz="1350" dirty="0"/>
          </a:p>
          <a:p>
            <a:pPr marL="342900" indent="-342900">
              <a:lnSpc>
                <a:spcPct val="132000"/>
              </a:lnSpc>
              <a:spcAft>
                <a:spcPts val="800"/>
              </a:spcAft>
              <a:buSzPct val="100000"/>
              <a:buChar char="•"/>
            </a:pPr>
            <a:r>
              <a:rPr lang="en-US" sz="1350" dirty="0">
                <a:solidFill>
                  <a:srgbClr val="14171F"/>
                </a:solidFill>
              </a:rPr>
              <a:t>Covered by a crash-recovery test that kills a worker mid-evaluation and asserts exactly one result.</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EVALUATION</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Cheap model first, expensive model only when unsure</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7</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10872216" cy="3200400"/>
          </a:xfrm>
          <a:prstGeom prst="rect">
            <a:avLst/>
          </a:prstGeom>
          <a:solidFill>
            <a:srgbClr val="F4F6F9"/>
          </a:solidFill>
          <a:ln w="9525">
            <a:solidFill>
              <a:srgbClr val="D8DCE3"/>
            </a:solidFill>
            <a:prstDash val="solid"/>
          </a:ln>
        </p:spPr>
      </p:sp>
      <p:sp>
        <p:nvSpPr>
          <p:cNvPr id="8" name="Text 6"/>
          <p:cNvSpPr/>
          <p:nvPr/>
        </p:nvSpPr>
        <p:spPr>
          <a:xfrm>
            <a:off x="859536" y="1746504"/>
            <a:ext cx="10469880" cy="2907792"/>
          </a:xfrm>
          <a:prstGeom prst="rect">
            <a:avLst/>
          </a:prstGeom>
          <a:noFill/>
          <a:ln/>
        </p:spPr>
        <p:txBody>
          <a:bodyPr wrap="square" rtlCol="0" anchor="t"/>
          <a:lstStyle/>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span (input_summary, output_summary)</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v</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Stage 1 - MiniLM-L6-v2 embeddings, cosine similarity     ~27.8 ms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  cosine &gt; 0.85  --&gt;  accept as grounded, stop</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v  otherwise escalate</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Stage 2 - DeBERTa-v3-small cross-encoder NLI             ~188 ms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entailment / contradiction / neutral</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grounding_risk in [0, 1]</a:t>
            </a:r>
            <a:endParaRPr lang="en-US" sz="1200" dirty="0"/>
          </a:p>
        </p:txBody>
      </p:sp>
      <p:sp>
        <p:nvSpPr>
          <p:cNvPr id="9" name="Text 7"/>
          <p:cNvSpPr/>
          <p:nvPr/>
        </p:nvSpPr>
        <p:spPr>
          <a:xfrm>
            <a:off x="658368" y="5029200"/>
            <a:ext cx="10872216" cy="1097280"/>
          </a:xfrm>
          <a:prstGeom prst="rect">
            <a:avLst/>
          </a:prstGeom>
          <a:noFill/>
          <a:ln/>
        </p:spPr>
        <p:txBody>
          <a:bodyPr wrap="square" rtlCol="0" anchor="ctr"/>
          <a:lstStyle/>
          <a:p>
            <a:pPr marL="342900" indent="-342900">
              <a:lnSpc>
                <a:spcPct val="132000"/>
              </a:lnSpc>
              <a:spcAft>
                <a:spcPts val="800"/>
              </a:spcAft>
              <a:buSzPct val="100000"/>
              <a:buChar char="•"/>
            </a:pPr>
            <a:r>
              <a:rPr lang="en-US" sz="1350" dirty="0">
                <a:solidFill>
                  <a:srgbClr val="14171F"/>
                </a:solidFill>
              </a:rPr>
              <a:t>Both models run on local CPU through ONNX Runtime, with a PyTorch fallback. No prompt text leaves the host.</a:t>
            </a:r>
            <a:endParaRPr lang="en-US" sz="1350" dirty="0"/>
          </a:p>
          <a:p>
            <a:pPr marL="342900" indent="-342900">
              <a:lnSpc>
                <a:spcPct val="132000"/>
              </a:lnSpc>
              <a:spcAft>
                <a:spcPts val="800"/>
              </a:spcAft>
              <a:buSzPct val="100000"/>
              <a:buChar char="•"/>
            </a:pPr>
            <a:r>
              <a:rPr lang="en-US" sz="1350" dirty="0">
                <a:solidFill>
                  <a:srgbClr val="14171F"/>
                </a:solidFill>
              </a:rPr>
              <a:t>Thresholds picked on a 21-case dev split, applied unchanged to a 30-case held-out test split.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MEASURED RESULTS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Ablation on the held-out test split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8</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3657600"/>
                <a:gridCol w="1828800"/>
                <a:gridCol w="1828800"/>
                <a:gridCol w="1737360"/>
                <a:gridCol w="1819656"/>
              </a:tblGrid>
              <a:tr h="0">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Configuration</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Precision</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Recall</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Latency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MiniLM gate only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0.733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0.846</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0.786</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27.8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DeBERTa NLI only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0.929</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0.963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188.1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Cascade (shipped)</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0.929</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0.963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215.9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3200400"/>
            <a:ext cx="10872216" cy="274320"/>
          </a:xfrm>
          <a:prstGeom prst="rect">
            <a:avLst/>
          </a:prstGeom>
          <a:noFill/>
          <a:ln/>
        </p:spPr>
        <p:txBody>
          <a:bodyPr wrap="square" rtlCol="0" anchor="ctr"/>
          <a:lstStyle/>
          <a:p>
            <a:pPr indent="0" marL="0">
              <a:buNone/>
            </a:pPr>
            <a:r>
              <a:rPr lang="en-US" sz="1250" dirty="0">
                <a:solidFill>
                  <a:srgbClr val="5B6472"/>
                </a:solidFill>
              </a:rPr>
              <a:t>Dataset v1.0_test, 30 cases.  13 TP · 1 FP · 0 FN · 16 TN.  FPR 0.059, FNR 0.000.</a:t>
            </a:r>
            <a:endParaRPr lang="en-US" sz="1250" dirty="0"/>
          </a:p>
        </p:txBody>
      </p:sp>
      <p:sp>
        <p:nvSpPr>
          <p:cNvPr id="9" name="Shape 6"/>
          <p:cNvSpPr/>
          <p:nvPr/>
        </p:nvSpPr>
        <p:spPr>
          <a:xfrm>
            <a:off x="658368" y="3703320"/>
            <a:ext cx="10872216" cy="1234440"/>
          </a:xfrm>
          <a:prstGeom prst="rect">
            <a:avLst/>
          </a:prstGeom>
          <a:solidFill>
            <a:srgbClr val="FFF8EE"/>
          </a:solidFill>
          <a:ln w="9525">
            <a:solidFill>
              <a:srgbClr val="E8D5B5"/>
            </a:solidFill>
            <a:prstDash val="solid"/>
          </a:ln>
        </p:spPr>
      </p:sp>
      <p:sp>
        <p:nvSpPr>
          <p:cNvPr id="10" name="Text 7"/>
          <p:cNvSpPr/>
          <p:nvPr/>
        </p:nvSpPr>
        <p:spPr>
          <a:xfrm>
            <a:off x="877824" y="3794760"/>
            <a:ext cx="10433304" cy="1051560"/>
          </a:xfrm>
          <a:prstGeom prst="rect">
            <a:avLst/>
          </a:prstGeom>
          <a:noFill/>
          <a:ln/>
        </p:spPr>
        <p:txBody>
          <a:bodyPr wrap="square" rtlCol="0" anchor="ctr"/>
          <a:lstStyle/>
          <a:p>
            <a:pPr indent="0" marL="0">
              <a:buNone/>
            </a:pPr>
            <a:r>
              <a:rPr lang="en-US" sz="1250" i="1" dirty="0">
                <a:solidFill>
                  <a:srgbClr val="8A4B00"/>
                </a:solidFill>
              </a:rPr>
              <a:t>Read honestly: on this benchmark the cascade is no more accurate than DeBERTa alone and is 28 ms slower, because nearly every adversarial case escalates past the gate. The cascade buys throughput on easy traffic, not accuracy. Adding disagreement changed nothing; adding drift cut precision to 0.448.</a:t>
            </a:r>
            <a:endParaRPr lang="en-US" sz="1250" dirty="0"/>
          </a:p>
        </p:txBody>
      </p:sp>
      <p:sp>
        <p:nvSpPr>
          <p:cNvPr id="11" name="Text 8"/>
          <p:cNvSpPr/>
          <p:nvPr/>
        </p:nvSpPr>
        <p:spPr>
          <a:xfrm>
            <a:off x="658368" y="5120640"/>
            <a:ext cx="10872216" cy="320040"/>
          </a:xfrm>
          <a:prstGeom prst="rect">
            <a:avLst/>
          </a:prstGeom>
          <a:noFill/>
          <a:ln/>
        </p:spPr>
        <p:txBody>
          <a:bodyPr wrap="square" rtlCol="0" anchor="ctr"/>
          <a:lstStyle/>
          <a:p>
            <a:pPr indent="0" marL="0">
              <a:buNone/>
            </a:pPr>
            <a:r>
              <a:rPr lang="en-US" sz="1200" i="1" dirty="0">
                <a:solidFill>
                  <a:srgbClr val="5B6472"/>
                </a:solidFill>
              </a:rPr>
              <a:t>Thirty cases establishes that the pipeline works at a chosen operating point. It does not establish generalisation.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DRIFT</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Two metrics that are easy to confuse</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9</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2377440"/>
                <a:gridCol w="3840480"/>
                <a:gridCol w="4654296"/>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Compares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Used for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One output against the agent's EMA centroid.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Per-span spike. On 500 real sessions it flagged 91.7%, so it does NOT drive alerts.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window_centroid_distance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Mean of a 12-sample window against a 20-sample baseline pool.</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The sustained signal DRIFT_DETECTED fires on, at threshold 0.300.</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Shape 5"/>
          <p:cNvSpPr/>
          <p:nvPr/>
        </p:nvSpPr>
        <p:spPr>
          <a:xfrm>
            <a:off x="658368" y="3886200"/>
            <a:ext cx="10872216" cy="1188720"/>
          </a:xfrm>
          <a:prstGeom prst="rect">
            <a:avLst/>
          </a:prstGeom>
          <a:solidFill>
            <a:srgbClr val="F4F6F9"/>
          </a:solidFill>
          <a:ln w="9525">
            <a:solidFill>
              <a:srgbClr val="D8DCE3"/>
            </a:solidFill>
            <a:prstDash val="solid"/>
          </a:ln>
        </p:spPr>
      </p:sp>
      <p:sp>
        <p:nvSpPr>
          <p:cNvPr id="9" name="Text 6"/>
          <p:cNvSpPr/>
          <p:nvPr/>
        </p:nvSpPr>
        <p:spPr>
          <a:xfrm>
            <a:off x="859536" y="4032504"/>
            <a:ext cx="10469880" cy="896112"/>
          </a:xfrm>
          <a:prstGeom prst="rect">
            <a:avLst/>
          </a:prstGeom>
          <a:noFill/>
          <a:ln/>
        </p:spPr>
        <p:txBody>
          <a:bodyPr wrap="square" rtlCol="0" anchor="t"/>
          <a:lstStyle/>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ASI = 100 * sum(w_i * s_i) / sum(w_i)</a:t>
            </a:r>
            <a:endParaRPr lang="en-US" sz="1100" dirty="0"/>
          </a:p>
          <a:p>
            <a:pPr indent="0" marL="0">
              <a:lnSpc>
                <a:spcPct val="116000"/>
              </a:lnSpc>
              <a:buNone/>
            </a:pP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s = max(0, 1 - centroid_distance)     w = 0.35     s = max(0, 1 - 2*quality_drift)     w = 0.30</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s = max(0, 1 - 5*error_rate_delta)    w = 0.20     s = max(0, 1 - tool_drift)          w = 0.15</a:t>
            </a:r>
            <a:endParaRPr lang="en-US" sz="1100" dirty="0"/>
          </a:p>
        </p:txBody>
      </p:sp>
      <p:sp>
        <p:nvSpPr>
          <p:cNvPr id="10" name="Text 7"/>
          <p:cNvSpPr/>
          <p:nvPr/>
        </p:nvSpPr>
        <p:spPr>
          <a:xfrm>
            <a:off x="658368" y="5257800"/>
            <a:ext cx="10872216" cy="457200"/>
          </a:xfrm>
          <a:prstGeom prst="rect">
            <a:avLst/>
          </a:prstGeom>
          <a:noFill/>
          <a:ln/>
        </p:spPr>
        <p:txBody>
          <a:bodyPr wrap="square" rtlCol="0" anchor="ctr"/>
          <a:lstStyle/>
          <a:p>
            <a:pPr indent="0" marL="0">
              <a:buNone/>
            </a:pPr>
            <a:r>
              <a:rPr lang="en-US" sz="1250" dirty="0">
                <a:solidFill>
                  <a:srgbClr val="5B6472"/>
                </a:solidFill>
              </a:rPr>
              <a:t>An agent needs 20 baseline plus 12 window samples - 32 evaluated spans - before a sustained value exists at all. Until then it is null.</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VERIFICATION</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Driving the sustained-drift path end to end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10</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481328"/>
            <a:ext cx="10872216" cy="274320"/>
          </a:xfrm>
          <a:prstGeom prst="rect">
            <a:avLst/>
          </a:prstGeom>
          <a:noFill/>
          <a:ln/>
        </p:spPr>
        <p:txBody>
          <a:bodyPr wrap="square" rtlCol="0" anchor="ctr"/>
          <a:lstStyle/>
          <a:p>
            <a:pPr indent="0" marL="0">
              <a:buNone/>
            </a:pPr>
            <a:r>
              <a:rPr lang="en-US" sz="1350" dirty="0">
                <a:solidFill>
                  <a:srgbClr val="14171F"/>
                </a:solidFill>
              </a:rPr>
              <a:t>A fresh agent was given 20 spans on one topic, then 14 on an unrelated one.</a:t>
            </a:r>
            <a:endParaRPr lang="en-US" sz="1350" dirty="0"/>
          </a:p>
        </p:txBody>
      </p:sp>
      <p:sp>
        <p:nvSpPr>
          <p:cNvPr id="8" name="Shape 6"/>
          <p:cNvSpPr/>
          <p:nvPr/>
        </p:nvSpPr>
        <p:spPr>
          <a:xfrm>
            <a:off x="658368" y="1901952"/>
            <a:ext cx="10872216" cy="2743200"/>
          </a:xfrm>
          <a:prstGeom prst="rect">
            <a:avLst/>
          </a:prstGeom>
          <a:solidFill>
            <a:srgbClr val="F4F6F9"/>
          </a:solidFill>
          <a:ln w="9525">
            <a:solidFill>
              <a:srgbClr val="D8DCE3"/>
            </a:solidFill>
            <a:prstDash val="solid"/>
          </a:ln>
        </p:spPr>
      </p:sp>
      <p:sp>
        <p:nvSpPr>
          <p:cNvPr id="9" name="Text 7"/>
          <p:cNvSpPr/>
          <p:nvPr/>
        </p:nvSpPr>
        <p:spPr>
          <a:xfrm>
            <a:off x="859536" y="2048256"/>
            <a:ext cx="10469880" cy="2450592"/>
          </a:xfrm>
          <a:prstGeom prst="rect">
            <a:avLst/>
          </a:prstGeom>
          <a:noFill/>
          <a:ln/>
        </p:spPr>
        <p:txBody>
          <a:bodyPr wrap="square" rtlCol="0" anchor="t"/>
          <a:lstStyle/>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after 20 baseline spans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baseline_size            = 19</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window_centroid_distance = null          &lt;- window not filled yet</a:t>
            </a:r>
            <a:endParaRPr lang="en-US" sz="1200" dirty="0"/>
          </a:p>
          <a:p>
            <a:pPr indent="0" marL="0">
              <a:lnSpc>
                <a:spcPct val="116000"/>
              </a:lnSpc>
              <a:buNone/>
            </a:pP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after 14 shifted spans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centroid_distance        = 0.3246        &lt;- per-span spike</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window_centroid_distance = 0.9294        &lt;- sustained</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stability_index          = 51.3          (was 100.0)</a:t>
            </a:r>
            <a:endParaRPr lang="en-US" sz="1200" dirty="0"/>
          </a:p>
          <a:p>
            <a:pPr indent="0" marL="0">
              <a:lnSpc>
                <a:spcPct val="116000"/>
              </a:lnSpc>
              <a:buNone/>
            </a:pP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DRIFT_DETECTED raised on 0.934, not on the 0.32 spike</a:t>
            </a:r>
            <a:endParaRPr lang="en-US" sz="1200" dirty="0"/>
          </a:p>
        </p:txBody>
      </p:sp>
      <p:sp>
        <p:nvSpPr>
          <p:cNvPr id="10" name="Shape 8"/>
          <p:cNvSpPr/>
          <p:nvPr/>
        </p:nvSpPr>
        <p:spPr>
          <a:xfrm>
            <a:off x="658368" y="4846320"/>
            <a:ext cx="10872216" cy="1143000"/>
          </a:xfrm>
          <a:prstGeom prst="rect">
            <a:avLst/>
          </a:prstGeom>
          <a:solidFill>
            <a:srgbClr val="FFF8EE"/>
          </a:solidFill>
          <a:ln w="9525">
            <a:solidFill>
              <a:srgbClr val="E8D5B5"/>
            </a:solidFill>
            <a:prstDash val="solid"/>
          </a:ln>
        </p:spPr>
      </p:sp>
      <p:sp>
        <p:nvSpPr>
          <p:cNvPr id="11" name="Text 9"/>
          <p:cNvSpPr/>
          <p:nvPr/>
        </p:nvSpPr>
        <p:spPr>
          <a:xfrm>
            <a:off x="877824" y="4937760"/>
            <a:ext cx="10433304" cy="960120"/>
          </a:xfrm>
          <a:prstGeom prst="rect">
            <a:avLst/>
          </a:prstGeom>
          <a:noFill/>
          <a:ln/>
        </p:spPr>
        <p:txBody>
          <a:bodyPr wrap="square" rtlCol="0" anchor="ctr"/>
          <a:lstStyle/>
          <a:p>
            <a:pPr indent="0" marL="0">
              <a:buNone/>
            </a:pPr>
            <a:r>
              <a:rPr lang="en-US" sz="1250" i="1" dirty="0">
                <a:solidFill>
                  <a:srgbClr val="8A4B00"/>
                </a:solidFill>
              </a:rPr>
              <a:t>This was the first time in the instance history that window_centroid_distance produced a value: it needs 32 evaluated spans for one agent, and the current window does not survive a worker restart. Every prior DRIFT_DETECTED row is a legacy spike-based alert.</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SCORING</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Weighted risk, threshold alerts</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11</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3566160" cy="914400"/>
        </p:xfrm>
        <a:graphic>
          <a:graphicData uri="http://schemas.openxmlformats.org/drawingml/2006/table">
            <a:tbl>
              <a:tblPr/>
              <a:tblGrid>
                <a:gridCol w="2194560"/>
                <a:gridCol w="1371600"/>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Signal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Weight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0.40</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Tool-claim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0.25</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Disagreement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0.20</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Semantic</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0.15</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4572000" y="1600200"/>
          <a:ext cx="7132320" cy="914400"/>
        </p:xfrm>
        <a:graphic>
          <a:graphicData uri="http://schemas.openxmlformats.org/drawingml/2006/table">
            <a:tbl>
              <a:tblPr/>
              <a:tblGrid>
                <a:gridCol w="3017520"/>
                <a:gridCol w="2651760"/>
                <a:gridCol w="1463040"/>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Alert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Field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Fires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HIGH_HALLUCINATION_RISK</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risk_score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GROUNDING_FAILURE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grounding_score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TOOL_CLAIM_MISMATCH</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tool_claim_score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DRIFT_DETECTED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window_centroid_distance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ASI_DROP</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stability_index</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&lt; 50</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9" name="Text 5"/>
          <p:cNvSpPr/>
          <p:nvPr/>
        </p:nvSpPr>
        <p:spPr>
          <a:xfrm>
            <a:off x="658368" y="4617720"/>
            <a:ext cx="10872216" cy="274320"/>
          </a:xfrm>
          <a:prstGeom prst="rect">
            <a:avLst/>
          </a:prstGeom>
          <a:noFill/>
          <a:ln/>
        </p:spPr>
        <p:txBody>
          <a:bodyPr wrap="square" rtlCol="0" anchor="ctr"/>
          <a:lstStyle/>
          <a:p>
            <a:pPr indent="0" marL="0">
              <a:buNone/>
            </a:pPr>
            <a:r>
              <a:rPr lang="en-US" sz="1250" dirty="0">
                <a:solidFill>
                  <a:srgbClr val="5B6472"/>
                </a:solidFill>
              </a:rPr>
              <a:t>Alert storms are bounded by a 900-second per-rule cooldown and a cap of 50 per hour.</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DASHBOARD</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The console reads the same API anyone would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12</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572768"/>
            <a:ext cx="10872216" cy="3657600"/>
          </a:xfrm>
          <a:prstGeom prst="rect">
            <a:avLst/>
          </a:prstGeom>
          <a:noFill/>
          <a:ln/>
        </p:spPr>
        <p:txBody>
          <a:bodyPr wrap="square" rtlCol="0" anchor="ctr"/>
          <a:lstStyle/>
          <a:p>
            <a:pPr marL="342900" indent="-342900">
              <a:lnSpc>
                <a:spcPct val="132000"/>
              </a:lnSpc>
              <a:spcAft>
                <a:spcPts val="800"/>
              </a:spcAft>
              <a:buSzPct val="100000"/>
              <a:buChar char="•"/>
            </a:pPr>
            <a:r>
              <a:rPr lang="en-US" sz="1400" dirty="0">
                <a:solidFill>
                  <a:srgbClr val="14171F"/>
                </a:solidFill>
              </a:rPr>
              <a:t>React 19 + TypeScript + Vite. A public page, and a product console that polls a live instance every 10 seconds.</a:t>
            </a:r>
            <a:endParaRPr lang="en-US" sz="1400" dirty="0"/>
          </a:p>
          <a:p>
            <a:pPr marL="342900" indent="-342900">
              <a:lnSpc>
                <a:spcPct val="132000"/>
              </a:lnSpc>
              <a:spcAft>
                <a:spcPts val="800"/>
              </a:spcAft>
              <a:buSzPct val="100000"/>
              <a:buChar char="•"/>
            </a:pPr>
            <a:r>
              <a:rPr lang="en-US" sz="1400" dirty="0">
                <a:solidFill>
                  <a:srgbClr val="14171F"/>
                </a:solidFill>
              </a:rPr>
              <a:t>Nine views: overview, agents, traces with a span waterfall, incidents, drift, replay, experiments, datasets, telemetry lab.</a:t>
            </a:r>
            <a:endParaRPr lang="en-US" sz="1400" dirty="0"/>
          </a:p>
          <a:p>
            <a:pPr marL="342900" indent="-342900">
              <a:lnSpc>
                <a:spcPct val="132000"/>
              </a:lnSpc>
              <a:spcAft>
                <a:spcPts val="800"/>
              </a:spcAft>
              <a:buSzPct val="100000"/>
              <a:buChar char="•"/>
            </a:pPr>
            <a:r>
              <a:rPr lang="en-US" sz="1400" dirty="0">
                <a:solidFill>
                  <a:srgbClr val="14171F"/>
                </a:solidFill>
              </a:rPr>
              <a:t>Waterfall bars are positioned from recorded start_time, so they read as a timeline rather than a bar chart.</a:t>
            </a:r>
            <a:endParaRPr lang="en-US" sz="1400" dirty="0"/>
          </a:p>
          <a:p>
            <a:pPr marL="342900" indent="-342900">
              <a:lnSpc>
                <a:spcPct val="132000"/>
              </a:lnSpc>
              <a:spcAft>
                <a:spcPts val="800"/>
              </a:spcAft>
              <a:buSzPct val="100000"/>
              <a:buChar char="•"/>
            </a:pPr>
            <a:r>
              <a:rPr lang="en-US" sz="1400" dirty="0">
                <a:solidFill>
                  <a:srgbClr val="14171F"/>
                </a:solidFill>
              </a:rPr>
              <a:t>Fields with no backend source - cost, per-agent tokens, framework, embedding coordinates - render as an em-dash, not a zero.</a:t>
            </a:r>
            <a:endParaRPr lang="en-US" sz="1400" dirty="0"/>
          </a:p>
          <a:p>
            <a:pPr marL="342900" indent="-342900">
              <a:lnSpc>
                <a:spcPct val="132000"/>
              </a:lnSpc>
              <a:spcAft>
                <a:spcPts val="800"/>
              </a:spcAft>
              <a:buSzPct val="100000"/>
              <a:buChar char="•"/>
            </a:pPr>
            <a:r>
              <a:rPr lang="en-US" sz="1400" dirty="0">
                <a:solidFill>
                  <a:srgbClr val="14171F"/>
                </a:solidFill>
              </a:rPr>
              <a:t>Engine readiness reads platform.state: with no worker alive it says failing, not a hardcoded online.</a:t>
            </a:r>
            <a:endParaRPr lang="en-US" sz="1400" dirty="0"/>
          </a:p>
          <a:p>
            <a:pPr marL="342900" indent="-342900">
              <a:lnSpc>
                <a:spcPct val="132000"/>
              </a:lnSpc>
              <a:spcAft>
                <a:spcPts val="800"/>
              </a:spcAft>
              <a:buSzPct val="100000"/>
              <a:buChar char="•"/>
            </a:pPr>
            <a:r>
              <a:rPr lang="en-US" sz="1400" dirty="0">
                <a:solidFill>
                  <a:srgbClr val="14171F"/>
                </a:solidFill>
              </a:rPr>
              <a:t>Agents whose drift windows have not filled read "warming up", not "stable".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OPERATIONS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The system reports on itself</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13</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2926080"/>
                <a:gridCol w="79461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Endpoint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Answers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/v1/health/live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the process up?</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/v1/health/ready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Can it serve traffic? (database reachable)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/v1/health/evaluator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any worker alive? Returns 503 when none, by contract.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/v1/platform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Composite state, queue depth by status, worker roster, timing percentiles.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3977640"/>
            <a:ext cx="10872216" cy="1737360"/>
          </a:xfrm>
          <a:prstGeom prst="rect">
            <a:avLst/>
          </a:prstGeom>
          <a:noFill/>
          <a:ln/>
        </p:spPr>
        <p:txBody>
          <a:bodyPr wrap="square" rtlCol="0" anchor="ctr"/>
          <a:lstStyle/>
          <a:p>
            <a:pPr marL="342900" indent="-342900">
              <a:lnSpc>
                <a:spcPct val="132000"/>
              </a:lnSpc>
              <a:spcAft>
                <a:spcPts val="800"/>
              </a:spcAft>
              <a:buSzPct val="100000"/>
              <a:buChar char="•"/>
            </a:pPr>
            <a:r>
              <a:rPr lang="en-US" sz="1350" dirty="0">
                <a:solidFill>
                  <a:srgbClr val="14171F"/>
                </a:solidFill>
              </a:rPr>
              <a:t>Ready and evaluator-ready are separate on purpose: the API can correctly accept spans while nothing is evaluating them.</a:t>
            </a:r>
            <a:endParaRPr lang="en-US" sz="1350" dirty="0"/>
          </a:p>
          <a:p>
            <a:pPr marL="342900" indent="-342900">
              <a:lnSpc>
                <a:spcPct val="132000"/>
              </a:lnSpc>
              <a:spcAft>
                <a:spcPts val="800"/>
              </a:spcAft>
              <a:buSzPct val="100000"/>
              <a:buChar char="•"/>
            </a:pPr>
            <a:r>
              <a:rPr lang="en-US" sz="1350" dirty="0">
                <a:solidFill>
                  <a:srgbClr val="14171F"/>
                </a:solidFill>
              </a:rPr>
              <a:t>Workers heartbeat; stale after 90 seconds. Retention deletes past retention_days and records what it removed.</a:t>
            </a:r>
            <a:endParaRPr lang="en-US" sz="1350" dirty="0"/>
          </a:p>
          <a:p>
            <a:pPr marL="342900" indent="-342900">
              <a:lnSpc>
                <a:spcPct val="132000"/>
              </a:lnSpc>
              <a:spcAft>
                <a:spcPts val="800"/>
              </a:spcAft>
              <a:buSzPct val="100000"/>
              <a:buChar char="•"/>
            </a:pPr>
            <a:r>
              <a:rPr lang="en-US" sz="1350" dirty="0">
                <a:solidFill>
                  <a:srgbClr val="14171F"/>
                </a:solidFill>
              </a:rPr>
              <a:t>docker compose builds the API and dashboard only - it defines no worker service, so a Compose deployment stores spans without evaluating them.</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OBSERVED</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What the running system produces</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14</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4754880" cy="914400"/>
        </p:xfrm>
        <a:graphic>
          <a:graphicData uri="http://schemas.openxmlformats.org/drawingml/2006/table">
            <a:tbl>
              <a:tblPr/>
              <a:tblGrid>
                <a:gridCol w="2743200"/>
                <a:gridCol w="2011680"/>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Measure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Value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Spans ingested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20,771</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Traces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20,623</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Evaluations written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1,328</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Alerts raised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98</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Agents tracked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51</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5852160" y="1600200"/>
          <a:ext cx="5852160" cy="914400"/>
        </p:xfrm>
        <a:graphic>
          <a:graphicData uri="http://schemas.openxmlformats.org/drawingml/2006/table">
            <a:tbl>
              <a:tblPr/>
              <a:tblGrid>
                <a:gridCol w="3291840"/>
                <a:gridCol w="2560320"/>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Check</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Python test suite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209 passed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Evaluation latency (live)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p50 253 ms, p95 497 ms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 F1 (v1.0_test)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0.963</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Dashboard typecheck / build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clean / passes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Frontend unit tests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none configured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9" name="Shape 5"/>
          <p:cNvSpPr/>
          <p:nvPr/>
        </p:nvSpPr>
        <p:spPr>
          <a:xfrm>
            <a:off x="658368" y="4892040"/>
            <a:ext cx="10872216" cy="731520"/>
          </a:xfrm>
          <a:prstGeom prst="rect">
            <a:avLst/>
          </a:prstGeom>
          <a:solidFill>
            <a:srgbClr val="FFF8EE"/>
          </a:solidFill>
          <a:ln w="9525">
            <a:solidFill>
              <a:srgbClr val="E8D5B5"/>
            </a:solidFill>
            <a:prstDash val="solid"/>
          </a:ln>
        </p:spPr>
      </p:sp>
      <p:sp>
        <p:nvSpPr>
          <p:cNvPr id="10" name="Text 6"/>
          <p:cNvSpPr/>
          <p:nvPr/>
        </p:nvSpPr>
        <p:spPr>
          <a:xfrm>
            <a:off x="877824" y="4983480"/>
            <a:ext cx="10433304" cy="548640"/>
          </a:xfrm>
          <a:prstGeom prst="rect">
            <a:avLst/>
          </a:prstGeom>
          <a:noFill/>
          <a:ln/>
        </p:spPr>
        <p:txBody>
          <a:bodyPr wrap="square" rtlCol="0" anchor="ctr"/>
          <a:lstStyle/>
          <a:p>
            <a:pPr indent="0" marL="0">
              <a:buNone/>
            </a:pPr>
            <a:r>
              <a:rPr lang="en-US" sz="1250" i="1" dirty="0">
                <a:solidFill>
                  <a:srgbClr val="8A4B00"/>
                </a:solidFill>
              </a:rPr>
              <a:t>Evaluation covers 1,328 of 20,771 stored spans, about 6 percent. Most predate the current worker or were load-test fill.</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HONEST LIMITS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What does not work yet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15</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3200400"/>
                <a:gridCol w="7671816"/>
              </a:tblGrid>
              <a:tr h="0">
                <a:tc>
                  <a:txBody>
                    <a:bodyPr/>
                    <a:lstStyle/>
                    <a:p>
                      <a:pPr indent="0" marL="0">
                        <a:buNone/>
                      </a:pPr>
                      <a:r>
                        <a:rPr lang="en-US" sz="1150" b="1" dirty="0">
                          <a:solidFill>
                            <a:srgbClr val="14171F"/>
                          </a:solidFill>
                          <a:latin typeface="Calibri" pitchFamily="34" charset="0"/>
                          <a:ea typeface="Calibri" pitchFamily="34" charset="-122"/>
                          <a:cs typeface="Calibri" pitchFamily="34" charset="-120"/>
                        </a:rPr>
                        <a:t>Limit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150" b="1" dirty="0">
                          <a:solidFill>
                            <a:srgbClr val="14171F"/>
                          </a:solidFill>
                          <a:latin typeface="Calibri" pitchFamily="34" charset="0"/>
                          <a:ea typeface="Calibri" pitchFamily="34" charset="-122"/>
                          <a:cs typeface="Calibri" pitchFamily="34" charset="-120"/>
                        </a:rPr>
                        <a:t>Detail</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Tool-claim signal is inert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result_count is never populated on the ingest path, so the count check returns early. Zero non-zero scores across 1,328 evaluations.</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Simulator scenario is dead code</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The tool_mismatch scenario computes a flag it never uses, so it emits the clean payload.</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Drift needs 32 samples per agent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Short-lived agents never produce a sustained value; the current window does not survive a restart.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Benchmark is small</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30 held-out cases. Enough to demonstrate the pipeline, not to claim generalisation.</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Not OpenTelemetry</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The span schema is custom. No OTel dependency, import or semantic-convention mapping.</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Single-node storage</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SQLite with WAL. Suited to self-hosted single-instance use, not multi-writer deployment.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NEXT</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Where the work goes next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16</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600200"/>
            <a:ext cx="10872216" cy="3291840"/>
          </a:xfrm>
          <a:prstGeom prst="rect">
            <a:avLst/>
          </a:prstGeom>
          <a:noFill/>
          <a:ln/>
        </p:spPr>
        <p:txBody>
          <a:bodyPr wrap="square" rtlCol="0" anchor="ctr"/>
          <a:lstStyle/>
          <a:p>
            <a:pPr marL="342900" indent="-342900">
              <a:lnSpc>
                <a:spcPct val="132000"/>
              </a:lnSpc>
              <a:spcAft>
                <a:spcPts val="800"/>
              </a:spcAft>
              <a:buSzPct val="100000"/>
              <a:buChar char="•"/>
            </a:pPr>
            <a:r>
              <a:rPr lang="en-US" sz="1500" dirty="0">
                <a:solidFill>
                  <a:srgbClr val="14171F"/>
                </a:solidFill>
              </a:rPr>
              <a:t>Populate result_count on the ingest path so the tool-claim signal can fire, and make the simulator scenario exercise it.</a:t>
            </a:r>
            <a:endParaRPr lang="en-US" sz="1500" dirty="0"/>
          </a:p>
          <a:p>
            <a:pPr marL="342900" indent="-342900">
              <a:lnSpc>
                <a:spcPct val="132000"/>
              </a:lnSpc>
              <a:spcAft>
                <a:spcPts val="800"/>
              </a:spcAft>
              <a:buSzPct val="100000"/>
              <a:buChar char="•"/>
            </a:pPr>
            <a:r>
              <a:rPr lang="en-US" sz="1500" dirty="0">
                <a:solidFill>
                  <a:srgbClr val="14171F"/>
                </a:solidFill>
              </a:rPr>
              <a:t>Persist the current drift window so sustained detection survives a restart.</a:t>
            </a:r>
            <a:endParaRPr lang="en-US" sz="1500" dirty="0"/>
          </a:p>
          <a:p>
            <a:pPr marL="342900" indent="-342900">
              <a:lnSpc>
                <a:spcPct val="132000"/>
              </a:lnSpc>
              <a:spcAft>
                <a:spcPts val="800"/>
              </a:spcAft>
              <a:buSzPct val="100000"/>
              <a:buChar char="•"/>
            </a:pPr>
            <a:r>
              <a:rPr lang="en-US" sz="1500" dirty="0">
                <a:solidFill>
                  <a:srgbClr val="14171F"/>
                </a:solidFill>
              </a:rPr>
              <a:t>Expand the benchmark past 30 cases and re-run the ablation before making any generalisation claim.</a:t>
            </a:r>
            <a:endParaRPr lang="en-US" sz="1500" dirty="0"/>
          </a:p>
          <a:p>
            <a:pPr marL="342900" indent="-342900">
              <a:lnSpc>
                <a:spcPct val="132000"/>
              </a:lnSpc>
              <a:spcAft>
                <a:spcPts val="800"/>
              </a:spcAft>
              <a:buSzPct val="100000"/>
              <a:buChar char="•"/>
            </a:pPr>
            <a:r>
              <a:rPr lang="en-US" sz="1500" dirty="0">
                <a:solidFill>
                  <a:srgbClr val="14171F"/>
                </a:solidFill>
              </a:rPr>
              <a:t>Add a frontend test framework; the console currently rests on type checking and manual verification.</a:t>
            </a:r>
            <a:endParaRPr lang="en-US" sz="1500" dirty="0"/>
          </a:p>
          <a:p>
            <a:pPr marL="342900" indent="-342900">
              <a:lnSpc>
                <a:spcPct val="132000"/>
              </a:lnSpc>
              <a:spcAft>
                <a:spcPts val="800"/>
              </a:spcAft>
              <a:buSzPct val="100000"/>
              <a:buChar char="•"/>
            </a:pPr>
            <a:r>
              <a:rPr lang="en-US" sz="1500" dirty="0">
                <a:solidFill>
                  <a:srgbClr val="14171F"/>
                </a:solidFill>
              </a:rPr>
              <a:t>Backfill evaluations for stored spans to lift coverage above six percent.</a:t>
            </a:r>
            <a:endParaRPr lang="en-US" sz="1500" dirty="0"/>
          </a:p>
        </p:txBody>
      </p:sp>
      <p:sp>
        <p:nvSpPr>
          <p:cNvPr id="8" name="Shape 6"/>
          <p:cNvSpPr/>
          <p:nvPr/>
        </p:nvSpPr>
        <p:spPr>
          <a:xfrm>
            <a:off x="658368" y="5029200"/>
            <a:ext cx="10872216" cy="868680"/>
          </a:xfrm>
          <a:prstGeom prst="rect">
            <a:avLst/>
          </a:prstGeom>
          <a:solidFill>
            <a:srgbClr val="FFF8EE"/>
          </a:solidFill>
          <a:ln w="9525">
            <a:solidFill>
              <a:srgbClr val="E8D5B5"/>
            </a:solidFill>
            <a:prstDash val="solid"/>
          </a:ln>
        </p:spPr>
      </p:sp>
      <p:sp>
        <p:nvSpPr>
          <p:cNvPr id="9" name="Text 7"/>
          <p:cNvSpPr/>
          <p:nvPr/>
        </p:nvSpPr>
        <p:spPr>
          <a:xfrm>
            <a:off x="877824" y="5120640"/>
            <a:ext cx="10433304" cy="685800"/>
          </a:xfrm>
          <a:prstGeom prst="rect">
            <a:avLst/>
          </a:prstGeom>
          <a:noFill/>
          <a:ln/>
        </p:spPr>
        <p:txBody>
          <a:bodyPr wrap="square" rtlCol="0" anchor="ctr"/>
          <a:lstStyle/>
          <a:p>
            <a:pPr indent="0" marL="0">
              <a:buNone/>
            </a:pPr>
            <a:r>
              <a:rPr lang="en-US" sz="1250" i="1" dirty="0">
                <a:solidFill>
                  <a:srgbClr val="8A4B00"/>
                </a:solidFill>
              </a:rPr>
              <a:t>The system works end to end and its measurements are reproducible. The gaps above are known, located in the code, and stated rather than hidden.</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 cy="6858000"/>
          </a:xfrm>
          <a:prstGeom prst="rect">
            <a:avLst/>
          </a:prstGeom>
          <a:solidFill>
            <a:srgbClr val="1F4FD8"/>
          </a:solidFill>
          <a:ln/>
        </p:spPr>
      </p:sp>
      <p:sp>
        <p:nvSpPr>
          <p:cNvPr id="3" name="Text 1"/>
          <p:cNvSpPr/>
          <p:nvPr/>
        </p:nvSpPr>
        <p:spPr>
          <a:xfrm>
            <a:off x="1005840" y="2377440"/>
            <a:ext cx="9144000" cy="822960"/>
          </a:xfrm>
          <a:prstGeom prst="rect">
            <a:avLst/>
          </a:prstGeom>
          <a:noFill/>
          <a:ln/>
        </p:spPr>
        <p:txBody>
          <a:bodyPr wrap="square" rtlCol="0" anchor="ctr"/>
          <a:lstStyle/>
          <a:p>
            <a:pPr indent="0" marL="0">
              <a:buNone/>
            </a:pPr>
            <a:r>
              <a:rPr lang="en-US" sz="3800" b="1" dirty="0">
                <a:solidFill>
                  <a:srgbClr val="14171F"/>
                </a:solidFill>
              </a:rPr>
              <a:t>AgentPulse</a:t>
            </a:r>
            <a:endParaRPr lang="en-US" sz="3800" dirty="0"/>
          </a:p>
        </p:txBody>
      </p:sp>
      <p:sp>
        <p:nvSpPr>
          <p:cNvPr id="4" name="Text 2"/>
          <p:cNvSpPr/>
          <p:nvPr/>
        </p:nvSpPr>
        <p:spPr>
          <a:xfrm>
            <a:off x="1005840" y="3246120"/>
            <a:ext cx="9144000" cy="457200"/>
          </a:xfrm>
          <a:prstGeom prst="rect">
            <a:avLst/>
          </a:prstGeom>
          <a:noFill/>
          <a:ln/>
        </p:spPr>
        <p:txBody>
          <a:bodyPr wrap="square" rtlCol="0" anchor="ctr"/>
          <a:lstStyle/>
          <a:p>
            <a:pPr indent="0" marL="0">
              <a:buNone/>
            </a:pPr>
            <a:r>
              <a:rPr lang="en-US" sz="1700" dirty="0">
                <a:solidFill>
                  <a:srgbClr val="5B6472"/>
                </a:solidFill>
              </a:rPr>
              <a:t>Every span evaluated. Nothing invented.</a:t>
            </a:r>
            <a:endParaRPr lang="en-US" sz="1700" dirty="0"/>
          </a:p>
        </p:txBody>
      </p:sp>
      <p:sp>
        <p:nvSpPr>
          <p:cNvPr id="5" name="Shape 3"/>
          <p:cNvSpPr/>
          <p:nvPr/>
        </p:nvSpPr>
        <p:spPr>
          <a:xfrm>
            <a:off x="1005840" y="3931920"/>
            <a:ext cx="4754880" cy="0"/>
          </a:xfrm>
          <a:prstGeom prst="line">
            <a:avLst/>
          </a:prstGeom>
          <a:noFill/>
          <a:ln w="15875">
            <a:solidFill>
              <a:srgbClr val="D8DCE3"/>
            </a:solidFill>
            <a:prstDash val="solid"/>
          </a:ln>
        </p:spPr>
      </p:sp>
      <p:sp>
        <p:nvSpPr>
          <p:cNvPr id="6" name="Text 4"/>
          <p:cNvSpPr/>
          <p:nvPr/>
        </p:nvSpPr>
        <p:spPr>
          <a:xfrm>
            <a:off x="1005840" y="4160520"/>
            <a:ext cx="5486400" cy="365760"/>
          </a:xfrm>
          <a:prstGeom prst="rect">
            <a:avLst/>
          </a:prstGeom>
          <a:noFill/>
          <a:ln/>
        </p:spPr>
        <p:txBody>
          <a:bodyPr wrap="square" rtlCol="0" anchor="ctr"/>
          <a:lstStyle/>
          <a:p>
            <a:pPr indent="0" marL="0">
              <a:buNone/>
            </a:pPr>
            <a:r>
              <a:rPr lang="en-US" sz="1400" b="1" dirty="0">
                <a:solidFill>
                  <a:srgbClr val="14171F"/>
                </a:solidFill>
              </a:rPr>
              <a:t>Questions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AgentPulse - Project Deck</dc:title>
  <dc:subject>PptxGenJS Presentation</dc:subject>
  <dc:creator>AgentPulse</dc:creator>
  <cp:lastModifiedBy>AgentPulse</cp:lastModifiedBy>
  <cp:revision>1</cp:revision>
  <dcterms:created xsi:type="dcterms:W3CDTF">2026-09-01T08:08:25Z</dcterms:created>
  <dcterms:modified xsi:type="dcterms:W3CDTF">2026-09-01T08:08:25Z</dcterms:modified>
</cp:coreProperties>
</file>