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148840"/>
            <a:ext cx="9144000" cy="914400"/>
          </a:xfrm>
          <a:prstGeom prst="rect">
            <a:avLst/>
          </a:prstGeom>
          <a:noFill/>
          <a:ln/>
        </p:spPr>
        <p:txBody>
          <a:bodyPr wrap="square" rtlCol="0" anchor="ctr"/>
          <a:lstStyle/>
          <a:p>
            <a:pPr indent="0" marL="0">
              <a:buNone/>
            </a:pPr>
            <a:r>
              <a:rPr lang="en-US" sz="4600" b="1" dirty="0">
                <a:solidFill>
                  <a:srgbClr val="14171F"/>
                </a:solidFill>
              </a:rPr>
              <a:t>AgentPulse</a:t>
            </a:r>
            <a:endParaRPr lang="en-US" sz="4600" dirty="0"/>
          </a:p>
        </p:txBody>
      </p:sp>
      <p:sp>
        <p:nvSpPr>
          <p:cNvPr id="4" name="Text 2"/>
          <p:cNvSpPr/>
          <p:nvPr/>
        </p:nvSpPr>
        <p:spPr>
          <a:xfrm>
            <a:off x="1005840" y="3063240"/>
            <a:ext cx="9692640" cy="640080"/>
          </a:xfrm>
          <a:prstGeom prst="rect">
            <a:avLst/>
          </a:prstGeom>
          <a:noFill/>
          <a:ln/>
        </p:spPr>
        <p:txBody>
          <a:bodyPr wrap="square" rtlCol="0" anchor="ctr"/>
          <a:lstStyle/>
          <a:p>
            <a:pPr indent="0" marL="0">
              <a:buNone/>
            </a:pPr>
            <a:r>
              <a:rPr lang="en-US" sz="1800" dirty="0">
                <a:solidFill>
                  <a:srgbClr val="5B6472"/>
                </a:solidFill>
              </a:rPr>
              <a:t>Continuous grounding and drift observability for multi-agent LLM systems</a:t>
            </a:r>
            <a:endParaRPr lang="en-US" sz="1800" dirty="0"/>
          </a:p>
        </p:txBody>
      </p:sp>
      <p:sp>
        <p:nvSpPr>
          <p:cNvPr id="5" name="Shape 3"/>
          <p:cNvSpPr/>
          <p:nvPr/>
        </p:nvSpPr>
        <p:spPr>
          <a:xfrm>
            <a:off x="1005840" y="3886200"/>
            <a:ext cx="4754880" cy="0"/>
          </a:xfrm>
          <a:prstGeom prst="line">
            <a:avLst/>
          </a:prstGeom>
          <a:noFill/>
          <a:ln w="15875">
            <a:solidFill>
              <a:srgbClr val="D8DCE3"/>
            </a:solidFill>
            <a:prstDash val="solid"/>
          </a:ln>
        </p:spPr>
      </p:sp>
      <p:sp>
        <p:nvSpPr>
          <p:cNvPr id="6" name="Text 4"/>
          <p:cNvSpPr/>
          <p:nvPr/>
        </p:nvSpPr>
        <p:spPr>
          <a:xfrm>
            <a:off x="1005840" y="4114800"/>
            <a:ext cx="9692640" cy="365760"/>
          </a:xfrm>
          <a:prstGeom prst="rect">
            <a:avLst/>
          </a:prstGeom>
          <a:noFill/>
          <a:ln/>
        </p:spPr>
        <p:txBody>
          <a:bodyPr wrap="square" rtlCol="0" anchor="ctr"/>
          <a:lstStyle/>
          <a:p>
            <a:pPr indent="0" marL="0">
              <a:buNone/>
            </a:pPr>
            <a:r>
              <a:rPr lang="en-US" sz="1300" dirty="0">
                <a:solidFill>
                  <a:srgbClr val="5B6472"/>
                </a:solidFill>
              </a:rPr>
              <a:t>Self-hosted  ·  every span evaluated, never sampled  ·  local CPU inference, no per-token cost</a:t>
            </a:r>
            <a:endParaRPr lang="en-US" sz="1300" dirty="0"/>
          </a:p>
        </p:txBody>
      </p:sp>
      <p:sp>
        <p:nvSpPr>
          <p:cNvPr id="7" name="Text 5"/>
          <p:cNvSpPr/>
          <p:nvPr/>
        </p:nvSpPr>
        <p:spPr>
          <a:xfrm>
            <a:off x="1005840" y="5120640"/>
            <a:ext cx="7315200" cy="274320"/>
          </a:xfrm>
          <a:prstGeom prst="rect">
            <a:avLst/>
          </a:prstGeom>
          <a:noFill/>
          <a:ln/>
        </p:spPr>
        <p:txBody>
          <a:bodyPr wrap="square" rtlCol="0" anchor="ctr"/>
          <a:lstStyle/>
          <a:p>
            <a:pPr indent="0" marL="0">
              <a:buNone/>
            </a:pPr>
            <a:r>
              <a:rPr lang="en-US" sz="1200" dirty="0">
                <a:solidFill>
                  <a:srgbClr val="5B6472"/>
                </a:solidFill>
              </a:rPr>
              <a:t>M.Tech project  ·  technical review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PROBLEM</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An agent can fail without anything breaking</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10896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A hallucinating agent returns HTTP 200, in fluent prose, on time. The failure is in the content, not the transport.</a:t>
            </a:r>
            <a:endParaRPr lang="en-US" sz="1500" dirty="0"/>
          </a:p>
          <a:p>
            <a:pPr marL="342900" indent="-342900">
              <a:lnSpc>
                <a:spcPct val="132000"/>
              </a:lnSpc>
              <a:spcAft>
                <a:spcPts val="800"/>
              </a:spcAft>
              <a:buSzPct val="100000"/>
              <a:buChar char="•"/>
            </a:pPr>
            <a:r>
              <a:rPr lang="en-US" sz="1500" dirty="0">
                <a:solidFill>
                  <a:srgbClr val="14171F"/>
                </a:solidFill>
              </a:rPr>
              <a:t>Errors compound: a weak retrieval becomes an asserted fact downstream. Each step is plausible; only the chain is wrong.</a:t>
            </a:r>
            <a:endParaRPr lang="en-US" sz="1500" dirty="0"/>
          </a:p>
          <a:p>
            <a:pPr marL="342900" indent="-342900">
              <a:lnSpc>
                <a:spcPct val="132000"/>
              </a:lnSpc>
              <a:spcAft>
                <a:spcPts val="800"/>
              </a:spcAft>
              <a:buSzPct val="100000"/>
              <a:buChar char="•"/>
            </a:pPr>
            <a:r>
              <a:rPr lang="en-US" sz="1500" dirty="0">
                <a:solidFill>
                  <a:srgbClr val="14171F"/>
                </a:solidFill>
              </a:rPr>
              <a:t>There is no stack trace. Nothing raises, so there is no line number to debug from.</a:t>
            </a:r>
            <a:endParaRPr lang="en-US" sz="1500" dirty="0"/>
          </a:p>
          <a:p>
            <a:pPr marL="342900" indent="-342900">
              <a:lnSpc>
                <a:spcPct val="132000"/>
              </a:lnSpc>
              <a:spcAft>
                <a:spcPts val="800"/>
              </a:spcAft>
              <a:buSzPct val="100000"/>
              <a:buChar char="•"/>
            </a:pPr>
            <a:r>
              <a:rPr lang="en-US" sz="1500" dirty="0">
                <a:solidFill>
                  <a:srgbClr val="14171F"/>
                </a:solidFill>
              </a:rPr>
              <a:t>The usual answer, LLM-as-a-judge, bills per token and adds seconds per span, so teams sample. Sampling is exactly how a rare hallucination goes unseen.</a:t>
            </a:r>
            <a:endParaRPr lang="en-US" sz="1500" dirty="0"/>
          </a:p>
        </p:txBody>
      </p:sp>
      <p:sp>
        <p:nvSpPr>
          <p:cNvPr id="8" name="Shape 6"/>
          <p:cNvSpPr/>
          <p:nvPr/>
        </p:nvSpPr>
        <p:spPr>
          <a:xfrm>
            <a:off x="658368" y="4892040"/>
            <a:ext cx="10872216" cy="1005840"/>
          </a:xfrm>
          <a:prstGeom prst="rect">
            <a:avLst/>
          </a:prstGeom>
          <a:solidFill>
            <a:srgbClr val="FFF8EE"/>
          </a:solidFill>
          <a:ln w="9525">
            <a:solidFill>
              <a:srgbClr val="E8D5B5"/>
            </a:solidFill>
            <a:prstDash val="solid"/>
          </a:ln>
        </p:spPr>
      </p:sp>
      <p:sp>
        <p:nvSpPr>
          <p:cNvPr id="9" name="Text 7"/>
          <p:cNvSpPr/>
          <p:nvPr/>
        </p:nvSpPr>
        <p:spPr>
          <a:xfrm>
            <a:off x="877824" y="4983480"/>
            <a:ext cx="10433304" cy="822960"/>
          </a:xfrm>
          <a:prstGeom prst="rect">
            <a:avLst/>
          </a:prstGeom>
          <a:noFill/>
          <a:ln/>
        </p:spPr>
        <p:txBody>
          <a:bodyPr wrap="square" rtlCol="0" anchor="ctr"/>
          <a:lstStyle/>
          <a:p>
            <a:pPr indent="0" marL="0">
              <a:buNone/>
            </a:pPr>
            <a:r>
              <a:rPr lang="en-US" sz="1250" i="1" dirty="0">
                <a:solidFill>
                  <a:srgbClr val="8A4B00"/>
                </a:solidFill>
              </a:rPr>
              <a:t>The trade AgentPulse makes: small discriminative models on local CPU, cheap enough to score every span, accepting narrower coverage than a general judge in exchange.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WHAT IT DOES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signals over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1691640"/>
                <a:gridCol w="3200400"/>
                <a:gridCol w="4206240"/>
                <a:gridCol w="17739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Maturity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output supported by its evidence?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MiniLM cosine gate to DeBERTa-v3 NLI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Drift / ASI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Has this agent shifted from its own baseline?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Embedding centroid distance, EMA and windowed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 two agents contradict each other?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Pairwise NLI within one trace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Does the claim match what the tool returned?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Regex extraction vs count parsed from the tool 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274320"/>
          </a:xfrm>
          <a:prstGeom prst="rect">
            <a:avLst/>
          </a:prstGeom>
          <a:noFill/>
          <a:ln/>
        </p:spPr>
        <p:txBody>
          <a:bodyPr wrap="square" rtlCol="0" anchor="ctr"/>
          <a:lstStyle/>
          <a:p>
            <a:pPr indent="0" marL="0">
              <a:buNone/>
            </a:pPr>
            <a:r>
              <a:rPr lang="en-US" sz="1150" i="1" dirty="0">
                <a:solidFill>
                  <a:srgbClr val="5B6472"/>
                </a:solidFill>
              </a:rPr>
              <a:t>Maturity tiers are the project's own. Slide 16 states what each tier means in practice.</a:t>
            </a:r>
            <a:endParaRPr lang="en-US" sz="1150" dirty="0"/>
          </a:p>
        </p:txBody>
      </p:sp>
      <p:sp>
        <p:nvSpPr>
          <p:cNvPr id="9" name="Shape 6"/>
          <p:cNvSpPr/>
          <p:nvPr/>
        </p:nvSpPr>
        <p:spPr>
          <a:xfrm>
            <a:off x="658368" y="4709160"/>
            <a:ext cx="10872216" cy="914400"/>
          </a:xfrm>
          <a:prstGeom prst="rect">
            <a:avLst/>
          </a:prstGeom>
          <a:solidFill>
            <a:srgbClr val="FFF8EE"/>
          </a:solidFill>
          <a:ln w="9525">
            <a:solidFill>
              <a:srgbClr val="E8D5B5"/>
            </a:solidFill>
            <a:prstDash val="solid"/>
          </a:ln>
        </p:spPr>
      </p:sp>
      <p:sp>
        <p:nvSpPr>
          <p:cNvPr id="10" name="Text 7"/>
          <p:cNvSpPr/>
          <p:nvPr/>
        </p:nvSpPr>
        <p:spPr>
          <a:xfrm>
            <a:off x="877824" y="4800600"/>
            <a:ext cx="10433304" cy="731520"/>
          </a:xfrm>
          <a:prstGeom prst="rect">
            <a:avLst/>
          </a:prstGeom>
          <a:noFill/>
          <a:ln/>
        </p:spPr>
        <p:txBody>
          <a:bodyPr wrap="square" rtlCol="0" anchor="ctr"/>
          <a:lstStyle/>
          <a:p>
            <a:pPr indent="0" marL="0">
              <a:buNone/>
            </a:pPr>
            <a:r>
              <a:rPr lang="en-US" sz="1250" i="1" dirty="0">
                <a:solidFill>
                  <a:srgbClr val="8A4B00"/>
                </a:solidFill>
              </a:rPr>
              <a:t>Design constraint throughout: a value the system did not measure is never displayed as if it did. Unmeasured reads as unmeasured, not as zero and not as healthy.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ARCHITECTURE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processes, deliberately separated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783080"/>
            <a:ext cx="2148840" cy="1280160"/>
          </a:xfrm>
          <a:prstGeom prst="roundRect">
            <a:avLst>
              <a:gd name="adj" fmla="val 3571"/>
            </a:avLst>
          </a:prstGeom>
          <a:solidFill>
            <a:srgbClr val="FFFFFF"/>
          </a:solidFill>
          <a:ln w="15875">
            <a:solidFill>
              <a:srgbClr val="1F4FD8"/>
            </a:solidFill>
            <a:prstDash val="solid"/>
          </a:ln>
        </p:spPr>
      </p:sp>
      <p:sp>
        <p:nvSpPr>
          <p:cNvPr id="8" name="Text 6"/>
          <p:cNvSpPr/>
          <p:nvPr/>
        </p:nvSpPr>
        <p:spPr>
          <a:xfrm>
            <a:off x="731520" y="1901952"/>
            <a:ext cx="2002536" cy="274320"/>
          </a:xfrm>
          <a:prstGeom prst="rect">
            <a:avLst/>
          </a:prstGeom>
          <a:noFill/>
          <a:ln/>
        </p:spPr>
        <p:txBody>
          <a:bodyPr wrap="square" rtlCol="0" anchor="ctr"/>
          <a:lstStyle/>
          <a:p>
            <a:pPr algn="ctr" indent="0" marL="0">
              <a:buNone/>
            </a:pPr>
            <a:r>
              <a:rPr lang="en-US" sz="1200" b="1" dirty="0">
                <a:solidFill>
                  <a:srgbClr val="14171F"/>
                </a:solidFill>
              </a:rPr>
              <a:t>Your agent + SDK</a:t>
            </a:r>
            <a:endParaRPr lang="en-US" sz="1200" dirty="0"/>
          </a:p>
        </p:txBody>
      </p:sp>
      <p:sp>
        <p:nvSpPr>
          <p:cNvPr id="9" name="Text 7"/>
          <p:cNvSpPr/>
          <p:nvPr/>
        </p:nvSpPr>
        <p:spPr>
          <a:xfrm>
            <a:off x="731520"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buffers spans, flushes in batches, fails open</a:t>
            </a:r>
            <a:endParaRPr lang="en-US" sz="1000" dirty="0"/>
          </a:p>
        </p:txBody>
      </p:sp>
      <p:sp>
        <p:nvSpPr>
          <p:cNvPr id="10" name="Shape 8"/>
          <p:cNvSpPr/>
          <p:nvPr/>
        </p:nvSpPr>
        <p:spPr>
          <a:xfrm>
            <a:off x="3529584" y="1783080"/>
            <a:ext cx="2148840" cy="1280160"/>
          </a:xfrm>
          <a:prstGeom prst="roundRect">
            <a:avLst>
              <a:gd name="adj" fmla="val 3571"/>
            </a:avLst>
          </a:prstGeom>
          <a:solidFill>
            <a:srgbClr val="FFFFFF"/>
          </a:solidFill>
          <a:ln w="15875">
            <a:solidFill>
              <a:srgbClr val="1F4FD8"/>
            </a:solidFill>
            <a:prstDash val="solid"/>
          </a:ln>
        </p:spPr>
      </p:sp>
      <p:sp>
        <p:nvSpPr>
          <p:cNvPr id="11" name="Text 9"/>
          <p:cNvSpPr/>
          <p:nvPr/>
        </p:nvSpPr>
        <p:spPr>
          <a:xfrm>
            <a:off x="3602736" y="1901952"/>
            <a:ext cx="2002536" cy="274320"/>
          </a:xfrm>
          <a:prstGeom prst="rect">
            <a:avLst/>
          </a:prstGeom>
          <a:noFill/>
          <a:ln/>
        </p:spPr>
        <p:txBody>
          <a:bodyPr wrap="square" rtlCol="0" anchor="ctr"/>
          <a:lstStyle/>
          <a:p>
            <a:pPr algn="ctr" indent="0" marL="0">
              <a:buNone/>
            </a:pPr>
            <a:r>
              <a:rPr lang="en-US" sz="1200" b="1" dirty="0">
                <a:solidFill>
                  <a:srgbClr val="14171F"/>
                </a:solidFill>
              </a:rPr>
              <a:t>Ingest API</a:t>
            </a:r>
            <a:endParaRPr lang="en-US" sz="1200" dirty="0"/>
          </a:p>
        </p:txBody>
      </p:sp>
      <p:sp>
        <p:nvSpPr>
          <p:cNvPr id="12" name="Text 10"/>
          <p:cNvSpPr/>
          <p:nvPr/>
        </p:nvSpPr>
        <p:spPr>
          <a:xfrm>
            <a:off x="3602736"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validate, dedupe, persist, enqueue</a:t>
            </a:r>
            <a:endParaRPr lang="en-US" sz="1000" dirty="0"/>
          </a:p>
          <a:p>
            <a:pPr algn="ctr" indent="0" marL="0">
              <a:lnSpc>
                <a:spcPct val="110000"/>
              </a:lnSpc>
              <a:buNone/>
            </a:pPr>
            <a:r>
              <a:rPr lang="en-US" sz="1000" dirty="0">
                <a:solidFill>
                  <a:srgbClr val="5B6472"/>
                </a:solidFill>
              </a:rPr>
              <a:t>202 Accepted, loads no models</a:t>
            </a:r>
            <a:endParaRPr lang="en-US" sz="1000" dirty="0"/>
          </a:p>
        </p:txBody>
      </p:sp>
      <p:sp>
        <p:nvSpPr>
          <p:cNvPr id="13" name="Shape 11"/>
          <p:cNvSpPr/>
          <p:nvPr/>
        </p:nvSpPr>
        <p:spPr>
          <a:xfrm>
            <a:off x="6400800" y="1783080"/>
            <a:ext cx="2148840" cy="1280160"/>
          </a:xfrm>
          <a:prstGeom prst="roundRect">
            <a:avLst>
              <a:gd name="adj" fmla="val 3571"/>
            </a:avLst>
          </a:prstGeom>
          <a:solidFill>
            <a:srgbClr val="FFFFFF"/>
          </a:solidFill>
          <a:ln w="15875">
            <a:solidFill>
              <a:srgbClr val="1F4FD8"/>
            </a:solidFill>
            <a:prstDash val="solid"/>
          </a:ln>
        </p:spPr>
      </p:sp>
      <p:sp>
        <p:nvSpPr>
          <p:cNvPr id="14" name="Text 12"/>
          <p:cNvSpPr/>
          <p:nvPr/>
        </p:nvSpPr>
        <p:spPr>
          <a:xfrm>
            <a:off x="6473952" y="1901952"/>
            <a:ext cx="2002536" cy="274320"/>
          </a:xfrm>
          <a:prstGeom prst="rect">
            <a:avLst/>
          </a:prstGeom>
          <a:noFill/>
          <a:ln/>
        </p:spPr>
        <p:txBody>
          <a:bodyPr wrap="square" rtlCol="0" anchor="ctr"/>
          <a:lstStyle/>
          <a:p>
            <a:pPr algn="ctr" indent="0" marL="0">
              <a:buNone/>
            </a:pPr>
            <a:r>
              <a:rPr lang="en-US" sz="1200" b="1" dirty="0">
                <a:solidFill>
                  <a:srgbClr val="14171F"/>
                </a:solidFill>
              </a:rPr>
              <a:t>Durable queue</a:t>
            </a:r>
            <a:endParaRPr lang="en-US" sz="1200" dirty="0"/>
          </a:p>
        </p:txBody>
      </p:sp>
      <p:sp>
        <p:nvSpPr>
          <p:cNvPr id="15" name="Text 13"/>
          <p:cNvSpPr/>
          <p:nvPr/>
        </p:nvSpPr>
        <p:spPr>
          <a:xfrm>
            <a:off x="6473952"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120 s lease, 3 attempts,</a:t>
            </a:r>
            <a:endParaRPr lang="en-US" sz="1000" dirty="0"/>
          </a:p>
          <a:p>
            <a:pPr algn="ctr" indent="0" marL="0">
              <a:lnSpc>
                <a:spcPct val="110000"/>
              </a:lnSpc>
              <a:buNone/>
            </a:pPr>
            <a:r>
              <a:rPr lang="en-US" sz="1000" dirty="0">
                <a:solidFill>
                  <a:srgbClr val="5B6472"/>
                </a:solidFill>
              </a:rPr>
              <a:t>then dead_letter</a:t>
            </a:r>
            <a:endParaRPr lang="en-US" sz="1000" dirty="0"/>
          </a:p>
        </p:txBody>
      </p:sp>
      <p:sp>
        <p:nvSpPr>
          <p:cNvPr id="16" name="Shape 14"/>
          <p:cNvSpPr/>
          <p:nvPr/>
        </p:nvSpPr>
        <p:spPr>
          <a:xfrm>
            <a:off x="9272016" y="1783080"/>
            <a:ext cx="2148840" cy="1280160"/>
          </a:xfrm>
          <a:prstGeom prst="roundRect">
            <a:avLst>
              <a:gd name="adj" fmla="val 3571"/>
            </a:avLst>
          </a:prstGeom>
          <a:solidFill>
            <a:srgbClr val="FFFFFF"/>
          </a:solidFill>
          <a:ln w="15875">
            <a:solidFill>
              <a:srgbClr val="1F4FD8"/>
            </a:solidFill>
            <a:prstDash val="solid"/>
          </a:ln>
        </p:spPr>
      </p:sp>
      <p:sp>
        <p:nvSpPr>
          <p:cNvPr id="17" name="Text 15"/>
          <p:cNvSpPr/>
          <p:nvPr/>
        </p:nvSpPr>
        <p:spPr>
          <a:xfrm>
            <a:off x="9345168" y="1901952"/>
            <a:ext cx="2002536" cy="274320"/>
          </a:xfrm>
          <a:prstGeom prst="rect">
            <a:avLst/>
          </a:prstGeom>
          <a:noFill/>
          <a:ln/>
        </p:spPr>
        <p:txBody>
          <a:bodyPr wrap="square" rtlCol="0" anchor="ctr"/>
          <a:lstStyle/>
          <a:p>
            <a:pPr algn="ctr" indent="0" marL="0">
              <a:buNone/>
            </a:pPr>
            <a:r>
              <a:rPr lang="en-US" sz="1200" b="1" dirty="0">
                <a:solidFill>
                  <a:srgbClr val="14171F"/>
                </a:solidFill>
              </a:rPr>
              <a:t>Evaluation worker</a:t>
            </a:r>
            <a:endParaRPr lang="en-US" sz="1200" dirty="0"/>
          </a:p>
        </p:txBody>
      </p:sp>
      <p:sp>
        <p:nvSpPr>
          <p:cNvPr id="18" name="Text 16"/>
          <p:cNvSpPr/>
          <p:nvPr/>
        </p:nvSpPr>
        <p:spPr>
          <a:xfrm>
            <a:off x="9345168"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MiniLM + DeBERTa</a:t>
            </a:r>
            <a:endParaRPr lang="en-US" sz="1000" dirty="0"/>
          </a:p>
          <a:p>
            <a:pPr algn="ctr" indent="0" marL="0">
              <a:lnSpc>
                <a:spcPct val="110000"/>
              </a:lnSpc>
              <a:buNone/>
            </a:pPr>
            <a:r>
              <a:rPr lang="en-US" sz="1000" dirty="0">
                <a:solidFill>
                  <a:srgbClr val="5B6472"/>
                </a:solidFill>
              </a:rPr>
              <a:t>215.9 ms, ~1.15 GB resident</a:t>
            </a:r>
            <a:endParaRPr lang="en-US" sz="1000" dirty="0"/>
          </a:p>
        </p:txBody>
      </p:sp>
      <p:sp>
        <p:nvSpPr>
          <p:cNvPr id="19" name="Shape 17"/>
          <p:cNvSpPr/>
          <p:nvPr/>
        </p:nvSpPr>
        <p:spPr>
          <a:xfrm>
            <a:off x="2807208" y="2423160"/>
            <a:ext cx="722376" cy="0"/>
          </a:xfrm>
          <a:prstGeom prst="line">
            <a:avLst/>
          </a:prstGeom>
          <a:noFill/>
          <a:ln w="19050">
            <a:solidFill>
              <a:srgbClr val="5B6472"/>
            </a:solidFill>
            <a:prstDash val="solid"/>
            <a:tailEnd type="triangle"/>
          </a:ln>
        </p:spPr>
      </p:sp>
      <p:sp>
        <p:nvSpPr>
          <p:cNvPr id="20" name="Text 18"/>
          <p:cNvSpPr/>
          <p:nvPr/>
        </p:nvSpPr>
        <p:spPr>
          <a:xfrm>
            <a:off x="2734056" y="2148840"/>
            <a:ext cx="868680" cy="219456"/>
          </a:xfrm>
          <a:prstGeom prst="rect">
            <a:avLst/>
          </a:prstGeom>
          <a:noFill/>
          <a:ln/>
        </p:spPr>
        <p:txBody>
          <a:bodyPr wrap="square" rtlCol="0" anchor="ctr"/>
          <a:lstStyle/>
          <a:p>
            <a:pPr algn="ctr" indent="0" marL="0">
              <a:buNone/>
            </a:pPr>
            <a:r>
              <a:rPr lang="en-US" sz="850" dirty="0">
                <a:solidFill>
                  <a:srgbClr val="5B6472"/>
                </a:solidFill>
              </a:rPr>
              <a:t>spans</a:t>
            </a:r>
            <a:endParaRPr lang="en-US" sz="850" dirty="0"/>
          </a:p>
        </p:txBody>
      </p:sp>
      <p:sp>
        <p:nvSpPr>
          <p:cNvPr id="21" name="Shape 19"/>
          <p:cNvSpPr/>
          <p:nvPr/>
        </p:nvSpPr>
        <p:spPr>
          <a:xfrm>
            <a:off x="5678424" y="2423160"/>
            <a:ext cx="722376" cy="0"/>
          </a:xfrm>
          <a:prstGeom prst="line">
            <a:avLst/>
          </a:prstGeom>
          <a:noFill/>
          <a:ln w="19050">
            <a:solidFill>
              <a:srgbClr val="5B6472"/>
            </a:solidFill>
            <a:prstDash val="solid"/>
            <a:tailEnd type="triangle"/>
          </a:ln>
        </p:spPr>
      </p:sp>
      <p:sp>
        <p:nvSpPr>
          <p:cNvPr id="22" name="Text 20"/>
          <p:cNvSpPr/>
          <p:nvPr/>
        </p:nvSpPr>
        <p:spPr>
          <a:xfrm>
            <a:off x="5605272" y="2148840"/>
            <a:ext cx="868680" cy="219456"/>
          </a:xfrm>
          <a:prstGeom prst="rect">
            <a:avLst/>
          </a:prstGeom>
          <a:noFill/>
          <a:ln/>
        </p:spPr>
        <p:txBody>
          <a:bodyPr wrap="square" rtlCol="0" anchor="ctr"/>
          <a:lstStyle/>
          <a:p>
            <a:pPr algn="ctr" indent="0" marL="0">
              <a:buNone/>
            </a:pPr>
            <a:r>
              <a:rPr lang="en-US" sz="850" dirty="0">
                <a:solidFill>
                  <a:srgbClr val="5B6472"/>
                </a:solidFill>
              </a:rPr>
              <a:t>1 job / span</a:t>
            </a:r>
            <a:endParaRPr lang="en-US" sz="850" dirty="0"/>
          </a:p>
        </p:txBody>
      </p:sp>
      <p:sp>
        <p:nvSpPr>
          <p:cNvPr id="23" name="Shape 21"/>
          <p:cNvSpPr/>
          <p:nvPr/>
        </p:nvSpPr>
        <p:spPr>
          <a:xfrm>
            <a:off x="8549640" y="2423160"/>
            <a:ext cx="722376" cy="0"/>
          </a:xfrm>
          <a:prstGeom prst="line">
            <a:avLst/>
          </a:prstGeom>
          <a:noFill/>
          <a:ln w="19050">
            <a:solidFill>
              <a:srgbClr val="5B6472"/>
            </a:solidFill>
            <a:prstDash val="solid"/>
            <a:tailEnd type="triangle"/>
          </a:ln>
        </p:spPr>
      </p:sp>
      <p:sp>
        <p:nvSpPr>
          <p:cNvPr id="24" name="Text 22"/>
          <p:cNvSpPr/>
          <p:nvPr/>
        </p:nvSpPr>
        <p:spPr>
          <a:xfrm>
            <a:off x="8476488" y="2148840"/>
            <a:ext cx="868680" cy="219456"/>
          </a:xfrm>
          <a:prstGeom prst="rect">
            <a:avLst/>
          </a:prstGeom>
          <a:noFill/>
          <a:ln/>
        </p:spPr>
        <p:txBody>
          <a:bodyPr wrap="square" rtlCol="0" anchor="ctr"/>
          <a:lstStyle/>
          <a:p>
            <a:pPr algn="ctr" indent="0" marL="0">
              <a:buNone/>
            </a:pPr>
            <a:r>
              <a:rPr lang="en-US" sz="850" dirty="0">
                <a:solidFill>
                  <a:srgbClr val="5B6472"/>
                </a:solidFill>
              </a:rPr>
              <a:t>lease</a:t>
            </a:r>
            <a:endParaRPr lang="en-US" sz="850" dirty="0"/>
          </a:p>
        </p:txBody>
      </p:sp>
      <p:sp>
        <p:nvSpPr>
          <p:cNvPr id="25" name="Shape 23"/>
          <p:cNvSpPr/>
          <p:nvPr/>
        </p:nvSpPr>
        <p:spPr>
          <a:xfrm>
            <a:off x="4604004" y="3063240"/>
            <a:ext cx="0" cy="548640"/>
          </a:xfrm>
          <a:prstGeom prst="line">
            <a:avLst/>
          </a:prstGeom>
          <a:noFill/>
          <a:ln w="15875">
            <a:solidFill>
              <a:srgbClr val="D8DCE3"/>
            </a:solidFill>
            <a:prstDash val="solid"/>
          </a:ln>
        </p:spPr>
      </p:sp>
      <p:sp>
        <p:nvSpPr>
          <p:cNvPr id="26" name="Shape 24"/>
          <p:cNvSpPr/>
          <p:nvPr/>
        </p:nvSpPr>
        <p:spPr>
          <a:xfrm>
            <a:off x="7475220" y="3063240"/>
            <a:ext cx="0" cy="548640"/>
          </a:xfrm>
          <a:prstGeom prst="line">
            <a:avLst/>
          </a:prstGeom>
          <a:noFill/>
          <a:ln w="15875">
            <a:solidFill>
              <a:srgbClr val="D8DCE3"/>
            </a:solidFill>
            <a:prstDash val="solid"/>
          </a:ln>
        </p:spPr>
      </p:sp>
      <p:sp>
        <p:nvSpPr>
          <p:cNvPr id="27" name="Shape 25"/>
          <p:cNvSpPr/>
          <p:nvPr/>
        </p:nvSpPr>
        <p:spPr>
          <a:xfrm>
            <a:off x="10346436" y="3063240"/>
            <a:ext cx="0" cy="548640"/>
          </a:xfrm>
          <a:prstGeom prst="line">
            <a:avLst/>
          </a:prstGeom>
          <a:noFill/>
          <a:ln w="15875">
            <a:solidFill>
              <a:srgbClr val="D8DCE3"/>
            </a:solidFill>
            <a:prstDash val="solid"/>
          </a:ln>
        </p:spPr>
      </p:sp>
      <p:sp>
        <p:nvSpPr>
          <p:cNvPr id="28" name="Shape 26"/>
          <p:cNvSpPr/>
          <p:nvPr/>
        </p:nvSpPr>
        <p:spPr>
          <a:xfrm>
            <a:off x="3529584" y="3611880"/>
            <a:ext cx="7891272" cy="530352"/>
          </a:xfrm>
          <a:prstGeom prst="rect">
            <a:avLst/>
          </a:prstGeom>
          <a:solidFill>
            <a:srgbClr val="F4F6F9"/>
          </a:solidFill>
          <a:ln w="9525">
            <a:solidFill>
              <a:srgbClr val="D8DCE3"/>
            </a:solidFill>
            <a:prstDash val="solid"/>
          </a:ln>
        </p:spPr>
      </p:sp>
      <p:sp>
        <p:nvSpPr>
          <p:cNvPr id="29" name="Text 27"/>
          <p:cNvSpPr/>
          <p:nvPr/>
        </p:nvSpPr>
        <p:spPr>
          <a:xfrm>
            <a:off x="3529584" y="3611880"/>
            <a:ext cx="7891272" cy="530352"/>
          </a:xfrm>
          <a:prstGeom prst="rect">
            <a:avLst/>
          </a:prstGeom>
          <a:noFill/>
          <a:ln/>
        </p:spPr>
        <p:txBody>
          <a:bodyPr wrap="square" rtlCol="0" anchor="ctr"/>
          <a:lstStyle/>
          <a:p>
            <a:pPr algn="ctr" indent="0" marL="0">
              <a:buNone/>
            </a:pPr>
            <a:r>
              <a:rPr lang="en-US" sz="1100" dirty="0">
                <a:solidFill>
                  <a:srgbClr val="14171F"/>
                </a:solidFill>
              </a:rPr>
              <a:t>SQLite (WAL)  ·  spans, evaluations, jobs, baselines, alerts  ·  11 tables</a:t>
            </a:r>
            <a:endParaRPr lang="en-US" sz="1100" dirty="0"/>
          </a:p>
        </p:txBody>
      </p:sp>
      <p:sp>
        <p:nvSpPr>
          <p:cNvPr id="30" name="Shape 28"/>
          <p:cNvSpPr/>
          <p:nvPr/>
        </p:nvSpPr>
        <p:spPr>
          <a:xfrm>
            <a:off x="658368" y="4434840"/>
            <a:ext cx="3291840" cy="713232"/>
          </a:xfrm>
          <a:prstGeom prst="roundRect">
            <a:avLst>
              <a:gd name="adj" fmla="val 6410"/>
            </a:avLst>
          </a:prstGeom>
          <a:solidFill>
            <a:srgbClr val="FFFFFF"/>
          </a:solidFill>
          <a:ln w="15875">
            <a:solidFill>
              <a:srgbClr val="D8DCE3"/>
            </a:solidFill>
            <a:prstDash val="solid"/>
          </a:ln>
        </p:spPr>
      </p:sp>
      <p:sp>
        <p:nvSpPr>
          <p:cNvPr id="31" name="Text 29"/>
          <p:cNvSpPr/>
          <p:nvPr/>
        </p:nvSpPr>
        <p:spPr>
          <a:xfrm>
            <a:off x="731520" y="4553712"/>
            <a:ext cx="3145536" cy="274320"/>
          </a:xfrm>
          <a:prstGeom prst="rect">
            <a:avLst/>
          </a:prstGeom>
          <a:noFill/>
          <a:ln/>
        </p:spPr>
        <p:txBody>
          <a:bodyPr wrap="square" rtlCol="0" anchor="ctr"/>
          <a:lstStyle/>
          <a:p>
            <a:pPr algn="ctr" indent="0" marL="0">
              <a:buNone/>
            </a:pPr>
            <a:r>
              <a:rPr lang="en-US" sz="1200" b="1" dirty="0">
                <a:solidFill>
                  <a:srgbClr val="14171F"/>
                </a:solidFill>
              </a:rPr>
              <a:t>React dashboard</a:t>
            </a:r>
            <a:endParaRPr lang="en-US" sz="1200" dirty="0"/>
          </a:p>
        </p:txBody>
      </p:sp>
      <p:sp>
        <p:nvSpPr>
          <p:cNvPr id="32" name="Text 30"/>
          <p:cNvSpPr/>
          <p:nvPr/>
        </p:nvSpPr>
        <p:spPr>
          <a:xfrm>
            <a:off x="731520" y="4855464"/>
            <a:ext cx="3145536" cy="201168"/>
          </a:xfrm>
          <a:prstGeom prst="rect">
            <a:avLst/>
          </a:prstGeom>
          <a:noFill/>
          <a:ln/>
        </p:spPr>
        <p:txBody>
          <a:bodyPr wrap="square" rtlCol="0" anchor="t"/>
          <a:lstStyle/>
          <a:p>
            <a:pPr algn="ctr" indent="0" marL="0">
              <a:lnSpc>
                <a:spcPct val="110000"/>
              </a:lnSpc>
              <a:buNone/>
            </a:pPr>
            <a:r>
              <a:rPr lang="en-US" sz="1000" dirty="0">
                <a:solidFill>
                  <a:srgbClr val="5B6472"/>
                </a:solidFill>
              </a:rPr>
              <a:t>reads only</a:t>
            </a:r>
            <a:endParaRPr lang="en-US" sz="1000" dirty="0"/>
          </a:p>
        </p:txBody>
      </p:sp>
      <p:sp>
        <p:nvSpPr>
          <p:cNvPr id="33" name="Text 31"/>
          <p:cNvSpPr/>
          <p:nvPr/>
        </p:nvSpPr>
        <p:spPr>
          <a:xfrm>
            <a:off x="4206240" y="4480560"/>
            <a:ext cx="7315200" cy="640080"/>
          </a:xfrm>
          <a:prstGeom prst="rect">
            <a:avLst/>
          </a:prstGeom>
          <a:noFill/>
          <a:ln/>
        </p:spPr>
        <p:txBody>
          <a:bodyPr wrap="square" rtlCol="0" anchor="t"/>
          <a:lstStyle/>
          <a:p>
            <a:pPr indent="0" marL="0">
              <a:buNone/>
            </a:pPr>
            <a:r>
              <a:rPr lang="en-US" sz="1150" dirty="0">
                <a:solidFill>
                  <a:srgbClr val="5B6472"/>
                </a:solidFill>
              </a:rPr>
              <a:t>No arrow into the dashboard, because it holds no database connection: it polls the same REST API the SDK writes to, every 10 seconds, plus a WebSocket for live spans.</a:t>
            </a:r>
            <a:endParaRPr lang="en-US" sz="1150" dirty="0"/>
          </a:p>
        </p:txBody>
      </p:sp>
      <p:sp>
        <p:nvSpPr>
          <p:cNvPr id="34" name="Shape 32"/>
          <p:cNvSpPr/>
          <p:nvPr/>
        </p:nvSpPr>
        <p:spPr>
          <a:xfrm>
            <a:off x="658368" y="5532120"/>
            <a:ext cx="10872216" cy="658368"/>
          </a:xfrm>
          <a:prstGeom prst="rect">
            <a:avLst/>
          </a:prstGeom>
          <a:solidFill>
            <a:srgbClr val="FFF8EE"/>
          </a:solidFill>
          <a:ln w="9525">
            <a:solidFill>
              <a:srgbClr val="E8D5B5"/>
            </a:solidFill>
            <a:prstDash val="solid"/>
          </a:ln>
        </p:spPr>
      </p:sp>
      <p:sp>
        <p:nvSpPr>
          <p:cNvPr id="35" name="Text 33"/>
          <p:cNvSpPr/>
          <p:nvPr/>
        </p:nvSpPr>
        <p:spPr>
          <a:xfrm>
            <a:off x="877824" y="5623560"/>
            <a:ext cx="10433304" cy="475488"/>
          </a:xfrm>
          <a:prstGeom prst="rect">
            <a:avLst/>
          </a:prstGeom>
          <a:noFill/>
          <a:ln/>
        </p:spPr>
        <p:txBody>
          <a:bodyPr wrap="square" rtlCol="0" anchor="ctr"/>
          <a:lstStyle/>
          <a:p>
            <a:pPr indent="0" marL="0">
              <a:buNone/>
            </a:pPr>
            <a:r>
              <a:rPr lang="en-US" sz="1250" i="1" dirty="0">
                <a:solidFill>
                  <a:srgbClr val="8A4B00"/>
                </a:solidFill>
              </a:rPr>
              <a:t>The API holds no models: loading them cost ~1.24 GB resident and ~20 s of startup for a capability no route used.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END-TO-END FLOW</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From agent call to alert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502920"/>
                <a:gridCol w="1737360"/>
                <a:gridCol w="863193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decorator or adapter captures inputs, outputs, timing, tool name and tool result.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Redact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Privacy filter applies regex redaction in the agent process, before anything leaves it.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Buffer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Spans batch in memory; transport failures are swallowed so telemetry cannot break the pipeline.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Ingest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Validate, upsert the trace, write spans, enqueue one evaluation job per span.</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Lease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worker atomically claims a job with a 120-second lease and an attempt counter.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Four signals run; a weighted composite risk score is aggregated.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Persist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Evaluation and drift rows written idempotently, keyed on span 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Threshold rules fire, subject to a 900 s cooldown and a 50/hour cap.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HOW IT WORKS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One span, all the way through</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5760720" cy="3474720"/>
          </a:xfrm>
          <a:prstGeom prst="rect">
            <a:avLst/>
          </a:prstGeom>
          <a:solidFill>
            <a:srgbClr val="F4F6F9"/>
          </a:solidFill>
          <a:ln w="9525">
            <a:solidFill>
              <a:srgbClr val="D8DCE3"/>
            </a:solidFill>
            <a:prstDash val="solid"/>
          </a:ln>
        </p:spPr>
      </p:sp>
      <p:sp>
        <p:nvSpPr>
          <p:cNvPr id="8" name="Text 6"/>
          <p:cNvSpPr/>
          <p:nvPr/>
        </p:nvSpPr>
        <p:spPr>
          <a:xfrm>
            <a:off x="859536" y="1746504"/>
            <a:ext cx="5358384" cy="3182112"/>
          </a:xfrm>
          <a:prstGeom prst="rect">
            <a:avLst/>
          </a:prstGeom>
          <a:noFill/>
          <a:ln/>
        </p:spPr>
        <p:txBody>
          <a:bodyPr wrap="square" rtlCol="0" anchor="t"/>
          <a:lstStyle/>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prompt       Where is the Eiffel Tower?</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It stands in Paris, France.</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answer       The Eiffel Tower is located</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in Berlin, Germany.</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HTTP 200, fluent, on time.</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Nothing raised, nothing logged.</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what the worker then asks DeBERTa ----</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premise      the Eiffel Tower stands in</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Paris, France</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hypothesis   the Eiffel Tower is located</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in Berlin, Germany</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verdict      contradiction, near-total</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confidence  -&gt;  grounding 0.9999</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20840" y="1600200"/>
          <a:ext cx="4809744" cy="914400"/>
        </p:xfrm>
        <a:graphic>
          <a:graphicData uri="http://schemas.openxmlformats.org/drawingml/2006/table">
            <a:tbl>
              <a:tblPr/>
              <a:tblGrid>
                <a:gridCol w="347472"/>
                <a:gridCol w="4462272"/>
              </a:tblGrid>
              <a:tr h="274320">
                <a:tc>
                  <a:txBody>
                    <a:bodyPr/>
                    <a:lstStyle/>
                    <a:p>
                      <a:pPr indent="0" marL="0">
                        <a:buNone/>
                      </a:pPr>
                      <a:r>
                        <a:rPr lang="en-US" sz="1050" b="1" dirty="0">
                          <a:solidFill>
                            <a:srgbClr val="14171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050" b="1" dirty="0">
                          <a:solidFill>
                            <a:srgbClr val="14171F"/>
                          </a:solidFill>
                          <a:latin typeface="Calibri" pitchFamily="34" charset="0"/>
                          <a:ea typeface="Calibri" pitchFamily="34" charset="-122"/>
                          <a:cs typeface="Calibri" pitchFamily="34" charset="-120"/>
                        </a:rPr>
                        <a:t>What happens</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One line added:  pulse.instrument_llm(OpenAI())</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The client is called exactly as before, and is not slowed</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The SDK packages a span and sends it in the background</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The API persists it, enqueues a job, replies 202 Accepted</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A worker leases the job and runs both models</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DeBERTa returns contradiction, so grounding is 0.9999</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Two alerts fire; the dashboard shows a red incident</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10" name="Shape 7"/>
          <p:cNvSpPr/>
          <p:nvPr/>
        </p:nvSpPr>
        <p:spPr>
          <a:xfrm>
            <a:off x="6720840" y="4114800"/>
            <a:ext cx="4809744" cy="749808"/>
          </a:xfrm>
          <a:prstGeom prst="rect">
            <a:avLst/>
          </a:prstGeom>
          <a:solidFill>
            <a:srgbClr val="F4F6F9"/>
          </a:solidFill>
          <a:ln w="9525">
            <a:solidFill>
              <a:srgbClr val="D8DCE3"/>
            </a:solidFill>
            <a:prstDash val="solid"/>
          </a:ln>
        </p:spPr>
      </p:sp>
      <p:sp>
        <p:nvSpPr>
          <p:cNvPr id="11" name="Text 8"/>
          <p:cNvSpPr/>
          <p:nvPr/>
        </p:nvSpPr>
        <p:spPr>
          <a:xfrm>
            <a:off x="6922008" y="4261104"/>
            <a:ext cx="4407408" cy="457200"/>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GROUNDING_FAILURE         HIGH</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HIGH_HALLUCINATION_RISK   HIGH</a:t>
            </a:r>
            <a:endParaRPr lang="en-US" sz="1100" dirty="0"/>
          </a:p>
        </p:txBody>
      </p:sp>
      <p:sp>
        <p:nvSpPr>
          <p:cNvPr id="12" name="Shape 9"/>
          <p:cNvSpPr/>
          <p:nvPr/>
        </p:nvSpPr>
        <p:spPr>
          <a:xfrm>
            <a:off x="658368" y="5138928"/>
            <a:ext cx="10872216" cy="868680"/>
          </a:xfrm>
          <a:prstGeom prst="rect">
            <a:avLst/>
          </a:prstGeom>
          <a:solidFill>
            <a:srgbClr val="FFF8EE"/>
          </a:solidFill>
          <a:ln w="9525">
            <a:solidFill>
              <a:srgbClr val="E8D5B5"/>
            </a:solidFill>
            <a:prstDash val="solid"/>
          </a:ln>
        </p:spPr>
      </p:sp>
      <p:sp>
        <p:nvSpPr>
          <p:cNvPr id="13" name="Text 10"/>
          <p:cNvSpPr/>
          <p:nvPr/>
        </p:nvSpPr>
        <p:spPr>
          <a:xfrm>
            <a:off x="877824" y="5230368"/>
            <a:ext cx="10433304" cy="685800"/>
          </a:xfrm>
          <a:prstGeom prst="rect">
            <a:avLst/>
          </a:prstGeom>
          <a:noFill/>
          <a:ln/>
        </p:spPr>
        <p:txBody>
          <a:bodyPr wrap="square" rtlCol="0" anchor="ctr"/>
          <a:lstStyle/>
          <a:p>
            <a:pPr indent="0" marL="0">
              <a:buNone/>
            </a:pPr>
            <a:r>
              <a:rPr lang="en-US" sz="1250" i="1" dirty="0">
                <a:solidFill>
                  <a:srgbClr val="8A4B00"/>
                </a:solidFill>
              </a:rPr>
              <a:t>The span, the score and both alerts are real, reproducible, and took under a second. The completion is a fixture: no model generates agent text anywhere in this project. Evaluating text does not require producing it.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SDK</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Observability must not break what it observes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3200400"/>
          </a:xfrm>
          <a:prstGeom prst="rect">
            <a:avLst/>
          </a:prstGeom>
          <a:solidFill>
            <a:srgbClr val="F4F6F9"/>
          </a:solidFill>
          <a:ln w="9525">
            <a:solidFill>
              <a:srgbClr val="D8DCE3"/>
            </a:solidFill>
            <a:prstDash val="solid"/>
          </a:ln>
        </p:spPr>
      </p:sp>
      <p:sp>
        <p:nvSpPr>
          <p:cNvPr id="8" name="Text 6"/>
          <p:cNvSpPr/>
          <p:nvPr/>
        </p:nvSpPr>
        <p:spPr>
          <a:xfrm>
            <a:off x="859536" y="1746504"/>
            <a:ext cx="5724144" cy="290779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api_key="your-api-key",</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service_name="production-swarms",</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@pulse.monitor(agent_id="sql_synthesizer", role="synthesizer")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def run_agent_pipeline(user_query: str):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schema = fetch_warehouse_schema()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sql = generate_sql(user_query, 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return validate_and_execute(sql)</a:t>
            </a:r>
            <a:endParaRPr lang="en-US" sz="1150" dirty="0"/>
          </a:p>
        </p:txBody>
      </p:sp>
      <p:sp>
        <p:nvSpPr>
          <p:cNvPr id="9" name="Text 7"/>
          <p:cNvSpPr/>
          <p:nvPr/>
        </p:nvSpPr>
        <p:spPr>
          <a:xfrm>
            <a:off x="7040880" y="1645920"/>
            <a:ext cx="4480560" cy="3200400"/>
          </a:xfrm>
          <a:prstGeom prst="rect">
            <a:avLst/>
          </a:prstGeom>
          <a:noFill/>
          <a:ln/>
        </p:spPr>
        <p:txBody>
          <a:bodyPr wrap="square" rtlCol="0" anchor="ctr"/>
          <a:lstStyle/>
          <a:p>
            <a:pPr marL="342900" indent="-342900">
              <a:lnSpc>
                <a:spcPct val="132000"/>
              </a:lnSpc>
              <a:spcAft>
                <a:spcPts val="800"/>
              </a:spcAft>
              <a:buSzPct val="100000"/>
              <a:buChar char="•"/>
            </a:pPr>
            <a:r>
              <a:rPr lang="en-US" sz="1300" dirty="0">
                <a:solidFill>
                  <a:srgbClr val="14171F"/>
                </a:solidFill>
              </a:rPr>
              <a:t>Fails open by default: a collector that is down is swallowed, never raised into the agent.</a:t>
            </a:r>
            <a:endParaRPr lang="en-US" sz="1300" dirty="0"/>
          </a:p>
          <a:p>
            <a:pPr marL="342900" indent="-342900">
              <a:lnSpc>
                <a:spcPct val="132000"/>
              </a:lnSpc>
              <a:spcAft>
                <a:spcPts val="800"/>
              </a:spcAft>
              <a:buSzPct val="100000"/>
              <a:buChar char="•"/>
            </a:pPr>
            <a:r>
              <a:rPr lang="en-US" sz="1300" dirty="0">
                <a:solidFill>
                  <a:srgbClr val="14171F"/>
                </a:solidFill>
              </a:rPr>
              <a:t>Batched async transport over aiohttp.</a:t>
            </a:r>
            <a:endParaRPr lang="en-US" sz="1300" dirty="0"/>
          </a:p>
          <a:p>
            <a:pPr marL="342900" indent="-342900">
              <a:lnSpc>
                <a:spcPct val="132000"/>
              </a:lnSpc>
              <a:spcAft>
                <a:spcPts val="800"/>
              </a:spcAft>
              <a:buSzPct val="100000"/>
              <a:buChar char="•"/>
            </a:pPr>
            <a:r>
              <a:rPr lang="en-US" sz="1300" dirty="0">
                <a:solidFill>
                  <a:srgbClr val="14171F"/>
                </a:solidFill>
              </a:rPr>
              <a:t>Prompt capture is opt-in; without it spans carry structure and hashes, not text.</a:t>
            </a:r>
            <a:endParaRPr lang="en-US" sz="1300" dirty="0"/>
          </a:p>
          <a:p>
            <a:pPr marL="342900" indent="-342900">
              <a:lnSpc>
                <a:spcPct val="132000"/>
              </a:lnSpc>
              <a:spcAft>
                <a:spcPts val="800"/>
              </a:spcAft>
              <a:buSzPct val="100000"/>
              <a:buChar char="•"/>
            </a:pPr>
            <a:r>
              <a:rPr lang="en-US" sz="1300" dirty="0">
                <a:solidFill>
                  <a:srgbClr val="14171F"/>
                </a:solidFill>
              </a:rPr>
              <a:t>Redaction runs in your process, before the wire.</a:t>
            </a:r>
            <a:endParaRPr lang="en-US" sz="1300" dirty="0"/>
          </a:p>
          <a:p>
            <a:pPr marL="342900" indent="-342900">
              <a:lnSpc>
                <a:spcPct val="132000"/>
              </a:lnSpc>
              <a:spcAft>
                <a:spcPts val="800"/>
              </a:spcAft>
              <a:buSzPct val="100000"/>
              <a:buChar char="•"/>
            </a:pPr>
            <a:r>
              <a:rPr lang="en-US" sz="1300" dirty="0">
                <a:solidFill>
                  <a:srgbClr val="14171F"/>
                </a:solidFill>
              </a:rPr>
              <a:t>Two entry points: the decorator above for LangGraph, and instrument_llm() for everything else.</a:t>
            </a:r>
            <a:endParaRPr lang="en-US" sz="1300" dirty="0"/>
          </a:p>
          <a:p>
            <a:pPr marL="342900" indent="-342900">
              <a:lnSpc>
                <a:spcPct val="132000"/>
              </a:lnSpc>
              <a:spcAft>
                <a:spcPts val="800"/>
              </a:spcAft>
              <a:buSzPct val="100000"/>
              <a:buChar char="•"/>
            </a:pPr>
            <a:r>
              <a:rPr lang="en-US" sz="1300" dirty="0">
                <a:solidFill>
                  <a:srgbClr val="14171F"/>
                </a:solidFill>
              </a:rPr>
              <a:t>LangChain and CrewAI adapter classes exist but raise NotImplementedError.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REACH</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One line, and no framework required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2834640"/>
          </a:xfrm>
          <a:prstGeom prst="rect">
            <a:avLst/>
          </a:prstGeom>
          <a:solidFill>
            <a:srgbClr val="F4F6F9"/>
          </a:solidFill>
          <a:ln w="9525">
            <a:solidFill>
              <a:srgbClr val="D8DCE3"/>
            </a:solidFill>
            <a:prstDash val="solid"/>
          </a:ln>
        </p:spPr>
      </p:sp>
      <p:sp>
        <p:nvSpPr>
          <p:cNvPr id="8" name="Text 6"/>
          <p:cNvSpPr/>
          <p:nvPr/>
        </p:nvSpPr>
        <p:spPr>
          <a:xfrm>
            <a:off x="859536" y="1746504"/>
            <a:ext cx="5724144" cy="254203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openai import OpenAI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capture_inputs=True, capture_outputs=True)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 = pulse.instrument_llm(OpenAI())</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client.chat.completions.create(       # recorded, scored, unchanged</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model="gpt-4o-mini",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messages=[{"role": "user", "content": "..."}],</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p:txBody>
      </p:sp>
      <p:sp>
        <p:nvSpPr>
          <p:cNvPr id="9" name="Text 7"/>
          <p:cNvSpPr/>
          <p:nvPr/>
        </p:nvSpPr>
        <p:spPr>
          <a:xfrm>
            <a:off x="7040880" y="1645920"/>
            <a:ext cx="4480560" cy="28346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The decorator reads its first argument as a LangGraph state dict, so anyone not on LangGraph had no way in.</a:t>
            </a:r>
            <a:endParaRPr lang="en-US" sz="1250" dirty="0"/>
          </a:p>
          <a:p>
            <a:pPr marL="342900" indent="-342900">
              <a:lnSpc>
                <a:spcPct val="132000"/>
              </a:lnSpc>
              <a:spcAft>
                <a:spcPts val="800"/>
              </a:spcAft>
              <a:buSzPct val="100000"/>
              <a:buChar char="•"/>
            </a:pPr>
            <a:r>
              <a:rPr lang="en-US" sz="1250" dirty="0">
                <a:solidFill>
                  <a:srgbClr val="14171F"/>
                </a:solidFill>
              </a:rPr>
              <a:t>Every agent calls an LLM. Wrapping that call reaches all of them with one implementation.</a:t>
            </a:r>
            <a:endParaRPr lang="en-US" sz="1250" dirty="0"/>
          </a:p>
          <a:p>
            <a:pPr marL="342900" indent="-342900">
              <a:lnSpc>
                <a:spcPct val="132000"/>
              </a:lnSpc>
              <a:spcAft>
                <a:spcPts val="800"/>
              </a:spcAft>
              <a:buSzPct val="100000"/>
              <a:buChar char="•"/>
            </a:pPr>
            <a:r>
              <a:rPr lang="en-US" sz="1250" dirty="0">
                <a:solidFill>
                  <a:srgbClr val="14171F"/>
                </a:solidFill>
              </a:rPr>
              <a:t>It is also the most useful place to stand: the prompt and the completion are the exact pair the grounding evaluator compares.</a:t>
            </a:r>
            <a:endParaRPr lang="en-US" sz="1250" dirty="0"/>
          </a:p>
          <a:p>
            <a:pPr marL="342900" indent="-342900">
              <a:lnSpc>
                <a:spcPct val="132000"/>
              </a:lnSpc>
              <a:spcAft>
                <a:spcPts val="800"/>
              </a:spcAft>
              <a:buSzPct val="100000"/>
              <a:buChar char="•"/>
            </a:pPr>
            <a:r>
              <a:rPr lang="en-US" sz="1250" dirty="0">
                <a:solidFill>
                  <a:srgbClr val="14171F"/>
                </a:solidFill>
              </a:rPr>
              <a:t>OpenAI and Anthropic, sync or async. The client instance is wrapped, not the library globals.</a:t>
            </a:r>
            <a:endParaRPr lang="en-US" sz="1250" dirty="0"/>
          </a:p>
        </p:txBody>
      </p:sp>
      <p:sp>
        <p:nvSpPr>
          <p:cNvPr id="10" name="Shape 8"/>
          <p:cNvSpPr/>
          <p:nvPr/>
        </p:nvSpPr>
        <p:spPr>
          <a:xfrm>
            <a:off x="658368" y="4754880"/>
            <a:ext cx="10872216" cy="868680"/>
          </a:xfrm>
          <a:prstGeom prst="rect">
            <a:avLst/>
          </a:prstGeom>
          <a:solidFill>
            <a:srgbClr val="FFF8EE"/>
          </a:solidFill>
          <a:ln w="9525">
            <a:solidFill>
              <a:srgbClr val="E8D5B5"/>
            </a:solidFill>
            <a:prstDash val="solid"/>
          </a:ln>
        </p:spPr>
      </p:sp>
      <p:sp>
        <p:nvSpPr>
          <p:cNvPr id="11" name="Text 9"/>
          <p:cNvSpPr/>
          <p:nvPr/>
        </p:nvSpPr>
        <p:spPr>
          <a:xfrm>
            <a:off x="877824" y="4846320"/>
            <a:ext cx="10433304" cy="685800"/>
          </a:xfrm>
          <a:prstGeom prst="rect">
            <a:avLst/>
          </a:prstGeom>
          <a:noFill/>
          <a:ln/>
        </p:spPr>
        <p:txBody>
          <a:bodyPr wrap="square" rtlCol="0" anchor="ctr"/>
          <a:lstStyle/>
          <a:p>
            <a:pPr indent="0" marL="0">
              <a:buNone/>
            </a:pPr>
            <a:r>
              <a:rPr lang="en-US" sz="1250" i="1" dirty="0">
                <a:solidFill>
                  <a:srgbClr val="8A4B00"/>
                </a:solidFill>
              </a:rPr>
              <a:t>Demonstrated end to end: a prompt saying the Eiffel Tower is in Paris, a completion saying Berlin. Grounding 0.9999, label high_risk, GROUNDING_FAILURE and HIGH_HALLUCINATION_RISK both raised. No framework in that path.</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DURABILITY</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Exactly-once evaluation without a broker</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1554480"/>
          <a:ext cx="10872216" cy="914400"/>
        </p:xfrm>
        <a:graphic>
          <a:graphicData uri="http://schemas.openxmlformats.org/drawingml/2006/table">
            <a:tbl>
              <a:tblPr/>
              <a:tblGrid>
                <a:gridCol w="2011680"/>
                <a:gridCol w="88605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State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queued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Written, waiting for a worker.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running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Leased by a worker; the lease carries an expiry.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succeeded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Evaluated and persisted.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failed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Attempt failed; returns to queued while attempts remain.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dead_letter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Exhausted three attempts; will not be retried.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155448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A worker holds a 120-second lease. If it dies mid-evaluation the lease expires and the job is reclaimed.</a:t>
            </a:r>
            <a:endParaRPr lang="en-US" sz="1350" dirty="0"/>
          </a:p>
          <a:p>
            <a:pPr marL="342900" indent="-342900">
              <a:lnSpc>
                <a:spcPct val="132000"/>
              </a:lnSpc>
              <a:spcAft>
                <a:spcPts val="800"/>
              </a:spcAft>
              <a:buSzPct val="100000"/>
              <a:buChar char="•"/>
            </a:pPr>
            <a:r>
              <a:rPr lang="en-US" sz="1350" dirty="0">
                <a:solidFill>
                  <a:srgbClr val="14171F"/>
                </a:solidFill>
              </a:rPr>
              <a:t>Persistence is keyed on span id and no-ops if an evaluation exists, so a replayed job cannot double-write.</a:t>
            </a:r>
            <a:endParaRPr lang="en-US" sz="1350" dirty="0"/>
          </a:p>
          <a:p>
            <a:pPr marL="342900" indent="-342900">
              <a:lnSpc>
                <a:spcPct val="132000"/>
              </a:lnSpc>
              <a:spcAft>
                <a:spcPts val="800"/>
              </a:spcAft>
              <a:buSzPct val="100000"/>
              <a:buChar char="•"/>
            </a:pPr>
            <a:r>
              <a:rPr lang="en-US" sz="1350" dirty="0">
                <a:solidFill>
                  <a:srgbClr val="14171F"/>
                </a:solidFill>
              </a:rPr>
              <a:t>Covered by a crash-recovery test that kills a worker mid-evaluation and asserts exactly one result.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EVALUATION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models, both run on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9</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108960"/>
          </a:xfrm>
          <a:prstGeom prst="rect">
            <a:avLst/>
          </a:prstGeom>
          <a:solidFill>
            <a:srgbClr val="F4F6F9"/>
          </a:solidFill>
          <a:ln w="9525">
            <a:solidFill>
              <a:srgbClr val="D8DCE3"/>
            </a:solidFill>
            <a:prstDash val="solid"/>
          </a:ln>
        </p:spPr>
      </p:sp>
      <p:sp>
        <p:nvSpPr>
          <p:cNvPr id="8" name="Text 6"/>
          <p:cNvSpPr/>
          <p:nvPr/>
        </p:nvSpPr>
        <p:spPr>
          <a:xfrm>
            <a:off x="859536" y="1746504"/>
            <a:ext cx="10469880" cy="281635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span (input_summary, output_summary)</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MiniLM-L6-v2 embeddings, cosine similarity      27.8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      (also feeds the drift signal)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DeBERTa-v3-small cross-encoder NLI             188.1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entailment / contradiction / neutral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grounding_risk in [0, 1]</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shipped:    215.9 ms = sum</a:t>
            </a:r>
            <a:endParaRPr lang="en-US" sz="1200" dirty="0"/>
          </a:p>
        </p:txBody>
      </p:sp>
      <p:sp>
        <p:nvSpPr>
          <p:cNvPr id="9" name="Text 7"/>
          <p:cNvSpPr/>
          <p:nvPr/>
        </p:nvSpPr>
        <p:spPr>
          <a:xfrm>
            <a:off x="658368" y="4754880"/>
            <a:ext cx="10872216" cy="14630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Not a gated cascade. There is no threshold between the stages: the NLI result is the score whenever the model is loaded.</a:t>
            </a:r>
            <a:endParaRPr lang="en-US" sz="1250" dirty="0"/>
          </a:p>
          <a:p>
            <a:pPr marL="342900" indent="-342900">
              <a:lnSpc>
                <a:spcPct val="132000"/>
              </a:lnSpc>
              <a:spcAft>
                <a:spcPts val="800"/>
              </a:spcAft>
              <a:buSzPct val="100000"/>
              <a:buChar char="•"/>
            </a:pPr>
            <a:r>
              <a:rPr lang="en-US" sz="1250" dirty="0">
                <a:solidFill>
                  <a:srgbClr val="14171F"/>
                </a:solidFill>
              </a:rPr>
              <a:t>The ablation proves it without reading the code - 215.9 ms is exactly 27.8 + 188.1. A gate that ever fired would land between them.</a:t>
            </a:r>
            <a:endParaRPr lang="en-US" sz="1250" dirty="0"/>
          </a:p>
          <a:p>
            <a:pPr marL="342900" indent="-342900">
              <a:lnSpc>
                <a:spcPct val="132000"/>
              </a:lnSpc>
              <a:spcAft>
                <a:spcPts val="800"/>
              </a:spcAft>
              <a:buSzPct val="100000"/>
              <a:buChar char="•"/>
            </a:pPr>
            <a:r>
              <a:rPr lang="en-US" sz="1250" dirty="0">
                <a:solidFill>
                  <a:srgbClr val="14171F"/>
                </a:solidFill>
              </a:rPr>
              <a:t>MiniLM alone is the fallback for when the NLI model fails to load, not a short-circuit.</a:t>
            </a:r>
            <a:endParaRPr lang="en-US" sz="1250" dirty="0"/>
          </a:p>
          <a:p>
            <a:pPr marL="342900" indent="-342900">
              <a:lnSpc>
                <a:spcPct val="132000"/>
              </a:lnSpc>
              <a:spcAft>
                <a:spcPts val="800"/>
              </a:spcAft>
              <a:buSzPct val="100000"/>
              <a:buChar char="•"/>
            </a:pPr>
            <a:r>
              <a:rPr lang="en-US" sz="1250" dirty="0">
                <a:solidFill>
                  <a:srgbClr val="14171F"/>
                </a:solidFill>
              </a:rPr>
              <a:t>Both run on local CPU through ONNX Runtime, with a PyTorch fallback. No prompt text leaves the host.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MEASURED RESULTS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Ablation on the held-out test split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10</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657600"/>
                <a:gridCol w="1828800"/>
                <a:gridCol w="1828800"/>
                <a:gridCol w="1737360"/>
                <a:gridCol w="1819656"/>
              </a:tblGrid>
              <a:tr h="0">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Configuration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MiniLM gate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0.733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0.846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0.786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27.8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DeBERTa NLI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188.1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Cascade (shipped)</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215.9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200400"/>
            <a:ext cx="10872216" cy="274320"/>
          </a:xfrm>
          <a:prstGeom prst="rect">
            <a:avLst/>
          </a:prstGeom>
          <a:noFill/>
          <a:ln/>
        </p:spPr>
        <p:txBody>
          <a:bodyPr wrap="square" rtlCol="0" anchor="ctr"/>
          <a:lstStyle/>
          <a:p>
            <a:pPr indent="0" marL="0">
              <a:buNone/>
            </a:pPr>
            <a:r>
              <a:rPr lang="en-US" sz="1250" dirty="0">
                <a:solidFill>
                  <a:srgbClr val="5B6472"/>
                </a:solidFill>
              </a:rPr>
              <a:t>Dataset v1.0_test, 30 cases.  13 TP · 1 FP · 0 FN · 16 TN.  FPR 0.059, FNR 0.000.</a:t>
            </a:r>
            <a:endParaRPr lang="en-US" sz="1250" dirty="0"/>
          </a:p>
        </p:txBody>
      </p:sp>
      <p:sp>
        <p:nvSpPr>
          <p:cNvPr id="9" name="Shape 6"/>
          <p:cNvSpPr/>
          <p:nvPr/>
        </p:nvSpPr>
        <p:spPr>
          <a:xfrm>
            <a:off x="658368" y="3703320"/>
            <a:ext cx="10872216" cy="1234440"/>
          </a:xfrm>
          <a:prstGeom prst="rect">
            <a:avLst/>
          </a:prstGeom>
          <a:solidFill>
            <a:srgbClr val="FFF8EE"/>
          </a:solidFill>
          <a:ln w="9525">
            <a:solidFill>
              <a:srgbClr val="E8D5B5"/>
            </a:solidFill>
            <a:prstDash val="solid"/>
          </a:ln>
        </p:spPr>
      </p:sp>
      <p:sp>
        <p:nvSpPr>
          <p:cNvPr id="10" name="Text 7"/>
          <p:cNvSpPr/>
          <p:nvPr/>
        </p:nvSpPr>
        <p:spPr>
          <a:xfrm>
            <a:off x="877824" y="3794760"/>
            <a:ext cx="10433304" cy="1051560"/>
          </a:xfrm>
          <a:prstGeom prst="rect">
            <a:avLst/>
          </a:prstGeom>
          <a:noFill/>
          <a:ln/>
        </p:spPr>
        <p:txBody>
          <a:bodyPr wrap="square" rtlCol="0" anchor="ctr"/>
          <a:lstStyle/>
          <a:p>
            <a:pPr indent="0" marL="0">
              <a:buNone/>
            </a:pPr>
            <a:r>
              <a:rPr lang="en-US" sz="1250" i="1" dirty="0">
                <a:solidFill>
                  <a:srgbClr val="8A4B00"/>
                </a:solidFill>
              </a:rPr>
              <a:t>Read honestly: on this benchmark the cascade is no more accurate than DeBERTa alone and is 28 ms slower, because nearly every adversarial case escalates past the gate. The cascade buys throughput on easy traffic, not accuracy. Adding disagreement changed nothing; adding drift cut precision to 0.448.</a:t>
            </a:r>
            <a:endParaRPr lang="en-US" sz="1250" dirty="0"/>
          </a:p>
        </p:txBody>
      </p:sp>
      <p:sp>
        <p:nvSpPr>
          <p:cNvPr id="11" name="Text 8"/>
          <p:cNvSpPr/>
          <p:nvPr/>
        </p:nvSpPr>
        <p:spPr>
          <a:xfrm>
            <a:off x="658368" y="5120640"/>
            <a:ext cx="10872216" cy="320040"/>
          </a:xfrm>
          <a:prstGeom prst="rect">
            <a:avLst/>
          </a:prstGeom>
          <a:noFill/>
          <a:ln/>
        </p:spPr>
        <p:txBody>
          <a:bodyPr wrap="square" rtlCol="0" anchor="ctr"/>
          <a:lstStyle/>
          <a:p>
            <a:pPr indent="0" marL="0">
              <a:buNone/>
            </a:pPr>
            <a:r>
              <a:rPr lang="en-US" sz="1200" i="1" dirty="0">
                <a:solidFill>
                  <a:srgbClr val="5B6472"/>
                </a:solidFill>
              </a:rPr>
              <a:t>Thirty cases establishes that the pipeline works at a chosen operating point. It does not establish generalisation.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DRIFT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metrics that are easy to confuse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377440"/>
                <a:gridCol w="3840480"/>
                <a:gridCol w="465429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Compares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Used for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One output against the agent's EMA centroid.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Per-span spike. On 500 real sessions it flagged 91.7%, so it does NOT drive alerts.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Mean of a 12-sample window against a 20-sample baseline pool.</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The sustained signal DRIFT_DETECTED fires on, at threshold 0.300.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Shape 5"/>
          <p:cNvSpPr/>
          <p:nvPr/>
        </p:nvSpPr>
        <p:spPr>
          <a:xfrm>
            <a:off x="658368" y="3886200"/>
            <a:ext cx="10872216" cy="1188720"/>
          </a:xfrm>
          <a:prstGeom prst="rect">
            <a:avLst/>
          </a:prstGeom>
          <a:solidFill>
            <a:srgbClr val="F4F6F9"/>
          </a:solidFill>
          <a:ln w="9525">
            <a:solidFill>
              <a:srgbClr val="D8DCE3"/>
            </a:solidFill>
            <a:prstDash val="solid"/>
          </a:ln>
        </p:spPr>
      </p:sp>
      <p:sp>
        <p:nvSpPr>
          <p:cNvPr id="9" name="Text 6"/>
          <p:cNvSpPr/>
          <p:nvPr/>
        </p:nvSpPr>
        <p:spPr>
          <a:xfrm>
            <a:off x="859536" y="4032504"/>
            <a:ext cx="10469880" cy="89611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ASI = 100 * sum(w_i * s_i) / sum(w_i)</a:t>
            </a:r>
            <a:endParaRPr lang="en-US" sz="1100" dirty="0"/>
          </a:p>
          <a:p>
            <a:pPr indent="0" marL="0">
              <a:lnSpc>
                <a:spcPct val="116000"/>
              </a:lnSpc>
              <a:buNone/>
            </a:pP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centroid_distance)     w = 0.35     s = max(0, 1 - 2*quality_drift)     w = 0.30</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1 - 5*error_rate_delta)    w = 0.20     s = max(0, 1 - tool_drift)          w = 0.15</a:t>
            </a:r>
            <a:endParaRPr lang="en-US" sz="1100" dirty="0"/>
          </a:p>
        </p:txBody>
      </p:sp>
      <p:sp>
        <p:nvSpPr>
          <p:cNvPr id="10" name="Text 7"/>
          <p:cNvSpPr/>
          <p:nvPr/>
        </p:nvSpPr>
        <p:spPr>
          <a:xfrm>
            <a:off x="658368" y="5257800"/>
            <a:ext cx="10872216" cy="457200"/>
          </a:xfrm>
          <a:prstGeom prst="rect">
            <a:avLst/>
          </a:prstGeom>
          <a:noFill/>
          <a:ln/>
        </p:spPr>
        <p:txBody>
          <a:bodyPr wrap="square" rtlCol="0" anchor="ctr"/>
          <a:lstStyle/>
          <a:p>
            <a:pPr indent="0" marL="0">
              <a:buNone/>
            </a:pPr>
            <a:r>
              <a:rPr lang="en-US" sz="1250" dirty="0">
                <a:solidFill>
                  <a:srgbClr val="5B6472"/>
                </a:solidFill>
              </a:rPr>
              <a:t>An agent needs 20 baseline plus 12 window samples - 32 evaluated spans - before a sustained value exists at all. Until then it is null.</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VERIFICATION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Driving the sustained-drift path end to end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481328"/>
            <a:ext cx="10872216" cy="274320"/>
          </a:xfrm>
          <a:prstGeom prst="rect">
            <a:avLst/>
          </a:prstGeom>
          <a:noFill/>
          <a:ln/>
        </p:spPr>
        <p:txBody>
          <a:bodyPr wrap="square" rtlCol="0" anchor="ctr"/>
          <a:lstStyle/>
          <a:p>
            <a:pPr indent="0" marL="0">
              <a:buNone/>
            </a:pPr>
            <a:r>
              <a:rPr lang="en-US" sz="1350" dirty="0">
                <a:solidFill>
                  <a:srgbClr val="14171F"/>
                </a:solidFill>
              </a:rPr>
              <a:t>A fresh agent was given 20 spans on one topic, then 14 on an unrelated one.</a:t>
            </a:r>
            <a:endParaRPr lang="en-US" sz="1350" dirty="0"/>
          </a:p>
        </p:txBody>
      </p:sp>
      <p:sp>
        <p:nvSpPr>
          <p:cNvPr id="8" name="Shape 6"/>
          <p:cNvSpPr/>
          <p:nvPr/>
        </p:nvSpPr>
        <p:spPr>
          <a:xfrm>
            <a:off x="658368" y="1901952"/>
            <a:ext cx="10872216" cy="2743200"/>
          </a:xfrm>
          <a:prstGeom prst="rect">
            <a:avLst/>
          </a:prstGeom>
          <a:solidFill>
            <a:srgbClr val="F4F6F9"/>
          </a:solidFill>
          <a:ln w="9525">
            <a:solidFill>
              <a:srgbClr val="D8DCE3"/>
            </a:solidFill>
            <a:prstDash val="solid"/>
          </a:ln>
        </p:spPr>
      </p:sp>
      <p:sp>
        <p:nvSpPr>
          <p:cNvPr id="9" name="Text 7"/>
          <p:cNvSpPr/>
          <p:nvPr/>
        </p:nvSpPr>
        <p:spPr>
          <a:xfrm>
            <a:off x="859536" y="2048256"/>
            <a:ext cx="10469880" cy="245059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20 baseline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baseline_size            = 19</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null          &lt;- window not filled yet</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14 shifted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centroid_distance        = 0.3246        &lt;- per-span spike</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0.9294        &lt;- sustained</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stability_index          = 51.3          (was 100.0)</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DRIFT_DETECTED raised on 0.934, not on the 0.32 spike</a:t>
            </a:r>
            <a:endParaRPr lang="en-US" sz="1200" dirty="0"/>
          </a:p>
        </p:txBody>
      </p:sp>
      <p:sp>
        <p:nvSpPr>
          <p:cNvPr id="10" name="Shape 8"/>
          <p:cNvSpPr/>
          <p:nvPr/>
        </p:nvSpPr>
        <p:spPr>
          <a:xfrm>
            <a:off x="658368" y="4846320"/>
            <a:ext cx="10872216" cy="1143000"/>
          </a:xfrm>
          <a:prstGeom prst="rect">
            <a:avLst/>
          </a:prstGeom>
          <a:solidFill>
            <a:srgbClr val="FFF8EE"/>
          </a:solidFill>
          <a:ln w="9525">
            <a:solidFill>
              <a:srgbClr val="E8D5B5"/>
            </a:solidFill>
            <a:prstDash val="solid"/>
          </a:ln>
        </p:spPr>
      </p:sp>
      <p:sp>
        <p:nvSpPr>
          <p:cNvPr id="11" name="Text 9"/>
          <p:cNvSpPr/>
          <p:nvPr/>
        </p:nvSpPr>
        <p:spPr>
          <a:xfrm>
            <a:off x="877824" y="4937760"/>
            <a:ext cx="10433304" cy="960120"/>
          </a:xfrm>
          <a:prstGeom prst="rect">
            <a:avLst/>
          </a:prstGeom>
          <a:noFill/>
          <a:ln/>
        </p:spPr>
        <p:txBody>
          <a:bodyPr wrap="square" rtlCol="0" anchor="ctr"/>
          <a:lstStyle/>
          <a:p>
            <a:pPr indent="0" marL="0">
              <a:buNone/>
            </a:pPr>
            <a:r>
              <a:rPr lang="en-US" sz="1250" i="1" dirty="0">
                <a:solidFill>
                  <a:srgbClr val="8A4B00"/>
                </a:solidFill>
              </a:rPr>
              <a:t>This was the first time in the instance history that window_centroid_distance produced a value: it needs 32 evaluated spans for one agent, and the current window does not survive a worker restart. Every prior DRIFT_DETECTED row is a legacy spike-based alert.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SCORING</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Weighted risk, threshold alerts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3566160" cy="914400"/>
        </p:xfrm>
        <a:graphic>
          <a:graphicData uri="http://schemas.openxmlformats.org/drawingml/2006/table">
            <a:tbl>
              <a:tblPr/>
              <a:tblGrid>
                <a:gridCol w="2194560"/>
                <a:gridCol w="137160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Weight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Semantic</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0.15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4572000" y="1600200"/>
          <a:ext cx="7132320" cy="914400"/>
        </p:xfrm>
        <a:graphic>
          <a:graphicData uri="http://schemas.openxmlformats.org/drawingml/2006/table">
            <a:tbl>
              <a:tblPr/>
              <a:tblGrid>
                <a:gridCol w="3017520"/>
                <a:gridCol w="2651760"/>
                <a:gridCol w="1463040"/>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HIGH_HALLUCINATION_RISK</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risk_score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GROUNDING_FAILURE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TOOL_CLAIM_MISMATCH</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DRIFT_DETECTED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ASI_DROP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stability_index</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&lt; 50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Text 5"/>
          <p:cNvSpPr/>
          <p:nvPr/>
        </p:nvSpPr>
        <p:spPr>
          <a:xfrm>
            <a:off x="658368" y="4617720"/>
            <a:ext cx="10872216" cy="274320"/>
          </a:xfrm>
          <a:prstGeom prst="rect">
            <a:avLst/>
          </a:prstGeom>
          <a:noFill/>
          <a:ln/>
        </p:spPr>
        <p:txBody>
          <a:bodyPr wrap="square" rtlCol="0" anchor="ctr"/>
          <a:lstStyle/>
          <a:p>
            <a:pPr indent="0" marL="0">
              <a:buNone/>
            </a:pPr>
            <a:r>
              <a:rPr lang="en-US" sz="1250" dirty="0">
                <a:solidFill>
                  <a:srgbClr val="5B6472"/>
                </a:solidFill>
              </a:rPr>
              <a:t>Alert storms are bounded by a 900-second per-rule cooldown and a cap of 50 per hour.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DASHBOARD</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console reads the same API anyone would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657600"/>
          </a:xfrm>
          <a:prstGeom prst="rect">
            <a:avLst/>
          </a:prstGeom>
          <a:noFill/>
          <a:ln/>
        </p:spPr>
        <p:txBody>
          <a:bodyPr wrap="square" rtlCol="0" anchor="ctr"/>
          <a:lstStyle/>
          <a:p>
            <a:pPr marL="342900" indent="-342900">
              <a:lnSpc>
                <a:spcPct val="132000"/>
              </a:lnSpc>
              <a:spcAft>
                <a:spcPts val="800"/>
              </a:spcAft>
              <a:buSzPct val="100000"/>
              <a:buChar char="•"/>
            </a:pPr>
            <a:r>
              <a:rPr lang="en-US" sz="1400" dirty="0">
                <a:solidFill>
                  <a:srgbClr val="14171F"/>
                </a:solidFill>
              </a:rPr>
              <a:t>React 19 + TypeScript + Vite. A public page, and a product console that polls a live instance every 10 seconds.</a:t>
            </a:r>
            <a:endParaRPr lang="en-US" sz="1400" dirty="0"/>
          </a:p>
          <a:p>
            <a:pPr marL="342900" indent="-342900">
              <a:lnSpc>
                <a:spcPct val="132000"/>
              </a:lnSpc>
              <a:spcAft>
                <a:spcPts val="800"/>
              </a:spcAft>
              <a:buSzPct val="100000"/>
              <a:buChar char="•"/>
            </a:pPr>
            <a:r>
              <a:rPr lang="en-US" sz="1400" dirty="0">
                <a:solidFill>
                  <a:srgbClr val="14171F"/>
                </a:solidFill>
              </a:rPr>
              <a:t>Ten views: overview, agents, traces with a span waterfall, incidents, drift, replay, experiments, datasets, telemetry lab, settings.</a:t>
            </a:r>
            <a:endParaRPr lang="en-US" sz="1400" dirty="0"/>
          </a:p>
          <a:p>
            <a:pPr marL="342900" indent="-342900">
              <a:lnSpc>
                <a:spcPct val="132000"/>
              </a:lnSpc>
              <a:spcAft>
                <a:spcPts val="800"/>
              </a:spcAft>
              <a:buSzPct val="100000"/>
              <a:buChar char="•"/>
            </a:pPr>
            <a:r>
              <a:rPr lang="en-US" sz="1400" dirty="0">
                <a:solidFill>
                  <a:srgbClr val="14171F"/>
                </a:solidFill>
              </a:rPr>
              <a:t>Waterfall bars are positioned from recorded start_time, so they read as a timeline rather than a bar chart.</a:t>
            </a:r>
            <a:endParaRPr lang="en-US" sz="1400" dirty="0"/>
          </a:p>
          <a:p>
            <a:pPr marL="342900" indent="-342900">
              <a:lnSpc>
                <a:spcPct val="132000"/>
              </a:lnSpc>
              <a:spcAft>
                <a:spcPts val="800"/>
              </a:spcAft>
              <a:buSzPct val="100000"/>
              <a:buChar char="•"/>
            </a:pPr>
            <a:r>
              <a:rPr lang="en-US" sz="1400" dirty="0">
                <a:solidFill>
                  <a:srgbClr val="14171F"/>
                </a:solidFill>
              </a:rPr>
              <a:t>Fields with no backend source - cost, per-agent tokens, framework, embedding coordinates - render as an em-dash, not a zero.</a:t>
            </a:r>
            <a:endParaRPr lang="en-US" sz="1400" dirty="0"/>
          </a:p>
          <a:p>
            <a:pPr marL="342900" indent="-342900">
              <a:lnSpc>
                <a:spcPct val="132000"/>
              </a:lnSpc>
              <a:spcAft>
                <a:spcPts val="800"/>
              </a:spcAft>
              <a:buSzPct val="100000"/>
              <a:buChar char="•"/>
            </a:pPr>
            <a:r>
              <a:rPr lang="en-US" sz="1400" dirty="0">
                <a:solidFill>
                  <a:srgbClr val="14171F"/>
                </a:solidFill>
              </a:rPr>
              <a:t>Engine readiness reads platform.state: with no worker alive it says failing, not a hardcoded online.</a:t>
            </a:r>
            <a:endParaRPr lang="en-US" sz="1400" dirty="0"/>
          </a:p>
          <a:p>
            <a:pPr marL="342900" indent="-342900">
              <a:lnSpc>
                <a:spcPct val="132000"/>
              </a:lnSpc>
              <a:spcAft>
                <a:spcPts val="800"/>
              </a:spcAft>
              <a:buSzPct val="100000"/>
              <a:buChar char="•"/>
            </a:pPr>
            <a:r>
              <a:rPr lang="en-US" sz="1400" dirty="0">
                <a:solidFill>
                  <a:srgbClr val="14171F"/>
                </a:solidFill>
              </a:rPr>
              <a:t>Agents whose drift windows have not filled read "warming up", not "stable".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OPERATIONS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system reports on itself</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926080"/>
                <a:gridCol w="79461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Endpoint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Answers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/v1/health/live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process up? Answers without an API key, for probes.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/v1/health/ready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Can it serve traffic? Public verdict; the diagnosis needs the key.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/v1/health/evaluator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any worker alive? Returns 503 when none, by contract.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/v1/platform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Composite state, queue depth by status, worker roster, timing percentiles.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977640"/>
            <a:ext cx="10872216" cy="173736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Ready and evaluator-ready are separate on purpose: the API can correctly accept spans while nothing is evaluating them.</a:t>
            </a:r>
            <a:endParaRPr lang="en-US" sz="1350" dirty="0"/>
          </a:p>
          <a:p>
            <a:pPr marL="342900" indent="-342900">
              <a:lnSpc>
                <a:spcPct val="132000"/>
              </a:lnSpc>
              <a:spcAft>
                <a:spcPts val="800"/>
              </a:spcAft>
              <a:buSzPct val="100000"/>
              <a:buChar char="•"/>
            </a:pPr>
            <a:r>
              <a:rPr lang="en-US" sz="1350" dirty="0">
                <a:solidFill>
                  <a:srgbClr val="14171F"/>
                </a:solidFill>
              </a:rPr>
              <a:t>Workers heartbeat; stale after 90 seconds. Retention deletes past retention_days and records what it removed.</a:t>
            </a:r>
            <a:endParaRPr lang="en-US" sz="1350" dirty="0"/>
          </a:p>
          <a:p>
            <a:pPr marL="342900" indent="-342900">
              <a:lnSpc>
                <a:spcPct val="132000"/>
              </a:lnSpc>
              <a:spcAft>
                <a:spcPts val="800"/>
              </a:spcAft>
              <a:buSzPct val="100000"/>
              <a:buChar char="•"/>
            </a:pPr>
            <a:r>
              <a:rPr lang="en-US" sz="1350" dirty="0">
                <a:solidFill>
                  <a:srgbClr val="14171F"/>
                </a:solidFill>
              </a:rPr>
              <a:t>Compose defines the worker as its own service, so a Compose deployment evaluates rather than only storing.</a:t>
            </a:r>
            <a:endParaRPr lang="en-US" sz="1350" dirty="0"/>
          </a:p>
          <a:p>
            <a:pPr marL="342900" indent="-342900">
              <a:lnSpc>
                <a:spcPct val="132000"/>
              </a:lnSpc>
              <a:spcAft>
                <a:spcPts val="800"/>
              </a:spcAft>
              <a:buSzPct val="100000"/>
              <a:buChar char="•"/>
            </a:pPr>
            <a:r>
              <a:rPr lang="en-US" sz="1350" dirty="0">
                <a:solidFill>
                  <a:srgbClr val="14171F"/>
                </a:solidFill>
              </a:rPr>
              <a:t>signal_coverage on /v1/platform reports how often each signal produced a value, so a signal switched off by configuration is distinguishable from one that is failing.</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EVIDENCE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can be checked, and where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5486400" cy="914400"/>
        </p:xfrm>
        <a:graphic>
          <a:graphicData uri="http://schemas.openxmlformats.org/drawingml/2006/table">
            <a:tbl>
              <a:tblPr/>
              <a:tblGrid>
                <a:gridCol w="3291840"/>
                <a:gridCol w="2194560"/>
              </a:tblGrid>
              <a:tr h="27432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Python + SDK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260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32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build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passes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typecheck</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clean, strict off</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 F1 (v1.0_test)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0.963</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Evaluator latency (ablation)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215.9 ms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5852160" y="1600200"/>
          <a:ext cx="5852160" cy="914400"/>
        </p:xfrm>
        <a:graphic>
          <a:graphicData uri="http://schemas.openxmlformats.org/drawingml/2006/table">
            <a:tbl>
              <a:tblPr/>
              <a:tblGrid>
                <a:gridCol w="2194560"/>
                <a:gridCol w="3657600"/>
              </a:tblGrid>
              <a:tr h="274320">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Deployed instance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Public URL</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agentpulse.centralindia.cloudapp.azure.com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TLS</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Let's Encrypt, auto-renewed by Caddy</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Survives reboot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yes - verified twice, data intact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Signals firing</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grounding, drift, ASI, tool-claim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Shape 5"/>
          <p:cNvSpPr/>
          <p:nvPr/>
        </p:nvSpPr>
        <p:spPr>
          <a:xfrm>
            <a:off x="658368" y="4892040"/>
            <a:ext cx="10872216" cy="822960"/>
          </a:xfrm>
          <a:prstGeom prst="rect">
            <a:avLst/>
          </a:prstGeom>
          <a:solidFill>
            <a:srgbClr val="FFF8EE"/>
          </a:solidFill>
          <a:ln w="9525">
            <a:solidFill>
              <a:srgbClr val="E8D5B5"/>
            </a:solidFill>
            <a:prstDash val="solid"/>
          </a:ln>
        </p:spPr>
      </p:sp>
      <p:sp>
        <p:nvSpPr>
          <p:cNvPr id="10" name="Text 6"/>
          <p:cNvSpPr/>
          <p:nvPr/>
        </p:nvSpPr>
        <p:spPr>
          <a:xfrm>
            <a:off x="877824" y="4983480"/>
            <a:ext cx="10433304" cy="640080"/>
          </a:xfrm>
          <a:prstGeom prst="rect">
            <a:avLst/>
          </a:prstGeom>
          <a:noFill/>
          <a:ln/>
        </p:spPr>
        <p:txBody>
          <a:bodyPr wrap="square" rtlCol="0" anchor="ctr"/>
          <a:lstStyle/>
          <a:p>
            <a:pPr indent="0" marL="0">
              <a:buNone/>
            </a:pPr>
            <a:r>
              <a:rPr lang="en-US" sz="1250" i="1" dirty="0">
                <a:solidFill>
                  <a:srgbClr val="8A4B00"/>
                </a:solidFill>
              </a:rPr>
              <a:t>The dashboard test suite was verified by mutation rather than by passing: reintroducing the severity bug failed one test, reintroducing the absolute-URL bug failed three. A test that passes proves nothing about what it would catch.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HONEST LIMITS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does not work yet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200400"/>
                <a:gridCol w="7671816"/>
              </a:tblGrid>
              <a:tr h="0">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Limit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Detail</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Tool-claim needs narrated claims</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The count must appear in prose next to the noun. Harnesses that emit structured tool_call fields without narrating them produce no claim to check.</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Drift needs 32 samples per agent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Twenty baseline plus twelve window. Short-lived agents never produce a sustained value. Both pools are persisted, so a restart no longer resets them.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Benchmark is small</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30 held-out cases. Enough to demonstrate the pipeline, not to claim generalisation.</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Not OpenTelemetry</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The span schema is custom. No OTel dependency, import or semantic-convention mapping.</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Single-node storage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SQLite with WAL. Suited to self-hosted single-instance use, not multi-writer deployment.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Grounding misreads rounded numbers</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"7.61 billion" against "approximately 7.6 billion" scores 0.922 risk. Reproducible, and deliberately unpatched: fixing from one observed case is fitting to one data point.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No model in the loop yet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Agent text in the simulator and demo pipeline is a fixture, not model output. Everything downstream of it is real; the system has not been measured against live traffic.</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NEXT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Where the work goes next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600200"/>
            <a:ext cx="10872216" cy="329184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Expand the benchmark past 30 cases and re-run the ablation before making any generalisation claim.</a:t>
            </a:r>
            <a:endParaRPr lang="en-US" sz="1500" dirty="0"/>
          </a:p>
          <a:p>
            <a:pPr marL="342900" indent="-342900">
              <a:lnSpc>
                <a:spcPct val="132000"/>
              </a:lnSpc>
              <a:spcAft>
                <a:spcPts val="800"/>
              </a:spcAft>
              <a:buSzPct val="100000"/>
              <a:buChar char="•"/>
            </a:pPr>
            <a:r>
              <a:rPr lang="en-US" sz="1500" dirty="0">
                <a:solidFill>
                  <a:srgbClr val="14171F"/>
                </a:solidFill>
              </a:rPr>
              <a:t>Publish the SDK to an installable package; the name agentpulse on PyPI belongs to an unrelated project.</a:t>
            </a:r>
            <a:endParaRPr lang="en-US" sz="1500" dirty="0"/>
          </a:p>
          <a:p>
            <a:pPr marL="342900" indent="-342900">
              <a:lnSpc>
                <a:spcPct val="132000"/>
              </a:lnSpc>
              <a:spcAft>
                <a:spcPts val="800"/>
              </a:spcAft>
              <a:buSzPct val="100000"/>
              <a:buChar char="•"/>
            </a:pPr>
            <a:r>
              <a:rPr lang="en-US" sz="1500" dirty="0">
                <a:solidFill>
                  <a:srgbClr val="14171F"/>
                </a:solidFill>
              </a:rPr>
              <a:t>Extend dashboard tests from the mapping layer to the components: the 32 tests cover adapters.ts and api.ts, and none of the 33 components has one. Turn on TypeScript strict mode with it - it is off, which is how a prop type mismatch shipped.</a:t>
            </a:r>
            <a:endParaRPr lang="en-US" sz="1500" dirty="0"/>
          </a:p>
          <a:p>
            <a:pPr marL="342900" indent="-342900">
              <a:lnSpc>
                <a:spcPct val="132000"/>
              </a:lnSpc>
              <a:spcAft>
                <a:spcPts val="800"/>
              </a:spcAft>
              <a:buSzPct val="100000"/>
              <a:buChar char="•"/>
            </a:pPr>
            <a:r>
              <a:rPr lang="en-US" sz="1500" dirty="0">
                <a:solidFill>
                  <a:srgbClr val="14171F"/>
                </a:solidFill>
              </a:rPr>
              <a:t>Consolidate the console: it lives in two repositories with nothing keeping them in step, which is how unbuilt features have reached the landing page more than once.</a:t>
            </a:r>
            <a:endParaRPr lang="en-US" sz="1500" dirty="0"/>
          </a:p>
          <a:p>
            <a:pPr marL="342900" indent="-342900">
              <a:lnSpc>
                <a:spcPct val="132000"/>
              </a:lnSpc>
              <a:spcAft>
                <a:spcPts val="800"/>
              </a:spcAft>
              <a:buSzPct val="100000"/>
              <a:buChar char="•"/>
            </a:pPr>
            <a:r>
              <a:rPr lang="en-US" sz="1500" dirty="0">
                <a:solidFill>
                  <a:srgbClr val="14171F"/>
                </a:solidFill>
              </a:rPr>
              <a:t>Decide the gated cascade on measurement: it would cut latency and change every calibrated figure, so it is an experiment, not an edit.</a:t>
            </a:r>
            <a:endParaRPr lang="en-US" sz="1500" dirty="0"/>
          </a:p>
        </p:txBody>
      </p:sp>
      <p:sp>
        <p:nvSpPr>
          <p:cNvPr id="8" name="Shape 6"/>
          <p:cNvSpPr/>
          <p:nvPr/>
        </p:nvSpPr>
        <p:spPr>
          <a:xfrm>
            <a:off x="658368" y="5029200"/>
            <a:ext cx="10872216" cy="868680"/>
          </a:xfrm>
          <a:prstGeom prst="rect">
            <a:avLst/>
          </a:prstGeom>
          <a:solidFill>
            <a:srgbClr val="FFF8EE"/>
          </a:solidFill>
          <a:ln w="9525">
            <a:solidFill>
              <a:srgbClr val="E8D5B5"/>
            </a:solidFill>
            <a:prstDash val="solid"/>
          </a:ln>
        </p:spPr>
      </p:sp>
      <p:sp>
        <p:nvSpPr>
          <p:cNvPr id="9" name="Text 7"/>
          <p:cNvSpPr/>
          <p:nvPr/>
        </p:nvSpPr>
        <p:spPr>
          <a:xfrm>
            <a:off x="877824" y="5120640"/>
            <a:ext cx="10433304" cy="685800"/>
          </a:xfrm>
          <a:prstGeom prst="rect">
            <a:avLst/>
          </a:prstGeom>
          <a:noFill/>
          <a:ln/>
        </p:spPr>
        <p:txBody>
          <a:bodyPr wrap="square" rtlCol="0" anchor="ctr"/>
          <a:lstStyle/>
          <a:p>
            <a:pPr indent="0" marL="0">
              <a:buNone/>
            </a:pPr>
            <a:r>
              <a:rPr lang="en-US" sz="1250" i="1" dirty="0">
                <a:solidFill>
                  <a:srgbClr val="8A4B00"/>
                </a:solidFill>
              </a:rPr>
              <a:t>The system works end to end and its measurements are reproducible. The gaps above are known, located in the code, and stated rather than hidden.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377440"/>
            <a:ext cx="9144000" cy="822960"/>
          </a:xfrm>
          <a:prstGeom prst="rect">
            <a:avLst/>
          </a:prstGeom>
          <a:noFill/>
          <a:ln/>
        </p:spPr>
        <p:txBody>
          <a:bodyPr wrap="square" rtlCol="0" anchor="ctr"/>
          <a:lstStyle/>
          <a:p>
            <a:pPr indent="0" marL="0">
              <a:buNone/>
            </a:pPr>
            <a:r>
              <a:rPr lang="en-US" sz="3800" b="1" dirty="0">
                <a:solidFill>
                  <a:srgbClr val="14171F"/>
                </a:solidFill>
              </a:rPr>
              <a:t>AgentPulse</a:t>
            </a:r>
            <a:endParaRPr lang="en-US" sz="3800" dirty="0"/>
          </a:p>
        </p:txBody>
      </p:sp>
      <p:sp>
        <p:nvSpPr>
          <p:cNvPr id="4" name="Text 2"/>
          <p:cNvSpPr/>
          <p:nvPr/>
        </p:nvSpPr>
        <p:spPr>
          <a:xfrm>
            <a:off x="1005840" y="3246120"/>
            <a:ext cx="9144000" cy="457200"/>
          </a:xfrm>
          <a:prstGeom prst="rect">
            <a:avLst/>
          </a:prstGeom>
          <a:noFill/>
          <a:ln/>
        </p:spPr>
        <p:txBody>
          <a:bodyPr wrap="square" rtlCol="0" anchor="ctr"/>
          <a:lstStyle/>
          <a:p>
            <a:pPr indent="0" marL="0">
              <a:buNone/>
            </a:pPr>
            <a:r>
              <a:rPr lang="en-US" sz="1700" dirty="0">
                <a:solidFill>
                  <a:srgbClr val="5B6472"/>
                </a:solidFill>
              </a:rPr>
              <a:t>Every span evaluated. Nothing invented.</a:t>
            </a:r>
            <a:endParaRPr lang="en-US" sz="1700" dirty="0"/>
          </a:p>
        </p:txBody>
      </p:sp>
      <p:sp>
        <p:nvSpPr>
          <p:cNvPr id="5" name="Shape 3"/>
          <p:cNvSpPr/>
          <p:nvPr/>
        </p:nvSpPr>
        <p:spPr>
          <a:xfrm>
            <a:off x="1005840" y="3931920"/>
            <a:ext cx="4754880" cy="0"/>
          </a:xfrm>
          <a:prstGeom prst="line">
            <a:avLst/>
          </a:prstGeom>
          <a:noFill/>
          <a:ln w="15875">
            <a:solidFill>
              <a:srgbClr val="D8DCE3"/>
            </a:solidFill>
            <a:prstDash val="solid"/>
          </a:ln>
        </p:spPr>
      </p:sp>
      <p:sp>
        <p:nvSpPr>
          <p:cNvPr id="6" name="Text 4"/>
          <p:cNvSpPr/>
          <p:nvPr/>
        </p:nvSpPr>
        <p:spPr>
          <a:xfrm>
            <a:off x="1005840" y="4160520"/>
            <a:ext cx="5486400" cy="365760"/>
          </a:xfrm>
          <a:prstGeom prst="rect">
            <a:avLst/>
          </a:prstGeom>
          <a:noFill/>
          <a:ln/>
        </p:spPr>
        <p:txBody>
          <a:bodyPr wrap="square" rtlCol="0" anchor="ctr"/>
          <a:lstStyle/>
          <a:p>
            <a:pPr indent="0" marL="0">
              <a:buNone/>
            </a:pPr>
            <a:r>
              <a:rPr lang="en-US" sz="1400" b="1" dirty="0">
                <a:solidFill>
                  <a:srgbClr val="14171F"/>
                </a:solidFill>
              </a:rPr>
              <a:t>Questions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AgentPulse - Project Deck</dc:title>
  <dc:subject>PptxGenJS Presentation</dc:subject>
  <dc:creator>AgentPulse</dc:creator>
  <cp:lastModifiedBy>AgentPulse</cp:lastModifiedBy>
  <cp:revision>1</cp:revision>
  <dcterms:created xsi:type="dcterms:W3CDTF">2026-09-17T10:36:37Z</dcterms:created>
  <dcterms:modified xsi:type="dcterms:W3CDTF">2026-09-17T10:36:37Z</dcterms:modified>
</cp:coreProperties>
</file>