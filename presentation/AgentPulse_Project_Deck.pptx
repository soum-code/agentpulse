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783080"/>
            <a:ext cx="2148840" cy="1280160"/>
          </a:xfrm>
          <a:prstGeom prst="roundRect">
            <a:avLst>
              <a:gd name="adj" fmla="val 3571"/>
            </a:avLst>
          </a:prstGeom>
          <a:solidFill>
            <a:srgbClr val="FFFFFF"/>
          </a:solidFill>
          <a:ln w="15875">
            <a:solidFill>
              <a:srgbClr val="1F4FD8"/>
            </a:solidFill>
            <a:prstDash val="solid"/>
          </a:ln>
        </p:spPr>
      </p:sp>
      <p:sp>
        <p:nvSpPr>
          <p:cNvPr id="8" name="Text 6"/>
          <p:cNvSpPr/>
          <p:nvPr/>
        </p:nvSpPr>
        <p:spPr>
          <a:xfrm>
            <a:off x="731520" y="1901952"/>
            <a:ext cx="2002536" cy="274320"/>
          </a:xfrm>
          <a:prstGeom prst="rect">
            <a:avLst/>
          </a:prstGeom>
          <a:noFill/>
          <a:ln/>
        </p:spPr>
        <p:txBody>
          <a:bodyPr wrap="square" rtlCol="0" anchor="ctr"/>
          <a:lstStyle/>
          <a:p>
            <a:pPr algn="ctr" indent="0" marL="0">
              <a:buNone/>
            </a:pPr>
            <a:r>
              <a:rPr lang="en-US" sz="1200" b="1" dirty="0">
                <a:solidFill>
                  <a:srgbClr val="14171F"/>
                </a:solidFill>
              </a:rPr>
              <a:t>Your agent + SDK</a:t>
            </a:r>
            <a:endParaRPr lang="en-US" sz="1200" dirty="0"/>
          </a:p>
        </p:txBody>
      </p:sp>
      <p:sp>
        <p:nvSpPr>
          <p:cNvPr id="9" name="Text 7"/>
          <p:cNvSpPr/>
          <p:nvPr/>
        </p:nvSpPr>
        <p:spPr>
          <a:xfrm>
            <a:off x="731520"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buffers spans, flushes in batches, fails open</a:t>
            </a:r>
            <a:endParaRPr lang="en-US" sz="1000" dirty="0"/>
          </a:p>
        </p:txBody>
      </p:sp>
      <p:sp>
        <p:nvSpPr>
          <p:cNvPr id="10" name="Shape 8"/>
          <p:cNvSpPr/>
          <p:nvPr/>
        </p:nvSpPr>
        <p:spPr>
          <a:xfrm>
            <a:off x="3529584" y="1783080"/>
            <a:ext cx="2148840" cy="1280160"/>
          </a:xfrm>
          <a:prstGeom prst="roundRect">
            <a:avLst>
              <a:gd name="adj" fmla="val 3571"/>
            </a:avLst>
          </a:prstGeom>
          <a:solidFill>
            <a:srgbClr val="FFFFFF"/>
          </a:solidFill>
          <a:ln w="15875">
            <a:solidFill>
              <a:srgbClr val="1F4FD8"/>
            </a:solidFill>
            <a:prstDash val="solid"/>
          </a:ln>
        </p:spPr>
      </p:sp>
      <p:sp>
        <p:nvSpPr>
          <p:cNvPr id="11" name="Text 9"/>
          <p:cNvSpPr/>
          <p:nvPr/>
        </p:nvSpPr>
        <p:spPr>
          <a:xfrm>
            <a:off x="3602736" y="1901952"/>
            <a:ext cx="2002536" cy="274320"/>
          </a:xfrm>
          <a:prstGeom prst="rect">
            <a:avLst/>
          </a:prstGeom>
          <a:noFill/>
          <a:ln/>
        </p:spPr>
        <p:txBody>
          <a:bodyPr wrap="square" rtlCol="0" anchor="ctr"/>
          <a:lstStyle/>
          <a:p>
            <a:pPr algn="ctr" indent="0" marL="0">
              <a:buNone/>
            </a:pPr>
            <a:r>
              <a:rPr lang="en-US" sz="1200" b="1" dirty="0">
                <a:solidFill>
                  <a:srgbClr val="14171F"/>
                </a:solidFill>
              </a:rPr>
              <a:t>Ingest API</a:t>
            </a:r>
            <a:endParaRPr lang="en-US" sz="1200" dirty="0"/>
          </a:p>
        </p:txBody>
      </p:sp>
      <p:sp>
        <p:nvSpPr>
          <p:cNvPr id="12" name="Text 10"/>
          <p:cNvSpPr/>
          <p:nvPr/>
        </p:nvSpPr>
        <p:spPr>
          <a:xfrm>
            <a:off x="3602736"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validate, dedupe, persist, enqueue</a:t>
            </a:r>
            <a:endParaRPr lang="en-US" sz="1000" dirty="0"/>
          </a:p>
          <a:p>
            <a:pPr algn="ctr" indent="0" marL="0">
              <a:lnSpc>
                <a:spcPct val="110000"/>
              </a:lnSpc>
              <a:buNone/>
            </a:pPr>
            <a:r>
              <a:rPr lang="en-US" sz="1000" dirty="0">
                <a:solidFill>
                  <a:srgbClr val="5B6472"/>
                </a:solidFill>
              </a:rPr>
              <a:t>202 Accepted, loads no models</a:t>
            </a:r>
            <a:endParaRPr lang="en-US" sz="1000" dirty="0"/>
          </a:p>
        </p:txBody>
      </p:sp>
      <p:sp>
        <p:nvSpPr>
          <p:cNvPr id="13" name="Shape 11"/>
          <p:cNvSpPr/>
          <p:nvPr/>
        </p:nvSpPr>
        <p:spPr>
          <a:xfrm>
            <a:off x="6400800" y="1783080"/>
            <a:ext cx="2148840" cy="1280160"/>
          </a:xfrm>
          <a:prstGeom prst="roundRect">
            <a:avLst>
              <a:gd name="adj" fmla="val 3571"/>
            </a:avLst>
          </a:prstGeom>
          <a:solidFill>
            <a:srgbClr val="FFFFFF"/>
          </a:solidFill>
          <a:ln w="15875">
            <a:solidFill>
              <a:srgbClr val="1F4FD8"/>
            </a:solidFill>
            <a:prstDash val="solid"/>
          </a:ln>
        </p:spPr>
      </p:sp>
      <p:sp>
        <p:nvSpPr>
          <p:cNvPr id="14" name="Text 12"/>
          <p:cNvSpPr/>
          <p:nvPr/>
        </p:nvSpPr>
        <p:spPr>
          <a:xfrm>
            <a:off x="6473952" y="1901952"/>
            <a:ext cx="2002536" cy="274320"/>
          </a:xfrm>
          <a:prstGeom prst="rect">
            <a:avLst/>
          </a:prstGeom>
          <a:noFill/>
          <a:ln/>
        </p:spPr>
        <p:txBody>
          <a:bodyPr wrap="square" rtlCol="0" anchor="ctr"/>
          <a:lstStyle/>
          <a:p>
            <a:pPr algn="ctr" indent="0" marL="0">
              <a:buNone/>
            </a:pPr>
            <a:r>
              <a:rPr lang="en-US" sz="1200" b="1" dirty="0">
                <a:solidFill>
                  <a:srgbClr val="14171F"/>
                </a:solidFill>
              </a:rPr>
              <a:t>Durable queue</a:t>
            </a:r>
            <a:endParaRPr lang="en-US" sz="1200" dirty="0"/>
          </a:p>
        </p:txBody>
      </p:sp>
      <p:sp>
        <p:nvSpPr>
          <p:cNvPr id="15" name="Text 13"/>
          <p:cNvSpPr/>
          <p:nvPr/>
        </p:nvSpPr>
        <p:spPr>
          <a:xfrm>
            <a:off x="6473952"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120 s lease, 3 attempts,</a:t>
            </a:r>
            <a:endParaRPr lang="en-US" sz="1000" dirty="0"/>
          </a:p>
          <a:p>
            <a:pPr algn="ctr" indent="0" marL="0">
              <a:lnSpc>
                <a:spcPct val="110000"/>
              </a:lnSpc>
              <a:buNone/>
            </a:pPr>
            <a:r>
              <a:rPr lang="en-US" sz="1000" dirty="0">
                <a:solidFill>
                  <a:srgbClr val="5B6472"/>
                </a:solidFill>
              </a:rPr>
              <a:t>then dead_letter</a:t>
            </a:r>
            <a:endParaRPr lang="en-US" sz="1000" dirty="0"/>
          </a:p>
        </p:txBody>
      </p:sp>
      <p:sp>
        <p:nvSpPr>
          <p:cNvPr id="16" name="Shape 14"/>
          <p:cNvSpPr/>
          <p:nvPr/>
        </p:nvSpPr>
        <p:spPr>
          <a:xfrm>
            <a:off x="9272016" y="1783080"/>
            <a:ext cx="2148840" cy="1280160"/>
          </a:xfrm>
          <a:prstGeom prst="roundRect">
            <a:avLst>
              <a:gd name="adj" fmla="val 3571"/>
            </a:avLst>
          </a:prstGeom>
          <a:solidFill>
            <a:srgbClr val="FFFFFF"/>
          </a:solidFill>
          <a:ln w="15875">
            <a:solidFill>
              <a:srgbClr val="1F4FD8"/>
            </a:solidFill>
            <a:prstDash val="solid"/>
          </a:ln>
        </p:spPr>
      </p:sp>
      <p:sp>
        <p:nvSpPr>
          <p:cNvPr id="17" name="Text 15"/>
          <p:cNvSpPr/>
          <p:nvPr/>
        </p:nvSpPr>
        <p:spPr>
          <a:xfrm>
            <a:off x="9345168" y="1901952"/>
            <a:ext cx="2002536" cy="274320"/>
          </a:xfrm>
          <a:prstGeom prst="rect">
            <a:avLst/>
          </a:prstGeom>
          <a:noFill/>
          <a:ln/>
        </p:spPr>
        <p:txBody>
          <a:bodyPr wrap="square" rtlCol="0" anchor="ctr"/>
          <a:lstStyle/>
          <a:p>
            <a:pPr algn="ctr" indent="0" marL="0">
              <a:buNone/>
            </a:pPr>
            <a:r>
              <a:rPr lang="en-US" sz="1200" b="1" dirty="0">
                <a:solidFill>
                  <a:srgbClr val="14171F"/>
                </a:solidFill>
              </a:rPr>
              <a:t>Evaluation worker</a:t>
            </a:r>
            <a:endParaRPr lang="en-US" sz="1200" dirty="0"/>
          </a:p>
        </p:txBody>
      </p:sp>
      <p:sp>
        <p:nvSpPr>
          <p:cNvPr id="18" name="Text 16"/>
          <p:cNvSpPr/>
          <p:nvPr/>
        </p:nvSpPr>
        <p:spPr>
          <a:xfrm>
            <a:off x="9345168" y="2203704"/>
            <a:ext cx="2002536" cy="768096"/>
          </a:xfrm>
          <a:prstGeom prst="rect">
            <a:avLst/>
          </a:prstGeom>
          <a:noFill/>
          <a:ln/>
        </p:spPr>
        <p:txBody>
          <a:bodyPr wrap="square" rtlCol="0" anchor="t"/>
          <a:lstStyle/>
          <a:p>
            <a:pPr algn="ctr" indent="0" marL="0">
              <a:lnSpc>
                <a:spcPct val="110000"/>
              </a:lnSpc>
              <a:buNone/>
            </a:pPr>
            <a:r>
              <a:rPr lang="en-US" sz="1000" dirty="0">
                <a:solidFill>
                  <a:srgbClr val="5B6472"/>
                </a:solidFill>
              </a:rPr>
              <a:t>MiniLM + DeBERTa</a:t>
            </a:r>
            <a:endParaRPr lang="en-US" sz="1000" dirty="0"/>
          </a:p>
          <a:p>
            <a:pPr algn="ctr" indent="0" marL="0">
              <a:lnSpc>
                <a:spcPct val="110000"/>
              </a:lnSpc>
              <a:buNone/>
            </a:pPr>
            <a:r>
              <a:rPr lang="en-US" sz="1000" dirty="0">
                <a:solidFill>
                  <a:srgbClr val="5B6472"/>
                </a:solidFill>
              </a:rPr>
              <a:t>215.9 ms, ~1.15 GB resident</a:t>
            </a:r>
            <a:endParaRPr lang="en-US" sz="1000" dirty="0"/>
          </a:p>
        </p:txBody>
      </p:sp>
      <p:sp>
        <p:nvSpPr>
          <p:cNvPr id="19" name="Shape 17"/>
          <p:cNvSpPr/>
          <p:nvPr/>
        </p:nvSpPr>
        <p:spPr>
          <a:xfrm>
            <a:off x="2807208" y="2423160"/>
            <a:ext cx="722376" cy="0"/>
          </a:xfrm>
          <a:prstGeom prst="line">
            <a:avLst/>
          </a:prstGeom>
          <a:noFill/>
          <a:ln w="19050">
            <a:solidFill>
              <a:srgbClr val="5B6472"/>
            </a:solidFill>
            <a:prstDash val="solid"/>
            <a:tailEnd type="triangle"/>
          </a:ln>
        </p:spPr>
      </p:sp>
      <p:sp>
        <p:nvSpPr>
          <p:cNvPr id="20" name="Text 18"/>
          <p:cNvSpPr/>
          <p:nvPr/>
        </p:nvSpPr>
        <p:spPr>
          <a:xfrm>
            <a:off x="2734056" y="2148840"/>
            <a:ext cx="868680" cy="219456"/>
          </a:xfrm>
          <a:prstGeom prst="rect">
            <a:avLst/>
          </a:prstGeom>
          <a:noFill/>
          <a:ln/>
        </p:spPr>
        <p:txBody>
          <a:bodyPr wrap="square" rtlCol="0" anchor="ctr"/>
          <a:lstStyle/>
          <a:p>
            <a:pPr algn="ctr" indent="0" marL="0">
              <a:buNone/>
            </a:pPr>
            <a:r>
              <a:rPr lang="en-US" sz="850" dirty="0">
                <a:solidFill>
                  <a:srgbClr val="5B6472"/>
                </a:solidFill>
              </a:rPr>
              <a:t>spans</a:t>
            </a:r>
            <a:endParaRPr lang="en-US" sz="850" dirty="0"/>
          </a:p>
        </p:txBody>
      </p:sp>
      <p:sp>
        <p:nvSpPr>
          <p:cNvPr id="21" name="Shape 19"/>
          <p:cNvSpPr/>
          <p:nvPr/>
        </p:nvSpPr>
        <p:spPr>
          <a:xfrm>
            <a:off x="5678424" y="2423160"/>
            <a:ext cx="722376" cy="0"/>
          </a:xfrm>
          <a:prstGeom prst="line">
            <a:avLst/>
          </a:prstGeom>
          <a:noFill/>
          <a:ln w="19050">
            <a:solidFill>
              <a:srgbClr val="5B6472"/>
            </a:solidFill>
            <a:prstDash val="solid"/>
            <a:tailEnd type="triangle"/>
          </a:ln>
        </p:spPr>
      </p:sp>
      <p:sp>
        <p:nvSpPr>
          <p:cNvPr id="22" name="Text 20"/>
          <p:cNvSpPr/>
          <p:nvPr/>
        </p:nvSpPr>
        <p:spPr>
          <a:xfrm>
            <a:off x="5605272" y="2148840"/>
            <a:ext cx="868680" cy="219456"/>
          </a:xfrm>
          <a:prstGeom prst="rect">
            <a:avLst/>
          </a:prstGeom>
          <a:noFill/>
          <a:ln/>
        </p:spPr>
        <p:txBody>
          <a:bodyPr wrap="square" rtlCol="0" anchor="ctr"/>
          <a:lstStyle/>
          <a:p>
            <a:pPr algn="ctr" indent="0" marL="0">
              <a:buNone/>
            </a:pPr>
            <a:r>
              <a:rPr lang="en-US" sz="850" dirty="0">
                <a:solidFill>
                  <a:srgbClr val="5B6472"/>
                </a:solidFill>
              </a:rPr>
              <a:t>1 job / span</a:t>
            </a:r>
            <a:endParaRPr lang="en-US" sz="850" dirty="0"/>
          </a:p>
        </p:txBody>
      </p:sp>
      <p:sp>
        <p:nvSpPr>
          <p:cNvPr id="23" name="Shape 21"/>
          <p:cNvSpPr/>
          <p:nvPr/>
        </p:nvSpPr>
        <p:spPr>
          <a:xfrm>
            <a:off x="8549640" y="2423160"/>
            <a:ext cx="722376" cy="0"/>
          </a:xfrm>
          <a:prstGeom prst="line">
            <a:avLst/>
          </a:prstGeom>
          <a:noFill/>
          <a:ln w="19050">
            <a:solidFill>
              <a:srgbClr val="5B6472"/>
            </a:solidFill>
            <a:prstDash val="solid"/>
            <a:tailEnd type="triangle"/>
          </a:ln>
        </p:spPr>
      </p:sp>
      <p:sp>
        <p:nvSpPr>
          <p:cNvPr id="24" name="Text 22"/>
          <p:cNvSpPr/>
          <p:nvPr/>
        </p:nvSpPr>
        <p:spPr>
          <a:xfrm>
            <a:off x="8476488" y="2148840"/>
            <a:ext cx="868680" cy="219456"/>
          </a:xfrm>
          <a:prstGeom prst="rect">
            <a:avLst/>
          </a:prstGeom>
          <a:noFill/>
          <a:ln/>
        </p:spPr>
        <p:txBody>
          <a:bodyPr wrap="square" rtlCol="0" anchor="ctr"/>
          <a:lstStyle/>
          <a:p>
            <a:pPr algn="ctr" indent="0" marL="0">
              <a:buNone/>
            </a:pPr>
            <a:r>
              <a:rPr lang="en-US" sz="850" dirty="0">
                <a:solidFill>
                  <a:srgbClr val="5B6472"/>
                </a:solidFill>
              </a:rPr>
              <a:t>lease</a:t>
            </a:r>
            <a:endParaRPr lang="en-US" sz="850" dirty="0"/>
          </a:p>
        </p:txBody>
      </p:sp>
      <p:sp>
        <p:nvSpPr>
          <p:cNvPr id="25" name="Shape 23"/>
          <p:cNvSpPr/>
          <p:nvPr/>
        </p:nvSpPr>
        <p:spPr>
          <a:xfrm>
            <a:off x="4604004" y="3063240"/>
            <a:ext cx="0" cy="548640"/>
          </a:xfrm>
          <a:prstGeom prst="line">
            <a:avLst/>
          </a:prstGeom>
          <a:noFill/>
          <a:ln w="15875">
            <a:solidFill>
              <a:srgbClr val="D8DCE3"/>
            </a:solidFill>
            <a:prstDash val="solid"/>
          </a:ln>
        </p:spPr>
      </p:sp>
      <p:sp>
        <p:nvSpPr>
          <p:cNvPr id="26" name="Shape 24"/>
          <p:cNvSpPr/>
          <p:nvPr/>
        </p:nvSpPr>
        <p:spPr>
          <a:xfrm>
            <a:off x="7475220" y="3063240"/>
            <a:ext cx="0" cy="548640"/>
          </a:xfrm>
          <a:prstGeom prst="line">
            <a:avLst/>
          </a:prstGeom>
          <a:noFill/>
          <a:ln w="15875">
            <a:solidFill>
              <a:srgbClr val="D8DCE3"/>
            </a:solidFill>
            <a:prstDash val="solid"/>
          </a:ln>
        </p:spPr>
      </p:sp>
      <p:sp>
        <p:nvSpPr>
          <p:cNvPr id="27" name="Shape 25"/>
          <p:cNvSpPr/>
          <p:nvPr/>
        </p:nvSpPr>
        <p:spPr>
          <a:xfrm>
            <a:off x="10346436" y="3063240"/>
            <a:ext cx="0" cy="548640"/>
          </a:xfrm>
          <a:prstGeom prst="line">
            <a:avLst/>
          </a:prstGeom>
          <a:noFill/>
          <a:ln w="15875">
            <a:solidFill>
              <a:srgbClr val="D8DCE3"/>
            </a:solidFill>
            <a:prstDash val="solid"/>
          </a:ln>
        </p:spPr>
      </p:sp>
      <p:sp>
        <p:nvSpPr>
          <p:cNvPr id="28" name="Shape 26"/>
          <p:cNvSpPr/>
          <p:nvPr/>
        </p:nvSpPr>
        <p:spPr>
          <a:xfrm>
            <a:off x="3529584" y="3611880"/>
            <a:ext cx="7891272" cy="530352"/>
          </a:xfrm>
          <a:prstGeom prst="rect">
            <a:avLst/>
          </a:prstGeom>
          <a:solidFill>
            <a:srgbClr val="F4F6F9"/>
          </a:solidFill>
          <a:ln w="9525">
            <a:solidFill>
              <a:srgbClr val="D8DCE3"/>
            </a:solidFill>
            <a:prstDash val="solid"/>
          </a:ln>
        </p:spPr>
      </p:sp>
      <p:sp>
        <p:nvSpPr>
          <p:cNvPr id="29" name="Text 27"/>
          <p:cNvSpPr/>
          <p:nvPr/>
        </p:nvSpPr>
        <p:spPr>
          <a:xfrm>
            <a:off x="3529584" y="3611880"/>
            <a:ext cx="7891272" cy="530352"/>
          </a:xfrm>
          <a:prstGeom prst="rect">
            <a:avLst/>
          </a:prstGeom>
          <a:noFill/>
          <a:ln/>
        </p:spPr>
        <p:txBody>
          <a:bodyPr wrap="square" rtlCol="0" anchor="ctr"/>
          <a:lstStyle/>
          <a:p>
            <a:pPr algn="ctr" indent="0" marL="0">
              <a:buNone/>
            </a:pPr>
            <a:r>
              <a:rPr lang="en-US" sz="1100" dirty="0">
                <a:solidFill>
                  <a:srgbClr val="14171F"/>
                </a:solidFill>
              </a:rPr>
              <a:t>SQLite (WAL)  ·  spans, evaluations, jobs, baselines, alerts  ·  11 tables</a:t>
            </a:r>
            <a:endParaRPr lang="en-US" sz="1100" dirty="0"/>
          </a:p>
        </p:txBody>
      </p:sp>
      <p:sp>
        <p:nvSpPr>
          <p:cNvPr id="30" name="Shape 28"/>
          <p:cNvSpPr/>
          <p:nvPr/>
        </p:nvSpPr>
        <p:spPr>
          <a:xfrm>
            <a:off x="658368" y="4434840"/>
            <a:ext cx="3291840" cy="713232"/>
          </a:xfrm>
          <a:prstGeom prst="roundRect">
            <a:avLst>
              <a:gd name="adj" fmla="val 6410"/>
            </a:avLst>
          </a:prstGeom>
          <a:solidFill>
            <a:srgbClr val="FFFFFF"/>
          </a:solidFill>
          <a:ln w="15875">
            <a:solidFill>
              <a:srgbClr val="D8DCE3"/>
            </a:solidFill>
            <a:prstDash val="solid"/>
          </a:ln>
        </p:spPr>
      </p:sp>
      <p:sp>
        <p:nvSpPr>
          <p:cNvPr id="31" name="Text 29"/>
          <p:cNvSpPr/>
          <p:nvPr/>
        </p:nvSpPr>
        <p:spPr>
          <a:xfrm>
            <a:off x="731520" y="4553712"/>
            <a:ext cx="3145536" cy="274320"/>
          </a:xfrm>
          <a:prstGeom prst="rect">
            <a:avLst/>
          </a:prstGeom>
          <a:noFill/>
          <a:ln/>
        </p:spPr>
        <p:txBody>
          <a:bodyPr wrap="square" rtlCol="0" anchor="ctr"/>
          <a:lstStyle/>
          <a:p>
            <a:pPr algn="ctr" indent="0" marL="0">
              <a:buNone/>
            </a:pPr>
            <a:r>
              <a:rPr lang="en-US" sz="1200" b="1" dirty="0">
                <a:solidFill>
                  <a:srgbClr val="14171F"/>
                </a:solidFill>
              </a:rPr>
              <a:t>React dashboard</a:t>
            </a:r>
            <a:endParaRPr lang="en-US" sz="1200" dirty="0"/>
          </a:p>
        </p:txBody>
      </p:sp>
      <p:sp>
        <p:nvSpPr>
          <p:cNvPr id="32" name="Text 30"/>
          <p:cNvSpPr/>
          <p:nvPr/>
        </p:nvSpPr>
        <p:spPr>
          <a:xfrm>
            <a:off x="731520" y="4855464"/>
            <a:ext cx="3145536" cy="201168"/>
          </a:xfrm>
          <a:prstGeom prst="rect">
            <a:avLst/>
          </a:prstGeom>
          <a:noFill/>
          <a:ln/>
        </p:spPr>
        <p:txBody>
          <a:bodyPr wrap="square" rtlCol="0" anchor="t"/>
          <a:lstStyle/>
          <a:p>
            <a:pPr algn="ctr" indent="0" marL="0">
              <a:lnSpc>
                <a:spcPct val="110000"/>
              </a:lnSpc>
              <a:buNone/>
            </a:pPr>
            <a:r>
              <a:rPr lang="en-US" sz="1000" dirty="0">
                <a:solidFill>
                  <a:srgbClr val="5B6472"/>
                </a:solidFill>
              </a:rPr>
              <a:t>reads only</a:t>
            </a:r>
            <a:endParaRPr lang="en-US" sz="1000" dirty="0"/>
          </a:p>
        </p:txBody>
      </p:sp>
      <p:sp>
        <p:nvSpPr>
          <p:cNvPr id="33" name="Text 31"/>
          <p:cNvSpPr/>
          <p:nvPr/>
        </p:nvSpPr>
        <p:spPr>
          <a:xfrm>
            <a:off x="4206240" y="4480560"/>
            <a:ext cx="7315200" cy="640080"/>
          </a:xfrm>
          <a:prstGeom prst="rect">
            <a:avLst/>
          </a:prstGeom>
          <a:noFill/>
          <a:ln/>
        </p:spPr>
        <p:txBody>
          <a:bodyPr wrap="square" rtlCol="0" anchor="t"/>
          <a:lstStyle/>
          <a:p>
            <a:pPr indent="0" marL="0">
              <a:buNone/>
            </a:pPr>
            <a:r>
              <a:rPr lang="en-US" sz="1150" dirty="0">
                <a:solidFill>
                  <a:srgbClr val="5B6472"/>
                </a:solidFill>
              </a:rPr>
              <a:t>No arrow into the dashboard, because it holds no database connection: it polls the same REST API the SDK writes to, every 10 seconds, plus a WebSocket for live spans.</a:t>
            </a:r>
            <a:endParaRPr lang="en-US" sz="1150" dirty="0"/>
          </a:p>
        </p:txBody>
      </p:sp>
      <p:sp>
        <p:nvSpPr>
          <p:cNvPr id="34" name="Shape 32"/>
          <p:cNvSpPr/>
          <p:nvPr/>
        </p:nvSpPr>
        <p:spPr>
          <a:xfrm>
            <a:off x="658368" y="5532120"/>
            <a:ext cx="10872216" cy="658368"/>
          </a:xfrm>
          <a:prstGeom prst="rect">
            <a:avLst/>
          </a:prstGeom>
          <a:solidFill>
            <a:srgbClr val="FFF8EE"/>
          </a:solidFill>
          <a:ln w="9525">
            <a:solidFill>
              <a:srgbClr val="E8D5B5"/>
            </a:solidFill>
            <a:prstDash val="solid"/>
          </a:ln>
        </p:spPr>
      </p:sp>
      <p:sp>
        <p:nvSpPr>
          <p:cNvPr id="35" name="Text 33"/>
          <p:cNvSpPr/>
          <p:nvPr/>
        </p:nvSpPr>
        <p:spPr>
          <a:xfrm>
            <a:off x="877824" y="56235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HOW IT WORKS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real call,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5760720" cy="3474720"/>
          </a:xfrm>
          <a:prstGeom prst="rect">
            <a:avLst/>
          </a:prstGeom>
          <a:solidFill>
            <a:srgbClr val="F4F6F9"/>
          </a:solidFill>
          <a:ln w="9525">
            <a:solidFill>
              <a:srgbClr val="D8DCE3"/>
            </a:solidFill>
            <a:prstDash val="solid"/>
          </a:ln>
        </p:spPr>
      </p:sp>
      <p:sp>
        <p:nvSpPr>
          <p:cNvPr id="8" name="Text 6"/>
          <p:cNvSpPr/>
          <p:nvPr/>
        </p:nvSpPr>
        <p:spPr>
          <a:xfrm>
            <a:off x="859536" y="1746504"/>
            <a:ext cx="5358384" cy="3182112"/>
          </a:xfrm>
          <a:prstGeom prst="rect">
            <a:avLst/>
          </a:prstGeom>
          <a:noFill/>
          <a:ln/>
        </p:spPr>
        <p:txBody>
          <a:bodyPr wrap="square" rtlCol="0" anchor="t"/>
          <a:lstStyle/>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prompt       Where is the Eiffel Tower?</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It stands in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answer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HTTP 200, fluent, on time.</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Nothing raised, nothing logged.</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what the worker then asks DeBERTa ----</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premise      the Eiffel Tower stands in</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Paris, France</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hypothesis   the Eiffel Tower is located</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in Berlin, Germany</a:t>
            </a:r>
            <a:endParaRPr lang="en-US" sz="1050" dirty="0"/>
          </a:p>
          <a:p>
            <a:pPr indent="0" marL="0">
              <a:lnSpc>
                <a:spcPct val="116000"/>
              </a:lnSpc>
              <a:buNone/>
            </a:pP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verdict      contradiction, near-total</a:t>
            </a:r>
            <a:endParaRPr lang="en-US" sz="1050" dirty="0"/>
          </a:p>
          <a:p>
            <a:pPr indent="0" marL="0">
              <a:lnSpc>
                <a:spcPct val="116000"/>
              </a:lnSpc>
              <a:buNone/>
            </a:pPr>
            <a:r>
              <a:rPr lang="en-US" sz="1050" dirty="0">
                <a:solidFill>
                  <a:srgbClr val="14171F"/>
                </a:solidFill>
                <a:latin typeface="Consolas" pitchFamily="34" charset="0"/>
                <a:ea typeface="Consolas" pitchFamily="34" charset="-122"/>
                <a:cs typeface="Consolas" pitchFamily="34" charset="-120"/>
              </a:rPr>
              <a:t>             confidence  -&gt;  grounding 0.9999</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20840" y="1600200"/>
          <a:ext cx="4809744" cy="914400"/>
        </p:xfrm>
        <a:graphic>
          <a:graphicData uri="http://schemas.openxmlformats.org/drawingml/2006/table">
            <a:tbl>
              <a:tblPr/>
              <a:tblGrid>
                <a:gridCol w="347472"/>
                <a:gridCol w="4462272"/>
              </a:tblGrid>
              <a:tr h="274320">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050" b="1" dirty="0">
                          <a:solidFill>
                            <a:srgbClr val="14171F"/>
                          </a:solidFill>
                          <a:latin typeface="Calibri" pitchFamily="34" charset="0"/>
                          <a:ea typeface="Calibri" pitchFamily="34" charset="-122"/>
                          <a:cs typeface="Calibri" pitchFamily="34" charset="-120"/>
                        </a:rPr>
                        <a:t>What happens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One line added:  pulse.instrument_llm(OpenAI())</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client is called exactly as before, and is not slowed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SDK packages a span and sends it in the background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The API persists it, enqueues a job, replies 202 Accepted</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A worker leases the job and runs both models</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DeBERTa returns contradiction, so grounding is 0.9999</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050" dirty="0">
                          <a:solidFill>
                            <a:srgbClr val="14171F"/>
                          </a:solidFill>
                          <a:latin typeface="Calibri" pitchFamily="34" charset="0"/>
                          <a:ea typeface="Calibri" pitchFamily="34" charset="-122"/>
                          <a:cs typeface="Calibri" pitchFamily="34" charset="-120"/>
                        </a:rPr>
                        <a:t>Two alerts fire; the dashboard shows a red incident</a:t>
                      </a:r>
                      <a:endParaRPr lang="en-US" sz="10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10" name="Shape 7"/>
          <p:cNvSpPr/>
          <p:nvPr/>
        </p:nvSpPr>
        <p:spPr>
          <a:xfrm>
            <a:off x="6720840" y="4114800"/>
            <a:ext cx="4809744" cy="749808"/>
          </a:xfrm>
          <a:prstGeom prst="rect">
            <a:avLst/>
          </a:prstGeom>
          <a:solidFill>
            <a:srgbClr val="F4F6F9"/>
          </a:solidFill>
          <a:ln w="9525">
            <a:solidFill>
              <a:srgbClr val="D8DCE3"/>
            </a:solidFill>
            <a:prstDash val="solid"/>
          </a:ln>
        </p:spPr>
      </p:sp>
      <p:sp>
        <p:nvSpPr>
          <p:cNvPr id="11" name="Text 8"/>
          <p:cNvSpPr/>
          <p:nvPr/>
        </p:nvSpPr>
        <p:spPr>
          <a:xfrm>
            <a:off x="6922008" y="4261104"/>
            <a:ext cx="4407408" cy="457200"/>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GROUNDING_FAILURE         HIGH</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HIGH_HALLUCINATION_RISK   HIGH</a:t>
            </a:r>
            <a:endParaRPr lang="en-US" sz="1100" dirty="0"/>
          </a:p>
        </p:txBody>
      </p:sp>
      <p:sp>
        <p:nvSpPr>
          <p:cNvPr id="12" name="Shape 9"/>
          <p:cNvSpPr/>
          <p:nvPr/>
        </p:nvSpPr>
        <p:spPr>
          <a:xfrm>
            <a:off x="658368" y="5138928"/>
            <a:ext cx="10872216" cy="868680"/>
          </a:xfrm>
          <a:prstGeom prst="rect">
            <a:avLst/>
          </a:prstGeom>
          <a:solidFill>
            <a:srgbClr val="FFF8EE"/>
          </a:solidFill>
          <a:ln w="9525">
            <a:solidFill>
              <a:srgbClr val="E8D5B5"/>
            </a:solidFill>
            <a:prstDash val="solid"/>
          </a:ln>
        </p:spPr>
      </p:sp>
      <p:sp>
        <p:nvSpPr>
          <p:cNvPr id="13" name="Text 10"/>
          <p:cNvSpPr/>
          <p:nvPr/>
        </p:nvSpPr>
        <p:spPr>
          <a:xfrm>
            <a:off x="877824" y="5230368"/>
            <a:ext cx="10433304" cy="685800"/>
          </a:xfrm>
          <a:prstGeom prst="rect">
            <a:avLst/>
          </a:prstGeom>
          <a:noFill/>
          <a:ln/>
        </p:spPr>
        <p:txBody>
          <a:bodyPr wrap="square" rtlCol="0" anchor="ctr"/>
          <a:lstStyle/>
          <a:p>
            <a:pPr indent="0" marL="0">
              <a:buNone/>
            </a:pPr>
            <a:r>
              <a:rPr lang="en-US" sz="1250" i="1" dirty="0">
                <a:solidFill>
                  <a:srgbClr val="8A4B00"/>
                </a:solidFill>
              </a:rPr>
              <a:t>Total elapsed, under a second, and the agent never slowed down. No framework was in that path: the only integration was instrument_llm() around an OpenAI client. This trace is real, not an illustration.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Ten views: overview, agents, traces with a span waterfall, incidents, drift, replay, experiments, datasets, telemetry lab, settings.</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260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Grounding misreads rounded numbers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a:t>
            </a:r>
            <a:endParaRPr lang="en-US" sz="1500" dirty="0"/>
          </a:p>
          <a:p>
            <a:pPr marL="342900" indent="-342900">
              <a:lnSpc>
                <a:spcPct val="132000"/>
              </a:lnSpc>
              <a:spcAft>
                <a:spcPts val="800"/>
              </a:spcAft>
              <a:buSzPct val="100000"/>
              <a:buChar char="•"/>
            </a:pPr>
            <a:r>
              <a:rPr lang="en-US" sz="1500" dirty="0">
                <a:solidFill>
                  <a:srgbClr val="14171F"/>
                </a:solidFill>
              </a:rPr>
              <a:t>Consolidate the console: it lives in two repositories with nothing keeping them in step, which is how unbuilt features have reached the landing page more than once.</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2026-09-17T07:25:02Z</dcterms:created>
  <dcterms:modified xsi:type="dcterms:W3CDTF">2026-09-17T07:25:02Z</dcterms:modified>
</cp:coreProperties>
</file>